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comments/modernComment_7FFFEFB2_91E28C00.xml" ContentType="application/vnd.ms-powerpoint.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 Id="rId5"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4"/>
    <p:sldMasterId id="2147483691" r:id="rId5"/>
    <p:sldMasterId id="2147483725" r:id="rId6"/>
    <p:sldMasterId id="2147483733" r:id="rId7"/>
    <p:sldMasterId id="2147483747" r:id="rId8"/>
  </p:sldMasterIdLst>
  <p:notesMasterIdLst>
    <p:notesMasterId r:id="rId84"/>
  </p:notesMasterIdLst>
  <p:handoutMasterIdLst>
    <p:handoutMasterId r:id="rId85"/>
  </p:handoutMasterIdLst>
  <p:sldIdLst>
    <p:sldId id="256" r:id="rId9"/>
    <p:sldId id="2147479260" r:id="rId10"/>
    <p:sldId id="2147480746" r:id="rId11"/>
    <p:sldId id="2147480764" r:id="rId12"/>
    <p:sldId id="2147480765" r:id="rId13"/>
    <p:sldId id="4436" r:id="rId14"/>
    <p:sldId id="4434" r:id="rId15"/>
    <p:sldId id="4438" r:id="rId16"/>
    <p:sldId id="2147480744" r:id="rId17"/>
    <p:sldId id="2147480745" r:id="rId18"/>
    <p:sldId id="2147479474" r:id="rId19"/>
    <p:sldId id="4463" r:id="rId20"/>
    <p:sldId id="2147480749" r:id="rId21"/>
    <p:sldId id="2147480768" r:id="rId22"/>
    <p:sldId id="2147480769" r:id="rId23"/>
    <p:sldId id="2147479252" r:id="rId24"/>
    <p:sldId id="4466" r:id="rId25"/>
    <p:sldId id="2147480755" r:id="rId26"/>
    <p:sldId id="2147480750" r:id="rId27"/>
    <p:sldId id="2147479262" r:id="rId28"/>
    <p:sldId id="2147479453" r:id="rId29"/>
    <p:sldId id="2147479468" r:id="rId30"/>
    <p:sldId id="2147479435" r:id="rId31"/>
    <p:sldId id="2147479462" r:id="rId32"/>
    <p:sldId id="2147479251" r:id="rId33"/>
    <p:sldId id="4447" r:id="rId34"/>
    <p:sldId id="4448" r:id="rId35"/>
    <p:sldId id="258" r:id="rId36"/>
    <p:sldId id="2147479445" r:id="rId37"/>
    <p:sldId id="2147479469" r:id="rId38"/>
    <p:sldId id="2147479232" r:id="rId39"/>
    <p:sldId id="2147480752" r:id="rId40"/>
    <p:sldId id="2147479441" r:id="rId41"/>
    <p:sldId id="397" r:id="rId42"/>
    <p:sldId id="2147479470" r:id="rId43"/>
    <p:sldId id="2147475610" r:id="rId44"/>
    <p:sldId id="2147475615" r:id="rId45"/>
    <p:sldId id="2147479437" r:id="rId46"/>
    <p:sldId id="2147479439" r:id="rId47"/>
    <p:sldId id="2147479467" r:id="rId48"/>
    <p:sldId id="2147480758" r:id="rId49"/>
    <p:sldId id="4444" r:id="rId50"/>
    <p:sldId id="2147479442" r:id="rId51"/>
    <p:sldId id="2147480770" r:id="rId52"/>
    <p:sldId id="2147479443" r:id="rId53"/>
    <p:sldId id="2147480759" r:id="rId54"/>
    <p:sldId id="2147480753" r:id="rId55"/>
    <p:sldId id="2147479235" r:id="rId56"/>
    <p:sldId id="2147479239" r:id="rId57"/>
    <p:sldId id="2147479241" r:id="rId58"/>
    <p:sldId id="2147479254" r:id="rId59"/>
    <p:sldId id="2147479255" r:id="rId60"/>
    <p:sldId id="2147480760" r:id="rId61"/>
    <p:sldId id="2147479247" r:id="rId62"/>
    <p:sldId id="2147479248" r:id="rId63"/>
    <p:sldId id="2147479249" r:id="rId64"/>
    <p:sldId id="2147479250" r:id="rId65"/>
    <p:sldId id="2147479460" r:id="rId66"/>
    <p:sldId id="2147479465" r:id="rId67"/>
    <p:sldId id="2147479472" r:id="rId68"/>
    <p:sldId id="2147480766" r:id="rId69"/>
    <p:sldId id="2147480762" r:id="rId70"/>
    <p:sldId id="2147479246" r:id="rId71"/>
    <p:sldId id="2147480761" r:id="rId72"/>
    <p:sldId id="2147480763" r:id="rId73"/>
    <p:sldId id="2147479228" r:id="rId74"/>
    <p:sldId id="2147480767" r:id="rId75"/>
    <p:sldId id="4449" r:id="rId76"/>
    <p:sldId id="4450" r:id="rId77"/>
    <p:sldId id="4451" r:id="rId78"/>
    <p:sldId id="344" r:id="rId79"/>
    <p:sldId id="2147479257" r:id="rId80"/>
    <p:sldId id="2147480757" r:id="rId81"/>
    <p:sldId id="2147480748" r:id="rId82"/>
    <p:sldId id="2147479471" r:id="rId83"/>
  </p:sldIdLst>
  <p:sldSz cx="9144000" cy="5143500" type="screen16x9"/>
  <p:notesSz cx="6797675" cy="9926638"/>
  <p:embeddedFontLst>
    <p:embeddedFont>
      <p:font typeface="Encode Sans" pitchFamily="2" charset="0"/>
      <p:regular r:id="rId86"/>
      <p:bold r:id="rId87"/>
    </p:embeddedFont>
    <p:embeddedFont>
      <p:font typeface="Encode Sans Condensed" pitchFamily="2" charset="0"/>
      <p:regular r:id="rId88"/>
      <p:bold r:id="rId89"/>
    </p:embeddedFont>
    <p:embeddedFont>
      <p:font typeface="Encode Sans Expanded" pitchFamily="2" charset="0"/>
      <p:regular r:id="rId90"/>
      <p:bold r:id="rId91"/>
      <p:italic r:id="rId92"/>
      <p:boldItalic r:id="rId93"/>
    </p:embeddedFont>
    <p:embeddedFont>
      <p:font typeface="Encode Sans Expanded Light" pitchFamily="2" charset="0"/>
      <p:regular r:id="rId94"/>
      <p:bold r:id="rId95"/>
    </p:embeddedFont>
    <p:embeddedFont>
      <p:font typeface="Encode Sans ExpandedLight" charset="0"/>
      <p:regular r:id="rId96"/>
      <p:bold r:id="rId97"/>
      <p:italic r:id="rId98"/>
      <p:boldItalic r:id="rId99"/>
    </p:embeddedFont>
    <p:embeddedFont>
      <p:font typeface="Encode Sans ExpandedMedium" charset="0"/>
      <p:regular r:id="rId100"/>
    </p:embeddedFont>
    <p:embeddedFont>
      <p:font typeface="Encode Sans ExpandedSemiBold" charset="0"/>
      <p:regular r:id="rId101"/>
      <p:bold r:id="rId102"/>
      <p:italic r:id="rId103"/>
      <p:boldItalic r:id="rId104"/>
    </p:embeddedFont>
    <p:embeddedFont>
      <p:font typeface="Raleway" panose="020B0003030101060003" pitchFamily="34" charset="0"/>
      <p:regular r:id="rId105"/>
      <p:bold r:id="rId106"/>
      <p:italic r:id="rId107"/>
      <p:boldItalic r:id="rId108"/>
    </p:embeddedFont>
    <p:embeddedFont>
      <p:font typeface="Segoe UI" panose="020B0502040204020203" pitchFamily="34" charset="0"/>
      <p:regular r:id="rId109"/>
      <p:bold r:id="rId110"/>
      <p:italic r:id="rId111"/>
      <p:boldItalic r:id="rId112"/>
    </p:embeddedFont>
    <p:embeddedFont>
      <p:font typeface="Segoe UI Symbol" panose="020B0502040204020203" pitchFamily="34" charset="0"/>
      <p:regular r:id="rId1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917DAA32-481E-4923-9585-20C9987E93A8}">
          <p14:sldIdLst>
            <p14:sldId id="256"/>
            <p14:sldId id="2147479260"/>
            <p14:sldId id="2147480746"/>
            <p14:sldId id="2147480764"/>
            <p14:sldId id="2147480765"/>
            <p14:sldId id="4436"/>
            <p14:sldId id="4434"/>
            <p14:sldId id="4438"/>
          </p14:sldIdLst>
        </p14:section>
        <p14:section name="Gate 1 - Demand Gate (EA)" id="{AC2F9F04-2853-4870-A656-F54BB8971795}">
          <p14:sldIdLst>
            <p14:sldId id="2147480744"/>
            <p14:sldId id="2147480745"/>
            <p14:sldId id="2147479474"/>
          </p14:sldIdLst>
        </p14:section>
        <p14:section name="Gate 2 - Initial Gate (ARB)" id="{5F7CFA82-B478-4126-9FBA-B47CAF3EB948}">
          <p14:sldIdLst>
            <p14:sldId id="4463"/>
            <p14:sldId id="2147480749"/>
          </p14:sldIdLst>
        </p14:section>
        <p14:section name="Gate 2 - Enterprise Architecture" id="{BE3099F7-3907-4ECE-B4D5-420B3EF6CB00}">
          <p14:sldIdLst>
            <p14:sldId id="2147480768"/>
            <p14:sldId id="2147480769"/>
            <p14:sldId id="2147479252"/>
            <p14:sldId id="4466"/>
            <p14:sldId id="2147480755"/>
            <p14:sldId id="2147480750"/>
            <p14:sldId id="2147479262"/>
            <p14:sldId id="2147479453"/>
            <p14:sldId id="2147479468"/>
            <p14:sldId id="2147479435"/>
            <p14:sldId id="2147479462"/>
            <p14:sldId id="2147479251"/>
            <p14:sldId id="4447"/>
            <p14:sldId id="4448"/>
          </p14:sldIdLst>
        </p14:section>
        <p14:section name="Gate 2 - Cloud" id="{01CE16D3-E848-40DF-9DFC-B12A9F117489}">
          <p14:sldIdLst>
            <p14:sldId id="258"/>
            <p14:sldId id="2147479445"/>
            <p14:sldId id="2147479469"/>
          </p14:sldIdLst>
        </p14:section>
        <p14:section name="Gate 2 - Technical Architecture" id="{62B7CBF0-E0BC-4C62-9ABA-61A50CAA66A8}">
          <p14:sldIdLst>
            <p14:sldId id="2147479232"/>
            <p14:sldId id="2147480752"/>
            <p14:sldId id="2147479441"/>
            <p14:sldId id="397"/>
          </p14:sldIdLst>
        </p14:section>
        <p14:section name="Gate 2 - Data" id="{F6809C5F-7EB7-44D4-8DDF-495D3E74CC26}">
          <p14:sldIdLst>
            <p14:sldId id="2147479470"/>
            <p14:sldId id="2147475610"/>
            <p14:sldId id="2147475615"/>
          </p14:sldIdLst>
        </p14:section>
        <p14:section name="Gate 2 - DevSecOps" id="{FDAAC091-CD95-4952-8682-039630E0DE84}">
          <p14:sldIdLst>
            <p14:sldId id="2147479437"/>
            <p14:sldId id="2147479439"/>
          </p14:sldIdLst>
        </p14:section>
        <p14:section name="Gate 3 - Design Gate (ARB)" id="{85E50E3E-5BEA-4EB3-BF87-B1F96205397C}">
          <p14:sldIdLst>
            <p14:sldId id="2147479467"/>
            <p14:sldId id="2147480758"/>
            <p14:sldId id="4444"/>
            <p14:sldId id="2147479442"/>
            <p14:sldId id="2147480770"/>
            <p14:sldId id="2147479443"/>
            <p14:sldId id="2147480759"/>
            <p14:sldId id="2147480753"/>
            <p14:sldId id="2147479235"/>
            <p14:sldId id="2147479239"/>
            <p14:sldId id="2147479241"/>
            <p14:sldId id="2147479254"/>
            <p14:sldId id="2147479255"/>
            <p14:sldId id="2147480760"/>
            <p14:sldId id="2147479247"/>
            <p14:sldId id="2147479248"/>
            <p14:sldId id="2147479249"/>
            <p14:sldId id="2147479250"/>
            <p14:sldId id="2147479460"/>
            <p14:sldId id="2147479465"/>
            <p14:sldId id="2147479472"/>
            <p14:sldId id="2147480766"/>
            <p14:sldId id="2147480762"/>
          </p14:sldIdLst>
        </p14:section>
        <p14:section name="Gate 4 - Go_Live Gate (ARB)" id="{4EE49F0B-FDFB-4F93-BE51-EE13158164CE}">
          <p14:sldIdLst>
            <p14:sldId id="2147479246"/>
            <p14:sldId id="2147480761"/>
            <p14:sldId id="2147480763"/>
            <p14:sldId id="2147479228"/>
          </p14:sldIdLst>
        </p14:section>
        <p14:section name="Gate 2 to 4 - decision" id="{B4A4A193-AD1F-4C7A-911F-A56E653BECCF}">
          <p14:sldIdLst>
            <p14:sldId id="2147480767"/>
            <p14:sldId id="4449"/>
            <p14:sldId id="4450"/>
            <p14:sldId id="4451"/>
          </p14:sldIdLst>
        </p14:section>
        <p14:section name="References" id="{710194FC-902E-4628-8274-47A895238993}">
          <p14:sldIdLst>
            <p14:sldId id="344"/>
            <p14:sldId id="2147479257"/>
            <p14:sldId id="2147480757"/>
            <p14:sldId id="2147480748"/>
            <p14:sldId id="2147479471"/>
          </p14:sldIdLst>
        </p14:section>
      </p14:sectionLst>
    </p:ext>
    <p:ext uri="{EFAFB233-063F-42B5-8137-9DF3F51BA10A}">
      <p15:sldGuideLst xmlns:p15="http://schemas.microsoft.com/office/powerpoint/2012/main">
        <p15:guide id="1" orient="horz" pos="1620" userDrawn="1">
          <p15:clr>
            <a:srgbClr val="A4A3A4"/>
          </p15:clr>
        </p15:guide>
        <p15:guide id="3" orient="horz" pos="826" userDrawn="1">
          <p15:clr>
            <a:srgbClr val="A4A3A4"/>
          </p15:clr>
        </p15:guide>
        <p15:guide id="4" orient="horz" pos="2210" userDrawn="1">
          <p15:clr>
            <a:srgbClr val="A4A3A4"/>
          </p15:clr>
        </p15:guide>
        <p15:guide id="5"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AF52481-127F-391A-CBC1-705B3BB486A0}" name="FLORENCE CHEVALIER" initials="FC" userId="S::c098804@inetpsa.com::128db03c-4394-420f-8461-f16d86919105" providerId="AD"/>
  <p188:author id="{80F0DFD7-E7BE-F8E7-7661-3760624163C5}" name="JEROME FORESTIER" initials="JF" userId="S::U402471@inetpsa.com::a2fafcaa-1341-4abf-bcbb-f3e751321392" providerId="AD"/>
  <p188:author id="{81C449E3-C80B-BA88-0400-08F38B6D8968}" name="ALESSANDRO DI MARCO" initials="ADM" userId="S::U125065@inetpsa.com::e7ce519e-ae9b-4213-80aa-a42ac21ec4af" providerId="AD"/>
  <p188:author id="{9A10D4FB-3811-E7F4-50EF-6AC290918CF2}" name="FLORENCE CHEVALIER" initials="FC" userId="S::C098804@inetpsa.com::128db03c-4394-420f-8461-f16d8691910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TEFANIA SCHIAVINO" initials="SS" lastIdx="2" clrIdx="0">
    <p:extLst>
      <p:ext uri="{19B8F6BF-5375-455C-9EA6-DF929625EA0E}">
        <p15:presenceInfo xmlns:p15="http://schemas.microsoft.com/office/powerpoint/2012/main" userId="S::F12562A@inetpsa.com::9d74eb26-a1cd-499e-81e7-c3fed7489514" providerId="AD"/>
      </p:ext>
    </p:extLst>
  </p:cmAuthor>
  <p:cmAuthor id="2" name="PAOLA PAOLINO" initials="PP" lastIdx="6" clrIdx="1">
    <p:extLst>
      <p:ext uri="{19B8F6BF-5375-455C-9EA6-DF929625EA0E}">
        <p15:presenceInfo xmlns:p15="http://schemas.microsoft.com/office/powerpoint/2012/main" userId="S::ORZRHDR@inetpsa.com::0b3317d1-bacd-4134-bc77-c8fa8f2329f0" providerId="AD"/>
      </p:ext>
    </p:extLst>
  </p:cmAuthor>
  <p:cmAuthor id="3" name="PATRICK BRONSIN" initials="PB" lastIdx="1" clrIdx="2">
    <p:extLst>
      <p:ext uri="{19B8F6BF-5375-455C-9EA6-DF929625EA0E}">
        <p15:presenceInfo xmlns:p15="http://schemas.microsoft.com/office/powerpoint/2012/main" userId="S::P758487@INETPSA.COM::0b4f364e-9db2-4e8c-94d5-ce55302bb93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ED8"/>
    <a:srgbClr val="A0C9EE"/>
    <a:srgbClr val="0000FF"/>
    <a:srgbClr val="7D0B6D"/>
    <a:srgbClr val="99CCFF"/>
    <a:srgbClr val="99FFCC"/>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E11E9B-72E9-44C9-B1A2-A2ECE6F8B106}" v="6" dt="2026-08-24T08:40:39.6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3" d="100"/>
          <a:sy n="153" d="100"/>
        </p:scale>
        <p:origin x="336" y="144"/>
      </p:cViewPr>
      <p:guideLst>
        <p:guide orient="horz" pos="1620"/>
        <p:guide orient="horz" pos="826"/>
        <p:guide orient="horz" pos="221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Relationships xmlns="http://schemas.openxmlformats.org/package/2006/relationships">
  <Relationship Id="rId1" Type="http://schemas.openxmlformats.org/officeDocument/2006/relationships/customXml" Target="../customXml/item1.xml"/>
  <Relationship Id="rId10" Type="http://schemas.openxmlformats.org/officeDocument/2006/relationships/slide" Target="slides/slide2.xml"/>
  <Relationship Id="rId100" Type="http://schemas.openxmlformats.org/officeDocument/2006/relationships/font" Target="fonts/font15.fntdata"/>
  <Relationship Id="rId101" Type="http://schemas.openxmlformats.org/officeDocument/2006/relationships/font" Target="fonts/font16.fntdata"/>
  <Relationship Id="rId102" Type="http://schemas.openxmlformats.org/officeDocument/2006/relationships/font" Target="fonts/font17.fntdata"/>
  <Relationship Id="rId103" Type="http://schemas.openxmlformats.org/officeDocument/2006/relationships/font" Target="fonts/font18.fntdata"/>
  <Relationship Id="rId104" Type="http://schemas.openxmlformats.org/officeDocument/2006/relationships/font" Target="fonts/font19.fntdata"/>
  <Relationship Id="rId105" Type="http://schemas.openxmlformats.org/officeDocument/2006/relationships/font" Target="fonts/font20.fntdata"/>
  <Relationship Id="rId106" Type="http://schemas.openxmlformats.org/officeDocument/2006/relationships/font" Target="fonts/font21.fntdata"/>
  <Relationship Id="rId107" Type="http://schemas.openxmlformats.org/officeDocument/2006/relationships/font" Target="fonts/font22.fntdata"/>
  <Relationship Id="rId108" Type="http://schemas.openxmlformats.org/officeDocument/2006/relationships/font" Target="fonts/font23.fntdata"/>
  <Relationship Id="rId109" Type="http://schemas.openxmlformats.org/officeDocument/2006/relationships/font" Target="fonts/font24.fntdata"/>
  <Relationship Id="rId11" Type="http://schemas.openxmlformats.org/officeDocument/2006/relationships/slide" Target="slides/slide3.xml"/>
  <Relationship Id="rId110" Type="http://schemas.openxmlformats.org/officeDocument/2006/relationships/font" Target="fonts/font25.fntdata"/>
  <Relationship Id="rId111" Type="http://schemas.openxmlformats.org/officeDocument/2006/relationships/font" Target="fonts/font26.fntdata"/>
  <Relationship Id="rId112" Type="http://schemas.openxmlformats.org/officeDocument/2006/relationships/font" Target="fonts/font27.fntdata"/>
  <Relationship Id="rId113" Type="http://schemas.openxmlformats.org/officeDocument/2006/relationships/font" Target="fonts/font28.fntdata"/>
  <Relationship Id="rId114" Type="http://schemas.openxmlformats.org/officeDocument/2006/relationships/commentAuthors" Target="commentAuthors.xml"/>
  <Relationship Id="rId115" Type="http://schemas.openxmlformats.org/officeDocument/2006/relationships/presProps" Target="presProps.xml"/>
  <Relationship Id="rId116" Type="http://schemas.openxmlformats.org/officeDocument/2006/relationships/viewProps" Target="viewProps.xml"/>
  <Relationship Id="rId117" Type="http://schemas.openxmlformats.org/officeDocument/2006/relationships/theme" Target="theme/theme1.xml"/>
  <Relationship Id="rId118" Type="http://schemas.openxmlformats.org/officeDocument/2006/relationships/tableStyles" Target="tableStyles.xml"/>
  <Relationship Id="rId119" Type="http://schemas.microsoft.com/office/2015/10/relationships/revisionInfo" Target="revisionInfo.xml"/>
  <Relationship Id="rId12" Type="http://schemas.openxmlformats.org/officeDocument/2006/relationships/slide" Target="slides/slide4.xml"/>
  <Relationship Id="rId120" Type="http://schemas.microsoft.com/office/2018/10/relationships/authors" Target="authors.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 Type="http://schemas.openxmlformats.org/officeDocument/2006/relationships/customXml" Target="../customXml/item2.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 Id="rId3" Type="http://schemas.openxmlformats.org/officeDocument/2006/relationships/customXml" Target="../customXml/item3.xml"/>
  <Relationship Id="rId30" Type="http://schemas.openxmlformats.org/officeDocument/2006/relationships/slide" Target="slides/slide22.xml"/>
  <Relationship Id="rId31" Type="http://schemas.openxmlformats.org/officeDocument/2006/relationships/slide" Target="slides/slide2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 Id="rId39" Type="http://schemas.openxmlformats.org/officeDocument/2006/relationships/slide" Target="slides/slide31.xml"/>
  <Relationship Id="rId4" Type="http://schemas.openxmlformats.org/officeDocument/2006/relationships/slideMaster" Target="slideMasters/slideMaster1.xml"/>
  <Relationship Id="rId40" Type="http://schemas.openxmlformats.org/officeDocument/2006/relationships/slide" Target="slides/slide32.xml"/>
  <Relationship Id="rId41" Type="http://schemas.openxmlformats.org/officeDocument/2006/relationships/slide" Target="slides/slide33.xml"/>
  <Relationship Id="rId42" Type="http://schemas.openxmlformats.org/officeDocument/2006/relationships/slide" Target="slides/slide34.xml"/>
  <Relationship Id="rId43" Type="http://schemas.openxmlformats.org/officeDocument/2006/relationships/slide" Target="slides/slide35.xml"/>
  <Relationship Id="rId44" Type="http://schemas.openxmlformats.org/officeDocument/2006/relationships/slide" Target="slides/slide36.xml"/>
  <Relationship Id="rId45" Type="http://schemas.openxmlformats.org/officeDocument/2006/relationships/slide" Target="slides/slide37.xml"/>
  <Relationship Id="rId46" Type="http://schemas.openxmlformats.org/officeDocument/2006/relationships/slide" Target="slides/slide38.xml"/>
  <Relationship Id="rId47" Type="http://schemas.openxmlformats.org/officeDocument/2006/relationships/slide" Target="slides/slide39.xml"/>
  <Relationship Id="rId48" Type="http://schemas.openxmlformats.org/officeDocument/2006/relationships/slide" Target="slides/slide40.xml"/>
  <Relationship Id="rId49" Type="http://schemas.openxmlformats.org/officeDocument/2006/relationships/slide" Target="slides/slide41.xml"/>
  <Relationship Id="rId5" Type="http://schemas.openxmlformats.org/officeDocument/2006/relationships/slideMaster" Target="slideMasters/slideMaster2.xml"/>
  <Relationship Id="rId50" Type="http://schemas.openxmlformats.org/officeDocument/2006/relationships/slide" Target="slides/slide42.xml"/>
  <Relationship Id="rId51" Type="http://schemas.openxmlformats.org/officeDocument/2006/relationships/slide" Target="slides/slide43.xml"/>
  <Relationship Id="rId52" Type="http://schemas.openxmlformats.org/officeDocument/2006/relationships/slide" Target="slides/slide44.xml"/>
  <Relationship Id="rId53" Type="http://schemas.openxmlformats.org/officeDocument/2006/relationships/slide" Target="slides/slide45.xml"/>
  <Relationship Id="rId54" Type="http://schemas.openxmlformats.org/officeDocument/2006/relationships/slide" Target="slides/slide46.xml"/>
  <Relationship Id="rId55" Type="http://schemas.openxmlformats.org/officeDocument/2006/relationships/slide" Target="slides/slide47.xml"/>
  <Relationship Id="rId56" Type="http://schemas.openxmlformats.org/officeDocument/2006/relationships/slide" Target="slides/slide48.xml"/>
  <Relationship Id="rId57" Type="http://schemas.openxmlformats.org/officeDocument/2006/relationships/slide" Target="slides/slide49.xml"/>
  <Relationship Id="rId58" Type="http://schemas.openxmlformats.org/officeDocument/2006/relationships/slide" Target="slides/slide50.xml"/>
  <Relationship Id="rId59" Type="http://schemas.openxmlformats.org/officeDocument/2006/relationships/slide" Target="slides/slide51.xml"/>
  <Relationship Id="rId6" Type="http://schemas.openxmlformats.org/officeDocument/2006/relationships/slideMaster" Target="slideMasters/slideMaster3.xml"/>
  <Relationship Id="rId60" Type="http://schemas.openxmlformats.org/officeDocument/2006/relationships/slide" Target="slides/slide52.xml"/>
  <Relationship Id="rId61" Type="http://schemas.openxmlformats.org/officeDocument/2006/relationships/slide" Target="slides/slide53.xml"/>
  <Relationship Id="rId62" Type="http://schemas.openxmlformats.org/officeDocument/2006/relationships/slide" Target="slides/slide54.xml"/>
  <Relationship Id="rId63" Type="http://schemas.openxmlformats.org/officeDocument/2006/relationships/slide" Target="slides/slide55.xml"/>
  <Relationship Id="rId64" Type="http://schemas.openxmlformats.org/officeDocument/2006/relationships/slide" Target="slides/slide56.xml"/>
  <Relationship Id="rId65" Type="http://schemas.openxmlformats.org/officeDocument/2006/relationships/slide" Target="slides/slide57.xml"/>
  <Relationship Id="rId66" Type="http://schemas.openxmlformats.org/officeDocument/2006/relationships/slide" Target="slides/slide58.xml"/>
  <Relationship Id="rId67" Type="http://schemas.openxmlformats.org/officeDocument/2006/relationships/slide" Target="slides/slide59.xml"/>
  <Relationship Id="rId68" Type="http://schemas.openxmlformats.org/officeDocument/2006/relationships/slide" Target="slides/slide60.xml"/>
  <Relationship Id="rId69" Type="http://schemas.openxmlformats.org/officeDocument/2006/relationships/slide" Target="slides/slide61.xml"/>
  <Relationship Id="rId7" Type="http://schemas.openxmlformats.org/officeDocument/2006/relationships/slideMaster" Target="slideMasters/slideMaster4.xml"/>
  <Relationship Id="rId70" Type="http://schemas.openxmlformats.org/officeDocument/2006/relationships/slide" Target="slides/slide62.xml"/>
  <Relationship Id="rId71" Type="http://schemas.openxmlformats.org/officeDocument/2006/relationships/slide" Target="slides/slide63.xml"/>
  <Relationship Id="rId72" Type="http://schemas.openxmlformats.org/officeDocument/2006/relationships/slide" Target="slides/slide64.xml"/>
  <Relationship Id="rId73" Type="http://schemas.openxmlformats.org/officeDocument/2006/relationships/slide" Target="slides/slide65.xml"/>
  <Relationship Id="rId74" Type="http://schemas.openxmlformats.org/officeDocument/2006/relationships/slide" Target="slides/slide66.xml"/>
  <Relationship Id="rId75" Type="http://schemas.openxmlformats.org/officeDocument/2006/relationships/slide" Target="slides/slide67.xml"/>
  <Relationship Id="rId76" Type="http://schemas.openxmlformats.org/officeDocument/2006/relationships/slide" Target="slides/slide68.xml"/>
  <Relationship Id="rId77" Type="http://schemas.openxmlformats.org/officeDocument/2006/relationships/slide" Target="slides/slide69.xml"/>
  <Relationship Id="rId78" Type="http://schemas.openxmlformats.org/officeDocument/2006/relationships/slide" Target="slides/slide70.xml"/>
  <Relationship Id="rId79" Type="http://schemas.openxmlformats.org/officeDocument/2006/relationships/slide" Target="slides/slide71.xml"/>
  <Relationship Id="rId8" Type="http://schemas.openxmlformats.org/officeDocument/2006/relationships/slideMaster" Target="slideMasters/slideMaster5.xml"/>
  <Relationship Id="rId80" Type="http://schemas.openxmlformats.org/officeDocument/2006/relationships/slide" Target="slides/slide72.xml"/>
  <Relationship Id="rId81" Type="http://schemas.openxmlformats.org/officeDocument/2006/relationships/slide" Target="slides/slide73.xml"/>
  <Relationship Id="rId82" Type="http://schemas.openxmlformats.org/officeDocument/2006/relationships/slide" Target="slides/slide74.xml"/>
  <Relationship Id="rId83" Type="http://schemas.openxmlformats.org/officeDocument/2006/relationships/slide" Target="slides/slide75.xml"/>
  <Relationship Id="rId84" Type="http://schemas.openxmlformats.org/officeDocument/2006/relationships/notesMaster" Target="notesMasters/notesMaster1.xml"/>
  <Relationship Id="rId85" Type="http://schemas.openxmlformats.org/officeDocument/2006/relationships/handoutMaster" Target="handoutMasters/handoutMaster1.xml"/>
  <Relationship Id="rId86" Type="http://schemas.openxmlformats.org/officeDocument/2006/relationships/font" Target="fonts/font1.fntdata"/>
  <Relationship Id="rId87" Type="http://schemas.openxmlformats.org/officeDocument/2006/relationships/font" Target="fonts/font2.fntdata"/>
  <Relationship Id="rId88" Type="http://schemas.openxmlformats.org/officeDocument/2006/relationships/font" Target="fonts/font3.fntdata"/>
  <Relationship Id="rId89" Type="http://schemas.openxmlformats.org/officeDocument/2006/relationships/font" Target="fonts/font4.fntdata"/>
  <Relationship Id="rId9" Type="http://schemas.openxmlformats.org/officeDocument/2006/relationships/slide" Target="slides/slide1.xml"/>
  <Relationship Id="rId90" Type="http://schemas.openxmlformats.org/officeDocument/2006/relationships/font" Target="fonts/font5.fntdata"/>
  <Relationship Id="rId91" Type="http://schemas.openxmlformats.org/officeDocument/2006/relationships/font" Target="fonts/font6.fntdata"/>
  <Relationship Id="rId92" Type="http://schemas.openxmlformats.org/officeDocument/2006/relationships/font" Target="fonts/font7.fntdata"/>
  <Relationship Id="rId93" Type="http://schemas.openxmlformats.org/officeDocument/2006/relationships/font" Target="fonts/font8.fntdata"/>
  <Relationship Id="rId94" Type="http://schemas.openxmlformats.org/officeDocument/2006/relationships/font" Target="fonts/font9.fntdata"/>
  <Relationship Id="rId95" Type="http://schemas.openxmlformats.org/officeDocument/2006/relationships/font" Target="fonts/font10.fntdata"/>
  <Relationship Id="rId96" Type="http://schemas.openxmlformats.org/officeDocument/2006/relationships/font" Target="fonts/font11.fntdata"/>
  <Relationship Id="rId97" Type="http://schemas.openxmlformats.org/officeDocument/2006/relationships/font" Target="fonts/font12.fntdata"/>
  <Relationship Id="rId98" Type="http://schemas.openxmlformats.org/officeDocument/2006/relationships/font" Target="fonts/font13.fntdata"/>
  <Relationship Id="rId99" Type="http://schemas.openxmlformats.org/officeDocument/2006/relationships/font" Target="fonts/font14.fntdata"/>
</Relationships>

</file>

<file path=ppt/comments/modernComment_7FFFEFB2_91E28C00.xml><?xml version="1.0" encoding="utf-8"?>
<p188:cmLst xmlns:a="http://schemas.openxmlformats.org/drawingml/2006/main" xmlns:r="http://schemas.openxmlformats.org/officeDocument/2006/relationships" xmlns:p188="http://schemas.microsoft.com/office/powerpoint/2018/8/main">
  <p188:cm id="{2CC3392D-E7D7-47D0-922C-70FA36DF3CF3}" authorId="{80F0DFD7-E7BE-F8E7-7661-3760624163C5}" status="resolved" created="2025-04-01T11:14:18.835">
    <ac:deMkLst xmlns:ac="http://schemas.microsoft.com/office/drawing/2013/main/command">
      <pc:docMk xmlns:pc="http://schemas.microsoft.com/office/powerpoint/2013/main/command"/>
      <pc:sldMk xmlns:pc="http://schemas.microsoft.com/office/powerpoint/2013/main/command" cId="2447543296" sldId="2147479474"/>
      <ac:graphicFrameMk id="7" creationId="{AC1FF1FE-0D0F-7932-8B02-85502F467846}"/>
    </ac:deMkLst>
    <p188:replyLst>
      <p188:reply id="{0B688A13-C559-424F-ACF0-F5D7EAB71F3F}" authorId="{8AF52481-127F-391A-CBC1-705B3BB486A0}" created="2025-04-01T15:08:56.259">
        <p188:txBody>
          <a:bodyPr/>
          <a:lstStyle/>
          <a:p>
            <a:r>
              <a:rPr lang="en-US"/>
              <a:t>Good idea but we have also to think about how to use criteria list as a check list. Also, we plan to have this information in the Architecuter Tab in DigitalMe </a:t>
            </a:r>
          </a:p>
        </p188:txBody>
      </p188:reply>
    </p188:replyLst>
    <p188:txBody>
      <a:bodyPr/>
      <a:lstStyle/>
      <a:p>
        <a:r>
          <a:rPr lang="en-US"/>
          <a:t>[@FLORENCE CHEVALIER] / [@FRANCOISE SPORTICHE] : new slide to be validated. I think it is relevant to list here all the domains applicable for the project.</a:t>
        </a:r>
      </a:p>
    </p188:txBody>
  </p188:cm>
</p188:cmLst>
</file>

<file path=ppt/handoutMasters/_rels/handoutMaster1.xml.rels><?xml version="1.0" encoding="UTF-8"?>

<Relationships xmlns="http://schemas.openxmlformats.org/package/2006/relationships">
  <Relationship Id="rId1" Type="http://schemas.openxmlformats.org/officeDocument/2006/relationships/theme" Target="../theme/theme7.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399665D-EA4D-47B5-BD35-2EE1A01F576F}"/>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Espace réservé de la date 2">
            <a:extLst>
              <a:ext uri="{FF2B5EF4-FFF2-40B4-BE49-F238E27FC236}">
                <a16:creationId xmlns:a16="http://schemas.microsoft.com/office/drawing/2014/main" id="{57439E81-34A1-41D7-8C6E-7F09B97F025D}"/>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32809343-155E-4EC9-9ADE-9FF3D85C427F}" type="datetimeFigureOut">
              <a:rPr lang="en-US" smtClean="0"/>
              <a:t>9/21/2026</a:t>
            </a:fld>
            <a:endParaRPr lang="en-US"/>
          </a:p>
        </p:txBody>
      </p:sp>
      <p:sp>
        <p:nvSpPr>
          <p:cNvPr id="4" name="Espace réservé du pied de page 3">
            <a:extLst>
              <a:ext uri="{FF2B5EF4-FFF2-40B4-BE49-F238E27FC236}">
                <a16:creationId xmlns:a16="http://schemas.microsoft.com/office/drawing/2014/main" id="{7E708D2F-A9A4-491B-B7BA-08B345F9C82B}"/>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a:extLst>
              <a:ext uri="{FF2B5EF4-FFF2-40B4-BE49-F238E27FC236}">
                <a16:creationId xmlns:a16="http://schemas.microsoft.com/office/drawing/2014/main" id="{E3C3F2FB-AE1E-4355-90A6-54B0EAE9D3F9}"/>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4259F627-2C3F-4DD7-A2DC-8EB434B393BF}" type="slidenum">
              <a:rPr lang="en-US" smtClean="0"/>
              <a:t>‹N°›</a:t>
            </a:fld>
            <a:endParaRPr lang="en-US"/>
          </a:p>
        </p:txBody>
      </p:sp>
    </p:spTree>
    <p:extLst>
      <p:ext uri="{BB962C8B-B14F-4D97-AF65-F5344CB8AC3E}">
        <p14:creationId xmlns:p14="http://schemas.microsoft.com/office/powerpoint/2010/main" val="1067568360"/>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6.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 Id="rId3" Type="http://schemas.openxmlformats.org/officeDocument/2006/relationships/hyperlink" TargetMode="External" Target="https://uptime.is/"/>
  <Relationship Id="rId4" Type="http://schemas.openxmlformats.org/officeDocument/2006/relationships/hyperlink" TargetMode="External" Target="https://shiftup.sharepoint.com/:p:/r/sites/ictdata/Shared%20Documents/04%20-%20Governance/21%20-%20Audit/SOX/Training%20Materials/SOX%20IT%20Training%20-%20INTRO.pptx?d=wa119ab5ecffe4b65a934804fefcc89db&amp;csf=1&amp;web=1&amp;e=gCMljB"/>
</Relationships>

</file>

<file path=ppt/notesSlides/_rels/notesSlide1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 Id="rId3" Type="http://schemas.openxmlformats.org/officeDocument/2006/relationships/hyperlink" TargetMode="External" Target="https://meteor-it.inetpsa.com/Topics/GDPR_in_IT_projects/GDPR_global_view.html"/>
  <Relationship Id="rId4" Type="http://schemas.openxmlformats.org/officeDocument/2006/relationships/hyperlink" TargetMode="External" Target="https://docinfogroupe.stellantis.com/ead/doc/ref.01989_18_00251/v.vc/pj"/>
</Relationships>

</file>

<file path=ppt/notesSlides/_rels/notesSlide1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 Id="rId3" Type="http://schemas.openxmlformats.org/officeDocument/2006/relationships/hyperlink" TargetMode="External" Target="https://docs.aws.amazon.com/pdfs/wellarchitected/latest/operational-excellence-pillar/wellarchitected-operational-excellence-pillar.pdf#welcome"/>
</Relationships>

</file>

<file path=ppt/notesSlides/_rels/notesSlide3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 Id="rId3" Type="http://schemas.openxmlformats.org/officeDocument/2006/relationships/hyperlink" TargetMode="External" Target="https://docinfogroupe.stellantis.com/ead/doc/ref.20373_21_06896/v.vc/pj"/>
</Relationships>

</file>

<file path=ppt/notesSlides/_rels/notesSlide4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 Id="rId3" Type="http://schemas.openxmlformats.org/officeDocument/2006/relationships/hyperlink" TargetMode="External" Target="http://meteor-it.inetpsa.com/index.php?id=461&amp;L=2"/>
  <Relationship Id="rId4" Type="http://schemas.openxmlformats.org/officeDocument/2006/relationships/hyperlink" TargetMode="External" Target="mailto:francoise.sportiche@stellantis.com"/>
</Relationships>

</file>

<file path=ppt/notesSlides/_rels/notesSlide6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b4afab7f91_2_24:notes"/>
          <p:cNvSpPr txBox="1">
            <a:spLocks noGrp="1"/>
          </p:cNvSpPr>
          <p:nvPr>
            <p:ph type="body" idx="1"/>
          </p:nvPr>
        </p:nvSpPr>
        <p:spPr>
          <a:xfrm>
            <a:off x="679768" y="4777194"/>
            <a:ext cx="5438140" cy="390861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b4afab7f91_2_2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5628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ITPM=IT Project Manager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Note : for a “SaaS project” , a TCC after design phase/build phase and </a:t>
            </a:r>
            <a:r>
              <a:rPr lang="en-US" sz="1100" err="1"/>
              <a:t>golive</a:t>
            </a:r>
            <a:r>
              <a:rPr lang="en-US" sz="1100"/>
              <a:t> are mandatory as usually all topics may not be instructed completely in pre-study (among them exit plan strategy with its governance, mediation layer &amp; integration , ITSM processes </a:t>
            </a:r>
            <a:r>
              <a:rPr lang="en-US" sz="1100" err="1"/>
              <a:t>etc</a:t>
            </a:r>
            <a:r>
              <a:rPr lang="en-US" sz="1100"/>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Note : in pre-study  all topics should be challenged in order to understand the share model responsibility and to value workload and skills to support the project and to complete the instruction and  the deliverables on a deep way.  The TCC shall give the exact situation and the rest to evaluate post contractualization  for validation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7864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F76FB-22A0-9F48-30CC-D69C8BC9181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A96B02-BCA3-E618-5430-1F5782C59E75}"/>
              </a:ext>
            </a:extLst>
          </p:cNvPr>
          <p:cNvSpPr>
            <a:spLocks noGrp="1" noRot="1" noChangeAspect="1"/>
          </p:cNvSpPr>
          <p:nvPr>
            <p:ph type="sldImg"/>
          </p:nvPr>
        </p:nvSpPr>
        <p:spPr>
          <a:xfrm>
            <a:off x="155575" y="574675"/>
            <a:ext cx="6621463" cy="3724275"/>
          </a:xfrm>
        </p:spPr>
      </p:sp>
      <p:sp>
        <p:nvSpPr>
          <p:cNvPr id="3" name="Espace réservé des notes 2">
            <a:extLst>
              <a:ext uri="{FF2B5EF4-FFF2-40B4-BE49-F238E27FC236}">
                <a16:creationId xmlns:a16="http://schemas.microsoft.com/office/drawing/2014/main" id="{841CF430-EAB9-2B6B-0D03-7EE1266F382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813DD7F-9BAE-5C38-76EB-128815941D49}"/>
              </a:ext>
            </a:extLst>
          </p:cNvPr>
          <p:cNvSpPr>
            <a:spLocks noGrp="1"/>
          </p:cNvSpPr>
          <p:nvPr>
            <p:ph type="sldNum" sz="quarter" idx="5"/>
          </p:nvPr>
        </p:nvSpPr>
        <p:spPr/>
        <p:txBody>
          <a:bodyPr/>
          <a:lstStyle/>
          <a:p>
            <a:r>
              <a:rPr lang="en-US"/>
              <a:t>Notes view: </a:t>
            </a:r>
            <a:fld id="{128CEAFE-FA94-43E5-B0FF-D47E1CCDD1B4}" type="slidenum">
              <a:rPr lang="en-US" smtClean="0"/>
              <a:pPr/>
              <a:t>4</a:t>
            </a:fld>
            <a:endParaRPr lang="en-US"/>
          </a:p>
        </p:txBody>
      </p:sp>
    </p:spTree>
    <p:extLst>
      <p:ext uri="{BB962C8B-B14F-4D97-AF65-F5344CB8AC3E}">
        <p14:creationId xmlns:p14="http://schemas.microsoft.com/office/powerpoint/2010/main" val="1755015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0B582-EB94-CC9D-44E0-1B90F2F7C1D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69561F-3222-4F11-BA18-AE94FCF81F7A}"/>
              </a:ext>
            </a:extLst>
          </p:cNvPr>
          <p:cNvSpPr>
            <a:spLocks noGrp="1" noRot="1" noChangeAspect="1"/>
          </p:cNvSpPr>
          <p:nvPr>
            <p:ph type="sldImg"/>
          </p:nvPr>
        </p:nvSpPr>
        <p:spPr>
          <a:xfrm>
            <a:off x="155575" y="574675"/>
            <a:ext cx="6621463" cy="3724275"/>
          </a:xfrm>
        </p:spPr>
      </p:sp>
      <p:sp>
        <p:nvSpPr>
          <p:cNvPr id="3" name="Espace réservé des notes 2">
            <a:extLst>
              <a:ext uri="{FF2B5EF4-FFF2-40B4-BE49-F238E27FC236}">
                <a16:creationId xmlns:a16="http://schemas.microsoft.com/office/drawing/2014/main" id="{6840165D-242F-DD1B-87C1-5E890F5A31E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1883886-78FB-31F0-B146-9A5A28267671}"/>
              </a:ext>
            </a:extLst>
          </p:cNvPr>
          <p:cNvSpPr>
            <a:spLocks noGrp="1"/>
          </p:cNvSpPr>
          <p:nvPr>
            <p:ph type="sldNum" sz="quarter" idx="5"/>
          </p:nvPr>
        </p:nvSpPr>
        <p:spPr/>
        <p:txBody>
          <a:bodyPr/>
          <a:lstStyle/>
          <a:p>
            <a:r>
              <a:rPr lang="en-US"/>
              <a:t>Notes view: </a:t>
            </a:r>
            <a:fld id="{128CEAFE-FA94-43E5-B0FF-D47E1CCDD1B4}" type="slidenum">
              <a:rPr lang="en-US" smtClean="0"/>
              <a:pPr/>
              <a:t>5</a:t>
            </a:fld>
            <a:endParaRPr lang="en-US"/>
          </a:p>
        </p:txBody>
      </p:sp>
    </p:spTree>
    <p:extLst>
      <p:ext uri="{BB962C8B-B14F-4D97-AF65-F5344CB8AC3E}">
        <p14:creationId xmlns:p14="http://schemas.microsoft.com/office/powerpoint/2010/main" val="4252190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a:t>For a SaaS solution : </a:t>
            </a:r>
            <a:r>
              <a:rPr lang="fr-FR" err="1"/>
              <a:t>please</a:t>
            </a:r>
            <a:r>
              <a:rPr lang="fr-FR"/>
              <a:t> </a:t>
            </a:r>
            <a:r>
              <a:rPr lang="fr-FR" err="1"/>
              <a:t>refer</a:t>
            </a:r>
            <a:r>
              <a:rPr lang="fr-FR"/>
              <a:t> to documentation </a:t>
            </a:r>
            <a:r>
              <a:rPr lang="fr-FR" err="1"/>
              <a:t>published</a:t>
            </a:r>
            <a:r>
              <a:rPr lang="fr-FR"/>
              <a:t> on the page SaaS </a:t>
            </a:r>
            <a:r>
              <a:rPr lang="fr-FR" err="1"/>
              <a:t>frawework</a:t>
            </a:r>
            <a:r>
              <a:rPr lang="fr-FR"/>
              <a:t> </a:t>
            </a:r>
          </a:p>
          <a:p>
            <a:pPr marL="0" lvl="0" indent="0" algn="l" rtl="0">
              <a:spcBef>
                <a:spcPts val="0"/>
              </a:spcBef>
              <a:spcAft>
                <a:spcPts val="0"/>
              </a:spcAft>
              <a:buNone/>
            </a:pPr>
            <a:r>
              <a:rPr lang="fr-FR"/>
              <a:t>   - « SaaS « </a:t>
            </a:r>
            <a:r>
              <a:rPr lang="fr-FR" err="1"/>
              <a:t>presentation</a:t>
            </a:r>
            <a:r>
              <a:rPr lang="fr-FR"/>
              <a:t> to </a:t>
            </a:r>
            <a:r>
              <a:rPr lang="fr-FR" err="1"/>
              <a:t>identify</a:t>
            </a:r>
            <a:r>
              <a:rPr lang="fr-FR"/>
              <a:t>  and </a:t>
            </a:r>
            <a:r>
              <a:rPr lang="fr-FR" err="1"/>
              <a:t>present</a:t>
            </a:r>
            <a:r>
              <a:rPr lang="fr-FR"/>
              <a:t> all topics </a:t>
            </a:r>
            <a:r>
              <a:rPr lang="fr-FR" err="1"/>
              <a:t>referenced</a:t>
            </a:r>
            <a:r>
              <a:rPr lang="fr-FR"/>
              <a:t> </a:t>
            </a:r>
            <a:r>
              <a:rPr lang="fr-FR" err="1"/>
              <a:t>within</a:t>
            </a:r>
            <a:r>
              <a:rPr lang="fr-FR"/>
              <a:t> </a:t>
            </a:r>
            <a:r>
              <a:rPr lang="fr-FR" err="1"/>
              <a:t>it</a:t>
            </a:r>
            <a:r>
              <a:rPr lang="fr-FR"/>
              <a:t>.	</a:t>
            </a:r>
          </a:p>
          <a:p>
            <a:pPr marL="0" lvl="0" indent="0" algn="l" rtl="0">
              <a:spcBef>
                <a:spcPts val="0"/>
              </a:spcBef>
              <a:spcAft>
                <a:spcPts val="0"/>
              </a:spcAft>
              <a:buNone/>
            </a:pPr>
            <a:r>
              <a:rPr lang="fr-FR"/>
              <a:t>  - SaaS </a:t>
            </a:r>
            <a:r>
              <a:rPr lang="fr-FR" err="1"/>
              <a:t>well</a:t>
            </a:r>
            <a:r>
              <a:rPr lang="fr-FR"/>
              <a:t> </a:t>
            </a:r>
            <a:r>
              <a:rPr lang="fr-FR" err="1"/>
              <a:t>architect</a:t>
            </a:r>
            <a:r>
              <a:rPr lang="fr-FR"/>
              <a:t> a guideline to challenge the </a:t>
            </a:r>
            <a:r>
              <a:rPr lang="fr-FR" err="1"/>
              <a:t>offer</a:t>
            </a:r>
            <a:r>
              <a:rPr lang="fr-FR"/>
              <a:t> and to </a:t>
            </a:r>
            <a:r>
              <a:rPr lang="fr-FR" err="1"/>
              <a:t>assess</a:t>
            </a:r>
            <a:r>
              <a:rPr lang="fr-FR"/>
              <a:t> the </a:t>
            </a:r>
            <a:r>
              <a:rPr lang="fr-FR" err="1"/>
              <a:t>pre-study</a:t>
            </a:r>
            <a:r>
              <a:rPr lang="fr-FR"/>
              <a:t> on all topics</a:t>
            </a:r>
          </a:p>
          <a:p>
            <a:pPr marL="0" lvl="0" indent="0" algn="l" rtl="0">
              <a:spcBef>
                <a:spcPts val="0"/>
              </a:spcBef>
              <a:spcAft>
                <a:spcPts val="0"/>
              </a:spcAft>
              <a:buNone/>
            </a:pPr>
            <a:endParaRPr lang="fr-FR"/>
          </a:p>
          <a:p>
            <a:pPr marL="0" lvl="0" indent="0" algn="l" rtl="0">
              <a:spcBef>
                <a:spcPts val="0"/>
              </a:spcBef>
              <a:spcAft>
                <a:spcPts val="0"/>
              </a:spcAft>
              <a:buNone/>
            </a:pPr>
            <a:endParaRPr lang="fr-FR"/>
          </a:p>
          <a:p>
            <a:r>
              <a:rPr lang="fr-FR" sz="1100">
                <a:solidFill>
                  <a:srgbClr val="FF0000"/>
                </a:solidFill>
                <a:highlight>
                  <a:srgbClr val="FFFF00"/>
                </a:highlight>
              </a:rPr>
              <a:t>For a TCC </a:t>
            </a:r>
            <a:r>
              <a:rPr lang="fr-FR" sz="1100" err="1">
                <a:solidFill>
                  <a:srgbClr val="FF0000"/>
                </a:solidFill>
                <a:highlight>
                  <a:srgbClr val="FFFF00"/>
                </a:highlight>
              </a:rPr>
              <a:t>onboard</a:t>
            </a:r>
            <a:r>
              <a:rPr lang="fr-FR" sz="1100">
                <a:solidFill>
                  <a:srgbClr val="FF0000"/>
                </a:solidFill>
                <a:highlight>
                  <a:srgbClr val="FFFF00"/>
                </a:highlight>
              </a:rPr>
              <a:t> a solution </a:t>
            </a:r>
            <a:r>
              <a:rPr lang="fr-FR" sz="1100" err="1">
                <a:solidFill>
                  <a:srgbClr val="FF0000"/>
                </a:solidFill>
                <a:highlight>
                  <a:srgbClr val="FFFF00"/>
                </a:highlight>
              </a:rPr>
              <a:t>based</a:t>
            </a:r>
            <a:r>
              <a:rPr lang="fr-FR" sz="1100">
                <a:solidFill>
                  <a:srgbClr val="FF0000"/>
                </a:solidFill>
                <a:highlight>
                  <a:srgbClr val="FFFF00"/>
                </a:highlight>
              </a:rPr>
              <a:t> on    »SaaS », </a:t>
            </a:r>
            <a:r>
              <a:rPr lang="fr-FR" sz="1100" err="1">
                <a:solidFill>
                  <a:srgbClr val="FF0000"/>
                </a:solidFill>
                <a:highlight>
                  <a:srgbClr val="FFFF00"/>
                </a:highlight>
              </a:rPr>
              <a:t>please</a:t>
            </a:r>
            <a:r>
              <a:rPr lang="fr-FR" sz="1100">
                <a:solidFill>
                  <a:srgbClr val="FF0000"/>
                </a:solidFill>
                <a:highlight>
                  <a:srgbClr val="FFFF00"/>
                </a:highlight>
              </a:rPr>
              <a:t> </a:t>
            </a:r>
            <a:r>
              <a:rPr lang="fr-FR" sz="1100" err="1">
                <a:solidFill>
                  <a:srgbClr val="FF0000"/>
                </a:solidFill>
                <a:highlight>
                  <a:srgbClr val="FFFF00"/>
                </a:highlight>
              </a:rPr>
              <a:t>refer</a:t>
            </a:r>
            <a:r>
              <a:rPr lang="fr-FR" sz="1100">
                <a:solidFill>
                  <a:srgbClr val="FF0000"/>
                </a:solidFill>
                <a:highlight>
                  <a:srgbClr val="FFFF00"/>
                </a:highlight>
              </a:rPr>
              <a:t> to </a:t>
            </a:r>
            <a:r>
              <a:rPr lang="fr-FR" sz="1100" err="1">
                <a:solidFill>
                  <a:srgbClr val="FF0000"/>
                </a:solidFill>
                <a:highlight>
                  <a:srgbClr val="FFFF00"/>
                </a:highlight>
              </a:rPr>
              <a:t>remarks</a:t>
            </a:r>
            <a:r>
              <a:rPr lang="fr-FR" sz="1100">
                <a:solidFill>
                  <a:srgbClr val="FF0000"/>
                </a:solidFill>
                <a:highlight>
                  <a:srgbClr val="FFFF00"/>
                </a:highlight>
              </a:rPr>
              <a:t> </a:t>
            </a:r>
            <a:r>
              <a:rPr lang="fr-FR" sz="1100" err="1">
                <a:solidFill>
                  <a:srgbClr val="FF0000"/>
                </a:solidFill>
                <a:highlight>
                  <a:srgbClr val="FFFF00"/>
                </a:highlight>
              </a:rPr>
              <a:t>attached</a:t>
            </a:r>
            <a:r>
              <a:rPr lang="fr-FR" sz="1100">
                <a:solidFill>
                  <a:srgbClr val="FF0000"/>
                </a:solidFill>
                <a:highlight>
                  <a:srgbClr val="FFFF00"/>
                </a:highlight>
              </a:rPr>
              <a:t> to </a:t>
            </a:r>
            <a:r>
              <a:rPr lang="fr-FR" sz="1100" err="1">
                <a:solidFill>
                  <a:srgbClr val="FF0000"/>
                </a:solidFill>
                <a:highlight>
                  <a:srgbClr val="FFFF00"/>
                </a:highlight>
              </a:rPr>
              <a:t>each</a:t>
            </a:r>
            <a:r>
              <a:rPr lang="fr-FR" sz="1100">
                <a:solidFill>
                  <a:srgbClr val="FF0000"/>
                </a:solidFill>
                <a:highlight>
                  <a:srgbClr val="FFFF00"/>
                </a:highlight>
              </a:rPr>
              <a:t> slide</a:t>
            </a:r>
          </a:p>
          <a:p>
            <a:r>
              <a:rPr lang="fr-FR" sz="1100">
                <a:solidFill>
                  <a:srgbClr val="FF0000"/>
                </a:solidFill>
                <a:highlight>
                  <a:srgbClr val="FFFF00"/>
                </a:highlight>
              </a:rPr>
              <a:t>Note  : </a:t>
            </a:r>
          </a:p>
          <a:p>
            <a:r>
              <a:rPr lang="en-GB" sz="1100">
                <a:solidFill>
                  <a:srgbClr val="FF0000"/>
                </a:solidFill>
                <a:highlight>
                  <a:srgbClr val="FFFF00"/>
                </a:highlight>
                <a:ea typeface="+mn-lt"/>
                <a:cs typeface="+mn-lt"/>
              </a:rPr>
              <a:t>A </a:t>
            </a:r>
            <a:r>
              <a:rPr lang="en-GB" sz="1100">
                <a:solidFill>
                  <a:srgbClr val="FF0000"/>
                </a:solidFill>
                <a:highlight>
                  <a:srgbClr val="FFFF00"/>
                </a:highlight>
                <a:latin typeface="+mj-lt"/>
                <a:ea typeface="+mn-lt"/>
                <a:cs typeface="+mn-lt"/>
              </a:rPr>
              <a:t>“SaaS” Service or Product </a:t>
            </a:r>
            <a:r>
              <a:rPr lang="en-GB" sz="1100">
                <a:solidFill>
                  <a:srgbClr val="FF0000"/>
                </a:solidFill>
                <a:highlight>
                  <a:srgbClr val="FFFF00"/>
                </a:highlight>
                <a:ea typeface="+mn-lt"/>
                <a:cs typeface="+mn-lt"/>
              </a:rPr>
              <a:t>is an external function or service “used by” or “interacting with” the Bank, the Insurance or any JVs of Stellantis Financial Services (excluding service deliveries).</a:t>
            </a:r>
            <a:endParaRPr lang="en-US" sz="1100">
              <a:solidFill>
                <a:srgbClr val="FF0000"/>
              </a:solidFill>
              <a:highlight>
                <a:srgbClr val="FFFF00"/>
              </a:highlight>
              <a:latin typeface="Encode Sans Expanded Light" pitchFamily="2" charset="0"/>
              <a:ea typeface="Calibri" panose="020F0502020204030204" pitchFamily="34" charset="0"/>
              <a:cs typeface="Calibri" panose="020F0502020204030204" pitchFamily="34" charset="0"/>
            </a:endParaRPr>
          </a:p>
          <a:p>
            <a:r>
              <a:rPr lang="en-US" sz="1100">
                <a:solidFill>
                  <a:srgbClr val="FF0000"/>
                </a:solidFill>
                <a:highlight>
                  <a:srgbClr val="FFFF00"/>
                </a:highlight>
                <a:latin typeface="Encode Sans Expanded Light"/>
                <a:ea typeface="Calibri"/>
                <a:cs typeface="Calibri"/>
              </a:rPr>
              <a:t>The term</a:t>
            </a:r>
            <a:r>
              <a:rPr lang="en-US" sz="1100" noProof="0">
                <a:solidFill>
                  <a:srgbClr val="FF0000"/>
                </a:solidFill>
                <a:highlight>
                  <a:srgbClr val="FFFF00"/>
                </a:highlight>
                <a:latin typeface="Encode Sans Expanded Light"/>
                <a:ea typeface="Calibri"/>
                <a:cs typeface="Calibri"/>
              </a:rPr>
              <a:t> </a:t>
            </a:r>
            <a:r>
              <a:rPr lang="en-US" sz="1100" noProof="0">
                <a:solidFill>
                  <a:srgbClr val="FF0000"/>
                </a:solidFill>
                <a:highlight>
                  <a:srgbClr val="FFFF00"/>
                </a:highlight>
                <a:latin typeface="+mj-lt"/>
                <a:ea typeface="Calibri"/>
                <a:cs typeface="Calibri"/>
              </a:rPr>
              <a:t>“SaaS” </a:t>
            </a:r>
            <a:r>
              <a:rPr lang="en-US" sz="1100" noProof="0">
                <a:solidFill>
                  <a:srgbClr val="FF0000"/>
                </a:solidFill>
                <a:highlight>
                  <a:srgbClr val="FFFF00"/>
                </a:highlight>
                <a:latin typeface="Encode Sans Expanded Light"/>
                <a:ea typeface="Calibri"/>
                <a:cs typeface="Calibri"/>
              </a:rPr>
              <a:t>to refer to any external solution or service that does not reside on a Stellantis resource.</a:t>
            </a:r>
          </a:p>
          <a:p>
            <a:pPr marL="0" lvl="0" indent="0" algn="l" rtl="0">
              <a:spcBef>
                <a:spcPts val="0"/>
              </a:spcBef>
              <a:spcAft>
                <a:spcPts val="0"/>
              </a:spcAft>
              <a:buNone/>
            </a:pP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4503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0d316793d7_1_18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0d316793d7_1_187: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indent="0">
              <a:buNone/>
            </a:pPr>
            <a:r>
              <a:rPr lang="en-US"/>
              <a:t>Indicate the validation date for the gate to be validated when the document is sent to stakeholders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a:t>Project when  onboarding a “SaaS” product .</a:t>
            </a:r>
          </a:p>
          <a:p>
            <a:pPr marL="628650" marR="0" lvl="1"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a:t>The validation of the project shall validate the delivery of exit plan document and the delivery of the export facilities attached  to migration plan with test done on Supplier’s side during the project.  </a:t>
            </a:r>
          </a:p>
          <a:p>
            <a:pPr marL="628650" marR="0" lvl="1"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a:t>The contract content relative to exit plan and reversibility shall be done </a:t>
            </a:r>
          </a:p>
          <a:p>
            <a:pPr marL="628650" lvl="1" indent="-171450">
              <a:buChar char="●"/>
              <a:defRPr/>
            </a:pPr>
            <a:r>
              <a:rPr lang="en-US" b="1"/>
              <a:t>The testing exit plan shall be designed and regularly executed according to the risk level resulted of the risk assessment and based on the Risk testing policy (contact : </a:t>
            </a:r>
            <a:r>
              <a:rPr lang="en-US" b="1" err="1"/>
              <a:t>Ciso</a:t>
            </a:r>
            <a:r>
              <a:rPr lang="en-US" b="1"/>
              <a:t> Team)</a:t>
            </a:r>
            <a:endParaRPr lang="en-US" sz="1100" b="1"/>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endParaRPr lang="en-US" sz="1100" b="1"/>
          </a:p>
          <a:p>
            <a:pPr marL="171450" indent="-171450">
              <a:defRPr/>
            </a:pPr>
            <a:endParaRPr lang="en-US" b="1"/>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1"/>
              <a:t>Project when executing an exit plan :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a:p>
          <a:p>
            <a:pPr marL="457200" marR="0" lvl="1"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When  the project is done for executing an exit plan of a current and existing  SaaS service ,then   </a:t>
            </a:r>
          </a:p>
          <a:p>
            <a:pPr marL="457200" marR="0" lvl="1"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 - List of applications and  the “SaaS contract” to be decommissioned are mandatory</a:t>
            </a:r>
          </a:p>
          <a:p>
            <a:pPr marL="457200" marR="0" lvl="1"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 - Timelines are mandatory  such as</a:t>
            </a:r>
          </a:p>
          <a:p>
            <a:pPr marL="457200" marR="0" lvl="1"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	Decommissioning phase of the initial service :  the Service/contract decommissioning and Data plan for deletion/migration/archiving  </a:t>
            </a:r>
          </a:p>
          <a:p>
            <a:pPr marL="457200" marR="0" lvl="1"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	Data migration plan (design/test/deploy) towards the new target</a:t>
            </a:r>
          </a:p>
          <a:p>
            <a:pPr marL="457200" lvl="1" indent="0">
              <a:buNone/>
              <a:defRPr/>
            </a:pPr>
            <a:r>
              <a:rPr lang="en-US" sz="1100"/>
              <a:t>     </a:t>
            </a:r>
            <a:r>
              <a:rPr lang="en-US"/>
              <a:t>  </a:t>
            </a:r>
            <a:r>
              <a:rPr lang="en-US" sz="1100"/>
              <a:t>Transition phase to manage the switch between Initial source service and the new target solution</a:t>
            </a:r>
          </a:p>
          <a:p>
            <a:pPr marL="457200" lvl="1" indent="0">
              <a:buNone/>
              <a:defRPr/>
            </a:pPr>
            <a:r>
              <a:rPr lang="en-US"/>
              <a:t>               </a:t>
            </a:r>
            <a:endParaRPr lang="en-US" sz="1100"/>
          </a:p>
          <a:p>
            <a:pPr marL="457200" lvl="1" indent="0">
              <a:buNone/>
              <a:defRPr/>
            </a:pPr>
            <a:endParaRPr lang="en-US"/>
          </a:p>
          <a:p>
            <a:pPr marL="457200" lvl="1" indent="0">
              <a:buNone/>
              <a:defRPr/>
            </a:pPr>
            <a:r>
              <a:rPr lang="en-US" sz="1100"/>
              <a:t>A high level planning  of the project is mandatory showing all these phases evolving the supplier (</a:t>
            </a:r>
            <a:r>
              <a:rPr lang="en-US" sz="1100" err="1"/>
              <a:t>decommisioning</a:t>
            </a:r>
            <a:r>
              <a:rPr lang="en-US" sz="1100"/>
              <a:t>) and the new one (Stellantis/SFS and/or other supplier) </a:t>
            </a:r>
            <a:r>
              <a:rPr lang="en-US"/>
              <a:t>, without missing the exit plan deliverables for the new target. </a:t>
            </a:r>
            <a:endParaRPr lang="en-US" sz="1100"/>
          </a:p>
          <a:p>
            <a:pPr marL="457200" marR="0" lvl="1"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A slide on Organization project , Skills management and Risk conduct shall be added .</a:t>
            </a:r>
          </a:p>
          <a:p>
            <a:pPr marL="457200" marR="0" lvl="1"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t>That information shall be more and more detailed  regarding TCC gate event </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672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fr-FR" dirty="0"/>
              <a:t>Complete </a:t>
            </a:r>
            <a:r>
              <a:rPr lang="fr-FR" dirty="0" err="1"/>
              <a:t>this</a:t>
            </a:r>
            <a:r>
              <a:rPr lang="fr-FR" dirty="0"/>
              <a:t> slide for </a:t>
            </a:r>
            <a:r>
              <a:rPr lang="fr-FR" dirty="0" err="1"/>
              <a:t>Gate</a:t>
            </a:r>
            <a:r>
              <a:rPr lang="fr-FR" dirty="0"/>
              <a:t> 1 </a:t>
            </a:r>
            <a:r>
              <a:rPr lang="fr-FR" dirty="0" err="1"/>
              <a:t>approval</a:t>
            </a:r>
            <a:r>
              <a:rPr lang="fr-FR" dirty="0"/>
              <a:t> and </a:t>
            </a:r>
            <a:r>
              <a:rPr lang="fr-FR" dirty="0" err="1"/>
              <a:t>Gate</a:t>
            </a:r>
            <a:r>
              <a:rPr lang="fr-FR" dirty="0"/>
              <a:t> 1 </a:t>
            </a:r>
            <a:r>
              <a:rPr lang="fr-FR" dirty="0" err="1"/>
              <a:t>PoC</a:t>
            </a:r>
            <a:endParaRPr lang="fr-FR" dirty="0"/>
          </a:p>
          <a:p>
            <a:pPr marL="0" indent="0">
              <a:buNone/>
            </a:pPr>
            <a:r>
              <a:rPr lang="fr-FR" dirty="0"/>
              <a:t>#Architecture One Pager</a:t>
            </a:r>
          </a:p>
          <a:p>
            <a:pPr marL="0" indent="0">
              <a:buFont typeface="Arial" panose="020B0604020202020204" pitchFamily="34" charset="0"/>
              <a:buNone/>
            </a:pPr>
            <a:r>
              <a:rPr lang="fr-FR" dirty="0"/>
              <a:t>(1) Demande type : multi </a:t>
            </a:r>
            <a:r>
              <a:rPr lang="fr-FR" dirty="0" err="1"/>
              <a:t>selection</a:t>
            </a:r>
            <a:r>
              <a:rPr lang="fr-FR" dirty="0"/>
              <a:t> </a:t>
            </a:r>
            <a:r>
              <a:rPr lang="fr-FR" dirty="0" err="1"/>
              <a:t>from</a:t>
            </a:r>
            <a:endParaRPr lang="fr-FR" dirty="0"/>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New Application</a:t>
            </a:r>
          </a:p>
          <a:p>
            <a:pPr marL="628650" lvl="1" indent="-171450">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Enhancement to existing application; new functionality(</a:t>
            </a:r>
            <a:r>
              <a:rPr lang="en-US" sz="1100" dirty="0" err="1">
                <a:solidFill>
                  <a:schemeClr val="tx1"/>
                </a:solidFill>
                <a:latin typeface="Arial" panose="020B0604020202020204" pitchFamily="34" charset="0"/>
                <a:cs typeface="Arial" panose="020B0604020202020204" pitchFamily="34" charset="0"/>
              </a:rPr>
              <a:t>ies</a:t>
            </a:r>
            <a:r>
              <a:rPr lang="en-US" sz="1100" dirty="0">
                <a:solidFill>
                  <a:schemeClr val="tx1"/>
                </a:solidFill>
                <a:latin typeface="Arial" panose="020B0604020202020204" pitchFamily="34" charset="0"/>
                <a:cs typeface="Arial" panose="020B0604020202020204" pitchFamily="34" charset="0"/>
              </a:rPr>
              <a:t>) without architecture &amp; infrastructure changes and no impact on SOX, CIA, privacy regulation, # of users</a:t>
            </a:r>
          </a:p>
          <a:p>
            <a:pPr marL="628650" lvl="1" indent="-171450">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Enhancement to existing application with architecture (e.g. new interface) or infrastructure changes, or  impact on SOX, CIA, privacy regulation, # of users</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New Software Product Approval Request (PAR)</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Move to Cloud</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Technical migration, Infrastructure refreshment (for obsolescence)</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Decommissioning</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POC</a:t>
            </a:r>
          </a:p>
          <a:p>
            <a:pPr marL="0" indent="0">
              <a:buNone/>
            </a:pPr>
            <a:r>
              <a:rPr lang="fr-FR" dirty="0"/>
              <a:t>(2) </a:t>
            </a:r>
            <a:r>
              <a:rPr lang="fr-FR" dirty="0" err="1"/>
              <a:t>Build</a:t>
            </a:r>
            <a:r>
              <a:rPr lang="fr-FR" dirty="0"/>
              <a:t> type : multi section </a:t>
            </a:r>
            <a:r>
              <a:rPr lang="fr-FR" dirty="0" err="1"/>
              <a:t>from</a:t>
            </a:r>
            <a:endParaRPr lang="fr-FR" dirty="0"/>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M2C Rehosting</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M2C </a:t>
            </a:r>
            <a:r>
              <a:rPr lang="en-US" sz="1100" dirty="0" err="1">
                <a:latin typeface="Arial" panose="020B0604020202020204" pitchFamily="34" charset="0"/>
                <a:cs typeface="Arial" panose="020B0604020202020204" pitchFamily="34" charset="0"/>
              </a:rPr>
              <a:t>Replatforming</a:t>
            </a:r>
            <a:endParaRPr lang="en-US" sz="1100" dirty="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M2C Refactoring</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Based on an existing platform</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Based on a SaaS solution</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Commercial off-the-shelf product implementation</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In-house development (=“custom development”)</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Decommissioning</a:t>
            </a:r>
          </a:p>
          <a:p>
            <a:pPr marL="628650" lvl="1"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Other</a:t>
            </a:r>
          </a:p>
          <a:p>
            <a:pPr marL="0" indent="0">
              <a:buNone/>
            </a:pPr>
            <a:r>
              <a:rPr lang="fr-FR" dirty="0"/>
              <a:t>(3) End </a:t>
            </a:r>
            <a:r>
              <a:rPr lang="fr-FR" dirty="0" err="1"/>
              <a:t>users</a:t>
            </a:r>
            <a:r>
              <a:rPr lang="fr-FR" dirty="0"/>
              <a:t> : multi </a:t>
            </a:r>
            <a:r>
              <a:rPr lang="fr-FR" dirty="0" err="1"/>
              <a:t>selection</a:t>
            </a:r>
            <a:r>
              <a:rPr lang="fr-FR" dirty="0"/>
              <a:t> </a:t>
            </a:r>
            <a:r>
              <a:rPr lang="fr-FR" dirty="0" err="1"/>
              <a:t>from</a:t>
            </a:r>
            <a:r>
              <a:rPr lang="fr-FR" dirty="0"/>
              <a:t> </a:t>
            </a:r>
          </a:p>
          <a:p>
            <a:pPr marL="685800" lvl="1" indent="-228600">
              <a:buFont typeface="Arial" panose="020B0604020202020204" pitchFamily="34" charset="0"/>
              <a:buChar char="•"/>
            </a:pPr>
            <a:r>
              <a:rPr lang="en-US" sz="1100" dirty="0">
                <a:latin typeface="Arial" panose="020B0604020202020204" pitchFamily="34" charset="0"/>
                <a:cs typeface="Arial" panose="020B0604020202020204" pitchFamily="34" charset="0"/>
              </a:rPr>
              <a:t>Internal Stellantis employees (with ID)</a:t>
            </a:r>
          </a:p>
          <a:p>
            <a:pPr marL="685800" lvl="1" indent="-228600">
              <a:buFont typeface="Arial" panose="020B0604020202020204" pitchFamily="34" charset="0"/>
              <a:buChar char="•"/>
            </a:pPr>
            <a:r>
              <a:rPr lang="en-US" sz="1100" dirty="0">
                <a:latin typeface="Arial" panose="020B0604020202020204" pitchFamily="34" charset="0"/>
                <a:cs typeface="Arial" panose="020B0604020202020204" pitchFamily="34" charset="0"/>
              </a:rPr>
              <a:t>External Stellantis users like Partners</a:t>
            </a:r>
          </a:p>
          <a:p>
            <a:pPr marL="685800" lvl="1" indent="-228600">
              <a:buFont typeface="Arial" panose="020B0604020202020204" pitchFamily="34" charset="0"/>
              <a:buChar char="•"/>
            </a:pPr>
            <a:r>
              <a:rPr lang="en-US" sz="1100" dirty="0">
                <a:latin typeface="Arial" panose="020B0604020202020204" pitchFamily="34" charset="0"/>
                <a:cs typeface="Arial" panose="020B0604020202020204" pitchFamily="34" charset="0"/>
              </a:rPr>
              <a:t>Dealers</a:t>
            </a:r>
          </a:p>
          <a:p>
            <a:pPr marL="685800" lvl="1" indent="-228600">
              <a:buFont typeface="Arial" panose="020B0604020202020204" pitchFamily="34" charset="0"/>
              <a:buChar char="•"/>
            </a:pPr>
            <a:r>
              <a:rPr lang="en-US" sz="1100" dirty="0">
                <a:latin typeface="Arial" panose="020B0604020202020204" pitchFamily="34" charset="0"/>
                <a:cs typeface="Arial" panose="020B0604020202020204" pitchFamily="34" charset="0"/>
              </a:rPr>
              <a:t>Suppliers</a:t>
            </a:r>
          </a:p>
          <a:p>
            <a:pPr marL="685800" lvl="1" indent="-228600">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Dealers with contracts</a:t>
            </a:r>
          </a:p>
          <a:p>
            <a:pPr marL="685800" lvl="1" indent="-228600">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Dealers without contract</a:t>
            </a:r>
          </a:p>
          <a:p>
            <a:pPr marL="685800" lvl="1" indent="-228600">
              <a:buFont typeface="Arial" panose="020B0604020202020204" pitchFamily="34" charset="0"/>
              <a:buChar char="•"/>
            </a:pPr>
            <a:r>
              <a:rPr lang="en-US" sz="1100" dirty="0">
                <a:latin typeface="Arial" panose="020B0604020202020204" pitchFamily="34" charset="0"/>
                <a:cs typeface="Arial" panose="020B0604020202020204" pitchFamily="34" charset="0"/>
              </a:rPr>
              <a:t>Stellantis end customers</a:t>
            </a:r>
          </a:p>
          <a:p>
            <a:pPr marL="685800" lvl="1" indent="-228600">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Other</a:t>
            </a:r>
          </a:p>
          <a:p>
            <a:pPr marL="0" indent="0">
              <a:buNone/>
            </a:pPr>
            <a:r>
              <a:rPr lang="fr-FR" dirty="0"/>
              <a:t>(4) </a:t>
            </a:r>
            <a:r>
              <a:rPr lang="fr-FR" dirty="0" err="1"/>
              <a:t>Regulatory</a:t>
            </a:r>
            <a:r>
              <a:rPr lang="fr-FR" dirty="0"/>
              <a:t> compliance : multi </a:t>
            </a:r>
            <a:r>
              <a:rPr lang="fr-FR" dirty="0" err="1"/>
              <a:t>selection</a:t>
            </a:r>
            <a:r>
              <a:rPr lang="fr-FR" dirty="0"/>
              <a:t> </a:t>
            </a:r>
            <a:r>
              <a:rPr lang="fr-FR" dirty="0" err="1"/>
              <a:t>from</a:t>
            </a:r>
            <a:endParaRPr lang="fr-FR"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100" dirty="0">
                <a:solidFill>
                  <a:srgbClr val="FF0000"/>
                </a:solidFill>
              </a:rPr>
              <a:t>SOX / CAC</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100" dirty="0" err="1">
                <a:solidFill>
                  <a:srgbClr val="FF0000"/>
                </a:solidFill>
              </a:rPr>
              <a:t>Personal</a:t>
            </a:r>
            <a:r>
              <a:rPr lang="fr-FR" sz="1100" dirty="0">
                <a:solidFill>
                  <a:srgbClr val="FF0000"/>
                </a:solidFill>
              </a:rPr>
              <a:t> data</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100" dirty="0">
                <a:solidFill>
                  <a:srgbClr val="FF0000"/>
                </a:solidFill>
              </a:rPr>
              <a:t>GDPR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100" dirty="0">
                <a:solidFill>
                  <a:srgbClr val="FF0000"/>
                </a:solidFill>
              </a:rPr>
              <a:t>CCPA</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100" dirty="0" err="1">
                <a:solidFill>
                  <a:srgbClr val="FF0000"/>
                </a:solidFill>
                <a:latin typeface="Arial"/>
                <a:cs typeface="Arial"/>
              </a:rPr>
              <a:t>Accessibility</a:t>
            </a:r>
            <a:endParaRPr lang="fr-FR" sz="1100" dirty="0">
              <a:solidFill>
                <a:srgbClr val="FF0000"/>
              </a:solidFill>
              <a:latin typeface="Arial"/>
              <a:cs typeface="Aria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dirty="0">
                <a:solidFill>
                  <a:srgbClr val="FF0000"/>
                </a:solidFill>
                <a:latin typeface="Arial"/>
                <a:cs typeface="Arial"/>
              </a:rPr>
              <a:t>(5) Technologies </a:t>
            </a:r>
            <a:r>
              <a:rPr lang="fr-FR" dirty="0" err="1">
                <a:solidFill>
                  <a:srgbClr val="FF0000"/>
                </a:solidFill>
                <a:latin typeface="Arial"/>
                <a:cs typeface="Arial"/>
              </a:rPr>
              <a:t>involved</a:t>
            </a:r>
            <a:r>
              <a:rPr lang="fr-FR" dirty="0">
                <a:solidFill>
                  <a:srgbClr val="FF0000"/>
                </a:solidFill>
                <a:latin typeface="Arial"/>
                <a:cs typeface="Arial"/>
              </a:rPr>
              <a:t> : multi </a:t>
            </a:r>
            <a:r>
              <a:rPr lang="fr-FR" dirty="0" err="1">
                <a:solidFill>
                  <a:srgbClr val="FF0000"/>
                </a:solidFill>
                <a:latin typeface="Arial"/>
                <a:cs typeface="Arial"/>
              </a:rPr>
              <a:t>selection</a:t>
            </a:r>
            <a:r>
              <a:rPr lang="fr-FR" dirty="0">
                <a:solidFill>
                  <a:srgbClr val="FF0000"/>
                </a:solidFill>
                <a:latin typeface="Arial"/>
                <a:cs typeface="Arial"/>
              </a:rPr>
              <a:t> </a:t>
            </a:r>
            <a:r>
              <a:rPr lang="fr-FR" dirty="0" err="1">
                <a:solidFill>
                  <a:srgbClr val="FF0000"/>
                </a:solidFill>
                <a:latin typeface="Arial"/>
                <a:cs typeface="Arial"/>
              </a:rPr>
              <a:t>from</a:t>
            </a:r>
            <a:endParaRPr lang="fr-FR" dirty="0">
              <a:solidFill>
                <a:srgbClr val="FF0000"/>
              </a:solidFill>
              <a:latin typeface="Arial"/>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rgbClr val="FF0000"/>
                </a:solidFill>
                <a:latin typeface="Arial"/>
                <a:ea typeface="+mn-ea"/>
                <a:cs typeface="Arial"/>
                <a:sym typeface="Arial"/>
              </a:rPr>
              <a:t>Cloud implementation: </a:t>
            </a:r>
            <a:r>
              <a:rPr lang="en-US" sz="1100" b="0" i="0" u="none" strike="noStrike" cap="none" dirty="0">
                <a:solidFill>
                  <a:srgbClr val="FF0000"/>
                </a:solidFill>
                <a:latin typeface="Arial"/>
                <a:cs typeface="Arial"/>
                <a:sym typeface="Arial"/>
              </a:rPr>
              <a:t>identify new Cloud implementation or Cloud architecture changes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rgbClr val="FF0000"/>
                </a:solidFill>
                <a:latin typeface="Arial"/>
                <a:ea typeface="+mn-ea"/>
                <a:cs typeface="Arial"/>
                <a:sym typeface="Arial"/>
              </a:rPr>
              <a:t>API used: </a:t>
            </a:r>
            <a:r>
              <a:rPr lang="en-US" sz="1100" b="0" i="0" u="none" strike="noStrike" cap="none" dirty="0">
                <a:solidFill>
                  <a:srgbClr val="FF0000"/>
                </a:solidFill>
                <a:latin typeface="Arial"/>
                <a:cs typeface="Arial"/>
                <a:sym typeface="Arial"/>
              </a:rPr>
              <a:t>identify if the project concerns API use (could be re-use existing API or creating new API)</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rgbClr val="FF0000"/>
                </a:solidFill>
                <a:latin typeface="Arial"/>
                <a:ea typeface="+mn-ea"/>
                <a:cs typeface="Arial"/>
                <a:sym typeface="Arial"/>
              </a:rPr>
              <a:t>GenAI: </a:t>
            </a:r>
            <a:r>
              <a:rPr lang="en-US" sz="1100" b="0" i="0" u="none" strike="noStrike" cap="none" dirty="0">
                <a:solidFill>
                  <a:srgbClr val="FF0000"/>
                </a:solidFill>
                <a:latin typeface="Arial"/>
                <a:cs typeface="Arial"/>
                <a:sym typeface="Arial"/>
              </a:rPr>
              <a:t>identify if the project concerns GenAI use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rgbClr val="FF0000"/>
                </a:solidFill>
                <a:latin typeface="Arial"/>
                <a:ea typeface="+mn-ea"/>
                <a:cs typeface="Arial"/>
                <a:sym typeface="Arial"/>
              </a:rPr>
              <a:t>RPA: </a:t>
            </a:r>
            <a:r>
              <a:rPr lang="en-US" sz="1100" b="0" i="0" u="none" strike="noStrike" cap="none" dirty="0">
                <a:solidFill>
                  <a:srgbClr val="FF0000"/>
                </a:solidFill>
                <a:latin typeface="Arial"/>
                <a:cs typeface="Arial"/>
                <a:sym typeface="Arial"/>
              </a:rPr>
              <a:t>identify if the project concerns RPA use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rgbClr val="FF0000"/>
                </a:solidFill>
                <a:latin typeface="Arial"/>
                <a:ea typeface="+mn-ea"/>
                <a:cs typeface="Arial"/>
                <a:sym typeface="Arial"/>
              </a:rPr>
              <a:t>DATA: </a:t>
            </a:r>
            <a:r>
              <a:rPr lang="en-US" sz="1100" b="0" i="0" u="none" strike="noStrike" cap="none" dirty="0">
                <a:solidFill>
                  <a:srgbClr val="FF0000"/>
                </a:solidFill>
                <a:latin typeface="Arial"/>
                <a:cs typeface="Arial"/>
                <a:sym typeface="Arial"/>
              </a:rPr>
              <a:t>identify if the project incorporates DATA deliverables (as dashboard, data analysis…)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rgbClr val="FF0000"/>
                </a:solidFill>
                <a:latin typeface="Arial"/>
                <a:ea typeface="+mn-ea"/>
                <a:cs typeface="Arial"/>
                <a:sym typeface="Arial"/>
              </a:rPr>
              <a:t>IOT: </a:t>
            </a:r>
            <a:r>
              <a:rPr lang="en-US" sz="1100" b="0" i="0" u="none" strike="noStrike" cap="none" dirty="0">
                <a:solidFill>
                  <a:srgbClr val="FF0000"/>
                </a:solidFill>
                <a:latin typeface="Arial"/>
                <a:cs typeface="Arial"/>
                <a:sym typeface="Arial"/>
              </a:rPr>
              <a:t>identify if the project concerns IOT use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rgbClr val="FF0000"/>
                </a:solidFill>
                <a:latin typeface="Arial"/>
                <a:ea typeface="+mn-ea"/>
                <a:cs typeface="Arial"/>
                <a:sym typeface="Arial"/>
              </a:rPr>
              <a:t>Low-code &amp; Citizen Dev: </a:t>
            </a:r>
            <a:r>
              <a:rPr lang="en-US" sz="1100" b="0" i="0" u="none" strike="noStrike" cap="none" dirty="0">
                <a:solidFill>
                  <a:srgbClr val="FF0000"/>
                </a:solidFill>
                <a:latin typeface="Arial"/>
                <a:cs typeface="Arial"/>
                <a:sym typeface="Arial"/>
              </a:rPr>
              <a:t>identify if the project concerns </a:t>
            </a:r>
            <a:r>
              <a:rPr lang="en-US" sz="1100" b="0" i="0" u="none" strike="noStrike" cap="none" dirty="0" err="1">
                <a:solidFill>
                  <a:srgbClr val="FF0000"/>
                </a:solidFill>
                <a:latin typeface="Arial"/>
                <a:cs typeface="Arial"/>
                <a:sym typeface="Arial"/>
              </a:rPr>
              <a:t>Low-Code&amp;Citizen</a:t>
            </a:r>
            <a:r>
              <a:rPr lang="en-US" sz="1100" b="0" i="0" u="none" strike="noStrike" cap="none" dirty="0">
                <a:solidFill>
                  <a:srgbClr val="FF0000"/>
                </a:solidFill>
                <a:latin typeface="Arial"/>
                <a:cs typeface="Arial"/>
                <a:sym typeface="Arial"/>
              </a:rPr>
              <a:t> development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rgbClr val="FF0000"/>
                </a:solidFill>
                <a:latin typeface="Arial"/>
                <a:ea typeface="+mn-ea"/>
                <a:cs typeface="Arial"/>
                <a:sym typeface="Arial"/>
              </a:rPr>
              <a:t>Infrastructure: project has impact on hardware, virtual servers, cloud services, network, database, middleware, interfaces, storage or backup</a:t>
            </a:r>
            <a:endParaRPr lang="en-US" sz="1100" b="0" i="0" u="none" strike="noStrike" cap="none" dirty="0">
              <a:solidFill>
                <a:srgbClr val="FF0000"/>
              </a:solidFill>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dirty="0"/>
              <a:t>(6) </a:t>
            </a:r>
            <a:r>
              <a:rPr lang="fr-FR" dirty="0" err="1"/>
              <a:t>Detailed</a:t>
            </a:r>
            <a:r>
              <a:rPr lang="fr-FR" dirty="0"/>
              <a:t> </a:t>
            </a:r>
            <a:r>
              <a:rPr lang="fr-FR" dirty="0" err="1"/>
              <a:t>technology</a:t>
            </a:r>
            <a:r>
              <a:rPr lang="fr-FR" dirty="0"/>
              <a:t>(</a:t>
            </a:r>
            <a:r>
              <a:rPr lang="fr-FR" dirty="0" err="1"/>
              <a:t>ies</a:t>
            </a:r>
            <a:r>
              <a:rPr lang="fr-FR" dirty="0"/>
              <a:t>) Cloud </a:t>
            </a:r>
            <a:r>
              <a:rPr lang="fr-FR" dirty="0" err="1"/>
              <a:t>implementation</a:t>
            </a:r>
            <a:r>
              <a:rPr lang="fr-FR" dirty="0"/>
              <a:t> type : </a:t>
            </a:r>
            <a:r>
              <a:rPr lang="en-US" sz="1100" dirty="0">
                <a:highlight>
                  <a:srgbClr val="FFFF00"/>
                </a:highlight>
                <a:latin typeface="+mn-lt"/>
                <a:cs typeface="Arial"/>
              </a:rPr>
              <a:t>If the project concerns Cloud implementation, at least for Gate 2, Identify which type of Cloud implementation (for hosted in cloud provider, not applicable for </a:t>
            </a:r>
            <a:r>
              <a:rPr lang="en-US" sz="1100" u="sng" dirty="0">
                <a:highlight>
                  <a:srgbClr val="FFFF00"/>
                </a:highlight>
                <a:latin typeface="+mn-lt"/>
                <a:cs typeface="Arial"/>
              </a:rPr>
              <a:t>external</a:t>
            </a:r>
            <a:r>
              <a:rPr lang="en-US" sz="1100" dirty="0">
                <a:highlight>
                  <a:srgbClr val="FFFF00"/>
                </a:highlight>
                <a:latin typeface="+mn-lt"/>
                <a:cs typeface="Arial"/>
              </a:rPr>
              <a:t> SaaS service).  </a:t>
            </a:r>
            <a:r>
              <a:rPr lang="fr-FR" dirty="0"/>
              <a:t>multi </a:t>
            </a:r>
            <a:r>
              <a:rPr lang="fr-FR" dirty="0" err="1"/>
              <a:t>selection</a:t>
            </a:r>
            <a:r>
              <a:rPr lang="fr-FR" dirty="0"/>
              <a:t> </a:t>
            </a:r>
            <a:r>
              <a:rPr lang="fr-FR" dirty="0" err="1"/>
              <a:t>from</a:t>
            </a:r>
            <a:endParaRPr lang="fr-FR"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chemeClr val="tx1"/>
                </a:solidFill>
                <a:latin typeface="Arial"/>
                <a:cs typeface="Arial"/>
              </a:rPr>
              <a:t>SAAS Cloud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chemeClr val="tx1"/>
                </a:solidFill>
                <a:latin typeface="Arial"/>
                <a:cs typeface="Arial"/>
              </a:rPr>
              <a:t>CAAS Cloud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chemeClr val="tx1"/>
                </a:solidFill>
                <a:latin typeface="Arial"/>
                <a:cs typeface="Arial"/>
              </a:rPr>
              <a:t>PAAS Cloud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chemeClr val="tx1"/>
                </a:solidFill>
                <a:latin typeface="Arial"/>
                <a:cs typeface="Arial"/>
              </a:rPr>
              <a:t>IAAS Cloud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dirty="0"/>
              <a:t>(7) </a:t>
            </a:r>
            <a:r>
              <a:rPr lang="fr-FR" dirty="0" err="1"/>
              <a:t>Detailed</a:t>
            </a:r>
            <a:r>
              <a:rPr lang="fr-FR" dirty="0"/>
              <a:t> </a:t>
            </a:r>
            <a:r>
              <a:rPr lang="fr-FR" dirty="0" err="1"/>
              <a:t>technology</a:t>
            </a:r>
            <a:r>
              <a:rPr lang="fr-FR" dirty="0"/>
              <a:t>(</a:t>
            </a:r>
            <a:r>
              <a:rPr lang="fr-FR" dirty="0" err="1"/>
              <a:t>ies</a:t>
            </a:r>
            <a:r>
              <a:rPr lang="fr-FR" dirty="0"/>
              <a:t>) API re-use or new. </a:t>
            </a:r>
            <a:r>
              <a:rPr lang="en-US" sz="1100" dirty="0">
                <a:solidFill>
                  <a:schemeClr val="tx1"/>
                </a:solidFill>
                <a:highlight>
                  <a:srgbClr val="FFFF00"/>
                </a:highlight>
                <a:latin typeface="+mn-lt"/>
                <a:cs typeface="Arial"/>
              </a:rPr>
              <a:t>is related to existing API (=consume an existing API for re-use) or new API (=Producer API for creation), </a:t>
            </a:r>
            <a:r>
              <a:rPr lang="en-US" sz="1100" dirty="0">
                <a:highlight>
                  <a:srgbClr val="FFFF00"/>
                </a:highlight>
                <a:latin typeface="+mn-lt"/>
                <a:cs typeface="Arial"/>
              </a:rPr>
              <a:t>at least for Gate 2. </a:t>
            </a:r>
            <a:endParaRPr lang="en-US" sz="1100" dirty="0">
              <a:solidFill>
                <a:schemeClr val="tx1"/>
              </a:solidFill>
              <a:latin typeface="Arial"/>
              <a:cs typeface="Arial"/>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chemeClr val="tx1"/>
                </a:solidFill>
                <a:latin typeface="Arial"/>
                <a:cs typeface="Arial"/>
              </a:rPr>
              <a:t>API Producer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chemeClr val="tx1"/>
                </a:solidFill>
                <a:latin typeface="Arial"/>
                <a:cs typeface="Arial"/>
              </a:rPr>
              <a:t>API Consumer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dirty="0"/>
              <a:t>(8) </a:t>
            </a:r>
            <a:r>
              <a:rPr lang="fr-FR" dirty="0" err="1"/>
              <a:t>Plateform</a:t>
            </a:r>
            <a:r>
              <a:rPr lang="fr-FR" dirty="0"/>
              <a:t> re-</a:t>
            </a:r>
            <a:r>
              <a:rPr lang="fr-FR" dirty="0" err="1"/>
              <a:t>used</a:t>
            </a:r>
            <a:r>
              <a:rPr lang="fr-FR" dirty="0"/>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ADOBE platform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AR/VR platform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Blue Prism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err="1">
                <a:solidFill>
                  <a:schemeClr val="tx1"/>
                </a:solidFill>
                <a:latin typeface="Arial"/>
                <a:cs typeface="Arial"/>
                <a:sym typeface="Arial"/>
              </a:rPr>
              <a:t>DigitalMe</a:t>
            </a:r>
            <a:r>
              <a:rPr lang="en-US" sz="1100" b="0" i="0" u="none" strike="noStrike" cap="none" dirty="0">
                <a:solidFill>
                  <a:schemeClr val="tx1"/>
                </a:solidFill>
                <a:latin typeface="Arial"/>
                <a:cs typeface="Arial"/>
                <a:sym typeface="Arial"/>
              </a:rPr>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Foundry Data4All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GenAI platform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IBM API Connect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IOT platform (BTNROUTER, IOTTX, COPLA)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Microsoft power platform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err="1">
                <a:solidFill>
                  <a:schemeClr val="tx1"/>
                </a:solidFill>
                <a:latin typeface="Arial"/>
                <a:cs typeface="Arial"/>
                <a:sym typeface="Arial"/>
              </a:rPr>
              <a:t>Mulesoft</a:t>
            </a:r>
            <a:r>
              <a:rPr lang="en-US" sz="1100" b="0" i="0" u="none" strike="noStrike" cap="none" dirty="0">
                <a:solidFill>
                  <a:schemeClr val="tx1"/>
                </a:solidFill>
                <a:latin typeface="Arial"/>
                <a:cs typeface="Arial"/>
                <a:sym typeface="Arial"/>
              </a:rPr>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PEGA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Salesforce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SAP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err="1">
                <a:solidFill>
                  <a:schemeClr val="tx1"/>
                </a:solidFill>
                <a:latin typeface="Arial"/>
                <a:cs typeface="Arial"/>
                <a:sym typeface="Arial"/>
              </a:rPr>
              <a:t>Sharepoint</a:t>
            </a:r>
            <a:r>
              <a:rPr lang="en-US" sz="1100" b="0" i="0" u="none" strike="noStrike" cap="none" dirty="0">
                <a:solidFill>
                  <a:schemeClr val="tx1"/>
                </a:solidFill>
                <a:latin typeface="Arial"/>
                <a:cs typeface="Arial"/>
                <a:sym typeface="Arial"/>
              </a:rPr>
              <a:t>/K2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Snowflake Data4All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Stella.AI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cap="none" dirty="0">
                <a:solidFill>
                  <a:schemeClr val="tx1"/>
                </a:solidFill>
                <a:latin typeface="Arial"/>
                <a:cs typeface="Arial"/>
                <a:sym typeface="Arial"/>
              </a:rPr>
              <a:t>Workday </a:t>
            </a:r>
            <a:endParaRPr lang="fr-FR" sz="1100" b="0" i="0" u="none" strike="noStrike" cap="none" dirty="0">
              <a:solidFill>
                <a:schemeClr val="tx1"/>
              </a:solidFill>
              <a:latin typeface="Arial"/>
              <a:cs typeface="Arial"/>
              <a:sym typeface="Arial"/>
            </a:endParaRPr>
          </a:p>
          <a:p>
            <a:pPr marL="158750" indent="0" algn="ctr">
              <a:buNone/>
            </a:pPr>
            <a:r>
              <a:rPr lang="en-US" sz="1800" b="1" dirty="0"/>
              <a:t>Explanation</a:t>
            </a:r>
          </a:p>
          <a:p>
            <a:pPr algn="ctr"/>
            <a:endParaRPr lang="en-US" sz="1100" b="1" dirty="0"/>
          </a:p>
          <a:p>
            <a:pPr marL="158750" indent="0" algn="ctr">
              <a:buNone/>
            </a:pPr>
            <a:r>
              <a:rPr lang="en-US" sz="1100" b="1" dirty="0"/>
              <a:t>The Architecture One Pager provides an overview on the architecture and is complementary to the </a:t>
            </a:r>
            <a:r>
              <a:rPr lang="en-US" sz="1100" b="1" dirty="0" err="1"/>
              <a:t>OnePager</a:t>
            </a:r>
            <a:r>
              <a:rPr lang="en-US" sz="1100" b="1" dirty="0"/>
              <a:t> described in </a:t>
            </a:r>
            <a:r>
              <a:rPr lang="en-US" sz="1100" b="1" dirty="0" err="1"/>
              <a:t>DigitalMe</a:t>
            </a:r>
            <a:r>
              <a:rPr lang="en-US" sz="1100" b="1" dirty="0"/>
              <a:t>. </a:t>
            </a:r>
          </a:p>
          <a:p>
            <a:pPr marL="158750" indent="0" algn="ctr">
              <a:buNone/>
            </a:pPr>
            <a:r>
              <a:rPr lang="en-US" sz="1100" i="1" dirty="0"/>
              <a:t>There is no redundancy with </a:t>
            </a:r>
            <a:r>
              <a:rPr lang="en-US" sz="1100" i="1" dirty="0" err="1"/>
              <a:t>DigitalMe</a:t>
            </a:r>
            <a:r>
              <a:rPr lang="en-US" sz="1100" i="1" dirty="0"/>
              <a:t>, so, it’s necessary to read the information into </a:t>
            </a:r>
            <a:r>
              <a:rPr lang="en-US" sz="1100" i="1" dirty="0" err="1"/>
              <a:t>DigitalMe</a:t>
            </a:r>
            <a:r>
              <a:rPr lang="en-US" sz="1100" i="1" dirty="0"/>
              <a:t> before this </a:t>
            </a:r>
            <a:r>
              <a:rPr lang="en-US" sz="1100" i="1" dirty="0" err="1"/>
              <a:t>OnePager</a:t>
            </a:r>
            <a:r>
              <a:rPr lang="en-US" sz="1100" i="1" dirty="0"/>
              <a:t>. </a:t>
            </a:r>
          </a:p>
          <a:p>
            <a:pPr algn="ctr"/>
            <a:endParaRPr lang="en-US" sz="1100" b="1" dirty="0"/>
          </a:p>
          <a:p>
            <a:pPr marL="158750" indent="0" algn="ctr">
              <a:buNone/>
            </a:pPr>
            <a:r>
              <a:rPr lang="en-US" sz="1100" b="1" dirty="0"/>
              <a:t>This Architecture </a:t>
            </a:r>
            <a:r>
              <a:rPr lang="en-US" sz="1100" b="1" dirty="0" err="1"/>
              <a:t>OnePager</a:t>
            </a:r>
            <a:r>
              <a:rPr lang="en-US" sz="1100" b="1" dirty="0"/>
              <a:t> helps all people who needs to better understand:</a:t>
            </a:r>
          </a:p>
          <a:p>
            <a:pPr marL="535781" indent="-214313">
              <a:buFont typeface="Arial" panose="020B0604020202020204" pitchFamily="34" charset="0"/>
              <a:buChar char="•"/>
            </a:pPr>
            <a:r>
              <a:rPr lang="en-US" sz="1100" b="1" dirty="0"/>
              <a:t>the project perimeter with Business Capabilities, End users and Business Applications in order to evaluate the impacts and changes on the Business activities and on the existing IT landscape;</a:t>
            </a:r>
          </a:p>
          <a:p>
            <a:pPr marL="535781" indent="-214313">
              <a:buFont typeface="Arial" panose="020B0604020202020204" pitchFamily="34" charset="0"/>
              <a:buChar char="•"/>
            </a:pPr>
            <a:r>
              <a:rPr lang="en-US" sz="1100" b="1" dirty="0"/>
              <a:t>the technical context expected in order to anticipate the future architecture by identifying the technical project’s components linked to the technical principles (Cloud, API, Platform, data privacy…).</a:t>
            </a:r>
          </a:p>
          <a:p>
            <a:endParaRPr lang="en-US" sz="1100" b="1" dirty="0"/>
          </a:p>
          <a:p>
            <a:pPr marL="158750" indent="0" algn="ctr">
              <a:buNone/>
            </a:pPr>
            <a:r>
              <a:rPr lang="en-US" sz="1100" b="1" dirty="0"/>
              <a:t>With this information, the Enterprise Architect and Technical Enterprise Architecture will be able to better guide the ITPM through the right SMEs and so, to build the architecture in compliance with the ICT standards and policies.</a:t>
            </a:r>
          </a:p>
          <a:p>
            <a:pPr marL="158750" indent="0" algn="ctr">
              <a:buNone/>
            </a:pPr>
            <a:endParaRPr lang="en-US" sz="1100" b="1" dirty="0"/>
          </a:p>
          <a:p>
            <a:pPr marL="158750" indent="0" algn="l">
              <a:buNone/>
            </a:pPr>
            <a:r>
              <a:rPr lang="en-US" sz="1100" b="1" dirty="0"/>
              <a:t>SaaS Specific</a:t>
            </a:r>
          </a:p>
          <a:p>
            <a:r>
              <a:rPr lang="fr-FR" dirty="0"/>
              <a:t>The </a:t>
            </a:r>
            <a:r>
              <a:rPr lang="fr-FR" dirty="0" err="1"/>
              <a:t>project</a:t>
            </a:r>
            <a:r>
              <a:rPr lang="fr-FR" dirty="0"/>
              <a:t> </a:t>
            </a:r>
            <a:r>
              <a:rPr lang="fr-FR" dirty="0" err="1"/>
              <a:t>should</a:t>
            </a:r>
            <a:r>
              <a:rPr lang="fr-FR" dirty="0"/>
              <a:t> </a:t>
            </a:r>
            <a:r>
              <a:rPr lang="fr-FR" dirty="0" err="1"/>
              <a:t>clearly</a:t>
            </a:r>
            <a:r>
              <a:rPr lang="fr-FR" dirty="0"/>
              <a:t> mention the  « </a:t>
            </a:r>
            <a:r>
              <a:rPr lang="fr-FR" dirty="0" err="1"/>
              <a:t>hosting</a:t>
            </a:r>
            <a:r>
              <a:rPr lang="fr-FR" dirty="0"/>
              <a:t> » </a:t>
            </a:r>
            <a:r>
              <a:rPr lang="fr-FR" dirty="0" err="1"/>
              <a:t>modele</a:t>
            </a:r>
            <a:r>
              <a:rPr lang="fr-FR" dirty="0"/>
              <a:t> </a:t>
            </a:r>
            <a:r>
              <a:rPr lang="fr-FR" dirty="0" err="1"/>
              <a:t>context</a:t>
            </a:r>
            <a:r>
              <a:rPr lang="fr-FR" dirty="0"/>
              <a:t> </a:t>
            </a:r>
            <a:r>
              <a:rPr lang="fr-FR" dirty="0" err="1"/>
              <a:t>such</a:t>
            </a:r>
            <a:r>
              <a:rPr lang="fr-FR" dirty="0"/>
              <a:t> as</a:t>
            </a:r>
          </a:p>
          <a:p>
            <a:pPr lvl="1"/>
            <a:r>
              <a:rPr lang="fr-FR" dirty="0"/>
              <a:t>Solution </a:t>
            </a:r>
            <a:r>
              <a:rPr lang="fr-FR" dirty="0" err="1"/>
              <a:t>based</a:t>
            </a:r>
            <a:r>
              <a:rPr lang="fr-FR" dirty="0"/>
              <a:t> on a « SaaS solution </a:t>
            </a:r>
          </a:p>
          <a:p>
            <a:pPr lvl="1"/>
            <a:r>
              <a:rPr lang="fr-FR" dirty="0"/>
              <a:t>Solution </a:t>
            </a:r>
            <a:r>
              <a:rPr lang="fr-FR" dirty="0" err="1"/>
              <a:t>hybrid</a:t>
            </a:r>
            <a:r>
              <a:rPr lang="fr-FR" dirty="0"/>
              <a:t> </a:t>
            </a:r>
            <a:r>
              <a:rPr lang="fr-FR" dirty="0" err="1"/>
              <a:t>based</a:t>
            </a:r>
            <a:r>
              <a:rPr lang="fr-FR" dirty="0"/>
              <a:t> on a SaaS solution and a Cloud/</a:t>
            </a:r>
            <a:r>
              <a:rPr lang="fr-FR" dirty="0" err="1"/>
              <a:t>Make</a:t>
            </a:r>
            <a:r>
              <a:rPr lang="fr-FR" dirty="0"/>
              <a:t> part (in </a:t>
            </a:r>
            <a:r>
              <a:rPr lang="fr-FR" dirty="0" err="1"/>
              <a:t>that</a:t>
            </a:r>
            <a:r>
              <a:rPr lang="fr-FR" dirty="0"/>
              <a:t> case slides </a:t>
            </a:r>
            <a:r>
              <a:rPr lang="fr-FR" dirty="0" err="1"/>
              <a:t>shall</a:t>
            </a:r>
            <a:r>
              <a:rPr lang="fr-FR" dirty="0"/>
              <a:t> </a:t>
            </a:r>
            <a:r>
              <a:rPr lang="fr-FR" dirty="0" err="1"/>
              <a:t>be</a:t>
            </a:r>
            <a:r>
              <a:rPr lang="fr-FR" dirty="0"/>
              <a:t> </a:t>
            </a:r>
            <a:r>
              <a:rPr lang="fr-FR" dirty="0" err="1"/>
              <a:t>filled</a:t>
            </a:r>
            <a:r>
              <a:rPr lang="fr-FR" dirty="0"/>
              <a:t> for  all </a:t>
            </a:r>
            <a:r>
              <a:rPr lang="fr-FR" dirty="0" err="1"/>
              <a:t>requirements</a:t>
            </a:r>
            <a:r>
              <a:rPr lang="fr-FR" dirty="0"/>
              <a:t> for SaaS and </a:t>
            </a:r>
            <a:r>
              <a:rPr lang="fr-FR" dirty="0" err="1"/>
              <a:t>Make</a:t>
            </a:r>
            <a:r>
              <a:rPr lang="fr-FR" dirty="0"/>
              <a:t>/cloud  </a:t>
            </a:r>
            <a:r>
              <a:rPr lang="fr-FR" dirty="0" err="1"/>
              <a:t>according</a:t>
            </a:r>
            <a:r>
              <a:rPr lang="fr-FR" dirty="0"/>
              <a:t> </a:t>
            </a:r>
            <a:r>
              <a:rPr lang="fr-FR" dirty="0" err="1"/>
              <a:t>their</a:t>
            </a:r>
            <a:r>
              <a:rPr lang="fr-FR" dirty="0"/>
              <a:t> </a:t>
            </a:r>
            <a:r>
              <a:rPr lang="fr-FR" dirty="0" err="1"/>
              <a:t>hosting</a:t>
            </a:r>
            <a:r>
              <a:rPr lang="fr-FR" dirty="0"/>
              <a:t> )</a:t>
            </a:r>
          </a:p>
          <a:p>
            <a:pPr lvl="1"/>
            <a:r>
              <a:rPr lang="fr-FR" b="1" dirty="0" err="1"/>
              <a:t>When</a:t>
            </a:r>
            <a:r>
              <a:rPr lang="fr-FR" b="1" dirty="0"/>
              <a:t> the </a:t>
            </a:r>
            <a:r>
              <a:rPr lang="fr-FR" b="1" dirty="0" err="1"/>
              <a:t>project</a:t>
            </a:r>
            <a:r>
              <a:rPr lang="fr-FR" b="1" dirty="0"/>
              <a:t> </a:t>
            </a:r>
            <a:r>
              <a:rPr lang="fr-FR" b="1" dirty="0" err="1"/>
              <a:t>is</a:t>
            </a:r>
            <a:r>
              <a:rPr lang="fr-FR" b="1" dirty="0"/>
              <a:t> due to </a:t>
            </a:r>
            <a:r>
              <a:rPr lang="fr-FR" b="1" dirty="0" err="1"/>
              <a:t>conduct</a:t>
            </a:r>
            <a:r>
              <a:rPr lang="fr-FR" b="1" dirty="0"/>
              <a:t> an </a:t>
            </a:r>
            <a:r>
              <a:rPr lang="fr-FR" b="1" dirty="0" err="1"/>
              <a:t>executive</a:t>
            </a:r>
            <a:r>
              <a:rPr lang="fr-FR" b="1" dirty="0"/>
              <a:t> exit plan </a:t>
            </a:r>
            <a:r>
              <a:rPr lang="fr-FR" b="1" dirty="0" err="1"/>
              <a:t>between</a:t>
            </a:r>
            <a:r>
              <a:rPr lang="fr-FR" b="1" dirty="0"/>
              <a:t> an </a:t>
            </a:r>
            <a:r>
              <a:rPr lang="fr-FR" b="1" dirty="0" err="1"/>
              <a:t>existing</a:t>
            </a:r>
            <a:r>
              <a:rPr lang="fr-FR" b="1" dirty="0"/>
              <a:t> SaaS service to a New </a:t>
            </a:r>
            <a:r>
              <a:rPr lang="fr-FR" b="1" dirty="0" err="1"/>
              <a:t>target</a:t>
            </a:r>
            <a:r>
              <a:rPr lang="fr-FR" b="1" dirty="0"/>
              <a:t>, </a:t>
            </a:r>
            <a:r>
              <a:rPr lang="fr-FR" dirty="0"/>
              <a:t>the TCC </a:t>
            </a:r>
            <a:r>
              <a:rPr lang="fr-FR" dirty="0" err="1"/>
              <a:t>should</a:t>
            </a:r>
            <a:r>
              <a:rPr lang="fr-FR" dirty="0"/>
              <a:t> </a:t>
            </a:r>
            <a:r>
              <a:rPr lang="fr-FR" dirty="0" err="1"/>
              <a:t>present</a:t>
            </a:r>
            <a:r>
              <a:rPr lang="fr-FR" dirty="0"/>
              <a:t> the new </a:t>
            </a:r>
            <a:r>
              <a:rPr lang="fr-FR" dirty="0" err="1"/>
              <a:t>target</a:t>
            </a:r>
            <a:r>
              <a:rPr lang="fr-FR" dirty="0"/>
              <a:t> and </a:t>
            </a:r>
            <a:r>
              <a:rPr lang="fr-FR" dirty="0" err="1"/>
              <a:t>should</a:t>
            </a:r>
            <a:r>
              <a:rPr lang="fr-FR" dirty="0"/>
              <a:t> </a:t>
            </a:r>
            <a:r>
              <a:rPr lang="fr-FR" dirty="0" err="1"/>
              <a:t>present</a:t>
            </a:r>
            <a:r>
              <a:rPr lang="fr-FR" dirty="0"/>
              <a:t> the </a:t>
            </a:r>
            <a:r>
              <a:rPr lang="fr-FR" dirty="0" err="1"/>
              <a:t>organization</a:t>
            </a:r>
            <a:r>
              <a:rPr lang="fr-FR" dirty="0"/>
              <a:t> to support data migration plan, transition phase and </a:t>
            </a:r>
            <a:r>
              <a:rPr lang="fr-FR" dirty="0" err="1"/>
              <a:t>desengagement</a:t>
            </a:r>
            <a:r>
              <a:rPr lang="fr-FR" dirty="0"/>
              <a:t> phase .</a:t>
            </a:r>
          </a:p>
          <a:p>
            <a:pPr marL="158750" indent="0" algn="l">
              <a:buNone/>
            </a:pPr>
            <a:endParaRPr lang="en-US" sz="1100" b="1" dirty="0"/>
          </a:p>
        </p:txBody>
      </p:sp>
      <p:sp>
        <p:nvSpPr>
          <p:cNvPr id="1156" name="Google Shape;115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1775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fr-FR"/>
              <a:t>#Architecture </a:t>
            </a:r>
            <a:r>
              <a:rPr lang="fr-FR" err="1"/>
              <a:t>Overview</a:t>
            </a:r>
            <a:r>
              <a:rPr lang="fr-FR"/>
              <a:t> Diagram – A </a:t>
            </a:r>
            <a:r>
              <a:rPr lang="fr-FR" err="1"/>
              <a:t>reflection</a:t>
            </a:r>
            <a:r>
              <a:rPr lang="fr-FR"/>
              <a:t> of information in Slide 9 as a </a:t>
            </a:r>
            <a:r>
              <a:rPr lang="fr-FR" err="1"/>
              <a:t>diagram</a:t>
            </a:r>
            <a:r>
              <a:rPr lang="fr-FR"/>
              <a:t> for </a:t>
            </a:r>
            <a:r>
              <a:rPr lang="fr-FR" err="1"/>
              <a:t>easier</a:t>
            </a:r>
            <a:r>
              <a:rPr lang="fr-FR"/>
              <a:t> </a:t>
            </a:r>
            <a:r>
              <a:rPr lang="fr-FR" err="1"/>
              <a:t>understanding</a:t>
            </a:r>
            <a:r>
              <a:rPr lang="fr-FR"/>
              <a:t> of the solution.</a:t>
            </a:r>
          </a:p>
        </p:txBody>
      </p:sp>
      <p:sp>
        <p:nvSpPr>
          <p:cNvPr id="1156" name="Google Shape;115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779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dirty="0" err="1">
                <a:latin typeface="+mn-lt"/>
              </a:rPr>
              <a:t>Remove</a:t>
            </a:r>
            <a:r>
              <a:rPr lang="fr-FR" dirty="0">
                <a:latin typeface="+mn-lt"/>
              </a:rPr>
              <a:t> or </a:t>
            </a:r>
            <a:r>
              <a:rPr lang="fr-FR" dirty="0" err="1">
                <a:latin typeface="+mn-lt"/>
              </a:rPr>
              <a:t>hide</a:t>
            </a:r>
            <a:r>
              <a:rPr lang="fr-FR" dirty="0">
                <a:latin typeface="+mn-lt"/>
              </a:rPr>
              <a:t> PPT section </a:t>
            </a:r>
            <a:r>
              <a:rPr lang="fr-FR" dirty="0" err="1">
                <a:latin typeface="+mn-lt"/>
              </a:rPr>
              <a:t>that</a:t>
            </a:r>
            <a:r>
              <a:rPr lang="fr-FR" dirty="0">
                <a:latin typeface="+mn-lt"/>
              </a:rPr>
              <a:t> are not applicable.</a:t>
            </a:r>
          </a:p>
          <a:p>
            <a:pPr marL="0" marR="0" indent="0" algn="l" rtl="0">
              <a:lnSpc>
                <a:spcPct val="100000"/>
              </a:lnSpc>
              <a:spcBef>
                <a:spcPts val="0"/>
              </a:spcBef>
              <a:spcAft>
                <a:spcPts val="0"/>
              </a:spcAft>
              <a:buClr>
                <a:srgbClr val="000000"/>
              </a:buClr>
              <a:buSzPts val="1100"/>
              <a:buFontTx/>
              <a:buNone/>
            </a:pPr>
            <a:r>
              <a:rPr lang="fr-FR" dirty="0" err="1">
                <a:latin typeface="+mn-lt"/>
              </a:rPr>
              <a:t>Applicability</a:t>
            </a:r>
            <a:r>
              <a:rPr lang="fr-FR" dirty="0">
                <a:latin typeface="+mn-lt"/>
              </a:rPr>
              <a:t> must </a:t>
            </a:r>
            <a:r>
              <a:rPr lang="fr-FR" dirty="0" err="1">
                <a:latin typeface="+mn-lt"/>
              </a:rPr>
              <a:t>be</a:t>
            </a:r>
            <a:r>
              <a:rPr lang="fr-FR" dirty="0">
                <a:latin typeface="+mn-lt"/>
              </a:rPr>
              <a:t> </a:t>
            </a:r>
            <a:r>
              <a:rPr lang="fr-FR" dirty="0" err="1">
                <a:latin typeface="+mn-lt"/>
              </a:rPr>
              <a:t>confirmed</a:t>
            </a:r>
            <a:r>
              <a:rPr lang="fr-FR" dirty="0">
                <a:latin typeface="+mn-lt"/>
              </a:rPr>
              <a:t> by Enterprise Architect, </a:t>
            </a:r>
            <a:r>
              <a:rPr lang="fr-FR" dirty="0" err="1">
                <a:latin typeface="+mn-lt"/>
              </a:rPr>
              <a:t>based</a:t>
            </a:r>
            <a:r>
              <a:rPr lang="fr-FR" dirty="0">
                <a:latin typeface="+mn-lt"/>
              </a:rPr>
              <a:t> on the Global </a:t>
            </a:r>
            <a:r>
              <a:rPr lang="fr-FR" dirty="0" err="1">
                <a:latin typeface="+mn-lt"/>
              </a:rPr>
              <a:t>Criteria</a:t>
            </a:r>
            <a:r>
              <a:rPr lang="fr-FR" dirty="0">
                <a:latin typeface="+mn-lt"/>
              </a:rPr>
              <a:t> List</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6564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latin typeface="+mn-l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latin typeface="+mn-l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latin typeface="+mn-l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a:solidFill>
                <a:srgbClr val="000000"/>
              </a:solidFill>
              <a:latin typeface="+mn-l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Focus on availability of the project, by using DICT(AICT) and SLA.</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The SLA is the expected value from the business owner. It must be measured from an end user point of view : each time the apps is down, for any reason (planned maintenance included), we decrease the measured SLA.</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The project team must design an application (infra + software + process) targeting the DICT/SLA.</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 </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Indicate if the application have maintenance slot.</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 </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The table shows dependencies with apps with a lower DICT or SLA. It may rise some incompatibility with the project, so the project must plan some actions to fix this :</a:t>
            </a:r>
            <a:endParaRPr lang="en-US" sz="1100" b="0" i="0" u="none" strike="noStrike" cap="none">
              <a:solidFill>
                <a:srgbClr val="000000"/>
              </a:solidFill>
              <a:latin typeface="+mn-lt"/>
              <a:cs typeface="Arial"/>
            </a:endParaRP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a:solidFill>
                  <a:srgbClr val="000000"/>
                </a:solidFill>
                <a:latin typeface="+mn-lt"/>
                <a:cs typeface="Arial"/>
                <a:sym typeface="Arial"/>
              </a:rPr>
              <a:t>Apps must improve their own DICT/SLA</a:t>
            </a:r>
            <a:endParaRPr lang="en-US" sz="1100" b="0" i="0" u="none" strike="noStrike" cap="none">
              <a:solidFill>
                <a:srgbClr val="000000"/>
              </a:solidFill>
              <a:latin typeface="+mn-lt"/>
              <a:cs typeface="Arial"/>
            </a:endParaRP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a:solidFill>
                  <a:srgbClr val="000000"/>
                </a:solidFill>
                <a:latin typeface="+mn-lt"/>
                <a:cs typeface="Arial"/>
                <a:sym typeface="Arial"/>
              </a:rPr>
              <a:t>Or the project must find a workaround to work with a dependency with a lower SLA (retry strategy, design for failure).</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 </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For SLA computation, use </a:t>
            </a:r>
            <a:r>
              <a:rPr lang="en-US" sz="1100" b="0" i="0" u="none" strike="noStrike" cap="none">
                <a:solidFill>
                  <a:srgbClr val="000000"/>
                </a:solidFill>
                <a:latin typeface="+mn-lt"/>
                <a:cs typeface="Arial"/>
                <a:sym typeface="Arial"/>
                <a:hlinkClick r:id="rId3" tooltip="https://uptime.is/">
                  <a:extLst>
                    <a:ext uri="{A12FA001-AC4F-418D-AE19-62706E023703}">
                      <ahyp:hlinkClr xmlns:ahyp="http://schemas.microsoft.com/office/drawing/2018/hyperlinkcolor" val="tx"/>
                    </a:ext>
                  </a:extLst>
                </a:hlinkClick>
              </a:rPr>
              <a:t>https://uptime.is/</a:t>
            </a:r>
            <a:endParaRPr lang="en-US" sz="1100" b="0" i="0" u="none" strike="noStrike" cap="none">
              <a:solidFill>
                <a:srgbClr val="000000"/>
              </a:solidFill>
              <a:latin typeface="+mn-l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Some references :</a:t>
            </a:r>
            <a:endParaRPr lang="en-US" sz="1100" b="0" i="0" u="none" strike="noStrike" cap="none">
              <a:solidFill>
                <a:srgbClr val="000000"/>
              </a:solidFill>
              <a:latin typeface="+mn-lt"/>
              <a:cs typeface="Arial"/>
            </a:endParaRP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a:solidFill>
                  <a:srgbClr val="000000"/>
                </a:solidFill>
                <a:latin typeface="+mn-lt"/>
                <a:cs typeface="Arial"/>
                <a:sym typeface="Arial"/>
              </a:rPr>
              <a:t>For digital apps dedicated to average end-user : no less than 99.95% (4h of downtime per year).</a:t>
            </a:r>
            <a:endParaRPr lang="en-US" sz="1100" b="0" i="0" u="none" strike="noStrike" cap="none">
              <a:solidFill>
                <a:srgbClr val="000000"/>
              </a:solidFill>
              <a:latin typeface="+mn-lt"/>
              <a:cs typeface="Arial"/>
            </a:endParaRP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a:solidFill>
                  <a:srgbClr val="000000"/>
                </a:solidFill>
                <a:latin typeface="+mn-lt"/>
                <a:cs typeface="Arial"/>
                <a:sym typeface="Arial"/>
              </a:rPr>
              <a:t>For a cheap B2B app located in a single region : 99 % (3d of downtime per year) may be sufficient</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 </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We do not indicate here what happens if the SLA is not respected. It may be negotiated with the partner (penalty?) inside the business contract.</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 </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DICT = </a:t>
            </a:r>
            <a:r>
              <a:rPr lang="en-US" sz="1100" b="0" i="0" u="none" strike="noStrike" cap="none" err="1">
                <a:solidFill>
                  <a:srgbClr val="000000"/>
                </a:solidFill>
                <a:latin typeface="+mn-lt"/>
                <a:cs typeface="Arial"/>
                <a:sym typeface="Arial"/>
              </a:rPr>
              <a:t>Disponibilité</a:t>
            </a:r>
            <a:r>
              <a:rPr lang="en-US" sz="1100" b="0" i="0" u="none" strike="noStrike" cap="none">
                <a:solidFill>
                  <a:srgbClr val="000000"/>
                </a:solidFill>
                <a:latin typeface="+mn-lt"/>
                <a:cs typeface="Arial"/>
                <a:sym typeface="Arial"/>
              </a:rPr>
              <a:t>, </a:t>
            </a:r>
            <a:r>
              <a:rPr lang="en-US" sz="1100" b="0" i="0" u="none" strike="noStrike" cap="none" err="1">
                <a:solidFill>
                  <a:srgbClr val="000000"/>
                </a:solidFill>
                <a:latin typeface="+mn-lt"/>
                <a:cs typeface="Arial"/>
                <a:sym typeface="Arial"/>
              </a:rPr>
              <a:t>Intégrité</a:t>
            </a:r>
            <a:r>
              <a:rPr lang="en-US" sz="1100" b="0" i="0" u="none" strike="noStrike" cap="none">
                <a:solidFill>
                  <a:srgbClr val="000000"/>
                </a:solidFill>
                <a:latin typeface="+mn-lt"/>
                <a:cs typeface="Arial"/>
                <a:sym typeface="Arial"/>
              </a:rPr>
              <a:t>, </a:t>
            </a:r>
            <a:r>
              <a:rPr lang="en-US" sz="1100" b="0" i="0" u="none" strike="noStrike" cap="none" err="1">
                <a:solidFill>
                  <a:srgbClr val="000000"/>
                </a:solidFill>
                <a:latin typeface="+mn-lt"/>
                <a:cs typeface="Arial"/>
                <a:sym typeface="Arial"/>
              </a:rPr>
              <a:t>Confidentialité</a:t>
            </a:r>
            <a:r>
              <a:rPr lang="en-US" sz="1100" b="0" i="0" u="none" strike="noStrike" cap="none">
                <a:solidFill>
                  <a:srgbClr val="000000"/>
                </a:solidFill>
                <a:latin typeface="+mn-lt"/>
                <a:cs typeface="Arial"/>
                <a:sym typeface="Arial"/>
              </a:rPr>
              <a:t>, </a:t>
            </a:r>
            <a:r>
              <a:rPr lang="en-US" sz="1100" b="0" i="0" u="none" strike="noStrike" cap="none" err="1">
                <a:solidFill>
                  <a:srgbClr val="000000"/>
                </a:solidFill>
                <a:latin typeface="+mn-lt"/>
                <a:cs typeface="Arial"/>
                <a:sym typeface="Arial"/>
              </a:rPr>
              <a:t>Traçabilité</a:t>
            </a:r>
            <a:endParaRPr lang="en-US" sz="1100" b="0" i="0" u="none" strike="noStrike" cap="none">
              <a:solidFill>
                <a:srgbClr val="000000"/>
              </a:solidFill>
              <a:latin typeface="+mn-l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CIAT = Confidentiality, Integrity, Availability, Traceability</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 </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The valorization of the criteria Availability, Integrity, Confidentiality and Traceability (DICT/AICT) of an application is a mandatory element of any computer project and constitutes one of the first deliverables of the preliminary study.</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 </a:t>
            </a:r>
            <a:endParaRPr lang="en-US"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mn-lt"/>
                <a:cs typeface="Arial"/>
                <a:sym typeface="Arial"/>
              </a:rPr>
              <a:t>The analysis is conducted by considering the interdependences with the other IT applications constitutive of the information system.</a:t>
            </a:r>
            <a:endParaRPr lang="en-US" sz="1100" b="0" i="0" u="none" strike="noStrike" cap="none">
              <a:solidFill>
                <a:srgbClr val="000000"/>
              </a:solidFill>
              <a:latin typeface="+mn-lt"/>
              <a:cs typeface="Arial"/>
            </a:endParaRPr>
          </a:p>
          <a:p>
            <a:pPr marL="0" marR="0" lvl="0" indent="-171450" algn="l" defTabSz="914400" rtl="0" eaLnBrk="1" fontAlgn="auto" latinLnBrk="0" hangingPunct="1">
              <a:lnSpc>
                <a:spcPct val="100000"/>
              </a:lnSpc>
              <a:spcBef>
                <a:spcPts val="0"/>
              </a:spcBef>
              <a:spcAft>
                <a:spcPts val="0"/>
              </a:spcAft>
              <a:buClr>
                <a:srgbClr val="000000"/>
              </a:buClr>
              <a:buSzPts val="1100"/>
              <a:tabLst/>
              <a:defRPr/>
            </a:pPr>
            <a:endParaRPr lang="en-GB" sz="1100" b="0" i="0" u="none" strike="noStrike" cap="none">
              <a:solidFill>
                <a:srgbClr val="000000"/>
              </a:solidFill>
              <a:latin typeface="+mn-lt"/>
              <a:cs typeface="Arial"/>
              <a:sym typeface="Arial"/>
            </a:endParaRPr>
          </a:p>
          <a:p>
            <a:pPr marL="0" marR="0" lvl="0" indent="-171450" algn="l" defTabSz="914400" rtl="0" eaLnBrk="1" fontAlgn="auto" latinLnBrk="0" hangingPunct="1">
              <a:lnSpc>
                <a:spcPct val="100000"/>
              </a:lnSpc>
              <a:spcBef>
                <a:spcPts val="0"/>
              </a:spcBef>
              <a:spcAft>
                <a:spcPts val="0"/>
              </a:spcAft>
              <a:buClr>
                <a:srgbClr val="000000"/>
              </a:buClr>
              <a:buSzPts val="1100"/>
              <a:tabLst/>
              <a:defRPr/>
            </a:pPr>
            <a:r>
              <a:rPr lang="en-GB" sz="1100" b="1" i="0" u="none" strike="noStrike" cap="none">
                <a:solidFill>
                  <a:srgbClr val="000000"/>
                </a:solidFill>
                <a:latin typeface="+mn-lt"/>
                <a:cs typeface="Arial"/>
                <a:sym typeface="Arial"/>
              </a:rPr>
              <a:t>For SaaS solution : </a:t>
            </a:r>
            <a:endParaRPr lang="en-GB" sz="1100" b="1" i="0" u="none" strike="noStrike" cap="none">
              <a:solidFill>
                <a:srgbClr val="000000"/>
              </a:solidFill>
              <a:latin typeface="+mn-lt"/>
              <a:cs typeface="Arial"/>
            </a:endParaRPr>
          </a:p>
          <a:p>
            <a:pPr marL="0" marR="0" lvl="0" indent="-171450" algn="l" defTabSz="914400" rtl="0" eaLnBrk="1" fontAlgn="auto" latinLnBrk="0" hangingPunct="1">
              <a:lnSpc>
                <a:spcPct val="100000"/>
              </a:lnSpc>
              <a:spcBef>
                <a:spcPts val="0"/>
              </a:spcBef>
              <a:spcAft>
                <a:spcPts val="0"/>
              </a:spcAft>
              <a:buClr>
                <a:srgbClr val="000000"/>
              </a:buClr>
              <a:buSzPts val="1100"/>
              <a:tabLst/>
              <a:defRPr/>
            </a:pPr>
            <a:endParaRPr lang="en-GB" sz="1100" b="0" i="0" u="none" strike="noStrike" cap="none">
              <a:solidFill>
                <a:srgbClr val="000000"/>
              </a:solidFill>
              <a:latin typeface="+mn-lt"/>
              <a:cs typeface="Arial"/>
              <a:sym typeface="Arial"/>
            </a:endParaRPr>
          </a:p>
          <a:p>
            <a:pPr marL="914400" marR="0" lvl="2" indent="-171450" algn="l" defTabSz="914400" rtl="0" eaLnBrk="1" fontAlgn="auto" latinLnBrk="0" hangingPunct="1">
              <a:lnSpc>
                <a:spcPct val="100000"/>
              </a:lnSpc>
              <a:spcBef>
                <a:spcPts val="0"/>
              </a:spcBef>
              <a:spcAft>
                <a:spcPts val="0"/>
              </a:spcAft>
              <a:buClr>
                <a:srgbClr val="000000"/>
              </a:buClr>
              <a:buSzPts val="1100"/>
              <a:tabLst/>
              <a:defRPr/>
            </a:pPr>
            <a:r>
              <a:rPr lang="en-GB" sz="1100" b="0" i="0" u="none" strike="noStrike" cap="none">
                <a:solidFill>
                  <a:srgbClr val="000000"/>
                </a:solidFill>
                <a:latin typeface="+mn-lt"/>
                <a:cs typeface="Arial"/>
                <a:sym typeface="Arial"/>
              </a:rPr>
              <a:t>Add the slides to mention the other offers challenged on pre-study and  the slide to summarize the orientation </a:t>
            </a:r>
            <a:r>
              <a:rPr lang="en-GB" sz="1100" b="0" i="0" u="none" strike="noStrike" cap="none" err="1">
                <a:solidFill>
                  <a:srgbClr val="000000"/>
                </a:solidFill>
                <a:latin typeface="+mn-lt"/>
                <a:cs typeface="Arial"/>
                <a:sym typeface="Arial"/>
              </a:rPr>
              <a:t>gived</a:t>
            </a:r>
            <a:r>
              <a:rPr lang="en-GB" sz="1100" b="0" i="0" u="none" strike="noStrike" cap="none">
                <a:solidFill>
                  <a:srgbClr val="000000"/>
                </a:solidFill>
                <a:latin typeface="+mn-lt"/>
                <a:cs typeface="Arial"/>
                <a:sym typeface="Arial"/>
              </a:rPr>
              <a:t> to the SaaS offer retained and presented on that present TCC. (in doc repository , we should find each SaaS well architect filled and the residual analysis For the “SaaS” offers to be selected , we should find them with an analysis consolidated after workshops.  And </a:t>
            </a:r>
            <a:r>
              <a:rPr lang="en-GB" sz="1100" b="0" i="0" u="none" strike="noStrike" cap="none" err="1">
                <a:solidFill>
                  <a:srgbClr val="000000"/>
                </a:solidFill>
                <a:latin typeface="+mn-lt"/>
                <a:cs typeface="Arial"/>
                <a:sym typeface="Arial"/>
              </a:rPr>
              <a:t>comparaison</a:t>
            </a:r>
            <a:r>
              <a:rPr lang="en-GB" sz="1100" b="0" i="0" u="none" strike="noStrike" cap="none">
                <a:solidFill>
                  <a:srgbClr val="000000"/>
                </a:solidFill>
                <a:latin typeface="+mn-lt"/>
                <a:cs typeface="Arial"/>
                <a:sym typeface="Arial"/>
              </a:rPr>
              <a:t> .</a:t>
            </a:r>
          </a:p>
          <a:p>
            <a:pPr marL="914400" marR="0" lvl="2" indent="-171450" algn="l" defTabSz="914400" rtl="0" eaLnBrk="1" fontAlgn="auto" latinLnBrk="0" hangingPunct="1">
              <a:lnSpc>
                <a:spcPct val="100000"/>
              </a:lnSpc>
              <a:spcBef>
                <a:spcPts val="0"/>
              </a:spcBef>
              <a:spcAft>
                <a:spcPts val="0"/>
              </a:spcAft>
              <a:buClr>
                <a:srgbClr val="000000"/>
              </a:buClr>
              <a:buSzPts val="1100"/>
              <a:tabLst/>
              <a:defRPr/>
            </a:pPr>
            <a:r>
              <a:rPr lang="en-GB" sz="1100" b="0" i="0" u="none" strike="noStrike" cap="none">
                <a:solidFill>
                  <a:srgbClr val="000000"/>
                </a:solidFill>
                <a:latin typeface="+mn-lt"/>
                <a:cs typeface="Arial"/>
                <a:sym typeface="Arial"/>
              </a:rPr>
              <a:t>SLA for a SaaS shall be well detailed and notified in the contract with all commitments regarding the management if Issue, change , obsolescence, Security, Cybersecurity, Alerting and monitoring, facilities for exit plan etc . Add the link to the technical annexe included on the contract.  The SLA shall be declined according environment if it differs .</a:t>
            </a:r>
            <a:endParaRPr lang="en-GB" sz="1100" b="0" i="0" u="none" strike="noStrike" cap="none">
              <a:solidFill>
                <a:srgbClr val="000000"/>
              </a:solidFill>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GB">
              <a:latin typeface="+mn-lt"/>
            </a:endParaRP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GB">
              <a:latin typeface="+mn-lt"/>
            </a:endParaRP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r>
              <a:rPr lang="en-GB" b="1">
                <a:latin typeface="+mn-lt"/>
              </a:rPr>
              <a:t>ICT Documentation below for reference</a:t>
            </a: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GB">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#Architecture One Pager </a:t>
            </a:r>
            <a:r>
              <a:rPr lang="fr-FR" sz="1100" err="1"/>
              <a:t>Gate</a:t>
            </a:r>
            <a:r>
              <a:rPr lang="fr-FR" sz="1100"/>
              <a:t> 2</a:t>
            </a:r>
            <a:br>
              <a:rPr lang="fr-FR" sz="1100"/>
            </a:br>
            <a:r>
              <a:rPr lang="fr-FR" sz="1100"/>
              <a:t>/!\ CIAT </a:t>
            </a:r>
            <a:r>
              <a:rPr lang="fr-FR" sz="1100" err="1"/>
              <a:t>is</a:t>
            </a:r>
            <a:r>
              <a:rPr lang="fr-FR" sz="1100"/>
              <a:t> </a:t>
            </a:r>
            <a:r>
              <a:rPr lang="fr-FR" sz="1100" err="1"/>
              <a:t>equivalent</a:t>
            </a:r>
            <a:r>
              <a:rPr lang="fr-FR" sz="1100"/>
              <a:t> to (D/A)ICT but </a:t>
            </a:r>
            <a:r>
              <a:rPr lang="fr-FR" sz="1100" err="1"/>
              <a:t>letters</a:t>
            </a:r>
            <a:r>
              <a:rPr lang="fr-FR" sz="1100"/>
              <a:t> are in an </a:t>
            </a:r>
            <a:r>
              <a:rPr lang="fr-FR" sz="1100" err="1"/>
              <a:t>other</a:t>
            </a:r>
            <a:r>
              <a:rPr lang="fr-FR" sz="1100"/>
              <a:t> </a:t>
            </a:r>
            <a:r>
              <a:rPr lang="fr-FR" sz="1100" err="1"/>
              <a:t>order</a:t>
            </a:r>
            <a:endParaRPr lang="fr-FR" sz="1100"/>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Complete </a:t>
            </a:r>
            <a:r>
              <a:rPr lang="fr-FR" sz="1100" err="1"/>
              <a:t>this</a:t>
            </a:r>
            <a:r>
              <a:rPr lang="fr-FR" sz="1100"/>
              <a:t> slide for </a:t>
            </a:r>
            <a:r>
              <a:rPr lang="fr-FR" sz="1100" err="1"/>
              <a:t>Gate</a:t>
            </a:r>
            <a:r>
              <a:rPr lang="fr-FR" sz="1100"/>
              <a:t> 2 </a:t>
            </a:r>
            <a:r>
              <a:rPr lang="fr-FR" sz="1100" err="1"/>
              <a:t>approval</a:t>
            </a:r>
            <a:r>
              <a:rPr lang="fr-FR" sz="1100"/>
              <a:t>. It must </a:t>
            </a:r>
            <a:r>
              <a:rPr lang="fr-FR" sz="1100" err="1"/>
              <a:t>be</a:t>
            </a:r>
            <a:r>
              <a:rPr lang="fr-FR" sz="1100"/>
              <a:t> </a:t>
            </a:r>
            <a:r>
              <a:rPr lang="fr-FR" sz="1100" err="1"/>
              <a:t>focused</a:t>
            </a:r>
            <a:r>
              <a:rPr lang="fr-FR" sz="1100"/>
              <a:t> on the main application. </a:t>
            </a:r>
            <a:r>
              <a:rPr lang="fr-FR" sz="1100" err="1"/>
              <a:t>See</a:t>
            </a:r>
            <a:r>
              <a:rPr lang="fr-FR" sz="1100"/>
              <a:t> slide #Impacted Applications Service for </a:t>
            </a:r>
            <a:r>
              <a:rPr lang="fr-FR" sz="1100" err="1"/>
              <a:t>dependencies</a:t>
            </a:r>
            <a:r>
              <a:rPr lang="fr-FR" sz="110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i="1">
              <a:latin typeface="Encode Sans"/>
            </a:endParaRPr>
          </a:p>
          <a:p>
            <a:pPr>
              <a:defRPr/>
            </a:pPr>
            <a:r>
              <a:rPr lang="en-GB" b="1">
                <a:solidFill>
                  <a:srgbClr val="000000"/>
                </a:solidFill>
              </a:rPr>
              <a:t>Data Privacy usage: </a:t>
            </a:r>
            <a:r>
              <a:rPr lang="en-GB" b="0">
                <a:solidFill>
                  <a:srgbClr val="000000"/>
                </a:solidFill>
              </a:rPr>
              <a:t>What we'll do with personal data (Dashboard, data analysis) : </a:t>
            </a:r>
            <a:r>
              <a:rPr lang="en-GB" b="1">
                <a:solidFill>
                  <a:srgbClr val="000000"/>
                </a:solidFill>
              </a:rPr>
              <a:t>final value of the self-assessment excel file </a:t>
            </a:r>
            <a:r>
              <a:rPr lang="en-GB" b="0">
                <a:solidFill>
                  <a:srgbClr val="000000"/>
                </a:solidFill>
              </a:rPr>
              <a:t>(available in the criteria list</a:t>
            </a:r>
            <a:r>
              <a:rPr lang="fr-FR" b="0">
                <a:solidFill>
                  <a:srgbClr val="000000"/>
                </a:solidFill>
              </a:rPr>
              <a:t> https://shiftup.sharepoint.com/sites/Enterprise_Architecture/SitePages/Criteria-per-Gates.aspx#list-of-criteria-available-here</a:t>
            </a:r>
            <a:r>
              <a:rPr lang="fr-FR" b="0"/>
              <a:t>)</a:t>
            </a:r>
            <a:endParaRPr lang="en-US" b="0"/>
          </a:p>
          <a:p>
            <a:pPr>
              <a:defRPr/>
            </a:pPr>
            <a:r>
              <a:rPr lang="en-GB" b="1"/>
              <a:t>Data Privacy Legal basis: </a:t>
            </a:r>
            <a:r>
              <a:rPr lang="en-GB" b="0"/>
              <a:t>What authorization is granted for the use of this data: </a:t>
            </a:r>
            <a:r>
              <a:rPr lang="en-US" sz="1100" b="0" kern="1200">
                <a:solidFill>
                  <a:schemeClr val="tx1"/>
                </a:solidFill>
                <a:latin typeface="+mn-lt"/>
                <a:ea typeface="+mn-ea"/>
                <a:cs typeface="+mn-cs"/>
              </a:rPr>
              <a:t>consent, contract, legal obligation, vital interests, public task, or legitimate interests.</a:t>
            </a:r>
            <a:endParaRPr lang="en-GB" sz="1100" b="0" kern="1200">
              <a:solidFill>
                <a:schemeClr val="tx1"/>
              </a:solidFill>
              <a:latin typeface="+mn-lt"/>
              <a:ea typeface="+mn-ea"/>
              <a:cs typeface="+mn-cs"/>
            </a:endParaRPr>
          </a:p>
          <a:p>
            <a:pPr>
              <a:defRPr/>
            </a:pPr>
            <a:r>
              <a:rPr lang="en-US" b="1">
                <a:solidFill>
                  <a:srgbClr val="000000"/>
                </a:solidFill>
                <a:latin typeface="Calibri"/>
                <a:ea typeface="Calibri"/>
                <a:cs typeface="Calibri"/>
              </a:rPr>
              <a:t>SOX Relevance: </a:t>
            </a:r>
            <a:r>
              <a:rPr lang="en-US">
                <a:solidFill>
                  <a:srgbClr val="000000"/>
                </a:solidFill>
                <a:latin typeface="Calibri"/>
                <a:ea typeface="Calibri"/>
                <a:cs typeface="Calibri"/>
              </a:rPr>
              <a:t>Any process which can have significant impact on Stellantis Financial Statements. Data used needs to be used as a part of SOX relevance control to be considered SOX relevant. Sox Relevant Use Cases will have to have specific ITGC controls implemented in order to ensure the accuracy of data. </a:t>
            </a:r>
            <a:r>
              <a:rPr lang="en-US" sz="1600">
                <a:effectLst/>
                <a:latin typeface="Calibri" panose="020F0502020204030204" pitchFamily="34" charset="0"/>
                <a:ea typeface="Calibri" panose="020F0502020204030204" pitchFamily="34" charset="0"/>
              </a:rPr>
              <a:t>Traditionally, the scope for SOX IT General Control (ITGC) testing has been defined through risk assessment procedures that consider whether a system captures data that could impact financial reporting. Recently, external audit risk assessment procedures are being expanded to evaluate tools used to support ITGCs.</a:t>
            </a:r>
            <a:endParaRPr lang="en-US">
              <a:solidFill>
                <a:srgbClr val="000000"/>
              </a:solidFill>
              <a:latin typeface="Calibri"/>
              <a:ea typeface="Calibri"/>
              <a:cs typeface="Calibri"/>
            </a:endParaRPr>
          </a:p>
          <a:p>
            <a:pPr>
              <a:defRPr/>
            </a:pPr>
            <a:r>
              <a:rPr lang="en-US">
                <a:solidFill>
                  <a:srgbClr val="000000"/>
                </a:solidFill>
                <a:latin typeface="Calibri"/>
                <a:ea typeface="Calibri"/>
                <a:cs typeface="Calibri"/>
              </a:rPr>
              <a:t>SOX INTRO Training: </a:t>
            </a:r>
            <a:r>
              <a:rPr lang="en-US">
                <a:solidFill>
                  <a:srgbClr val="000000"/>
                </a:solidFill>
                <a:hlinkClick r:id="rId4"/>
              </a:rPr>
              <a:t>SOX IT Training - INTRO.pptx</a:t>
            </a:r>
            <a:r>
              <a:rPr lang="en-US">
                <a:solidFill>
                  <a:srgbClr val="000000"/>
                </a:solidFill>
              </a:rPr>
              <a:t> https://shiftup.sharepoint.com/:p:/r/sites/ictdata/Shared%20Documents/04%20-%20Governance/21%20-%20Audit/SOX/Training%20Materials/SOX%20IT%20Training%20-%20INTRO.pptx</a:t>
            </a:r>
          </a:p>
          <a:p>
            <a:pPr>
              <a:defRPr/>
            </a:pPr>
            <a:endParaRPr lang="en-US">
              <a:solidFill>
                <a:srgbClr val="000000"/>
              </a:solidFill>
              <a:latin typeface="Calibri"/>
              <a:ea typeface="Calibri"/>
              <a:cs typeface="Calibri"/>
            </a:endParaRPr>
          </a:p>
          <a:p>
            <a:pPr marL="158750" indent="0">
              <a:buNone/>
              <a:defRPr/>
            </a:pPr>
            <a:endParaRPr lang="en-US">
              <a:solidFill>
                <a:srgbClr val="000000"/>
              </a:solidFill>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kern="0">
                <a:solidFill>
                  <a:srgbClr val="FFFFFF"/>
                </a:solidFill>
                <a:latin typeface="Encode Sans"/>
              </a:rPr>
              <a:t>Availability: </a:t>
            </a:r>
            <a:r>
              <a:rPr lang="en-US" sz="1600" b="0" i="0" u="none" strike="noStrike" baseline="0">
                <a:solidFill>
                  <a:srgbClr val="000000"/>
                </a:solidFill>
                <a:latin typeface="Times New Roman"/>
                <a:cs typeface="Times New Roman"/>
              </a:rPr>
              <a:t>consists on valuing based on the maximum bearable duration of non-accessibility to the informational Asset </a:t>
            </a:r>
            <a:endParaRPr lang="en-GB" sz="1600" kern="0">
              <a:solidFill>
                <a:sysClr val="windowText" lastClr="000000"/>
              </a:solidFill>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kern="0">
                <a:solidFill>
                  <a:sysClr val="windowText" lastClr="000000"/>
                </a:solidFill>
                <a:highlight>
                  <a:srgbClr val="FFFF00"/>
                </a:highlight>
                <a:latin typeface="Encode Sans"/>
              </a:rPr>
              <a:t>For Snowflake &amp; Foundry = 3</a:t>
            </a:r>
            <a:r>
              <a:rPr lang="en-GB" sz="1600" kern="0">
                <a:solidFill>
                  <a:sysClr val="windowText" lastClr="000000"/>
                </a:solidFill>
                <a:latin typeface="Encode Sans"/>
              </a:rPr>
              <a:t>, means: </a:t>
            </a:r>
            <a:r>
              <a:rPr lang="en-US" sz="1600" b="0" i="0" u="none" strike="noStrike" baseline="0">
                <a:solidFill>
                  <a:srgbClr val="000000"/>
                </a:solidFill>
                <a:latin typeface="Times New Roman"/>
                <a:cs typeface="Times New Roman"/>
              </a:rPr>
              <a:t>Between 4 hours and 12 hours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i="1" u="none" strike="noStrike" baseline="0">
              <a:solidFill>
                <a:srgbClr val="000000"/>
              </a:solidFill>
              <a:latin typeface="Times New Roman" panose="02020603050405020304" pitchFamily="18" charset="0"/>
            </a:endParaRPr>
          </a:p>
          <a:p>
            <a:r>
              <a:rPr lang="en-US" sz="1600" b="0" i="1" u="none" strike="noStrike" baseline="0">
                <a:solidFill>
                  <a:srgbClr val="000000"/>
                </a:solidFill>
                <a:latin typeface="Times New Roman"/>
                <a:cs typeface="Times New Roman"/>
              </a:rPr>
              <a:t>Maximum tolerable duration of non-accessibility of Informational Assets </a:t>
            </a:r>
            <a:r>
              <a:rPr lang="en-US" sz="1600" b="0" i="0" u="none" strike="noStrike" baseline="0">
                <a:solidFill>
                  <a:srgbClr val="000000"/>
                </a:solidFill>
                <a:latin typeface="Times New Roman"/>
                <a:cs typeface="Times New Roman"/>
              </a:rPr>
              <a:t>	</a:t>
            </a:r>
          </a:p>
          <a:p>
            <a:r>
              <a:rPr lang="en-US" sz="1600" b="0" i="0" u="none" strike="noStrike" baseline="0">
                <a:solidFill>
                  <a:srgbClr val="000000"/>
                </a:solidFill>
                <a:latin typeface="Times New Roman"/>
                <a:cs typeface="Times New Roman"/>
              </a:rPr>
              <a:t>1 =+ than 48 Hours 	</a:t>
            </a:r>
          </a:p>
          <a:p>
            <a:r>
              <a:rPr lang="en-US" sz="1600" b="0" i="0" u="none" strike="noStrike" baseline="0">
                <a:solidFill>
                  <a:srgbClr val="000000"/>
                </a:solidFill>
                <a:latin typeface="Times New Roman"/>
                <a:cs typeface="Times New Roman"/>
              </a:rPr>
              <a:t>2 = Between 12 hours and 48 hours 	</a:t>
            </a:r>
          </a:p>
          <a:p>
            <a:r>
              <a:rPr lang="en-US" sz="1600" b="0" i="0" u="none" strike="noStrike" baseline="0">
                <a:solidFill>
                  <a:srgbClr val="000000"/>
                </a:solidFill>
                <a:latin typeface="Times New Roman"/>
                <a:cs typeface="Times New Roman"/>
              </a:rPr>
              <a:t>3 = Between 4 hours and 12 hours 	</a:t>
            </a:r>
          </a:p>
          <a:p>
            <a:r>
              <a:rPr lang="en-US" sz="1600" b="0" i="0" u="none" strike="noStrike" baseline="0">
                <a:solidFill>
                  <a:srgbClr val="000000"/>
                </a:solidFill>
                <a:latin typeface="Times New Roman"/>
                <a:cs typeface="Times New Roman"/>
              </a:rPr>
              <a:t>4 = - than 4 hours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i="0" u="none" strike="noStrike" baseline="0">
              <a:solidFill>
                <a:srgbClr val="000000"/>
              </a:solidFill>
              <a:latin typeface="Times New Roman" panose="02020603050405020304" pitchFamily="18" charset="0"/>
            </a:endParaRPr>
          </a:p>
          <a:p>
            <a:pPr>
              <a:defRPr/>
            </a:pPr>
            <a:endParaRPr lang="en-US" b="1" i="1">
              <a:solidFill>
                <a:srgbClr val="000000"/>
              </a:solidFill>
              <a:latin typeface="Encode Sans" pitchFamily="2" charset="0"/>
              <a:sym typeface="Wingding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kern="0">
                <a:solidFill>
                  <a:srgbClr val="FFFFFF"/>
                </a:solidFill>
                <a:latin typeface="Encode Sans"/>
              </a:rPr>
              <a:t>Integrity: </a:t>
            </a:r>
            <a:r>
              <a:rPr lang="en-US" sz="1600" b="0" i="0" u="none" strike="noStrike" baseline="0">
                <a:solidFill>
                  <a:srgbClr val="000000"/>
                </a:solidFill>
                <a:latin typeface="Times New Roman"/>
                <a:cs typeface="Times New Roman"/>
              </a:rPr>
              <a:t>view of the importance of resources in the identical replacement or to the resetting of Informational Assets subject to alteration, destruction, disappearance, as well as with respect to consecutive immaterial damages (such as loss of production, of profit, </a:t>
            </a:r>
            <a:r>
              <a:rPr lang="en-US" sz="1600" b="0" i="0" u="none" strike="noStrike" baseline="0" err="1">
                <a:solidFill>
                  <a:srgbClr val="000000"/>
                </a:solidFill>
                <a:latin typeface="Times New Roman"/>
                <a:cs typeface="Times New Roman"/>
              </a:rPr>
              <a:t>etc</a:t>
            </a:r>
            <a:r>
              <a:rPr lang="en-US" sz="1600" b="0" i="0" u="none" strike="noStrike" baseline="0">
                <a:solidFill>
                  <a:srgbClr val="000000"/>
                </a:solidFill>
                <a:latin typeface="Times New Roman"/>
                <a:cs typeface="Times New Roman"/>
              </a:rPr>
              <a:t>…). </a:t>
            </a:r>
            <a:endParaRPr lang="en-GB" sz="1100" kern="0">
              <a:solidFill>
                <a:sysClr val="windowText" lastClr="000000"/>
              </a:solidFill>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100" kern="0">
                <a:solidFill>
                  <a:sysClr val="windowText" lastClr="000000"/>
                </a:solidFill>
                <a:latin typeface="Encode Sans"/>
              </a:rPr>
              <a:t>For Snowflake &amp; Foundry = 3, means: </a:t>
            </a:r>
            <a:r>
              <a:rPr lang="en-US" sz="1100" b="0" i="0" u="none" strike="noStrike" baseline="0">
                <a:solidFill>
                  <a:srgbClr val="000000"/>
                </a:solidFill>
                <a:latin typeface="Times New Roman"/>
                <a:cs typeface="Times New Roman"/>
              </a:rPr>
              <a:t>Strong	</a:t>
            </a:r>
          </a:p>
          <a:p>
            <a:endParaRPr lang="en-US" sz="1100" b="0" i="1" u="none" strike="noStrike" baseline="0">
              <a:solidFill>
                <a:srgbClr val="000000"/>
              </a:solidFill>
              <a:latin typeface="Times New Roman" panose="02020603050405020304" pitchFamily="18" charset="0"/>
            </a:endParaRPr>
          </a:p>
          <a:p>
            <a:r>
              <a:rPr lang="en-US" sz="1100" b="0" i="1" u="none" strike="noStrike" baseline="0">
                <a:solidFill>
                  <a:srgbClr val="000000"/>
                </a:solidFill>
                <a:latin typeface="Times New Roman"/>
                <a:cs typeface="Times New Roman"/>
              </a:rPr>
              <a:t>Maximum tolerable duration of non-accessibility of Informational Assets </a:t>
            </a:r>
            <a:r>
              <a:rPr lang="en-US" sz="1100" b="0" i="0" u="none" strike="noStrike" baseline="0">
                <a:solidFill>
                  <a:srgbClr val="000000"/>
                </a:solidFill>
                <a:latin typeface="Times New Roman"/>
                <a:cs typeface="Times New Roman"/>
              </a:rPr>
              <a:t>	</a:t>
            </a:r>
          </a:p>
          <a:p>
            <a:r>
              <a:rPr lang="en-US" sz="1100" b="0" i="0" u="none" strike="noStrike" baseline="0">
                <a:solidFill>
                  <a:srgbClr val="000000"/>
                </a:solidFill>
                <a:latin typeface="Times New Roman"/>
                <a:cs typeface="Times New Roman"/>
              </a:rPr>
              <a:t>1 =Weak	</a:t>
            </a:r>
          </a:p>
          <a:p>
            <a:r>
              <a:rPr lang="en-US" sz="1100" b="0" i="0" u="none" strike="noStrike" baseline="0">
                <a:solidFill>
                  <a:srgbClr val="000000"/>
                </a:solidFill>
                <a:latin typeface="Times New Roman"/>
                <a:cs typeface="Times New Roman"/>
              </a:rPr>
              <a:t>2 = Moderate	</a:t>
            </a:r>
          </a:p>
          <a:p>
            <a:r>
              <a:rPr lang="en-US" sz="1100" b="0" i="0" u="none" strike="noStrike" baseline="0">
                <a:solidFill>
                  <a:srgbClr val="000000"/>
                </a:solidFill>
                <a:latin typeface="Times New Roman"/>
                <a:cs typeface="Times New Roman"/>
              </a:rPr>
              <a:t>3 = Strong	</a:t>
            </a:r>
          </a:p>
          <a:p>
            <a:r>
              <a:rPr lang="en-US" sz="1100" b="0" i="0" u="none" strike="noStrike" baseline="0">
                <a:solidFill>
                  <a:srgbClr val="000000"/>
                </a:solidFill>
                <a:latin typeface="Times New Roman"/>
                <a:cs typeface="Times New Roman"/>
              </a:rPr>
              <a:t>4 = Critical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u="none" strike="noStrike" baseline="0">
              <a:solidFill>
                <a:srgbClr val="000000"/>
              </a:solidFill>
              <a:latin typeface="Times New Roman" panose="02020603050405020304" pitchFamily="18" charset="0"/>
            </a:endParaRPr>
          </a:p>
          <a:p>
            <a:pPr>
              <a:defRPr/>
            </a:pPr>
            <a:endParaRPr lang="en-US" b="1" i="1">
              <a:solidFill>
                <a:srgbClr val="000000"/>
              </a:solidFill>
              <a:latin typeface="Encode Sans" pitchFamily="2" charset="0"/>
              <a:sym typeface="Wingdings"/>
            </a:endParaRPr>
          </a:p>
          <a:p>
            <a:pPr>
              <a:defRPr/>
            </a:pPr>
            <a:r>
              <a:rPr lang="en-US" b="1" i="0">
                <a:solidFill>
                  <a:srgbClr val="000000"/>
                </a:solidFill>
                <a:latin typeface="Encode Sans"/>
                <a:sym typeface="Wingdings"/>
              </a:rPr>
              <a:t>Confidentiality: </a:t>
            </a:r>
            <a:r>
              <a:rPr lang="en-US" b="0" i="0">
                <a:solidFill>
                  <a:srgbClr val="000000"/>
                </a:solidFill>
                <a:latin typeface="Encode Sans"/>
                <a:sym typeface="Wingdings"/>
              </a:rPr>
              <a:t>Confidentiality of the project = Maximum confidentiality on the entire pipeline (= maximum confidentiality on source systems)</a:t>
            </a:r>
            <a:endParaRPr lang="en-US" b="0" i="0">
              <a:solidFill>
                <a:srgbClr val="000000"/>
              </a:solidFill>
              <a:latin typeface="Encode Sans"/>
            </a:endParaRPr>
          </a:p>
          <a:p>
            <a:pPr marL="158750" indent="0">
              <a:buNone/>
              <a:defRPr/>
            </a:pPr>
            <a:endParaRPr lang="en-US" b="1" i="1">
              <a:solidFill>
                <a:srgbClr val="000000"/>
              </a:solidFill>
              <a:latin typeface="Encode Sans" pitchFamily="2" charset="0"/>
              <a:sym typeface="Wingdings"/>
            </a:endParaRPr>
          </a:p>
          <a:p>
            <a:pPr marL="158750" indent="0">
              <a:buNone/>
              <a:defRPr/>
            </a:pPr>
            <a:r>
              <a:rPr lang="en-US" b="1" i="0">
                <a:solidFill>
                  <a:srgbClr val="000000"/>
                </a:solidFill>
                <a:latin typeface="Encode Sans" pitchFamily="2" charset="0"/>
                <a:sym typeface="Wingdings"/>
              </a:rPr>
              <a:t>RTO</a:t>
            </a:r>
            <a:r>
              <a:rPr lang="en-US" b="0" i="0">
                <a:solidFill>
                  <a:srgbClr val="000000"/>
                </a:solidFill>
                <a:latin typeface="Encode Sans" pitchFamily="2" charset="0"/>
                <a:sym typeface="Wingdings"/>
              </a:rPr>
              <a:t> and </a:t>
            </a:r>
            <a:r>
              <a:rPr lang="en-US" b="1" i="0">
                <a:solidFill>
                  <a:srgbClr val="000000"/>
                </a:solidFill>
                <a:latin typeface="Encode Sans" pitchFamily="2" charset="0"/>
                <a:sym typeface="Wingdings"/>
              </a:rPr>
              <a:t>RPO</a:t>
            </a:r>
            <a:r>
              <a:rPr lang="en-US" b="0" i="0">
                <a:solidFill>
                  <a:srgbClr val="000000"/>
                </a:solidFill>
                <a:latin typeface="Encode Sans" pitchFamily="2" charset="0"/>
                <a:sym typeface="Wingdings"/>
              </a:rPr>
              <a:t> values must be aligned with the values indicated in the </a:t>
            </a:r>
            <a:r>
              <a:rPr lang="en-US" b="1" i="0">
                <a:solidFill>
                  <a:srgbClr val="000000"/>
                </a:solidFill>
                <a:latin typeface="Encode Sans" pitchFamily="2" charset="0"/>
                <a:sym typeface="Wingdings"/>
              </a:rPr>
              <a:t>CMDB</a:t>
            </a:r>
            <a:r>
              <a:rPr lang="en-US" b="0" i="0">
                <a:solidFill>
                  <a:srgbClr val="000000"/>
                </a:solidFill>
                <a:latin typeface="Encode Sans" pitchFamily="2" charset="0"/>
                <a:sym typeface="Wingding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tx2"/>
                </a:solidFill>
                <a:sym typeface="Wingdings"/>
              </a:rPr>
              <a:t>RTO</a:t>
            </a:r>
            <a:r>
              <a:rPr lang="en-US">
                <a:solidFill>
                  <a:schemeClr val="tx2"/>
                </a:solidFill>
                <a:sym typeface="Wingdings"/>
              </a:rPr>
              <a:t> = Recovery Time Objective. </a:t>
            </a:r>
            <a:endParaRPr lang="en-US">
              <a:solidFill>
                <a:schemeClr val="tx2"/>
              </a:solidFill>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2"/>
                </a:solidFill>
                <a:sym typeface="Wingdings"/>
              </a:rPr>
              <a:t>Duration during which the Application can remain unavailable without impacting the company in the event of a disaster (value to be determined by the business team).</a:t>
            </a:r>
            <a:endParaRPr lang="en-US">
              <a:solidFill>
                <a:schemeClr val="tx2"/>
              </a:solidFill>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1F4E78"/>
                </a:solidFill>
                <a:effectLst/>
                <a:latin typeface="Calibri"/>
                <a:ea typeface="Calibri"/>
                <a:cs typeface="Calibri"/>
              </a:rPr>
              <a:t>1 : 0 - 48 h</a:t>
            </a:r>
            <a:r>
              <a:rPr lang="en-US" sz="1600"/>
              <a:t> </a:t>
            </a:r>
            <a:endParaRPr lang="en-US" sz="160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1F4E78"/>
                </a:solidFill>
                <a:effectLst/>
                <a:latin typeface="Calibri"/>
                <a:ea typeface="Calibri"/>
                <a:cs typeface="Calibri"/>
              </a:rPr>
              <a:t>2 : 2 - 4 days</a:t>
            </a:r>
            <a:endParaRPr lang="en-US" sz="1600" b="0" i="0" u="none" strike="noStrike">
              <a:solidFill>
                <a:srgbClr val="1F4E78"/>
              </a:solidFill>
              <a:effectLst/>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1F4E78"/>
                </a:solidFill>
                <a:effectLst/>
                <a:latin typeface="Calibri"/>
                <a:ea typeface="Calibri"/>
                <a:cs typeface="Calibri"/>
              </a:rPr>
              <a:t>3 : 4 - 7 days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1F4E78"/>
                </a:solidFill>
                <a:effectLst/>
                <a:latin typeface="Calibri"/>
                <a:ea typeface="Calibri"/>
                <a:cs typeface="Calibri"/>
              </a:rPr>
              <a:t>4 : 7 days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1F4E78"/>
                </a:solidFill>
                <a:effectLst/>
                <a:latin typeface="Calibri"/>
                <a:ea typeface="Calibri"/>
                <a:cs typeface="Calibri"/>
              </a:rPr>
              <a:t>5 : Preproduction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1F4E78"/>
                </a:solidFill>
                <a:effectLst/>
                <a:latin typeface="Calibri"/>
                <a:ea typeface="Calibri"/>
                <a:cs typeface="Calibri"/>
              </a:rPr>
              <a:t>6 : Archive</a:t>
            </a:r>
            <a:endParaRPr lang="en-US" sz="1600" b="0" i="0" u="none" strike="noStrike">
              <a:solidFill>
                <a:srgbClr val="1F4E78"/>
              </a:solidFill>
              <a:effectLst/>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rgbClr val="1F4E78"/>
                </a:solidFill>
                <a:effectLst/>
                <a:latin typeface="Calibri"/>
                <a:ea typeface="Calibri"/>
                <a:cs typeface="Calibri"/>
              </a:rPr>
              <a:t>9 : not involved</a:t>
            </a:r>
            <a:r>
              <a:rPr lang="en-US" sz="1600"/>
              <a:t> </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GB" sz="1100" kern="0">
                <a:solidFill>
                  <a:sysClr val="windowText" lastClr="000000"/>
                </a:solidFill>
                <a:latin typeface="Encode Sans"/>
              </a:rPr>
              <a:t>For Snowflake RTO = 1</a:t>
            </a:r>
            <a:endParaRPr lang="en-US">
              <a:solidFill>
                <a:schemeClr val="tx2"/>
              </a:solidFill>
              <a:latin typeface="Encode Sans"/>
              <a:sym typeface="Wingding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tx2"/>
              </a:solidFill>
              <a:sym typeface="Wingding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a:solidFill>
                  <a:schemeClr val="tx2"/>
                </a:solidFill>
                <a:latin typeface="+mn-lt"/>
                <a:ea typeface="+mn-ea"/>
                <a:cs typeface="+mn-cs"/>
              </a:rPr>
              <a:t>RPO</a:t>
            </a:r>
            <a:r>
              <a:rPr lang="en-US" sz="1100" kern="1200">
                <a:solidFill>
                  <a:schemeClr val="tx2"/>
                </a:solidFill>
                <a:latin typeface="+mn-lt"/>
                <a:ea typeface="+mn-ea"/>
                <a:cs typeface="+mn-cs"/>
              </a:rPr>
              <a:t> = Recovery Point Objective. </a:t>
            </a:r>
            <a:endParaRPr lang="en-US" sz="1100" kern="1200">
              <a:solidFill>
                <a:schemeClr val="tx2"/>
              </a:solidFill>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a:solidFill>
                  <a:schemeClr val="tx2"/>
                </a:solidFill>
                <a:latin typeface="+mn-lt"/>
                <a:ea typeface="+mn-ea"/>
                <a:cs typeface="+mn-cs"/>
              </a:rPr>
              <a:t>Number of hours/days of data lost without putting in danger the company in case of major disaster.</a:t>
            </a:r>
            <a:endParaRPr lang="en-US" sz="1100" kern="1200">
              <a:solidFill>
                <a:schemeClr val="tx2"/>
              </a:solidFill>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a:solidFill>
                  <a:srgbClr val="1F4E78"/>
                </a:solidFill>
                <a:effectLst/>
                <a:latin typeface="Calibri"/>
                <a:ea typeface="Calibri"/>
                <a:cs typeface="Calibri"/>
              </a:rPr>
              <a:t>0 : zero data loss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a:solidFill>
                  <a:srgbClr val="1F4E78"/>
                </a:solidFill>
                <a:effectLst/>
                <a:latin typeface="Calibri"/>
                <a:ea typeface="Calibri"/>
                <a:cs typeface="Calibri"/>
              </a:rPr>
              <a:t>1 : 24 h max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a:solidFill>
                  <a:srgbClr val="1F4E78"/>
                </a:solidFill>
                <a:effectLst/>
                <a:latin typeface="Calibri"/>
                <a:ea typeface="Calibri"/>
                <a:cs typeface="Calibri"/>
              </a:rPr>
              <a:t>2 : 48 h max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a:solidFill>
                  <a:srgbClr val="1F4E78"/>
                </a:solidFill>
                <a:effectLst/>
                <a:latin typeface="Calibri"/>
                <a:ea typeface="Calibri"/>
                <a:cs typeface="Calibri"/>
              </a:rPr>
              <a:t>3 : 7 days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a:solidFill>
                  <a:srgbClr val="1F4E78"/>
                </a:solidFill>
                <a:effectLst/>
                <a:latin typeface="Calibri"/>
                <a:ea typeface="Calibri"/>
                <a:cs typeface="Calibri"/>
              </a:rPr>
              <a:t>4 : data can be rebuilt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a:solidFill>
                  <a:srgbClr val="1F4E78"/>
                </a:solidFill>
                <a:effectLst/>
                <a:latin typeface="Calibri"/>
                <a:ea typeface="Calibri"/>
                <a:cs typeface="Calibri"/>
              </a:rPr>
              <a:t>9 : no data involved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100" kern="0">
                <a:solidFill>
                  <a:sysClr val="windowText" lastClr="000000"/>
                </a:solidFill>
                <a:latin typeface="Encode Sans"/>
              </a:rPr>
              <a:t>For Snowflake RPO = 0</a:t>
            </a:r>
            <a:endParaRPr lang="en-US">
              <a:solidFill>
                <a:schemeClr val="tx2"/>
              </a:solidFill>
              <a:latin typeface="Encode Sans"/>
              <a:sym typeface="Wingding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GB">
              <a:latin typeface="+mn-lt"/>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6499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en-US" sz="1100" b="0" i="0" u="none" strike="noStrike" cap="none">
                <a:solidFill>
                  <a:srgbClr val="000000"/>
                </a:solidFill>
                <a:latin typeface="+mn-lt"/>
                <a:cs typeface="Arial"/>
                <a:sym typeface="Arial"/>
              </a:rPr>
              <a:t>## AI Act</a:t>
            </a:r>
          </a:p>
          <a:p>
            <a:pPr marL="0" marR="0" indent="0" algn="l" rtl="0">
              <a:lnSpc>
                <a:spcPct val="100000"/>
              </a:lnSpc>
              <a:spcBef>
                <a:spcPts val="0"/>
              </a:spcBef>
              <a:spcAft>
                <a:spcPts val="0"/>
              </a:spcAft>
              <a:buClr>
                <a:srgbClr val="000000"/>
              </a:buClr>
              <a:buSzPts val="1100"/>
              <a:buFontTx/>
              <a:buNone/>
            </a:pPr>
            <a:r>
              <a:rPr lang="en-GB"/>
              <a:t>"AIU-14: AI system data privacy The right to privacy and to protection of personal data must be guaranteed throughout the entire lifecycle of the AI system used by Stellantis Financial Services. To comply with it, all Personally Identifiable Information (PII) should be removed or obfuscated before its use within an AI system."</a:t>
            </a:r>
            <a:endParaRPr lang="en-US" sz="1100" b="0" i="0" u="none" strike="noStrike" cap="none">
              <a:solidFill>
                <a:srgbClr val="000000"/>
              </a:solidFill>
              <a:latin typeface="+mn-lt"/>
              <a:cs typeface="Arial"/>
              <a:sym typeface="Arial"/>
            </a:endParaRPr>
          </a:p>
          <a:p>
            <a:pPr marL="0" marR="0" indent="0" algn="l" rtl="0">
              <a:lnSpc>
                <a:spcPct val="100000"/>
              </a:lnSpc>
              <a:spcBef>
                <a:spcPts val="0"/>
              </a:spcBef>
              <a:spcAft>
                <a:spcPts val="0"/>
              </a:spcAft>
              <a:buClr>
                <a:srgbClr val="000000"/>
              </a:buClr>
              <a:buSzPts val="1100"/>
              <a:buFontTx/>
              <a:buNone/>
            </a:pPr>
            <a:endParaRPr lang="en-US" sz="1100" b="0" i="0" u="none" strike="noStrike" cap="none">
              <a:solidFill>
                <a:srgbClr val="000000"/>
              </a:solidFill>
              <a:latin typeface="+mn-lt"/>
              <a:cs typeface="Arial"/>
              <a:sym typeface="Arial"/>
            </a:endParaRPr>
          </a:p>
          <a:p>
            <a:pPr marL="0" marR="0" indent="0" algn="l" rtl="0">
              <a:lnSpc>
                <a:spcPct val="100000"/>
              </a:lnSpc>
              <a:spcBef>
                <a:spcPts val="0"/>
              </a:spcBef>
              <a:spcAft>
                <a:spcPts val="0"/>
              </a:spcAft>
              <a:buClr>
                <a:srgbClr val="000000"/>
              </a:buClr>
              <a:buSzPts val="1100"/>
              <a:buFontTx/>
              <a:buNone/>
            </a:pPr>
            <a:r>
              <a:rPr lang="en-US" sz="1100" b="0" i="0" u="none" strike="noStrike" cap="none">
                <a:solidFill>
                  <a:srgbClr val="000000"/>
                </a:solidFill>
                <a:latin typeface="+mn-lt"/>
                <a:cs typeface="Arial"/>
                <a:sym typeface="Arial"/>
              </a:rPr>
              <a:t>#Data Privacy</a:t>
            </a:r>
          </a:p>
          <a:p>
            <a:pPr marL="0" marR="0" indent="0" algn="l" rtl="0">
              <a:lnSpc>
                <a:spcPct val="100000"/>
              </a:lnSpc>
              <a:spcBef>
                <a:spcPts val="0"/>
              </a:spcBef>
              <a:spcAft>
                <a:spcPts val="0"/>
              </a:spcAft>
              <a:buClr>
                <a:srgbClr val="000000"/>
              </a:buClr>
              <a:buSzPts val="1100"/>
              <a:buFontTx/>
              <a:buNone/>
            </a:pPr>
            <a:r>
              <a:rPr lang="en-US" sz="1100" b="0" i="0" u="none" strike="noStrike" cap="none">
                <a:solidFill>
                  <a:srgbClr val="000000"/>
                </a:solidFill>
                <a:latin typeface="+mn-lt"/>
                <a:cs typeface="Arial"/>
                <a:sym typeface="Arial"/>
              </a:rPr>
              <a:t>Indicate if the application handle personal / private / privacy data, and what are the applicable laws. To be GDPR/CCPA compliant, an application must have also business process that must be anticipated, like :</a:t>
            </a:r>
          </a:p>
          <a:p>
            <a:pPr marL="171450" marR="0" indent="-171450" algn="l" rtl="0">
              <a:lnSpc>
                <a:spcPct val="100000"/>
              </a:lnSpc>
              <a:spcBef>
                <a:spcPts val="0"/>
              </a:spcBef>
              <a:spcAft>
                <a:spcPts val="0"/>
              </a:spcAft>
              <a:buClr>
                <a:srgbClr val="000000"/>
              </a:buClr>
              <a:buSzPts val="1100"/>
              <a:buFont typeface="Arial" panose="020B0604020202020204" pitchFamily="34" charset="0"/>
              <a:buChar char="•"/>
            </a:pPr>
            <a:r>
              <a:rPr lang="en-US" sz="1100" b="0" i="0" u="none" strike="noStrike" cap="none">
                <a:solidFill>
                  <a:srgbClr val="000000"/>
                </a:solidFill>
                <a:latin typeface="+mn-lt"/>
                <a:cs typeface="Arial"/>
                <a:sym typeface="Arial"/>
              </a:rPr>
              <a:t>The end user can request all know data</a:t>
            </a:r>
          </a:p>
          <a:p>
            <a:pPr marL="171450" marR="0" indent="-171450" algn="l" rtl="0">
              <a:lnSpc>
                <a:spcPct val="100000"/>
              </a:lnSpc>
              <a:spcBef>
                <a:spcPts val="0"/>
              </a:spcBef>
              <a:spcAft>
                <a:spcPts val="0"/>
              </a:spcAft>
              <a:buClr>
                <a:srgbClr val="000000"/>
              </a:buClr>
              <a:buSzPts val="1100"/>
              <a:buFont typeface="Arial" panose="020B0604020202020204" pitchFamily="34" charset="0"/>
              <a:buChar char="•"/>
            </a:pPr>
            <a:r>
              <a:rPr lang="en-US" sz="1100" b="0" i="0" u="none" strike="noStrike" cap="none">
                <a:solidFill>
                  <a:srgbClr val="000000"/>
                </a:solidFill>
                <a:latin typeface="+mn-lt"/>
                <a:cs typeface="Arial"/>
                <a:sym typeface="Arial"/>
              </a:rPr>
              <a:t>He can request data deletion</a:t>
            </a:r>
          </a:p>
          <a:p>
            <a:pPr marL="171450" marR="0" indent="-171450" algn="l" rtl="0">
              <a:lnSpc>
                <a:spcPct val="100000"/>
              </a:lnSpc>
              <a:spcBef>
                <a:spcPts val="0"/>
              </a:spcBef>
              <a:spcAft>
                <a:spcPts val="0"/>
              </a:spcAft>
              <a:buClr>
                <a:srgbClr val="000000"/>
              </a:buClr>
              <a:buSzPts val="1100"/>
              <a:buFont typeface="Arial" panose="020B0604020202020204" pitchFamily="34" charset="0"/>
              <a:buChar char="•"/>
            </a:pPr>
            <a:r>
              <a:rPr lang="en-US" sz="1100" b="0" i="0" u="none" strike="noStrike" cap="none">
                <a:solidFill>
                  <a:srgbClr val="000000"/>
                </a:solidFill>
                <a:latin typeface="+mn-lt"/>
                <a:cs typeface="Arial"/>
                <a:sym typeface="Arial"/>
              </a:rPr>
              <a:t>Can refuse data transfer</a:t>
            </a:r>
          </a:p>
          <a:p>
            <a:pPr marL="0" marR="0" indent="0" algn="l" rtl="0">
              <a:lnSpc>
                <a:spcPct val="100000"/>
              </a:lnSpc>
              <a:spcBef>
                <a:spcPts val="0"/>
              </a:spcBef>
              <a:spcAft>
                <a:spcPts val="0"/>
              </a:spcAft>
              <a:buClr>
                <a:srgbClr val="000000"/>
              </a:buClr>
              <a:buSzPts val="1100"/>
              <a:buFontTx/>
              <a:buNone/>
            </a:pPr>
            <a:r>
              <a:rPr lang="en-US" sz="1100" b="0" i="0" u="none" strike="noStrike" cap="none">
                <a:solidFill>
                  <a:srgbClr val="000000"/>
                </a:solidFill>
                <a:latin typeface="+mn-lt"/>
                <a:cs typeface="Arial"/>
                <a:sym typeface="Arial"/>
              </a:rPr>
              <a:t>It can be some manual processes to handle that, or the application must have embedded feature to </a:t>
            </a:r>
            <a:r>
              <a:rPr lang="en-US" sz="1100" b="0" i="0" u="none" strike="noStrike" cap="none" err="1">
                <a:solidFill>
                  <a:srgbClr val="000000"/>
                </a:solidFill>
                <a:latin typeface="+mn-lt"/>
                <a:cs typeface="Arial"/>
                <a:sym typeface="Arial"/>
              </a:rPr>
              <a:t>hande</a:t>
            </a:r>
            <a:r>
              <a:rPr lang="en-US" sz="1100" b="0" i="0" u="none" strike="noStrike" cap="none">
                <a:solidFill>
                  <a:srgbClr val="000000"/>
                </a:solidFill>
                <a:latin typeface="+mn-lt"/>
                <a:cs typeface="Arial"/>
                <a:sym typeface="Arial"/>
              </a:rPr>
              <a:t> them (like “click here to download all data we have about you”).</a:t>
            </a:r>
          </a:p>
          <a:p>
            <a:pPr marL="171450" marR="0" indent="-171450" algn="l" rtl="0">
              <a:lnSpc>
                <a:spcPct val="100000"/>
              </a:lnSpc>
              <a:spcBef>
                <a:spcPts val="0"/>
              </a:spcBef>
              <a:spcAft>
                <a:spcPts val="0"/>
              </a:spcAft>
              <a:buClr>
                <a:srgbClr val="000000"/>
              </a:buClr>
              <a:buSzPts val="1100"/>
              <a:buFontTx/>
              <a:buChar char="-"/>
            </a:pPr>
            <a:endParaRPr lang="en-US" sz="1100" b="0" i="0" u="none" strike="noStrike" cap="none">
              <a:solidFill>
                <a:srgbClr val="000000"/>
              </a:solidFill>
              <a:latin typeface="+mn-lt"/>
              <a:cs typeface="Arial"/>
              <a:sym typeface="Arial"/>
            </a:endParaRPr>
          </a:p>
          <a:p>
            <a:pPr marL="0" marR="0" indent="0" algn="l" rtl="0">
              <a:lnSpc>
                <a:spcPct val="100000"/>
              </a:lnSpc>
              <a:spcBef>
                <a:spcPts val="0"/>
              </a:spcBef>
              <a:spcAft>
                <a:spcPts val="0"/>
              </a:spcAft>
              <a:buClr>
                <a:srgbClr val="000000"/>
              </a:buClr>
              <a:buSzPts val="1100"/>
              <a:buFontTx/>
              <a:buNone/>
            </a:pPr>
            <a:r>
              <a:rPr lang="fr-FR" sz="1100" b="0" i="0" u="none" strike="noStrike" cap="none">
                <a:solidFill>
                  <a:srgbClr val="000000"/>
                </a:solidFill>
                <a:latin typeface="+mn-lt"/>
                <a:cs typeface="Arial"/>
                <a:sym typeface="Arial"/>
              </a:rPr>
              <a:t>In case </a:t>
            </a:r>
            <a:r>
              <a:rPr lang="fr-FR">
                <a:latin typeface="+mn-lt"/>
              </a:rPr>
              <a:t>of </a:t>
            </a:r>
            <a:r>
              <a:rPr lang="fr-FR" err="1">
                <a:latin typeface="+mn-lt"/>
              </a:rPr>
              <a:t>doubt</a:t>
            </a:r>
            <a:r>
              <a:rPr lang="fr-FR">
                <a:latin typeface="+mn-lt"/>
              </a:rPr>
              <a:t> </a:t>
            </a:r>
            <a:r>
              <a:rPr lang="fr-FR" err="1">
                <a:latin typeface="+mn-lt"/>
              </a:rPr>
              <a:t>ask</a:t>
            </a:r>
            <a:r>
              <a:rPr lang="fr-FR">
                <a:latin typeface="+mn-lt"/>
              </a:rPr>
              <a:t> to </a:t>
            </a:r>
            <a:r>
              <a:rPr lang="fr-FR" err="1">
                <a:latin typeface="+mn-lt"/>
              </a:rPr>
              <a:t>your</a:t>
            </a:r>
            <a:r>
              <a:rPr lang="fr-FR">
                <a:latin typeface="+mn-lt"/>
              </a:rPr>
              <a:t> Data </a:t>
            </a:r>
            <a:r>
              <a:rPr lang="fr-FR" err="1">
                <a:latin typeface="+mn-lt"/>
              </a:rPr>
              <a:t>Privacy</a:t>
            </a:r>
            <a:r>
              <a:rPr lang="fr-FR">
                <a:latin typeface="+mn-lt"/>
              </a:rPr>
              <a:t> </a:t>
            </a:r>
            <a:r>
              <a:rPr lang="fr-FR" err="1">
                <a:latin typeface="+mn-lt"/>
              </a:rPr>
              <a:t>Officer</a:t>
            </a:r>
            <a:r>
              <a:rPr lang="fr-FR">
                <a:latin typeface="+mn-lt"/>
              </a:rPr>
              <a:t> : https://shiftup.sharepoint.com/sites/Enterprise_Architecture/SitePages/Organization_Architecture-Name.aspx</a:t>
            </a:r>
          </a:p>
          <a:p>
            <a:pPr marL="0" marR="0" indent="0" algn="l" rtl="0">
              <a:lnSpc>
                <a:spcPct val="100000"/>
              </a:lnSpc>
              <a:spcBef>
                <a:spcPts val="0"/>
              </a:spcBef>
              <a:spcAft>
                <a:spcPts val="0"/>
              </a:spcAft>
              <a:buClr>
                <a:srgbClr val="000000"/>
              </a:buClr>
              <a:buSzPts val="1100"/>
              <a:buFontTx/>
              <a:buNone/>
            </a:pPr>
            <a:endParaRPr lang="fr-FR">
              <a:latin typeface="+mn-lt"/>
            </a:endParaRPr>
          </a:p>
          <a:p>
            <a:pPr marL="0" marR="0" indent="0" algn="l" rtl="0">
              <a:lnSpc>
                <a:spcPct val="100000"/>
              </a:lnSpc>
              <a:spcBef>
                <a:spcPts val="0"/>
              </a:spcBef>
              <a:spcAft>
                <a:spcPts val="0"/>
              </a:spcAft>
              <a:buClr>
                <a:srgbClr val="000000"/>
              </a:buClr>
              <a:buSzPts val="1100"/>
              <a:buFontTx/>
              <a:buNone/>
            </a:pPr>
            <a:r>
              <a:rPr lang="fr-FR" sz="1100" b="0" i="0" u="none" strike="noStrike" cap="none">
                <a:solidFill>
                  <a:srgbClr val="000000"/>
                </a:solidFill>
                <a:latin typeface="+mn-lt"/>
                <a:cs typeface="Arial"/>
                <a:sym typeface="Arial"/>
              </a:rPr>
              <a:t>In case </a:t>
            </a:r>
            <a:r>
              <a:rPr lang="fr-FR">
                <a:latin typeface="+mn-lt"/>
              </a:rPr>
              <a:t>of </a:t>
            </a:r>
            <a:r>
              <a:rPr lang="fr-FR" err="1">
                <a:latin typeface="+mn-lt"/>
              </a:rPr>
              <a:t>doubt</a:t>
            </a:r>
            <a:r>
              <a:rPr lang="fr-FR">
                <a:latin typeface="+mn-lt"/>
              </a:rPr>
              <a:t> </a:t>
            </a:r>
            <a:r>
              <a:rPr lang="fr-FR" err="1">
                <a:latin typeface="+mn-lt"/>
              </a:rPr>
              <a:t>ask</a:t>
            </a:r>
            <a:r>
              <a:rPr lang="fr-FR">
                <a:latin typeface="+mn-lt"/>
              </a:rPr>
              <a:t> to </a:t>
            </a:r>
            <a:r>
              <a:rPr lang="fr-FR" err="1">
                <a:latin typeface="+mn-lt"/>
              </a:rPr>
              <a:t>your</a:t>
            </a:r>
            <a:r>
              <a:rPr lang="fr-FR">
                <a:latin typeface="+mn-lt"/>
              </a:rPr>
              <a:t> Data </a:t>
            </a:r>
            <a:r>
              <a:rPr lang="fr-FR" err="1">
                <a:latin typeface="+mn-lt"/>
              </a:rPr>
              <a:t>Privacy</a:t>
            </a:r>
            <a:r>
              <a:rPr lang="fr-FR">
                <a:latin typeface="+mn-lt"/>
              </a:rPr>
              <a:t> </a:t>
            </a:r>
            <a:r>
              <a:rPr lang="fr-FR" err="1">
                <a:latin typeface="+mn-lt"/>
              </a:rPr>
              <a:t>Officer</a:t>
            </a:r>
            <a:r>
              <a:rPr lang="fr-FR">
                <a:latin typeface="+mn-lt"/>
              </a:rPr>
              <a:t> : </a:t>
            </a:r>
          </a:p>
          <a:p>
            <a:pPr marL="158750" indent="0" algn="l">
              <a:buNone/>
            </a:pPr>
            <a:r>
              <a:rPr lang="fr-FR" b="0" i="0">
                <a:effectLst/>
                <a:latin typeface="+mn-lt"/>
                <a:hlinkClick r:id="rId3" tooltip="https://meteor-it.inetpsa.com/topics/gdpr_in_it_projects/gdpr_global_view.html"/>
              </a:rPr>
              <a:t>https://meteor-it.inetpsa.com/Topics/GDPR_in_IT_projects/GDPR_global_view.html</a:t>
            </a:r>
            <a:endParaRPr lang="fr-FR" b="0" i="0">
              <a:effectLst/>
              <a:latin typeface="+mn-lt"/>
            </a:endParaRPr>
          </a:p>
          <a:p>
            <a:pPr marL="158750" indent="0" algn="l">
              <a:buNone/>
            </a:pPr>
            <a:r>
              <a:rPr lang="fr-FR" b="0" i="0">
                <a:effectLst/>
                <a:latin typeface="+mn-lt"/>
                <a:hlinkClick r:id="rId4" tooltip="https://docinfogroupe.stellantis.com/ead/doc/ref.01989_18_00251/v.vc/pj"/>
              </a:rPr>
              <a:t>https://docinfogroupe.stellantis.com/ead/doc/ref.01989_18_00251/v.vc/pj</a:t>
            </a:r>
            <a:endParaRPr lang="fr-FR" b="0" i="0">
              <a:effectLst/>
              <a:latin typeface="+mn-lt"/>
            </a:endParaRPr>
          </a:p>
          <a:p>
            <a:pPr marL="158750" indent="0" algn="l">
              <a:buNone/>
            </a:pPr>
            <a:endParaRPr lang="fr-FR" b="0" i="0">
              <a:effectLst/>
              <a:latin typeface="+mn-lt"/>
            </a:endParaRPr>
          </a:p>
          <a:p>
            <a:pPr marL="158750" indent="0" algn="l">
              <a:buNone/>
            </a:pPr>
            <a:endParaRPr lang="fr-FR" b="0" i="0">
              <a:effectLst/>
              <a:latin typeface="+mn-lt"/>
            </a:endParaRPr>
          </a:p>
          <a:p>
            <a:pPr marL="457200" indent="-298450" algn="l"/>
            <a:r>
              <a:rPr lang="fr-FR" b="1" i="0">
                <a:effectLst/>
                <a:latin typeface="+mn-lt"/>
              </a:rPr>
              <a:t>For a SaaS solution : </a:t>
            </a:r>
          </a:p>
          <a:p>
            <a:pPr marL="914400" lvl="1" indent="-298450" algn="l"/>
            <a:r>
              <a:rPr lang="fr-FR" b="0" i="0">
                <a:effectLst/>
                <a:latin typeface="+mn-lt"/>
              </a:rPr>
              <a:t>The </a:t>
            </a:r>
            <a:r>
              <a:rPr lang="fr-FR" b="0" i="0" err="1">
                <a:effectLst/>
                <a:latin typeface="+mn-lt"/>
              </a:rPr>
              <a:t>evaluation</a:t>
            </a:r>
            <a:r>
              <a:rPr lang="fr-FR" b="0" i="0">
                <a:effectLst/>
                <a:latin typeface="+mn-lt"/>
              </a:rPr>
              <a:t> in </a:t>
            </a:r>
            <a:r>
              <a:rPr lang="fr-FR" b="0" i="0" err="1">
                <a:effectLst/>
                <a:latin typeface="+mn-lt"/>
              </a:rPr>
              <a:t>pre-study</a:t>
            </a:r>
            <a:r>
              <a:rPr lang="fr-FR" b="0" i="0">
                <a:effectLst/>
                <a:latin typeface="+mn-lt"/>
              </a:rPr>
              <a:t> </a:t>
            </a:r>
            <a:r>
              <a:rPr lang="fr-FR" b="0" i="0" err="1">
                <a:effectLst/>
                <a:latin typeface="+mn-lt"/>
              </a:rPr>
              <a:t>shall</a:t>
            </a:r>
            <a:r>
              <a:rPr lang="fr-FR" b="0" i="0">
                <a:effectLst/>
                <a:latin typeface="+mn-lt"/>
              </a:rPr>
              <a:t> </a:t>
            </a:r>
            <a:r>
              <a:rPr lang="fr-FR" b="0" i="0" err="1">
                <a:effectLst/>
                <a:latin typeface="+mn-lt"/>
              </a:rPr>
              <a:t>evaluate</a:t>
            </a:r>
            <a:r>
              <a:rPr lang="fr-FR" b="0" i="0">
                <a:effectLst/>
                <a:latin typeface="+mn-lt"/>
              </a:rPr>
              <a:t> the </a:t>
            </a:r>
            <a:r>
              <a:rPr lang="fr-FR" b="0" i="0" err="1">
                <a:effectLst/>
                <a:latin typeface="+mn-lt"/>
              </a:rPr>
              <a:t>compliancy</a:t>
            </a:r>
            <a:r>
              <a:rPr lang="fr-FR" b="0" i="0">
                <a:effectLst/>
                <a:latin typeface="+mn-lt"/>
              </a:rPr>
              <a:t>.</a:t>
            </a:r>
          </a:p>
          <a:p>
            <a:pPr marL="914400" lvl="1" indent="-298450" algn="l"/>
            <a:r>
              <a:rPr lang="fr-FR" b="0" i="0">
                <a:effectLst/>
                <a:latin typeface="+mn-lt"/>
              </a:rPr>
              <a:t>The </a:t>
            </a:r>
            <a:r>
              <a:rPr lang="fr-FR" b="0" i="0" err="1">
                <a:effectLst/>
                <a:latin typeface="+mn-lt"/>
              </a:rPr>
              <a:t>Build</a:t>
            </a:r>
            <a:r>
              <a:rPr lang="fr-FR" b="0" i="0">
                <a:effectLst/>
                <a:latin typeface="+mn-lt"/>
              </a:rPr>
              <a:t>/run phase </a:t>
            </a:r>
            <a:r>
              <a:rPr lang="fr-FR" b="0" i="0" err="1">
                <a:effectLst/>
                <a:latin typeface="+mn-lt"/>
              </a:rPr>
              <a:t>should</a:t>
            </a:r>
            <a:r>
              <a:rPr lang="fr-FR" b="0" i="0">
                <a:effectLst/>
                <a:latin typeface="+mn-lt"/>
              </a:rPr>
              <a:t> </a:t>
            </a:r>
            <a:r>
              <a:rPr lang="fr-FR" b="0" i="0" err="1">
                <a:effectLst/>
                <a:latin typeface="+mn-lt"/>
              </a:rPr>
              <a:t>reenforce</a:t>
            </a:r>
            <a:r>
              <a:rPr lang="fr-FR" b="0" i="0">
                <a:effectLst/>
                <a:latin typeface="+mn-lt"/>
              </a:rPr>
              <a:t> the </a:t>
            </a:r>
            <a:r>
              <a:rPr lang="fr-FR" b="0" i="0" err="1">
                <a:effectLst/>
                <a:latin typeface="+mn-lt"/>
              </a:rPr>
              <a:t>verification</a:t>
            </a:r>
            <a:r>
              <a:rPr lang="fr-FR" b="0" i="0">
                <a:effectLst/>
                <a:latin typeface="+mn-lt"/>
              </a:rPr>
              <a:t> and GDPR </a:t>
            </a:r>
            <a:r>
              <a:rPr lang="fr-FR" b="0" i="0" err="1">
                <a:effectLst/>
                <a:latin typeface="+mn-lt"/>
              </a:rPr>
              <a:t>is</a:t>
            </a:r>
            <a:r>
              <a:rPr lang="fr-FR" b="0" i="0">
                <a:effectLst/>
                <a:latin typeface="+mn-lt"/>
              </a:rPr>
              <a:t> part of the DATA </a:t>
            </a:r>
            <a:r>
              <a:rPr lang="fr-FR" b="0" i="0" err="1">
                <a:effectLst/>
                <a:latin typeface="+mn-lt"/>
              </a:rPr>
              <a:t>inventory</a:t>
            </a:r>
            <a:r>
              <a:rPr lang="fr-FR" b="0" i="0">
                <a:effectLst/>
                <a:latin typeface="+mn-lt"/>
              </a:rPr>
              <a:t> for exit plan</a:t>
            </a:r>
          </a:p>
          <a:p>
            <a:pPr marL="914400" lvl="1" indent="-298450" algn="l"/>
            <a:r>
              <a:rPr lang="fr-FR" b="1" i="0">
                <a:effectLst/>
                <a:latin typeface="+mn-lt"/>
              </a:rPr>
              <a:t>That GDPR </a:t>
            </a:r>
            <a:r>
              <a:rPr lang="fr-FR" b="1" i="0" err="1">
                <a:effectLst/>
                <a:latin typeface="+mn-lt"/>
              </a:rPr>
              <a:t>compliancy</a:t>
            </a:r>
            <a:r>
              <a:rPr lang="fr-FR" b="1" i="0">
                <a:effectLst/>
                <a:latin typeface="+mn-lt"/>
              </a:rPr>
              <a:t> </a:t>
            </a:r>
            <a:r>
              <a:rPr lang="fr-FR" b="0" i="0" err="1">
                <a:effectLst/>
                <a:latin typeface="+mn-lt"/>
              </a:rPr>
              <a:t>should</a:t>
            </a:r>
            <a:r>
              <a:rPr lang="fr-FR" b="0" i="0">
                <a:effectLst/>
                <a:latin typeface="+mn-lt"/>
              </a:rPr>
              <a:t> </a:t>
            </a:r>
            <a:r>
              <a:rPr lang="fr-FR" b="0" i="0" err="1">
                <a:effectLst/>
                <a:latin typeface="+mn-lt"/>
              </a:rPr>
              <a:t>also</a:t>
            </a:r>
            <a:r>
              <a:rPr lang="fr-FR" b="0" i="0">
                <a:effectLst/>
                <a:latin typeface="+mn-lt"/>
              </a:rPr>
              <a:t> </a:t>
            </a:r>
            <a:r>
              <a:rPr lang="fr-FR" b="0" i="0" err="1">
                <a:effectLst/>
                <a:latin typeface="+mn-lt"/>
              </a:rPr>
              <a:t>be</a:t>
            </a:r>
            <a:r>
              <a:rPr lang="fr-FR" b="0" i="0">
                <a:effectLst/>
                <a:latin typeface="+mn-lt"/>
              </a:rPr>
              <a:t> </a:t>
            </a:r>
            <a:r>
              <a:rPr lang="fr-FR" b="0" i="0" err="1">
                <a:effectLst/>
                <a:latin typeface="+mn-lt"/>
              </a:rPr>
              <a:t>managed</a:t>
            </a:r>
            <a:r>
              <a:rPr lang="fr-FR" b="0" i="0">
                <a:effectLst/>
                <a:latin typeface="+mn-lt"/>
              </a:rPr>
              <a:t> </a:t>
            </a:r>
            <a:r>
              <a:rPr lang="fr-FR" b="0" i="0" err="1">
                <a:effectLst/>
                <a:latin typeface="+mn-lt"/>
              </a:rPr>
              <a:t>when</a:t>
            </a:r>
            <a:r>
              <a:rPr lang="fr-FR" b="0" i="0">
                <a:effectLst/>
                <a:latin typeface="+mn-lt"/>
              </a:rPr>
              <a:t> the </a:t>
            </a:r>
            <a:r>
              <a:rPr lang="fr-FR" b="0" i="0" err="1">
                <a:effectLst/>
                <a:latin typeface="+mn-lt"/>
              </a:rPr>
              <a:t>executive</a:t>
            </a:r>
            <a:r>
              <a:rPr lang="fr-FR" b="0" i="0">
                <a:effectLst/>
                <a:latin typeface="+mn-lt"/>
              </a:rPr>
              <a:t> plan </a:t>
            </a:r>
            <a:r>
              <a:rPr lang="fr-FR" b="0" i="0" err="1">
                <a:effectLst/>
                <a:latin typeface="+mn-lt"/>
              </a:rPr>
              <a:t>when</a:t>
            </a:r>
            <a:r>
              <a:rPr lang="fr-FR" b="0" i="0">
                <a:effectLst/>
                <a:latin typeface="+mn-lt"/>
              </a:rPr>
              <a:t> </a:t>
            </a:r>
            <a:r>
              <a:rPr lang="fr-FR" b="0" i="0" err="1">
                <a:effectLst/>
                <a:latin typeface="+mn-lt"/>
              </a:rPr>
              <a:t>termination</a:t>
            </a:r>
            <a:r>
              <a:rPr lang="fr-FR" b="0" i="0">
                <a:effectLst/>
                <a:latin typeface="+mn-lt"/>
              </a:rPr>
              <a:t> of the </a:t>
            </a:r>
            <a:r>
              <a:rPr lang="fr-FR" b="0" i="0" err="1">
                <a:effectLst/>
                <a:latin typeface="+mn-lt"/>
              </a:rPr>
              <a:t>contract</a:t>
            </a:r>
            <a:r>
              <a:rPr lang="fr-FR" b="0" i="0">
                <a:effectLst/>
                <a:latin typeface="+mn-lt"/>
              </a:rPr>
              <a:t>. So the export </a:t>
            </a:r>
            <a:r>
              <a:rPr lang="fr-FR" b="0" i="0" err="1">
                <a:effectLst/>
                <a:latin typeface="+mn-lt"/>
              </a:rPr>
              <a:t>facilities</a:t>
            </a:r>
            <a:r>
              <a:rPr lang="fr-FR" b="0" i="0">
                <a:effectLst/>
                <a:latin typeface="+mn-lt"/>
              </a:rPr>
              <a:t> and </a:t>
            </a:r>
            <a:r>
              <a:rPr lang="fr-FR" b="0" i="0" err="1">
                <a:effectLst/>
                <a:latin typeface="+mn-lt"/>
              </a:rPr>
              <a:t>processes</a:t>
            </a:r>
            <a:r>
              <a:rPr lang="fr-FR" b="0" i="0">
                <a:effectLst/>
                <a:latin typeface="+mn-lt"/>
              </a:rPr>
              <a:t> </a:t>
            </a:r>
            <a:r>
              <a:rPr lang="fr-FR" b="0" i="0" err="1">
                <a:effectLst/>
                <a:latin typeface="+mn-lt"/>
              </a:rPr>
              <a:t>attached</a:t>
            </a:r>
            <a:r>
              <a:rPr lang="fr-FR" b="0" i="0">
                <a:effectLst/>
                <a:latin typeface="+mn-lt"/>
              </a:rPr>
              <a:t> to </a:t>
            </a:r>
            <a:r>
              <a:rPr lang="fr-FR" b="0" i="0" err="1">
                <a:effectLst/>
                <a:latin typeface="+mn-lt"/>
              </a:rPr>
              <a:t>it</a:t>
            </a:r>
            <a:r>
              <a:rPr lang="fr-FR" b="0" i="0">
                <a:effectLst/>
                <a:latin typeface="+mn-lt"/>
              </a:rPr>
              <a:t>  </a:t>
            </a:r>
            <a:r>
              <a:rPr lang="fr-FR" b="0" i="0" err="1">
                <a:effectLst/>
                <a:latin typeface="+mn-lt"/>
              </a:rPr>
              <a:t>shall</a:t>
            </a:r>
            <a:r>
              <a:rPr lang="fr-FR" b="0" i="0">
                <a:effectLst/>
                <a:latin typeface="+mn-lt"/>
              </a:rPr>
              <a:t> </a:t>
            </a:r>
            <a:r>
              <a:rPr lang="fr-FR" b="0" i="0" err="1">
                <a:effectLst/>
                <a:latin typeface="+mn-lt"/>
              </a:rPr>
              <a:t>be</a:t>
            </a:r>
            <a:r>
              <a:rPr lang="fr-FR" b="0" i="0">
                <a:effectLst/>
                <a:latin typeface="+mn-lt"/>
              </a:rPr>
              <a:t> compliant </a:t>
            </a:r>
            <a:r>
              <a:rPr lang="fr-FR" b="0" i="0" err="1">
                <a:effectLst/>
                <a:latin typeface="+mn-lt"/>
              </a:rPr>
              <a:t>too</a:t>
            </a:r>
            <a:r>
              <a:rPr lang="fr-FR" b="0" i="0">
                <a:effectLst/>
                <a:latin typeface="+mn-lt"/>
              </a:rPr>
              <a:t>. </a:t>
            </a:r>
          </a:p>
          <a:p>
            <a:pPr marL="0" marR="0" indent="0" algn="l" rtl="0">
              <a:lnSpc>
                <a:spcPct val="100000"/>
              </a:lnSpc>
              <a:spcBef>
                <a:spcPts val="0"/>
              </a:spcBef>
              <a:spcAft>
                <a:spcPts val="0"/>
              </a:spcAft>
              <a:buClr>
                <a:srgbClr val="000000"/>
              </a:buClr>
              <a:buSzPts val="1100"/>
              <a:buFontTx/>
              <a:buNone/>
            </a:pPr>
            <a:endParaRPr lang="fr-FR">
              <a:latin typeface="+mn-lt"/>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1177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19516-8744-2AB2-1A96-3C4DE174F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4CE51-4F13-28BF-2DAA-4BB69822C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7C96F-03B6-1F6D-A46D-0D4A8BFD26C1}"/>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596370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100"/>
              <a:t>Contractual Safeguards</a:t>
            </a:r>
            <a:br>
              <a:rPr lang="en-GB" sz="1100"/>
            </a:br>
            <a:r>
              <a:rPr lang="en-GB" sz="1100"/>
              <a:t>Include termination rights, notice periods (minimum 2 months), and transition clauses.</a:t>
            </a:r>
            <a:br>
              <a:rPr lang="en-GB" sz="1100"/>
            </a:br>
            <a:r>
              <a:rPr lang="en-GB" sz="1100"/>
              <a:t>Define retrieval periods (minimum 30 days) and fallback options (up to 7 months if needed).</a:t>
            </a:r>
            <a:br>
              <a:rPr lang="en-GB" sz="1100"/>
            </a:br>
            <a:r>
              <a:rPr lang="en-GB" sz="1100"/>
              <a:t>Ensure clauses for: </a:t>
            </a:r>
            <a:br>
              <a:rPr lang="en-GB" sz="1100"/>
            </a:br>
            <a:r>
              <a:rPr lang="en-GB" sz="1100"/>
              <a:t>Data ownership and portability</a:t>
            </a:r>
            <a:br>
              <a:rPr lang="en-GB" sz="1100"/>
            </a:br>
            <a:r>
              <a:rPr lang="en-GB" sz="1100"/>
              <a:t>Secure deletion</a:t>
            </a:r>
            <a:br>
              <a:rPr lang="en-GB" sz="1100"/>
            </a:br>
            <a:r>
              <a:rPr lang="en-GB" sz="1100"/>
              <a:t>Vendor support during transition</a:t>
            </a:r>
            <a:br>
              <a:rPr lang="en-GB" sz="1100"/>
            </a:br>
            <a:r>
              <a:rPr lang="en-GB" sz="1100"/>
              <a:t>Access to systems, documentation, and personnel</a:t>
            </a:r>
            <a:br>
              <a:rPr lang="en-GB" sz="1100"/>
            </a:br>
            <a:endParaRPr lang="en-GB"/>
          </a:p>
        </p:txBody>
      </p:sp>
    </p:spTree>
    <p:extLst>
      <p:ext uri="{BB962C8B-B14F-4D97-AF65-F5344CB8AC3E}">
        <p14:creationId xmlns:p14="http://schemas.microsoft.com/office/powerpoint/2010/main" val="1880991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Tree>
    <p:extLst>
      <p:ext uri="{BB962C8B-B14F-4D97-AF65-F5344CB8AC3E}">
        <p14:creationId xmlns:p14="http://schemas.microsoft.com/office/powerpoint/2010/main" val="4101365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171450" marR="0" indent="-171450" algn="l" rtl="0">
              <a:lnSpc>
                <a:spcPct val="100000"/>
              </a:lnSpc>
              <a:spcBef>
                <a:spcPts val="0"/>
              </a:spcBef>
              <a:spcAft>
                <a:spcPts val="0"/>
              </a:spcAft>
              <a:buClr>
                <a:srgbClr val="000000"/>
              </a:buClr>
              <a:buSzPts val="1100"/>
            </a:pPr>
            <a:r>
              <a:rPr lang="en-US" sz="1100" b="1">
                <a:latin typeface="Encode Sans ExpandedMedium" pitchFamily="2" charset="0"/>
              </a:rPr>
              <a:t>For a “SaaS” solution and its exit plan </a:t>
            </a:r>
          </a:p>
          <a:p>
            <a:pPr marL="628650" marR="0" lvl="1" indent="-171450" algn="l" rtl="0">
              <a:lnSpc>
                <a:spcPct val="100000"/>
              </a:lnSpc>
              <a:spcBef>
                <a:spcPts val="0"/>
              </a:spcBef>
              <a:spcAft>
                <a:spcPts val="0"/>
              </a:spcAft>
              <a:buClr>
                <a:srgbClr val="000000"/>
              </a:buClr>
              <a:buSzPts val="1100"/>
            </a:pPr>
            <a:r>
              <a:rPr lang="en-US" sz="1100">
                <a:latin typeface="Encode Sans ExpandedMedium" pitchFamily="2" charset="0"/>
              </a:rPr>
              <a:t>the functional architecture document shall be maintained during all the life of the application until termination of the contract in order to serve as a base to build RFI/RFQ  new target research with its content. The content shall be exhaustive. The document  is initiated on Pre-study and maintained  in a continuous way on run phase . The exit plan document may refer to its content and its link  (</a:t>
            </a:r>
            <a:r>
              <a:rPr lang="en-US" sz="1100" err="1">
                <a:latin typeface="Encode Sans ExpandedMedium" pitchFamily="2" charset="0"/>
              </a:rPr>
              <a:t>ie</a:t>
            </a:r>
            <a:r>
              <a:rPr lang="en-US" sz="1100">
                <a:latin typeface="Encode Sans ExpandedMedium" pitchFamily="2" charset="0"/>
              </a:rPr>
              <a:t>  Refer to </a:t>
            </a:r>
            <a:r>
              <a:rPr lang="en-US" sz="1100" err="1">
                <a:latin typeface="Encode Sans ExpandedMedium" pitchFamily="2" charset="0"/>
              </a:rPr>
              <a:t>SaaS_exit</a:t>
            </a:r>
            <a:r>
              <a:rPr lang="en-US" sz="1100">
                <a:latin typeface="Encode Sans ExpandedMedium" pitchFamily="2" charset="0"/>
              </a:rPr>
              <a:t> </a:t>
            </a:r>
            <a:r>
              <a:rPr lang="en-US" sz="1100" err="1">
                <a:latin typeface="Encode Sans ExpandedMedium" pitchFamily="2" charset="0"/>
              </a:rPr>
              <a:t>plan_framework_helper</a:t>
            </a:r>
            <a:r>
              <a:rPr lang="en-US" sz="1100">
                <a:latin typeface="Encode Sans ExpandedMedium" pitchFamily="2" charset="0"/>
              </a:rPr>
              <a:t>  (chapter inventory) . It is essential for Service under DORA compliancy control.</a:t>
            </a:r>
          </a:p>
          <a:p>
            <a:pPr marL="628650" marR="0" lvl="1" indent="-171450" algn="l" rtl="0">
              <a:lnSpc>
                <a:spcPct val="100000"/>
              </a:lnSpc>
              <a:spcBef>
                <a:spcPts val="0"/>
              </a:spcBef>
              <a:spcAft>
                <a:spcPts val="0"/>
              </a:spcAft>
              <a:buClr>
                <a:srgbClr val="000000"/>
              </a:buClr>
              <a:buSzPts val="1100"/>
            </a:pPr>
            <a:endParaRPr lang="en-US" sz="1100">
              <a:latin typeface="Encode Sans ExpandedMedium" pitchFamily="2" charset="0"/>
            </a:endParaRPr>
          </a:p>
          <a:p>
            <a:pPr marL="628650" marR="0" lvl="1" indent="-171450" algn="l" rtl="0">
              <a:lnSpc>
                <a:spcPct val="100000"/>
              </a:lnSpc>
              <a:spcBef>
                <a:spcPts val="0"/>
              </a:spcBef>
              <a:spcAft>
                <a:spcPts val="0"/>
              </a:spcAft>
              <a:buClr>
                <a:srgbClr val="000000"/>
              </a:buClr>
              <a:buSzPts val="1100"/>
            </a:pPr>
            <a:r>
              <a:rPr lang="en-US" sz="1100">
                <a:latin typeface="Encode Sans ExpandedMedium" pitchFamily="2" charset="0"/>
              </a:rPr>
              <a:t>For a SaaS project concerning the execution of exit plan to a new target , the TCC should mention </a:t>
            </a:r>
          </a:p>
          <a:p>
            <a:pPr marL="1085850" marR="0" lvl="2" indent="-171450" algn="l" rtl="0">
              <a:lnSpc>
                <a:spcPct val="100000"/>
              </a:lnSpc>
              <a:spcBef>
                <a:spcPts val="0"/>
              </a:spcBef>
              <a:spcAft>
                <a:spcPts val="0"/>
              </a:spcAft>
              <a:buClr>
                <a:srgbClr val="000000"/>
              </a:buClr>
              <a:buSzPts val="1100"/>
            </a:pPr>
            <a:r>
              <a:rPr lang="en-US" sz="1100">
                <a:latin typeface="Encode Sans ExpandedMedium" pitchFamily="2" charset="0"/>
              </a:rPr>
              <a:t>The AS-IS functional scope supported by the  SaaS current solution (to be disengaged)</a:t>
            </a:r>
          </a:p>
          <a:p>
            <a:pPr marL="1085850" marR="0" lvl="2" indent="-171450" algn="l" rtl="0">
              <a:lnSpc>
                <a:spcPct val="100000"/>
              </a:lnSpc>
              <a:spcBef>
                <a:spcPts val="0"/>
              </a:spcBef>
              <a:spcAft>
                <a:spcPts val="0"/>
              </a:spcAft>
              <a:buClr>
                <a:srgbClr val="000000"/>
              </a:buClr>
              <a:buSzPts val="1100"/>
            </a:pPr>
            <a:r>
              <a:rPr lang="en-US" sz="1100">
                <a:latin typeface="Encode Sans ExpandedMedium" pitchFamily="2" charset="0"/>
              </a:rPr>
              <a:t>The functional scope supporting by the new target (the new solution) </a:t>
            </a:r>
          </a:p>
          <a:p>
            <a:pPr marL="1085850" marR="0" lvl="2" indent="-171450" algn="l" rtl="0">
              <a:lnSpc>
                <a:spcPct val="100000"/>
              </a:lnSpc>
              <a:spcBef>
                <a:spcPts val="0"/>
              </a:spcBef>
              <a:spcAft>
                <a:spcPts val="0"/>
              </a:spcAft>
              <a:buClr>
                <a:srgbClr val="000000"/>
              </a:buClr>
              <a:buSzPts val="1100"/>
            </a:pPr>
            <a:r>
              <a:rPr lang="en-US" sz="1100">
                <a:latin typeface="Encode Sans ExpandedMedium" pitchFamily="2" charset="0"/>
              </a:rPr>
              <a:t>The Gaps. </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ZoneTexte 2">
            <a:extLst>
              <a:ext uri="{FF2B5EF4-FFF2-40B4-BE49-F238E27FC236}">
                <a16:creationId xmlns:a16="http://schemas.microsoft.com/office/drawing/2014/main" id="{39051653-D3CA-F72B-6FF7-02DF603E17C2}"/>
              </a:ext>
            </a:extLst>
          </p:cNvPr>
          <p:cNvSpPr txBox="1"/>
          <p:nvPr/>
        </p:nvSpPr>
        <p:spPr>
          <a:xfrm>
            <a:off x="2902907" y="2236549"/>
            <a:ext cx="3400816" cy="400110"/>
          </a:xfrm>
          <a:prstGeom prst="rect">
            <a:avLst/>
          </a:prstGeom>
          <a:noFill/>
        </p:spPr>
        <p:txBody>
          <a:bodyPr wrap="square">
            <a:spAutoFit/>
          </a:bodyPr>
          <a:lstStyle/>
          <a:p>
            <a:pPr marL="0" indent="0">
              <a:buNone/>
            </a:pPr>
            <a:r>
              <a:rPr lang="en-US" sz="1000">
                <a:latin typeface="Encode Sans" pitchFamily="2" charset="0"/>
              </a:rPr>
              <a:t>The functional architecture must be validated by the Functional Architect before the technical gate.</a:t>
            </a:r>
          </a:p>
        </p:txBody>
      </p:sp>
    </p:spTree>
    <p:extLst>
      <p:ext uri="{BB962C8B-B14F-4D97-AF65-F5344CB8AC3E}">
        <p14:creationId xmlns:p14="http://schemas.microsoft.com/office/powerpoint/2010/main" val="3456776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171450" indent="-171450"/>
            <a:r>
              <a:rPr lang="en-US" sz="1100" b="1" dirty="0">
                <a:solidFill>
                  <a:srgbClr val="FF0000"/>
                </a:solidFill>
                <a:latin typeface="Encode Sans ExpandedMedium" pitchFamily="2" charset="0"/>
              </a:rPr>
              <a:t>MANDATORY: </a:t>
            </a:r>
            <a:r>
              <a:rPr lang="en-US" sz="1100" b="0" dirty="0">
                <a:solidFill>
                  <a:srgbClr val="FF0000"/>
                </a:solidFill>
                <a:latin typeface="Encode Sans ExpandedMedium" pitchFamily="2" charset="0"/>
              </a:rPr>
              <a:t>add </a:t>
            </a:r>
            <a:r>
              <a:rPr lang="en-US" sz="1100" dirty="0">
                <a:latin typeface="Encode Sans ExpandedMedium" pitchFamily="2" charset="0"/>
              </a:rPr>
              <a:t>the link to </a:t>
            </a:r>
            <a:r>
              <a:rPr lang="en-US" sz="1100" b="0" i="0" u="none" strike="noStrike" cap="none" dirty="0">
                <a:solidFill>
                  <a:srgbClr val="000000"/>
                </a:solidFill>
                <a:latin typeface="Encode Sans ExpandedMedium" pitchFamily="2" charset="0"/>
                <a:cs typeface="Arial"/>
                <a:sym typeface="Arial"/>
              </a:rPr>
              <a:t>the non-functional requirements </a:t>
            </a:r>
            <a:r>
              <a:rPr lang="en-US" sz="1100" dirty="0">
                <a:latin typeface="Encode Sans ExpandedMedium" pitchFamily="2" charset="0"/>
              </a:rPr>
              <a:t>(NFR) document(s).</a:t>
            </a:r>
          </a:p>
          <a:p>
            <a:pPr marL="171450" indent="-171450"/>
            <a:r>
              <a:rPr lang="en-US" sz="1100" dirty="0">
                <a:latin typeface="Encode Sans ExpandedMedium" pitchFamily="2" charset="0"/>
              </a:rPr>
              <a:t>Non-Functional Requirements (NFR) are all requirements that all systems must implement in order to work correctly.</a:t>
            </a:r>
          </a:p>
          <a:p>
            <a:pPr marL="171450" indent="-171450"/>
            <a:r>
              <a:rPr lang="en-US" sz="1100" dirty="0">
                <a:latin typeface="Encode Sans ExpandedMedium" pitchFamily="2" charset="0"/>
              </a:rPr>
              <a:t>They are about different topics:</a:t>
            </a:r>
          </a:p>
          <a:p>
            <a:pPr marL="628650" lvl="1" indent="-171450"/>
            <a:r>
              <a:rPr lang="en-US" sz="1100" dirty="0">
                <a:latin typeface="Encode Sans ExpandedMedium" pitchFamily="2" charset="0"/>
              </a:rPr>
              <a:t>Security</a:t>
            </a:r>
          </a:p>
          <a:p>
            <a:pPr marL="628650" lvl="1" indent="-171450"/>
            <a:r>
              <a:rPr lang="en-US" sz="1100" dirty="0">
                <a:latin typeface="Encode Sans ExpandedMedium" pitchFamily="2" charset="0"/>
              </a:rPr>
              <a:t>Compliance (privacy, SOX …)</a:t>
            </a:r>
          </a:p>
          <a:p>
            <a:pPr marL="628650" lvl="1" indent="-171450"/>
            <a:r>
              <a:rPr lang="en-US" sz="1100" dirty="0">
                <a:latin typeface="Encode Sans ExpandedMedium" pitchFamily="2" charset="0"/>
              </a:rPr>
              <a:t>Infrastructure (including Cloud)</a:t>
            </a:r>
          </a:p>
          <a:p>
            <a:pPr marL="628650" lvl="1" indent="-171450"/>
            <a:r>
              <a:rPr lang="en-US" sz="1100" dirty="0">
                <a:latin typeface="Encode Sans ExpandedMedium" pitchFamily="2" charset="0"/>
              </a:rPr>
              <a:t>Performances</a:t>
            </a:r>
          </a:p>
          <a:p>
            <a:pPr marL="628650" lvl="1" indent="-171450"/>
            <a:r>
              <a:rPr lang="en-US" sz="1100" dirty="0">
                <a:latin typeface="Encode Sans ExpandedMedium" pitchFamily="2" charset="0"/>
              </a:rPr>
              <a:t>Compatibility</a:t>
            </a:r>
          </a:p>
          <a:p>
            <a:pPr marL="628650" lvl="1" indent="-171450"/>
            <a:r>
              <a:rPr lang="en-US" sz="1100" dirty="0">
                <a:latin typeface="Encode Sans ExpandedMedium" pitchFamily="2" charset="0"/>
              </a:rPr>
              <a:t>Usability</a:t>
            </a:r>
          </a:p>
          <a:p>
            <a:pPr marL="628650" lvl="1" indent="-171450"/>
            <a:r>
              <a:rPr lang="en-US" sz="1100" dirty="0">
                <a:latin typeface="Encode Sans ExpandedMedium" pitchFamily="2" charset="0"/>
              </a:rPr>
              <a:t>Reliability</a:t>
            </a:r>
          </a:p>
          <a:p>
            <a:pPr marL="628650" lvl="1" indent="-171450"/>
            <a:r>
              <a:rPr lang="en-US" sz="1100" dirty="0">
                <a:latin typeface="Encode Sans ExpandedMedium" pitchFamily="2" charset="0"/>
              </a:rPr>
              <a:t>Maintainability</a:t>
            </a:r>
          </a:p>
          <a:p>
            <a:pPr marL="628650" lvl="1" indent="-171450"/>
            <a:r>
              <a:rPr lang="en-US" sz="1100" dirty="0">
                <a:latin typeface="Encode Sans ExpandedMedium" pitchFamily="2" charset="0"/>
              </a:rPr>
              <a:t>…</a:t>
            </a:r>
          </a:p>
          <a:p>
            <a:pPr marL="171450" lvl="0" indent="-171450"/>
            <a:r>
              <a:rPr lang="en-US" sz="1100" dirty="0">
                <a:latin typeface="Encode Sans ExpandedMedium" pitchFamily="2" charset="0"/>
              </a:rPr>
              <a:t>The reasons why any NFR will not be implemented must be justified.</a:t>
            </a:r>
          </a:p>
          <a:p>
            <a:pPr marL="171450" indent="-171450"/>
            <a:r>
              <a:rPr lang="en-US" sz="1100" dirty="0">
                <a:latin typeface="Encode Sans ExpandedMedium" pitchFamily="2" charset="0"/>
              </a:rPr>
              <a:t>The choices about non implemented NFR must be validated during the technical gate (ex: if any security NFR will not be implemented, the security team must validate).</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4954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 typeface="Arial"/>
              <a:buNone/>
            </a:pPr>
            <a:r>
              <a:rPr lang="en-US" sz="1100" b="0" i="0" u="none" strike="noStrike" cap="none" noProof="0">
                <a:solidFill>
                  <a:srgbClr val="000000"/>
                </a:solidFill>
                <a:latin typeface="Encode Sans ExpandedMedium" pitchFamily="2" charset="0"/>
                <a:cs typeface="Arial"/>
                <a:sym typeface="Arial"/>
              </a:rPr>
              <a:t>#Enterprise Architecture</a:t>
            </a:r>
          </a:p>
          <a:p>
            <a:pPr marL="0" marR="0" indent="0" algn="l" rtl="0">
              <a:lnSpc>
                <a:spcPct val="100000"/>
              </a:lnSpc>
              <a:spcBef>
                <a:spcPts val="0"/>
              </a:spcBef>
              <a:spcAft>
                <a:spcPts val="0"/>
              </a:spcAft>
              <a:buClr>
                <a:srgbClr val="000000"/>
              </a:buClr>
              <a:buSzPts val="1100"/>
              <a:buFont typeface="Arial"/>
              <a:buNone/>
            </a:pPr>
            <a:r>
              <a:rPr lang="en-US" sz="1100" b="0" i="0" u="none" strike="noStrike" cap="none" noProof="0">
                <a:solidFill>
                  <a:srgbClr val="000000"/>
                </a:solidFill>
                <a:latin typeface="Encode Sans ExpandedMedium" pitchFamily="2" charset="0"/>
                <a:cs typeface="Arial"/>
                <a:sym typeface="Arial"/>
              </a:rPr>
              <a:t>The Application flow quickly shows interactions and dependencies with other information system. It gives a global overview of the complexity. An architect may be able to include such schema.</a:t>
            </a:r>
          </a:p>
          <a:p>
            <a:pPr marL="0" marR="0" indent="0" algn="l" rtl="0">
              <a:lnSpc>
                <a:spcPct val="100000"/>
              </a:lnSpc>
              <a:spcBef>
                <a:spcPts val="0"/>
              </a:spcBef>
              <a:spcAft>
                <a:spcPts val="0"/>
              </a:spcAft>
              <a:buClr>
                <a:srgbClr val="000000"/>
              </a:buClr>
              <a:buSzPts val="1100"/>
              <a:buFont typeface="Arial"/>
              <a:buNone/>
            </a:pPr>
            <a:endParaRPr lang="en-US" sz="1100" b="0" i="0" u="none" strike="noStrike" cap="none">
              <a:solidFill>
                <a:srgbClr val="000000"/>
              </a:solidFill>
              <a:latin typeface="Encode Sans ExpandedMedium" pitchFamily="2" charset="0"/>
              <a:cs typeface="Arial"/>
              <a:sym typeface="Arial"/>
            </a:endParaRPr>
          </a:p>
          <a:p>
            <a:pPr marL="0" indent="0">
              <a:buNone/>
            </a:pPr>
            <a:r>
              <a:rPr lang="en-US" sz="1100">
                <a:latin typeface="Encode Sans ExpandedMedium" pitchFamily="2" charset="0"/>
              </a:rPr>
              <a:t>The Application flow must be validated by the Enterprise Architect before the gate.</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12695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endParaRPr lang="fr-FR" b="0" i="0">
              <a:effectLst/>
              <a:latin typeface="+mn-lt"/>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05234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endParaRPr lang="fr-FR" b="0" i="0">
              <a:effectLst/>
              <a:latin typeface="+mn-lt"/>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96661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 typeface="Arial"/>
              <a:buNone/>
            </a:pPr>
            <a:r>
              <a:rPr lang="fr-FR" sz="1100">
                <a:latin typeface="Encode Sans ExpandedMedium" pitchFamily="2" charset="0"/>
              </a:rPr>
              <a:t>#Impacted Applications Service</a:t>
            </a:r>
          </a:p>
          <a:p>
            <a:pPr marL="0" marR="0" indent="0" algn="l" rtl="0">
              <a:lnSpc>
                <a:spcPct val="100000"/>
              </a:lnSpc>
              <a:spcBef>
                <a:spcPts val="0"/>
              </a:spcBef>
              <a:spcAft>
                <a:spcPts val="0"/>
              </a:spcAft>
              <a:buClr>
                <a:srgbClr val="000000"/>
              </a:buClr>
              <a:buSzPts val="1100"/>
              <a:buFont typeface="Arial"/>
              <a:buNone/>
            </a:pPr>
            <a:r>
              <a:rPr lang="fr-FR" sz="1100" err="1">
                <a:latin typeface="Encode Sans ExpandedMedium" pitchFamily="2" charset="0"/>
              </a:rPr>
              <a:t>Refer</a:t>
            </a:r>
            <a:r>
              <a:rPr lang="fr-FR" sz="1100">
                <a:latin typeface="Encode Sans ExpandedMedium" pitchFamily="2" charset="0"/>
              </a:rPr>
              <a:t> on CMDB to know AIC/SOX/DP/RTO-RPO/SLA</a:t>
            </a:r>
          </a:p>
          <a:p>
            <a:pPr marL="0" marR="0" indent="0" algn="l" rtl="0">
              <a:lnSpc>
                <a:spcPct val="100000"/>
              </a:lnSpc>
              <a:spcBef>
                <a:spcPts val="0"/>
              </a:spcBef>
              <a:spcAft>
                <a:spcPts val="0"/>
              </a:spcAft>
              <a:buClr>
                <a:srgbClr val="000000"/>
              </a:buClr>
              <a:buSzPts val="1100"/>
              <a:buFont typeface="Arial"/>
              <a:buNone/>
            </a:pPr>
            <a:r>
              <a:rPr lang="fr-FR" sz="1100">
                <a:latin typeface="Encode Sans ExpandedMedium" pitchFamily="2" charset="0"/>
              </a:rPr>
              <a:t>SLA ?</a:t>
            </a:r>
          </a:p>
          <a:p>
            <a:pPr marL="0" marR="0" indent="0" algn="l" rtl="0">
              <a:lnSpc>
                <a:spcPct val="100000"/>
              </a:lnSpc>
              <a:spcBef>
                <a:spcPts val="0"/>
              </a:spcBef>
              <a:spcAft>
                <a:spcPts val="0"/>
              </a:spcAft>
              <a:buClr>
                <a:srgbClr val="000000"/>
              </a:buClr>
              <a:buSzPts val="1100"/>
              <a:buFont typeface="Arial"/>
              <a:buNone/>
            </a:pPr>
            <a:r>
              <a:rPr lang="fr-FR" sz="1100">
                <a:latin typeface="Encode Sans ExpandedMedium" pitchFamily="2" charset="0"/>
              </a:rPr>
              <a:t>Application Service Name : as </a:t>
            </a:r>
            <a:r>
              <a:rPr lang="fr-FR" sz="1100" err="1">
                <a:latin typeface="Encode Sans ExpandedMedium" pitchFamily="2" charset="0"/>
              </a:rPr>
              <a:t>referenced</a:t>
            </a:r>
            <a:r>
              <a:rPr lang="fr-FR" sz="1100">
                <a:latin typeface="Encode Sans ExpandedMedium" pitchFamily="2" charset="0"/>
              </a:rPr>
              <a:t> in CMDB</a:t>
            </a:r>
          </a:p>
          <a:p>
            <a:pPr marL="0" marR="0" indent="0" algn="l" rtl="0">
              <a:lnSpc>
                <a:spcPct val="100000"/>
              </a:lnSpc>
              <a:spcBef>
                <a:spcPts val="0"/>
              </a:spcBef>
              <a:spcAft>
                <a:spcPts val="0"/>
              </a:spcAft>
              <a:buClr>
                <a:srgbClr val="000000"/>
              </a:buClr>
              <a:buSzPts val="1100"/>
              <a:buFont typeface="Arial"/>
              <a:buNone/>
            </a:pPr>
            <a:r>
              <a:rPr lang="fr-FR" sz="1100" err="1">
                <a:latin typeface="Encode Sans ExpandedMedium" pitchFamily="2" charset="0"/>
              </a:rPr>
              <a:t>Availability</a:t>
            </a:r>
            <a:r>
              <a:rPr lang="fr-FR" sz="1100">
                <a:latin typeface="Encode Sans ExpandedMedium" pitchFamily="2" charset="0"/>
              </a:rPr>
              <a:t>, </a:t>
            </a:r>
            <a:r>
              <a:rPr lang="fr-FR" sz="1100" err="1">
                <a:latin typeface="Encode Sans ExpandedMedium" pitchFamily="2" charset="0"/>
              </a:rPr>
              <a:t>Integrity</a:t>
            </a:r>
            <a:r>
              <a:rPr lang="fr-FR" sz="1100">
                <a:latin typeface="Encode Sans ExpandedMedium" pitchFamily="2" charset="0"/>
              </a:rPr>
              <a:t>, </a:t>
            </a:r>
            <a:r>
              <a:rPr lang="fr-FR" sz="1100" err="1">
                <a:latin typeface="Encode Sans ExpandedMedium" pitchFamily="2" charset="0"/>
              </a:rPr>
              <a:t>Confidentiality</a:t>
            </a:r>
            <a:r>
              <a:rPr lang="fr-FR" sz="1100">
                <a:latin typeface="Encode Sans ExpandedMedium" pitchFamily="2" charset="0"/>
              </a:rPr>
              <a:t> :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solidFill>
                  <a:srgbClr val="002060"/>
                </a:solidFill>
                <a:latin typeface="+mn-lt"/>
                <a:ea typeface="+mn-lt"/>
                <a:cs typeface="+mn-lt"/>
              </a:rPr>
              <a:t>Technology:</a:t>
            </a:r>
            <a:r>
              <a:rPr lang="en-US" sz="1100" b="0">
                <a:solidFill>
                  <a:srgbClr val="002060"/>
                </a:solidFill>
                <a:latin typeface="+mn-lt"/>
                <a:ea typeface="+mn-lt"/>
                <a:cs typeface="+mn-lt"/>
              </a:rPr>
              <a:t> main technologies used to develop the source application</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545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indent="0">
              <a:buNone/>
            </a:pPr>
            <a:r>
              <a:rPr lang="fr-FR" sz="1100">
                <a:latin typeface="Encode Sans ExpandedMedium" pitchFamily="2" charset="0"/>
              </a:rPr>
              <a:t>#Risks</a:t>
            </a:r>
          </a:p>
          <a:p>
            <a:pPr marL="0" indent="0">
              <a:buNone/>
            </a:pPr>
            <a:r>
              <a:rPr lang="fr-FR" sz="1100">
                <a:latin typeface="Encode Sans ExpandedMedium" pitchFamily="2" charset="0"/>
              </a:rPr>
              <a:t>Risk of the </a:t>
            </a:r>
            <a:r>
              <a:rPr lang="fr-FR" sz="1100" err="1">
                <a:latin typeface="Encode Sans ExpandedMedium" pitchFamily="2" charset="0"/>
              </a:rPr>
              <a:t>current</a:t>
            </a:r>
            <a:r>
              <a:rPr lang="fr-FR" sz="1100">
                <a:latin typeface="Encode Sans ExpandedMedium" pitchFamily="2" charset="0"/>
              </a:rPr>
              <a:t> solution, not on the </a:t>
            </a:r>
            <a:r>
              <a:rPr lang="fr-FR" sz="1100" err="1">
                <a:latin typeface="Encode Sans ExpandedMedium" pitchFamily="2" charset="0"/>
              </a:rPr>
              <a:t>demand</a:t>
            </a:r>
            <a:r>
              <a:rPr lang="fr-FR" sz="1100">
                <a:latin typeface="Encode Sans ExpandedMedium" pitchFamily="2" charset="0"/>
              </a:rPr>
              <a:t> (to </a:t>
            </a:r>
            <a:r>
              <a:rPr lang="fr-FR" sz="1100" err="1">
                <a:latin typeface="Encode Sans ExpandedMedium" pitchFamily="2" charset="0"/>
              </a:rPr>
              <a:t>be</a:t>
            </a:r>
            <a:r>
              <a:rPr lang="fr-FR" sz="1100">
                <a:latin typeface="Encode Sans ExpandedMedium" pitchFamily="2" charset="0"/>
              </a:rPr>
              <a:t> </a:t>
            </a:r>
            <a:r>
              <a:rPr lang="fr-FR" sz="1100" err="1">
                <a:latin typeface="Encode Sans ExpandedMedium" pitchFamily="2" charset="0"/>
              </a:rPr>
              <a:t>managed</a:t>
            </a:r>
            <a:r>
              <a:rPr lang="fr-FR" sz="1100">
                <a:latin typeface="Encode Sans ExpandedMedium" pitchFamily="2" charset="0"/>
              </a:rPr>
              <a:t> in </a:t>
            </a:r>
            <a:r>
              <a:rPr lang="fr-FR" sz="1100" err="1">
                <a:latin typeface="Encode Sans ExpandedMedium" pitchFamily="2" charset="0"/>
              </a:rPr>
              <a:t>DigitalMe</a:t>
            </a:r>
            <a:r>
              <a:rPr lang="fr-FR" sz="1100">
                <a:latin typeface="Encode Sans ExpandedMedium" pitchFamily="2" charset="0"/>
              </a:rPr>
              <a:t>)</a:t>
            </a:r>
          </a:p>
          <a:p>
            <a:pPr marL="0" indent="0">
              <a:buNone/>
            </a:pPr>
            <a:r>
              <a:rPr lang="fr-FR" sz="1100" err="1">
                <a:latin typeface="Encode Sans ExpandedMedium" pitchFamily="2" charset="0"/>
              </a:rPr>
              <a:t>Examples</a:t>
            </a:r>
            <a:r>
              <a:rPr lang="fr-FR" sz="1100">
                <a:latin typeface="Encode Sans ExpandedMedium" pitchFamily="2" charset="0"/>
              </a:rPr>
              <a:t> : </a:t>
            </a:r>
            <a:r>
              <a:rPr lang="fr-FR" sz="1100" err="1">
                <a:latin typeface="Encode Sans ExpandedMedium" pitchFamily="2" charset="0"/>
              </a:rPr>
              <a:t>lack</a:t>
            </a:r>
            <a:r>
              <a:rPr lang="fr-FR" sz="1100">
                <a:latin typeface="Encode Sans ExpandedMedium" pitchFamily="2" charset="0"/>
              </a:rPr>
              <a:t> of training ; high </a:t>
            </a:r>
            <a:r>
              <a:rPr lang="fr-FR" sz="1100" err="1">
                <a:latin typeface="Encode Sans ExpandedMedium" pitchFamily="2" charset="0"/>
              </a:rPr>
              <a:t>latency</a:t>
            </a:r>
            <a:r>
              <a:rPr lang="fr-FR" sz="1100">
                <a:latin typeface="Encode Sans ExpandedMedium" pitchFamily="2" charset="0"/>
              </a:rPr>
              <a:t> ; …</a:t>
            </a:r>
          </a:p>
          <a:p>
            <a:pPr marL="0" indent="0">
              <a:buNone/>
            </a:pPr>
            <a:r>
              <a:rPr lang="fr-FR" sz="1100">
                <a:latin typeface="Encode Sans ExpandedMedium" pitchFamily="2" charset="0"/>
              </a:rPr>
              <a:t>Impact : 0 to 3 (from </a:t>
            </a:r>
            <a:r>
              <a:rPr lang="fr-FR" sz="1100" err="1">
                <a:latin typeface="Encode Sans ExpandedMedium" pitchFamily="2" charset="0"/>
              </a:rPr>
              <a:t>Negligible</a:t>
            </a:r>
            <a:r>
              <a:rPr lang="fr-FR" sz="1100">
                <a:latin typeface="Encode Sans ExpandedMedium" pitchFamily="2" charset="0"/>
              </a:rPr>
              <a:t> to </a:t>
            </a:r>
            <a:r>
              <a:rPr lang="fr-FR" sz="1100" err="1">
                <a:latin typeface="Encode Sans ExpandedMedium" pitchFamily="2" charset="0"/>
              </a:rPr>
              <a:t>Severe</a:t>
            </a:r>
            <a:r>
              <a:rPr lang="fr-FR" sz="1100">
                <a:latin typeface="Encode Sans ExpandedMedium" pitchFamily="2" charset="0"/>
              </a:rPr>
              <a:t>) ; </a:t>
            </a:r>
            <a:r>
              <a:rPr lang="fr-FR" sz="1100" err="1">
                <a:latin typeface="Encode Sans ExpandedMedium" pitchFamily="2" charset="0"/>
              </a:rPr>
              <a:t>likehood</a:t>
            </a:r>
            <a:r>
              <a:rPr lang="fr-FR" sz="1100">
                <a:latin typeface="Encode Sans ExpandedMedium" pitchFamily="2" charset="0"/>
              </a:rPr>
              <a:t> : 0 to 3 (from </a:t>
            </a:r>
            <a:r>
              <a:rPr lang="fr-FR" sz="1100" err="1">
                <a:latin typeface="Encode Sans ExpandedMedium" pitchFamily="2" charset="0"/>
              </a:rPr>
              <a:t>very</a:t>
            </a:r>
            <a:r>
              <a:rPr lang="fr-FR" sz="1100">
                <a:latin typeface="Encode Sans ExpandedMedium" pitchFamily="2" charset="0"/>
              </a:rPr>
              <a:t> </a:t>
            </a:r>
            <a:r>
              <a:rPr lang="fr-FR" sz="1100" err="1">
                <a:latin typeface="Encode Sans ExpandedMedium" pitchFamily="2" charset="0"/>
              </a:rPr>
              <a:t>unlikely</a:t>
            </a:r>
            <a:r>
              <a:rPr lang="fr-FR" sz="1100">
                <a:latin typeface="Encode Sans ExpandedMedium" pitchFamily="2" charset="0"/>
              </a:rPr>
              <a:t> to </a:t>
            </a:r>
            <a:r>
              <a:rPr lang="fr-FR" sz="1100" err="1">
                <a:latin typeface="Encode Sans ExpandedMedium" pitchFamily="2" charset="0"/>
              </a:rPr>
              <a:t>very</a:t>
            </a:r>
            <a:r>
              <a:rPr lang="fr-FR" sz="1100">
                <a:latin typeface="Encode Sans ExpandedMedium" pitchFamily="2" charset="0"/>
              </a:rPr>
              <a:t> </a:t>
            </a:r>
            <a:r>
              <a:rPr lang="fr-FR" sz="1100" err="1">
                <a:latin typeface="Encode Sans ExpandedMedium" pitchFamily="2" charset="0"/>
              </a:rPr>
              <a:t>likely</a:t>
            </a:r>
            <a:r>
              <a:rPr lang="fr-FR" sz="1100">
                <a:latin typeface="Encode Sans ExpandedMedium" pitchFamily="2" charset="0"/>
              </a:rPr>
              <a:t>)</a:t>
            </a:r>
            <a:endParaRPr lang="en-US" sz="1100">
              <a:latin typeface="Encode Sans ExpandedMedium" pitchFamily="2" charset="0"/>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1473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a:t>#Costs</a:t>
            </a: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1990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fr-FR" b="1"/>
              <a:t>For a SaaS solution : </a:t>
            </a:r>
          </a:p>
          <a:p>
            <a:pPr marL="628650" lvl="1" indent="-171450" algn="l" rtl="0">
              <a:spcBef>
                <a:spcPts val="0"/>
              </a:spcBef>
              <a:spcAft>
                <a:spcPts val="0"/>
              </a:spcAft>
            </a:pPr>
            <a:r>
              <a:rPr lang="fr-FR" err="1"/>
              <a:t>precise</a:t>
            </a:r>
            <a:r>
              <a:rPr lang="fr-FR"/>
              <a:t> the model </a:t>
            </a:r>
            <a:r>
              <a:rPr lang="fr-FR" err="1"/>
              <a:t>pricing</a:t>
            </a:r>
            <a:r>
              <a:rPr lang="fr-FR"/>
              <a:t> and </a:t>
            </a:r>
            <a:r>
              <a:rPr lang="fr-FR" err="1"/>
              <a:t>track</a:t>
            </a:r>
            <a:r>
              <a:rPr lang="fr-FR"/>
              <a:t> the drivers</a:t>
            </a:r>
          </a:p>
          <a:p>
            <a:pPr marL="628650" lvl="1" indent="-171450" algn="l" rtl="0">
              <a:spcBef>
                <a:spcPts val="0"/>
              </a:spcBef>
              <a:spcAft>
                <a:spcPts val="0"/>
              </a:spcAft>
            </a:pPr>
            <a:r>
              <a:rPr lang="fr-FR"/>
              <a:t>Cf slide </a:t>
            </a:r>
            <a:r>
              <a:rPr lang="fr-FR" err="1"/>
              <a:t>around</a:t>
            </a:r>
            <a:r>
              <a:rPr lang="fr-FR"/>
              <a:t> </a:t>
            </a:r>
            <a:r>
              <a:rPr lang="fr-FR" err="1"/>
              <a:t>finops</a:t>
            </a:r>
            <a:endParaRPr lang="fr-FR"/>
          </a:p>
          <a:p>
            <a:pPr marL="628650" lvl="1" indent="-171450"/>
            <a:r>
              <a:rPr lang="fr-FR" err="1"/>
              <a:t>Cost</a:t>
            </a:r>
            <a:r>
              <a:rPr lang="fr-FR"/>
              <a:t> </a:t>
            </a:r>
            <a:r>
              <a:rPr lang="fr-FR" err="1"/>
              <a:t>governance</a:t>
            </a:r>
            <a:r>
              <a:rPr lang="fr-FR"/>
              <a:t> </a:t>
            </a:r>
            <a:r>
              <a:rPr lang="fr-FR" err="1"/>
              <a:t>is</a:t>
            </a:r>
            <a:r>
              <a:rPr lang="fr-FR"/>
              <a:t> part of </a:t>
            </a:r>
            <a:r>
              <a:rPr lang="fr-FR" err="1"/>
              <a:t>event</a:t>
            </a:r>
            <a:r>
              <a:rPr lang="fr-FR"/>
              <a:t> </a:t>
            </a:r>
            <a:r>
              <a:rPr lang="fr-FR" err="1"/>
              <a:t>governance</a:t>
            </a:r>
            <a:r>
              <a:rPr lang="fr-FR"/>
              <a:t> </a:t>
            </a:r>
            <a:r>
              <a:rPr lang="fr-FR" err="1"/>
              <a:t>around</a:t>
            </a:r>
            <a:r>
              <a:rPr lang="fr-FR"/>
              <a:t> exit plan …</a:t>
            </a:r>
          </a:p>
          <a:p>
            <a:pPr marL="628650" lvl="1" indent="-171450"/>
            <a:r>
              <a:rPr lang="fr-FR"/>
              <a:t>Don't </a:t>
            </a:r>
            <a:r>
              <a:rPr lang="fr-FR" err="1"/>
              <a:t>forget</a:t>
            </a:r>
            <a:r>
              <a:rPr lang="fr-FR"/>
              <a:t> the </a:t>
            </a:r>
            <a:r>
              <a:rPr lang="fr-FR" err="1"/>
              <a:t>recurrent</a:t>
            </a:r>
            <a:r>
              <a:rPr lang="fr-FR"/>
              <a:t> </a:t>
            </a:r>
            <a:r>
              <a:rPr lang="fr-FR" err="1"/>
              <a:t>cost</a:t>
            </a:r>
            <a:r>
              <a:rPr lang="fr-FR"/>
              <a:t> </a:t>
            </a:r>
            <a:r>
              <a:rPr lang="fr-FR" err="1"/>
              <a:t>around</a:t>
            </a:r>
            <a:r>
              <a:rPr lang="fr-FR"/>
              <a:t> </a:t>
            </a:r>
            <a:r>
              <a:rPr lang="fr-FR" err="1"/>
              <a:t>regular</a:t>
            </a:r>
            <a:r>
              <a:rPr lang="fr-FR"/>
              <a:t> </a:t>
            </a:r>
            <a:r>
              <a:rPr lang="fr-FR" err="1"/>
              <a:t>testing</a:t>
            </a:r>
            <a:r>
              <a:rPr lang="fr-FR"/>
              <a:t> on exit plant and </a:t>
            </a:r>
            <a:r>
              <a:rPr lang="fr-FR" err="1"/>
              <a:t>maintains</a:t>
            </a:r>
            <a:r>
              <a:rPr lang="fr-FR"/>
              <a:t> </a:t>
            </a:r>
            <a:r>
              <a:rPr lang="fr-FR" err="1"/>
              <a:t>inventory</a:t>
            </a:r>
            <a:r>
              <a:rPr lang="fr-FR"/>
              <a:t> and export </a:t>
            </a:r>
            <a:r>
              <a:rPr lang="fr-FR" err="1"/>
              <a:t>facilities</a:t>
            </a:r>
            <a:r>
              <a:rPr lang="fr-FR"/>
              <a:t>.  </a:t>
            </a: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8429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171450" indent="-171450"/>
            <a:r>
              <a:rPr lang="fr-FR" dirty="0"/>
              <a:t>For a SaaS solution and for </a:t>
            </a:r>
            <a:r>
              <a:rPr lang="fr-FR" dirty="0" err="1"/>
              <a:t>executing</a:t>
            </a:r>
            <a:r>
              <a:rPr lang="fr-FR" dirty="0"/>
              <a:t> exit plan :</a:t>
            </a:r>
          </a:p>
          <a:p>
            <a:pPr marL="628650" lvl="1" indent="-171450"/>
            <a:r>
              <a:rPr lang="fr-FR" dirty="0"/>
              <a:t> It </a:t>
            </a:r>
            <a:r>
              <a:rPr lang="fr-FR" dirty="0" err="1"/>
              <a:t>is</a:t>
            </a:r>
            <a:r>
              <a:rPr lang="fr-FR" dirty="0"/>
              <a:t> </a:t>
            </a:r>
            <a:r>
              <a:rPr lang="fr-FR" dirty="0" err="1"/>
              <a:t>mandatory</a:t>
            </a:r>
            <a:r>
              <a:rPr lang="fr-FR" dirty="0"/>
              <a:t> to put the </a:t>
            </a:r>
            <a:r>
              <a:rPr lang="fr-FR" dirty="0" err="1"/>
              <a:t>milestones</a:t>
            </a:r>
            <a:r>
              <a:rPr lang="fr-FR" dirty="0"/>
              <a:t> of transition phase, migration phase and </a:t>
            </a:r>
            <a:r>
              <a:rPr lang="fr-FR" dirty="0" err="1"/>
              <a:t>disengagement</a:t>
            </a:r>
            <a:r>
              <a:rPr lang="fr-FR" dirty="0"/>
              <a:t> of the </a:t>
            </a:r>
            <a:r>
              <a:rPr lang="fr-FR" dirty="0" err="1"/>
              <a:t>old</a:t>
            </a:r>
            <a:r>
              <a:rPr lang="fr-FR" dirty="0"/>
              <a:t> SaaS and the </a:t>
            </a:r>
            <a:r>
              <a:rPr lang="fr-FR" dirty="0" err="1"/>
              <a:t>milestones</a:t>
            </a:r>
            <a:r>
              <a:rPr lang="fr-FR" dirty="0"/>
              <a:t> for the new </a:t>
            </a:r>
            <a:r>
              <a:rPr lang="fr-FR" dirty="0" err="1"/>
              <a:t>target</a:t>
            </a:r>
            <a:r>
              <a:rPr lang="fr-FR" dirty="0"/>
              <a:t> </a:t>
            </a:r>
            <a:r>
              <a:rPr lang="fr-FR" dirty="0" err="1"/>
              <a:t>with</a:t>
            </a:r>
            <a:r>
              <a:rPr lang="fr-FR" dirty="0"/>
              <a:t> </a:t>
            </a:r>
            <a:r>
              <a:rPr lang="fr-FR" dirty="0" err="1"/>
              <a:t>golive</a:t>
            </a:r>
            <a:r>
              <a:rPr lang="fr-FR" dirty="0"/>
              <a:t> .</a:t>
            </a:r>
          </a:p>
          <a:p>
            <a:pPr marL="628650" lvl="1" indent="-171450"/>
            <a:r>
              <a:rPr lang="fr-FR" dirty="0"/>
              <a:t>The publication of the exit plan document </a:t>
            </a:r>
            <a:r>
              <a:rPr lang="fr-FR" dirty="0" err="1"/>
              <a:t>shall</a:t>
            </a:r>
            <a:r>
              <a:rPr lang="fr-FR" dirty="0"/>
              <a:t> </a:t>
            </a:r>
            <a:r>
              <a:rPr lang="fr-FR" dirty="0" err="1"/>
              <a:t>be</a:t>
            </a:r>
            <a:r>
              <a:rPr lang="fr-FR" dirty="0"/>
              <a:t> put on the macro </a:t>
            </a:r>
            <a:r>
              <a:rPr lang="fr-FR" dirty="0" err="1"/>
              <a:t>schedule</a:t>
            </a:r>
            <a:r>
              <a:rPr lang="fr-FR" dirty="0"/>
              <a:t>. </a:t>
            </a:r>
          </a:p>
          <a:p>
            <a:pPr marL="628650" lvl="1" indent="-171450"/>
            <a:r>
              <a:rPr lang="fr-FR" dirty="0"/>
              <a:t>The </a:t>
            </a:r>
            <a:r>
              <a:rPr lang="fr-FR" dirty="0" err="1"/>
              <a:t>millestone</a:t>
            </a:r>
            <a:r>
              <a:rPr lang="fr-FR" dirty="0"/>
              <a:t> for the new exit plan </a:t>
            </a:r>
            <a:r>
              <a:rPr lang="fr-FR" dirty="0" err="1"/>
              <a:t>testing</a:t>
            </a:r>
            <a:r>
              <a:rPr lang="fr-FR" dirty="0"/>
              <a:t> </a:t>
            </a:r>
            <a:r>
              <a:rPr lang="fr-FR" dirty="0" err="1"/>
              <a:t>with</a:t>
            </a:r>
            <a:r>
              <a:rPr lang="fr-FR" dirty="0"/>
              <a:t> the new supplier (</a:t>
            </a:r>
            <a:r>
              <a:rPr lang="fr-FR" dirty="0" err="1"/>
              <a:t>when</a:t>
            </a:r>
            <a:r>
              <a:rPr lang="fr-FR" dirty="0"/>
              <a:t> the new </a:t>
            </a:r>
            <a:r>
              <a:rPr lang="fr-FR" dirty="0" err="1"/>
              <a:t>target</a:t>
            </a:r>
            <a:r>
              <a:rPr lang="fr-FR" dirty="0"/>
              <a:t> </a:t>
            </a:r>
            <a:r>
              <a:rPr lang="fr-FR" dirty="0" err="1"/>
              <a:t>is</a:t>
            </a:r>
            <a:r>
              <a:rPr lang="fr-FR" dirty="0"/>
              <a:t> a SaaS one) . </a:t>
            </a:r>
            <a:r>
              <a:rPr lang="fr-FR" dirty="0" err="1"/>
              <a:t>We</a:t>
            </a:r>
            <a:r>
              <a:rPr lang="fr-FR" dirty="0"/>
              <a:t> </a:t>
            </a:r>
            <a:r>
              <a:rPr lang="fr-FR" dirty="0" err="1"/>
              <a:t>may</a:t>
            </a:r>
            <a:r>
              <a:rPr lang="fr-FR" dirty="0"/>
              <a:t> </a:t>
            </a:r>
            <a:r>
              <a:rPr lang="fr-FR" dirty="0" err="1"/>
              <a:t>consider</a:t>
            </a:r>
            <a:r>
              <a:rPr lang="fr-FR" dirty="0"/>
              <a:t> </a:t>
            </a:r>
            <a:r>
              <a:rPr lang="fr-FR" dirty="0" err="1"/>
              <a:t>that</a:t>
            </a:r>
            <a:r>
              <a:rPr lang="fr-FR" dirty="0"/>
              <a:t> exit plan </a:t>
            </a:r>
            <a:r>
              <a:rPr lang="fr-FR" dirty="0" err="1"/>
              <a:t>deliverables</a:t>
            </a:r>
            <a:r>
              <a:rPr lang="fr-FR" dirty="0"/>
              <a:t> are </a:t>
            </a:r>
            <a:r>
              <a:rPr lang="fr-FR" dirty="0" err="1"/>
              <a:t>delivered</a:t>
            </a:r>
            <a:r>
              <a:rPr lang="fr-FR" dirty="0"/>
              <a:t> </a:t>
            </a:r>
            <a:r>
              <a:rPr lang="fr-FR" dirty="0" err="1"/>
              <a:t>after</a:t>
            </a:r>
            <a:r>
              <a:rPr lang="fr-FR" dirty="0"/>
              <a:t> the </a:t>
            </a:r>
            <a:r>
              <a:rPr lang="fr-FR" dirty="0" err="1"/>
              <a:t>disengagement</a:t>
            </a:r>
            <a:r>
              <a:rPr lang="fr-FR" dirty="0"/>
              <a:t>. </a:t>
            </a:r>
          </a:p>
          <a:p>
            <a:pPr marL="628650" lvl="1" indent="-171450"/>
            <a:endParaRPr lang="fr-FR" dirty="0"/>
          </a:p>
          <a:p>
            <a:pPr marL="628650" lvl="1" indent="-171450"/>
            <a:endParaRPr lang="fr-FR" dirty="0"/>
          </a:p>
          <a:p>
            <a:pPr marL="171450" indent="-171450"/>
            <a:endParaRPr lang="fr-FR" dirty="0"/>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582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indent="0">
              <a:buNone/>
              <a:defRPr/>
            </a:pPr>
            <a:endParaRPr lang="en-US" sz="1100" b="0" i="0" u="none" strike="noStrike" cap="none" noProof="0">
              <a:solidFill>
                <a:srgbClr val="000000"/>
              </a:solidFill>
              <a:latin typeface="Arial"/>
              <a:cs typeface="Arial"/>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40835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171450" algn="l" defTabSz="914400" rtl="0" eaLnBrk="1" fontAlgn="auto" latinLnBrk="0" hangingPunct="1">
              <a:lnSpc>
                <a:spcPct val="100000"/>
              </a:lnSpc>
              <a:spcBef>
                <a:spcPts val="0"/>
              </a:spcBef>
              <a:spcAft>
                <a:spcPts val="0"/>
              </a:spcAft>
              <a:buClr>
                <a:srgbClr val="000000"/>
              </a:buClr>
              <a:buSzPts val="1100"/>
              <a:tabLst/>
              <a:defRPr/>
            </a:pPr>
            <a:r>
              <a:rPr lang="en-GB" sz="1100" b="1" i="0" u="none" strike="noStrike" cap="none" dirty="0">
                <a:solidFill>
                  <a:srgbClr val="000000"/>
                </a:solidFill>
                <a:latin typeface="+mn-lt"/>
                <a:cs typeface="Arial"/>
                <a:sym typeface="Arial"/>
              </a:rPr>
              <a:t>When the project is conducted for executing an exit plan,  the objective shall  mention it too. </a:t>
            </a:r>
          </a:p>
          <a:p>
            <a:pPr marL="0" marR="0" lvl="0" indent="-171450" algn="l" defTabSz="914400" rtl="0" eaLnBrk="1" fontAlgn="auto" latinLnBrk="0" hangingPunct="1">
              <a:lnSpc>
                <a:spcPct val="100000"/>
              </a:lnSpc>
              <a:spcBef>
                <a:spcPts val="0"/>
              </a:spcBef>
              <a:spcAft>
                <a:spcPts val="0"/>
              </a:spcAft>
              <a:buClr>
                <a:srgbClr val="000000"/>
              </a:buClr>
              <a:buSzPts val="1100"/>
              <a:tabLst/>
              <a:defRPr/>
            </a:pPr>
            <a:r>
              <a:rPr lang="en-GB" sz="1100" b="1" i="0" u="none" strike="noStrike" cap="none" dirty="0">
                <a:solidFill>
                  <a:srgbClr val="000000"/>
                </a:solidFill>
                <a:latin typeface="+mn-lt"/>
                <a:cs typeface="Arial"/>
                <a:sym typeface="Arial"/>
              </a:rPr>
              <a:t>SaaS project and execution of an exit plan for a SaaS solution towards a  new target </a:t>
            </a:r>
          </a:p>
          <a:p>
            <a:pPr marL="914400" marR="0" lvl="2"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n-GB" sz="1100" b="0" i="0" u="none" strike="noStrike" cap="none" dirty="0">
                <a:solidFill>
                  <a:srgbClr val="000000"/>
                </a:solidFill>
                <a:latin typeface="+mn-lt"/>
                <a:cs typeface="Arial"/>
                <a:sym typeface="Arial"/>
              </a:rPr>
              <a:t>The slide shall mention the risk assessment and decision track conduction at that execution (link to the CR)</a:t>
            </a:r>
          </a:p>
          <a:p>
            <a:pPr marL="914400" marR="0" lvl="2"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n-GB" sz="1100" b="0" i="0" u="none" strike="noStrike" cap="none" dirty="0">
                <a:solidFill>
                  <a:srgbClr val="000000"/>
                </a:solidFill>
                <a:latin typeface="+mn-lt"/>
                <a:cs typeface="Arial"/>
                <a:sym typeface="Arial"/>
              </a:rPr>
              <a:t> In that case the choice of the solution presented for the new target shall answer to the remediation plan and decision taken conducting to that executive exit plan project </a:t>
            </a:r>
          </a:p>
          <a:p>
            <a:pPr lvl="1"/>
            <a:endParaRPr lang="en-GB" dirty="0"/>
          </a:p>
        </p:txBody>
      </p:sp>
    </p:spTree>
    <p:extLst>
      <p:ext uri="{BB962C8B-B14F-4D97-AF65-F5344CB8AC3E}">
        <p14:creationId xmlns:p14="http://schemas.microsoft.com/office/powerpoint/2010/main" val="21376317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b="0" i="0" dirty="0">
                <a:effectLst/>
                <a:latin typeface="+mn-lt"/>
              </a:rPr>
              <a:t>#Cloud</a:t>
            </a:r>
          </a:p>
          <a:p>
            <a:pPr marL="0" marR="0" indent="0" algn="l" rtl="0">
              <a:lnSpc>
                <a:spcPct val="100000"/>
              </a:lnSpc>
              <a:spcBef>
                <a:spcPts val="0"/>
              </a:spcBef>
              <a:spcAft>
                <a:spcPts val="0"/>
              </a:spcAft>
              <a:buClr>
                <a:srgbClr val="000000"/>
              </a:buClr>
              <a:buSzPts val="1100"/>
              <a:buFontTx/>
              <a:buNone/>
            </a:pPr>
            <a:r>
              <a:rPr lang="fr-FR" b="0" i="0" dirty="0">
                <a:effectLst/>
                <a:latin typeface="+mn-lt"/>
              </a:rPr>
              <a:t>SLA </a:t>
            </a:r>
            <a:r>
              <a:rPr lang="fr-FR" b="0" i="0" dirty="0" err="1">
                <a:effectLst/>
                <a:latin typeface="+mn-lt"/>
              </a:rPr>
              <a:t>Availabilty</a:t>
            </a:r>
            <a:r>
              <a:rPr lang="fr-FR" b="0" i="0" dirty="0">
                <a:effectLst/>
                <a:latin typeface="+mn-lt"/>
              </a:rPr>
              <a:t> must </a:t>
            </a:r>
            <a:r>
              <a:rPr lang="fr-FR" b="0" i="0" dirty="0" err="1">
                <a:effectLst/>
                <a:latin typeface="+mn-lt"/>
              </a:rPr>
              <a:t>be</a:t>
            </a:r>
            <a:r>
              <a:rPr lang="fr-FR" b="0" i="0" dirty="0">
                <a:effectLst/>
                <a:latin typeface="+mn-lt"/>
              </a:rPr>
              <a:t> </a:t>
            </a:r>
            <a:r>
              <a:rPr lang="fr-FR" b="0" i="0" dirty="0" err="1">
                <a:effectLst/>
                <a:latin typeface="+mn-lt"/>
              </a:rPr>
              <a:t>calculated</a:t>
            </a:r>
            <a:r>
              <a:rPr lang="fr-FR" b="0" i="0" dirty="0">
                <a:effectLst/>
                <a:latin typeface="+mn-lt"/>
              </a:rPr>
              <a:t> for </a:t>
            </a:r>
            <a:r>
              <a:rPr lang="fr-FR" b="0" i="0" dirty="0" err="1">
                <a:effectLst/>
                <a:latin typeface="+mn-lt"/>
              </a:rPr>
              <a:t>critical</a:t>
            </a:r>
            <a:r>
              <a:rPr lang="fr-FR" b="0" i="0" dirty="0">
                <a:effectLst/>
                <a:latin typeface="+mn-lt"/>
              </a:rPr>
              <a:t> </a:t>
            </a:r>
            <a:r>
              <a:rPr lang="fr-FR" b="0" i="0" dirty="0" err="1">
                <a:effectLst/>
                <a:latin typeface="+mn-lt"/>
              </a:rPr>
              <a:t>feature</a:t>
            </a:r>
            <a:r>
              <a:rPr lang="fr-FR" b="0" i="0" dirty="0">
                <a:effectLst/>
                <a:latin typeface="+mn-lt"/>
              </a:rPr>
              <a:t> for end </a:t>
            </a:r>
            <a:r>
              <a:rPr lang="fr-FR" b="0" i="0" dirty="0" err="1">
                <a:effectLst/>
                <a:latin typeface="+mn-lt"/>
              </a:rPr>
              <a:t>users</a:t>
            </a:r>
            <a:r>
              <a:rPr lang="fr-FR" b="0" i="0" dirty="0">
                <a:effectLst/>
                <a:latin typeface="+mn-lt"/>
              </a:rPr>
              <a:t>. </a:t>
            </a:r>
            <a:r>
              <a:rPr lang="fr-FR" b="0" i="0" dirty="0" err="1">
                <a:effectLst/>
                <a:latin typeface="+mn-lt"/>
              </a:rPr>
              <a:t>Any</a:t>
            </a:r>
            <a:r>
              <a:rPr lang="fr-FR" b="0" i="0" dirty="0">
                <a:effectLst/>
                <a:latin typeface="+mn-lt"/>
              </a:rPr>
              <a:t> </a:t>
            </a:r>
            <a:r>
              <a:rPr lang="fr-FR" b="0" i="0" dirty="0" err="1">
                <a:effectLst/>
                <a:latin typeface="+mn-lt"/>
              </a:rPr>
              <a:t>downtime</a:t>
            </a:r>
            <a:r>
              <a:rPr lang="fr-FR" b="0" i="0" dirty="0">
                <a:effectLst/>
                <a:latin typeface="+mn-lt"/>
              </a:rPr>
              <a:t> (</a:t>
            </a:r>
            <a:r>
              <a:rPr lang="fr-FR" b="0" i="0" dirty="0" err="1">
                <a:effectLst/>
                <a:latin typeface="+mn-lt"/>
              </a:rPr>
              <a:t>planned</a:t>
            </a:r>
            <a:r>
              <a:rPr lang="fr-FR" b="0" i="0" dirty="0">
                <a:effectLst/>
                <a:latin typeface="+mn-lt"/>
              </a:rPr>
              <a:t> or not) </a:t>
            </a:r>
            <a:r>
              <a:rPr lang="fr-FR" b="0" i="0" dirty="0" err="1">
                <a:effectLst/>
                <a:latin typeface="+mn-lt"/>
              </a:rPr>
              <a:t>is</a:t>
            </a:r>
            <a:r>
              <a:rPr lang="fr-FR" b="0" i="0" dirty="0">
                <a:effectLst/>
                <a:latin typeface="+mn-lt"/>
              </a:rPr>
              <a:t> </a:t>
            </a:r>
            <a:r>
              <a:rPr lang="fr-FR" b="0" i="0" dirty="0" err="1">
                <a:effectLst/>
                <a:latin typeface="+mn-lt"/>
              </a:rPr>
              <a:t>substitued</a:t>
            </a:r>
            <a:r>
              <a:rPr lang="fr-FR" b="0" i="0" dirty="0">
                <a:effectLst/>
                <a:latin typeface="+mn-lt"/>
              </a:rPr>
              <a:t> to the uptime.</a:t>
            </a:r>
          </a:p>
          <a:p>
            <a:pPr marL="0" marR="0" indent="0" algn="l" rtl="0">
              <a:lnSpc>
                <a:spcPct val="100000"/>
              </a:lnSpc>
              <a:spcBef>
                <a:spcPts val="0"/>
              </a:spcBef>
              <a:spcAft>
                <a:spcPts val="0"/>
              </a:spcAft>
              <a:buClr>
                <a:srgbClr val="000000"/>
              </a:buClr>
              <a:buSzPts val="1100"/>
              <a:buFontTx/>
              <a:buNone/>
            </a:pPr>
            <a:r>
              <a:rPr lang="fr-FR" b="0" i="0" dirty="0" err="1">
                <a:effectLst/>
                <a:latin typeface="+mn-lt"/>
              </a:rPr>
              <a:t>Visit</a:t>
            </a:r>
            <a:r>
              <a:rPr lang="fr-FR" b="0" i="0" dirty="0">
                <a:effectLst/>
                <a:latin typeface="+mn-lt"/>
              </a:rPr>
              <a:t> https://shiftup.sharepoint.com/sites/GDP_CCOE</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6114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b="0" i="0">
                <a:effectLst/>
                <a:latin typeface="+mn-lt"/>
              </a:rPr>
              <a:t>#Cloud : </a:t>
            </a:r>
            <a:r>
              <a:rPr lang="fr-FR" b="0" i="0" err="1">
                <a:effectLst/>
                <a:latin typeface="+mn-lt"/>
              </a:rPr>
              <a:t>Build</a:t>
            </a:r>
            <a:r>
              <a:rPr lang="fr-FR" b="0" i="0">
                <a:effectLst/>
                <a:latin typeface="+mn-lt"/>
              </a:rPr>
              <a:t> &amp; Run</a:t>
            </a:r>
          </a:p>
          <a:p>
            <a:pPr marL="0" marR="0" indent="0" algn="l" rtl="0">
              <a:lnSpc>
                <a:spcPct val="100000"/>
              </a:lnSpc>
              <a:spcBef>
                <a:spcPts val="0"/>
              </a:spcBef>
              <a:spcAft>
                <a:spcPts val="0"/>
              </a:spcAft>
              <a:buClr>
                <a:srgbClr val="000000"/>
              </a:buClr>
              <a:buSzPts val="1100"/>
              <a:buFontTx/>
              <a:buNone/>
            </a:pPr>
            <a:r>
              <a:rPr lang="fr-FR" b="0" i="0">
                <a:effectLst/>
                <a:latin typeface="+mn-lt"/>
              </a:rPr>
              <a:t>#Cloud : Operating Model</a:t>
            </a:r>
          </a:p>
          <a:p>
            <a:pPr marL="0" marR="0" indent="0" algn="l" rtl="0">
              <a:lnSpc>
                <a:spcPct val="100000"/>
              </a:lnSpc>
              <a:spcBef>
                <a:spcPts val="0"/>
              </a:spcBef>
              <a:spcAft>
                <a:spcPts val="0"/>
              </a:spcAft>
              <a:buClr>
                <a:srgbClr val="000000"/>
              </a:buClr>
              <a:buSzPts val="1100"/>
              <a:buFontTx/>
              <a:buNone/>
            </a:pPr>
            <a:r>
              <a:rPr lang="fr-FR" b="0" i="0" err="1">
                <a:effectLst/>
                <a:latin typeface="+mn-lt"/>
              </a:rPr>
              <a:t>Describe</a:t>
            </a:r>
            <a:r>
              <a:rPr lang="fr-FR" b="0" i="0">
                <a:effectLst/>
                <a:latin typeface="+mn-lt"/>
              </a:rPr>
              <a:t> how the </a:t>
            </a:r>
            <a:r>
              <a:rPr lang="fr-FR" b="0" i="0" err="1">
                <a:effectLst/>
                <a:latin typeface="+mn-lt"/>
              </a:rPr>
              <a:t>product</a:t>
            </a:r>
            <a:r>
              <a:rPr lang="fr-FR" b="0" i="0">
                <a:effectLst/>
                <a:latin typeface="+mn-lt"/>
              </a:rPr>
              <a:t> </a:t>
            </a:r>
            <a:r>
              <a:rPr lang="fr-FR" b="0" i="0" err="1">
                <a:effectLst/>
                <a:latin typeface="+mn-lt"/>
              </a:rPr>
              <a:t>is</a:t>
            </a:r>
            <a:r>
              <a:rPr lang="fr-FR" b="0" i="0">
                <a:effectLst/>
                <a:latin typeface="+mn-lt"/>
              </a:rPr>
              <a:t> </a:t>
            </a:r>
            <a:r>
              <a:rPr lang="fr-FR" b="0" i="0" err="1">
                <a:effectLst/>
                <a:latin typeface="+mn-lt"/>
              </a:rPr>
              <a:t>managed</a:t>
            </a:r>
            <a:r>
              <a:rPr lang="fr-FR" b="0" i="0">
                <a:effectLst/>
                <a:latin typeface="+mn-lt"/>
              </a:rPr>
              <a:t> : </a:t>
            </a:r>
            <a:r>
              <a:rPr lang="fr-FR" b="0" i="0" err="1">
                <a:effectLst/>
                <a:latin typeface="+mn-lt"/>
              </a:rPr>
              <a:t>who</a:t>
            </a:r>
            <a:r>
              <a:rPr lang="fr-FR" b="0" i="0">
                <a:effectLst/>
                <a:latin typeface="+mn-lt"/>
              </a:rPr>
              <a:t> do the support, </a:t>
            </a:r>
            <a:r>
              <a:rPr lang="fr-FR" b="0" i="0" err="1">
                <a:effectLst/>
                <a:latin typeface="+mn-lt"/>
              </a:rPr>
              <a:t>with</a:t>
            </a:r>
            <a:r>
              <a:rPr lang="fr-FR" b="0" i="0">
                <a:effectLst/>
                <a:latin typeface="+mn-lt"/>
              </a:rPr>
              <a:t> </a:t>
            </a:r>
            <a:r>
              <a:rPr lang="fr-FR" b="0" i="0" err="1">
                <a:effectLst/>
                <a:latin typeface="+mn-lt"/>
              </a:rPr>
              <a:t>which</a:t>
            </a:r>
            <a:r>
              <a:rPr lang="fr-FR" b="0" i="0">
                <a:effectLst/>
                <a:latin typeface="+mn-lt"/>
              </a:rPr>
              <a:t> </a:t>
            </a:r>
            <a:r>
              <a:rPr lang="fr-FR" b="0" i="0" err="1">
                <a:effectLst/>
                <a:latin typeface="+mn-lt"/>
              </a:rPr>
              <a:t>tools</a:t>
            </a:r>
            <a:r>
              <a:rPr lang="fr-FR" b="0" i="0">
                <a:effectLst/>
                <a:latin typeface="+mn-lt"/>
              </a:rPr>
              <a:t>, how incidents and changes are </a:t>
            </a:r>
            <a:r>
              <a:rPr lang="fr-FR" b="0" i="0" err="1">
                <a:effectLst/>
                <a:latin typeface="+mn-lt"/>
              </a:rPr>
              <a:t>managed</a:t>
            </a:r>
            <a:r>
              <a:rPr lang="fr-FR" b="0" i="0">
                <a:effectLst/>
                <a:latin typeface="+mn-lt"/>
              </a:rPr>
              <a:t>.</a:t>
            </a:r>
          </a:p>
          <a:p>
            <a:pPr marL="0" marR="0" indent="0" algn="l" rtl="0">
              <a:lnSpc>
                <a:spcPct val="100000"/>
              </a:lnSpc>
              <a:spcBef>
                <a:spcPts val="0"/>
              </a:spcBef>
              <a:spcAft>
                <a:spcPts val="0"/>
              </a:spcAft>
              <a:buClr>
                <a:srgbClr val="000000"/>
              </a:buClr>
              <a:buSzPts val="1100"/>
              <a:buFontTx/>
              <a:buNone/>
            </a:pPr>
            <a:r>
              <a:rPr lang="en-US" sz="1100" u="sng">
                <a:solidFill>
                  <a:srgbClr val="000000"/>
                </a:solidFill>
                <a:effectLst/>
                <a:latin typeface="Aptos" panose="020B0004020202020204" pitchFamily="34" charset="0"/>
                <a:ea typeface="Times New Roman" panose="02020603050405020304" pitchFamily="18" charset="0"/>
                <a:cs typeface="Aptos" panose="020B0004020202020204" pitchFamily="34" charset="0"/>
                <a:hlinkClick r:id="rId3"/>
              </a:rPr>
              <a:t>https://docs.aws.amazon.com/pdfs/wellarchitected/latest/operational-excellence-pillar/wellarchitected-operational-excellence-pillar.pdf#welcome</a:t>
            </a:r>
            <a:br>
              <a:rPr lang="en-US" sz="1100">
                <a:solidFill>
                  <a:srgbClr val="000000"/>
                </a:solidFill>
                <a:effectLst/>
                <a:latin typeface="Aptos" panose="020B0004020202020204" pitchFamily="34" charset="0"/>
                <a:ea typeface="Times New Roman" panose="02020603050405020304" pitchFamily="18" charset="0"/>
                <a:cs typeface="Aptos" panose="020B0004020202020204" pitchFamily="34" charset="0"/>
              </a:rPr>
            </a:br>
            <a:endParaRPr lang="fr-FR" b="0" i="0">
              <a:effectLst/>
              <a:latin typeface="+mn-lt"/>
            </a:endParaRPr>
          </a:p>
          <a:p>
            <a:pPr marL="0" marR="0" indent="0" algn="l" rtl="0">
              <a:lnSpc>
                <a:spcPct val="100000"/>
              </a:lnSpc>
              <a:spcBef>
                <a:spcPts val="0"/>
              </a:spcBef>
              <a:spcAft>
                <a:spcPts val="0"/>
              </a:spcAft>
              <a:buClr>
                <a:srgbClr val="000000"/>
              </a:buClr>
              <a:buSzPts val="1100"/>
              <a:buFontTx/>
              <a:buNone/>
            </a:pPr>
            <a:endParaRPr lang="fr-FR" b="0" i="0">
              <a:effectLst/>
              <a:latin typeface="+mn-lt"/>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28121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 typeface="Arial"/>
              <a:buNone/>
            </a:pPr>
            <a:r>
              <a:rPr lang="en-US" sz="1100">
                <a:latin typeface="Encode Sans ExpandedMedium" pitchFamily="2" charset="0"/>
              </a:rPr>
              <a:t>For a solution based on “ SaaS” offer</a:t>
            </a:r>
          </a:p>
          <a:p>
            <a:pPr marL="0" marR="0" indent="0" algn="l" rtl="0">
              <a:lnSpc>
                <a:spcPct val="100000"/>
              </a:lnSpc>
              <a:spcBef>
                <a:spcPts val="0"/>
              </a:spcBef>
              <a:spcAft>
                <a:spcPts val="0"/>
              </a:spcAft>
              <a:buClr>
                <a:srgbClr val="000000"/>
              </a:buClr>
              <a:buSzPts val="1100"/>
              <a:buFont typeface="Arial"/>
              <a:buNone/>
            </a:pPr>
            <a:r>
              <a:rPr lang="en-US" sz="1100">
                <a:latin typeface="Encode Sans ExpandedMedium" pitchFamily="2" charset="0"/>
              </a:rPr>
              <a:t>	the description should present all topics mentioned on “ SaaS” presentation . </a:t>
            </a:r>
          </a:p>
          <a:p>
            <a:pPr marL="0" marR="0" indent="0" algn="l" rtl="0">
              <a:lnSpc>
                <a:spcPct val="100000"/>
              </a:lnSpc>
              <a:spcBef>
                <a:spcPts val="0"/>
              </a:spcBef>
              <a:spcAft>
                <a:spcPts val="0"/>
              </a:spcAft>
              <a:buClr>
                <a:srgbClr val="000000"/>
              </a:buClr>
              <a:buSzPts val="1100"/>
              <a:buFont typeface="Arial"/>
              <a:buNone/>
            </a:pPr>
            <a:r>
              <a:rPr lang="en-US" sz="1100">
                <a:latin typeface="Encode Sans ExpandedMedium" pitchFamily="2" charset="0"/>
              </a:rPr>
              <a:t>               The overview is general schema but then in TCC each topic requires a focus (</a:t>
            </a:r>
            <a:r>
              <a:rPr lang="en-US" sz="1100" err="1">
                <a:latin typeface="Encode Sans ExpandedMedium" pitchFamily="2" charset="0"/>
              </a:rPr>
              <a:t>schemaa</a:t>
            </a:r>
            <a:r>
              <a:rPr lang="en-US" sz="1100">
                <a:latin typeface="Encode Sans ExpandedMedium" pitchFamily="2" charset="0"/>
              </a:rPr>
              <a:t> and/or description). </a:t>
            </a:r>
          </a:p>
          <a:p>
            <a:pPr marL="0" marR="0" indent="0" algn="l" rtl="0">
              <a:lnSpc>
                <a:spcPct val="100000"/>
              </a:lnSpc>
              <a:spcBef>
                <a:spcPts val="0"/>
              </a:spcBef>
              <a:spcAft>
                <a:spcPts val="0"/>
              </a:spcAft>
              <a:buClr>
                <a:srgbClr val="000000"/>
              </a:buClr>
              <a:buSzPts val="1100"/>
              <a:buFont typeface="Arial"/>
              <a:buNone/>
            </a:pPr>
            <a:r>
              <a:rPr lang="en-US" sz="1100">
                <a:latin typeface="Encode Sans ExpandedMedium" pitchFamily="2" charset="0"/>
              </a:rPr>
              <a:t>	to be declined by physical localization, environment, End users, User projects , Supplier organization and its 3</a:t>
            </a:r>
            <a:r>
              <a:rPr lang="en-US" sz="1100" baseline="30000">
                <a:latin typeface="Encode Sans ExpandedMedium" pitchFamily="2" charset="0"/>
              </a:rPr>
              <a:t>rd</a:t>
            </a:r>
            <a:r>
              <a:rPr lang="en-US" sz="1100">
                <a:latin typeface="Encode Sans ExpandedMedium" pitchFamily="2" charset="0"/>
              </a:rPr>
              <a:t> parties team evolved</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29529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SaaS solution : replace </a:t>
            </a:r>
            <a:r>
              <a:rPr lang="fr-FR" b="1" err="1"/>
              <a:t>that</a:t>
            </a:r>
            <a:r>
              <a:rPr lang="fr-FR" b="1"/>
              <a:t> slide by a focus on the </a:t>
            </a:r>
            <a:r>
              <a:rPr lang="fr-FR" b="1" err="1"/>
              <a:t>general</a:t>
            </a:r>
            <a:r>
              <a:rPr lang="fr-FR" b="1"/>
              <a:t> </a:t>
            </a:r>
            <a:r>
              <a:rPr lang="fr-FR" b="1" err="1"/>
              <a:t>technical</a:t>
            </a:r>
            <a:r>
              <a:rPr lang="fr-FR" b="1"/>
              <a:t> </a:t>
            </a:r>
            <a:r>
              <a:rPr lang="fr-FR" b="1" err="1"/>
              <a:t>approach</a:t>
            </a:r>
            <a:r>
              <a:rPr lang="fr-FR" b="1"/>
              <a:t> </a:t>
            </a:r>
          </a:p>
          <a:p>
            <a:pPr lvl="1"/>
            <a:r>
              <a:rPr lang="fr-FR"/>
              <a:t>PaaS </a:t>
            </a:r>
            <a:r>
              <a:rPr lang="fr-FR" err="1"/>
              <a:t>features</a:t>
            </a:r>
            <a:r>
              <a:rPr lang="fr-FR"/>
              <a:t>  and stack/</a:t>
            </a:r>
            <a:r>
              <a:rPr lang="fr-FR" err="1"/>
              <a:t>skills</a:t>
            </a:r>
            <a:r>
              <a:rPr lang="fr-FR"/>
              <a:t> </a:t>
            </a:r>
            <a:r>
              <a:rPr lang="fr-FR" err="1"/>
              <a:t>kknowledge</a:t>
            </a:r>
            <a:r>
              <a:rPr lang="fr-FR"/>
              <a:t> </a:t>
            </a:r>
            <a:r>
              <a:rPr lang="fr-FR" err="1"/>
              <a:t>required</a:t>
            </a:r>
            <a:r>
              <a:rPr lang="fr-FR"/>
              <a:t> by the Customer</a:t>
            </a:r>
          </a:p>
          <a:p>
            <a:pPr lvl="1"/>
            <a:r>
              <a:rPr lang="fr-FR"/>
              <a:t>Full web (</a:t>
            </a:r>
            <a:r>
              <a:rPr lang="fr-FR" b="1">
                <a:solidFill>
                  <a:srgbClr val="FF0000"/>
                </a:solidFill>
              </a:rPr>
              <a:t>or not !!!!)</a:t>
            </a:r>
          </a:p>
          <a:p>
            <a:pPr lvl="1"/>
            <a:r>
              <a:rPr lang="fr-FR"/>
              <a:t>CI/CD pipeline and artifacts</a:t>
            </a:r>
          </a:p>
          <a:p>
            <a:pPr lvl="1"/>
            <a:r>
              <a:rPr lang="fr-FR" err="1"/>
              <a:t>Containerization</a:t>
            </a:r>
            <a:r>
              <a:rPr lang="fr-FR"/>
              <a:t> / VM </a:t>
            </a:r>
            <a:r>
              <a:rPr lang="fr-FR" err="1"/>
              <a:t>provisionning</a:t>
            </a:r>
            <a:r>
              <a:rPr lang="fr-FR"/>
              <a:t>, public ressources… </a:t>
            </a:r>
          </a:p>
          <a:p>
            <a:pPr lvl="1"/>
            <a:r>
              <a:rPr lang="fr-FR" err="1"/>
              <a:t>Here</a:t>
            </a:r>
            <a:r>
              <a:rPr lang="fr-FR"/>
              <a:t> </a:t>
            </a:r>
            <a:r>
              <a:rPr lang="fr-FR" err="1"/>
              <a:t>it</a:t>
            </a:r>
            <a:r>
              <a:rPr lang="fr-FR"/>
              <a:t> </a:t>
            </a:r>
            <a:r>
              <a:rPr lang="fr-FR" err="1"/>
              <a:t>is</a:t>
            </a:r>
            <a:r>
              <a:rPr lang="fr-FR"/>
              <a:t> important to show the </a:t>
            </a:r>
            <a:r>
              <a:rPr lang="fr-FR" err="1"/>
              <a:t>maturity</a:t>
            </a:r>
            <a:r>
              <a:rPr lang="fr-FR"/>
              <a:t> of the conception .</a:t>
            </a:r>
          </a:p>
          <a:p>
            <a:pPr lvl="1"/>
            <a:r>
              <a:rPr lang="fr-FR" err="1"/>
              <a:t>Modular</a:t>
            </a:r>
            <a:r>
              <a:rPr lang="fr-FR"/>
              <a:t> platform , etc.</a:t>
            </a:r>
          </a:p>
          <a:p>
            <a:pPr lvl="1"/>
            <a:endParaRPr lang="fr-FR"/>
          </a:p>
          <a:p>
            <a:pPr lvl="1"/>
            <a:r>
              <a:rPr lang="fr-FR"/>
              <a:t>Cf SaaS </a:t>
            </a:r>
            <a:r>
              <a:rPr lang="fr-FR" err="1"/>
              <a:t>presentation</a:t>
            </a:r>
            <a:r>
              <a:rPr lang="fr-FR"/>
              <a:t> and  </a:t>
            </a:r>
            <a:r>
              <a:rPr lang="fr-FR" err="1"/>
              <a:t>Supplier’s</a:t>
            </a:r>
            <a:r>
              <a:rPr lang="fr-FR"/>
              <a:t> </a:t>
            </a:r>
            <a:r>
              <a:rPr lang="fr-FR" err="1"/>
              <a:t>answer</a:t>
            </a:r>
            <a:r>
              <a:rPr lang="fr-FR"/>
              <a:t> to the SaaS </a:t>
            </a:r>
            <a:r>
              <a:rPr lang="fr-FR" err="1"/>
              <a:t>well</a:t>
            </a:r>
            <a:r>
              <a:rPr lang="fr-FR"/>
              <a:t> </a:t>
            </a:r>
            <a:r>
              <a:rPr lang="fr-FR" err="1"/>
              <a:t>architect</a:t>
            </a:r>
            <a:r>
              <a:rPr lang="fr-FR"/>
              <a:t> </a:t>
            </a:r>
          </a:p>
          <a:p>
            <a:pPr lvl="1"/>
            <a:endParaRPr lang="fr-FR"/>
          </a:p>
        </p:txBody>
      </p:sp>
    </p:spTree>
    <p:extLst>
      <p:ext uri="{BB962C8B-B14F-4D97-AF65-F5344CB8AC3E}">
        <p14:creationId xmlns:p14="http://schemas.microsoft.com/office/powerpoint/2010/main" val="38792725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457189" indent="-457189" defTabSz="1219170">
              <a:spcAft>
                <a:spcPts val="800"/>
              </a:spcAft>
            </a:pPr>
            <a:r>
              <a:rPr lang="en-US" sz="2133" b="0">
                <a:solidFill>
                  <a:srgbClr val="243782"/>
                </a:solidFill>
                <a:latin typeface="Encode Sans" pitchFamily="2" charset="0"/>
                <a:sym typeface="Arial"/>
              </a:rPr>
              <a:t>Source example : </a:t>
            </a:r>
            <a:r>
              <a:rPr lang="en-US" sz="4000"/>
              <a:t>https://docinfogroupe.stellantis.com/ead/doc/ref.20533_24_00013/v.vc/pj</a:t>
            </a:r>
          </a:p>
          <a:p>
            <a:pPr marL="457189" indent="-457189" defTabSz="1219170">
              <a:spcAft>
                <a:spcPts val="800"/>
              </a:spcAft>
            </a:pPr>
            <a:r>
              <a:rPr lang="en-US" sz="2133" b="0">
                <a:solidFill>
                  <a:srgbClr val="243782"/>
                </a:solidFill>
                <a:latin typeface="Encode Sans" pitchFamily="2" charset="0"/>
                <a:sym typeface="Arial"/>
              </a:rPr>
              <a:t>Purpose : Show diversity and complexity of integration flows</a:t>
            </a:r>
          </a:p>
          <a:p>
            <a:pPr marL="746114" lvl="1" indent="-457189" defTabSz="1219170">
              <a:spcAft>
                <a:spcPts val="800"/>
              </a:spcAft>
            </a:pPr>
            <a:r>
              <a:rPr lang="en-US" sz="1933">
                <a:solidFill>
                  <a:srgbClr val="243782"/>
                </a:solidFill>
                <a:latin typeface="Encode Sans" pitchFamily="2" charset="0"/>
                <a:sym typeface="Arial"/>
              </a:rPr>
              <a:t>Identify target solution (SaaS, cloud make (Landing Zone), M2C, on prem)</a:t>
            </a:r>
          </a:p>
          <a:p>
            <a:pPr marL="746114" lvl="1" indent="-457189" defTabSz="1219170">
              <a:spcAft>
                <a:spcPts val="800"/>
              </a:spcAft>
            </a:pPr>
            <a:r>
              <a:rPr lang="en-US" sz="1933">
                <a:solidFill>
                  <a:srgbClr val="243782"/>
                </a:solidFill>
                <a:latin typeface="Encode Sans" pitchFamily="2" charset="0"/>
                <a:sym typeface="Arial"/>
              </a:rPr>
              <a:t>Identify all systems incoming or outgoing data to the application</a:t>
            </a:r>
          </a:p>
          <a:p>
            <a:pPr marL="746114" lvl="1" indent="-457189" defTabSz="1219170">
              <a:spcAft>
                <a:spcPts val="800"/>
              </a:spcAft>
            </a:pPr>
            <a:r>
              <a:rPr lang="en-US" sz="1933">
                <a:solidFill>
                  <a:srgbClr val="243782"/>
                </a:solidFill>
                <a:latin typeface="Encode Sans" pitchFamily="2" charset="0"/>
                <a:sym typeface="Arial"/>
              </a:rPr>
              <a:t>Identify the direction of the flow (who is doing the call, who is receiving it)</a:t>
            </a:r>
          </a:p>
          <a:p>
            <a:pPr marL="746114" lvl="1" indent="-457189" defTabSz="1219170">
              <a:spcAft>
                <a:spcPts val="800"/>
              </a:spcAft>
            </a:pPr>
            <a:r>
              <a:rPr lang="en-US" sz="1933">
                <a:solidFill>
                  <a:srgbClr val="243782"/>
                </a:solidFill>
                <a:latin typeface="Encode Sans" pitchFamily="2" charset="0"/>
                <a:sym typeface="Arial"/>
              </a:rPr>
              <a:t>Identify the technical system supporting the flow (gateway, file transfer)</a:t>
            </a:r>
          </a:p>
          <a:p>
            <a:pPr marL="746114" lvl="1" indent="-457189" defTabSz="1219170">
              <a:spcAft>
                <a:spcPts val="800"/>
              </a:spcAft>
            </a:pPr>
            <a:r>
              <a:rPr lang="en-US" sz="1933">
                <a:solidFill>
                  <a:srgbClr val="243782"/>
                </a:solidFill>
                <a:latin typeface="Encode Sans" pitchFamily="2" charset="0"/>
                <a:sym typeface="Arial"/>
              </a:rPr>
              <a:t>Identify hosting services, including hosting region</a:t>
            </a:r>
          </a:p>
          <a:p>
            <a:pPr marL="746114" lvl="1" indent="-457189" defTabSz="1219170">
              <a:spcAft>
                <a:spcPts val="800"/>
              </a:spcAft>
            </a:pPr>
            <a:r>
              <a:rPr lang="en-US" sz="2000">
                <a:solidFill>
                  <a:srgbClr val="243782"/>
                </a:solidFill>
                <a:latin typeface="Encode Sans" pitchFamily="2" charset="0"/>
                <a:sym typeface="Arial"/>
              </a:rPr>
              <a:t>Add relevant methods and data transiting in the flow</a:t>
            </a:r>
          </a:p>
          <a:p>
            <a:pPr marL="746114" lvl="1" indent="-457189" defTabSz="1219170">
              <a:spcAft>
                <a:spcPts val="800"/>
              </a:spcAft>
            </a:pPr>
            <a:r>
              <a:rPr lang="en-US" sz="2000">
                <a:solidFill>
                  <a:srgbClr val="243782"/>
                </a:solidFill>
                <a:latin typeface="Encode Sans" pitchFamily="2" charset="0"/>
                <a:sym typeface="Arial"/>
              </a:rPr>
              <a:t>Identify authentication source</a:t>
            </a:r>
          </a:p>
          <a:p>
            <a:pPr marL="746114" lvl="1" indent="-457189" defTabSz="1219170">
              <a:spcAft>
                <a:spcPts val="800"/>
              </a:spcAft>
            </a:pPr>
            <a:r>
              <a:rPr lang="en-US" sz="2000">
                <a:solidFill>
                  <a:srgbClr val="243782"/>
                </a:solidFill>
                <a:latin typeface="Encode Sans" pitchFamily="2" charset="0"/>
                <a:sym typeface="Arial"/>
              </a:rPr>
              <a:t>Identify gateway type and location</a:t>
            </a:r>
          </a:p>
          <a:p>
            <a:pPr marL="746114" lvl="1" indent="-457189" defTabSz="1219170">
              <a:spcAft>
                <a:spcPts val="800"/>
              </a:spcAft>
            </a:pPr>
            <a:r>
              <a:rPr lang="en-US" sz="2000">
                <a:solidFill>
                  <a:srgbClr val="243782"/>
                </a:solidFill>
                <a:latin typeface="Encode Sans" pitchFamily="2" charset="0"/>
                <a:sym typeface="Arial"/>
              </a:rPr>
              <a:t>Identify CICD toolchain and flows</a:t>
            </a:r>
          </a:p>
          <a:p>
            <a:pPr marL="746114" lvl="1" indent="-457189" defTabSz="1219170">
              <a:spcAft>
                <a:spcPts val="800"/>
              </a:spcAft>
            </a:pPr>
            <a:r>
              <a:rPr lang="en-US" sz="2000">
                <a:solidFill>
                  <a:srgbClr val="243782"/>
                </a:solidFill>
                <a:latin typeface="Encode Sans" pitchFamily="2" charset="0"/>
                <a:sym typeface="Arial"/>
              </a:rPr>
              <a:t>Identify other tools depending of the app</a:t>
            </a:r>
          </a:p>
          <a:p>
            <a:pPr marL="746114" lvl="1" indent="-457189" defTabSz="1219170">
              <a:spcAft>
                <a:spcPts val="800"/>
              </a:spcAft>
            </a:pPr>
            <a:endParaRPr lang="en-US" sz="1933">
              <a:solidFill>
                <a:srgbClr val="243782"/>
              </a:solidFill>
              <a:latin typeface="Encode Sans" pitchFamily="2" charset="0"/>
              <a:sym typeface="Arial"/>
            </a:endParaRPr>
          </a:p>
          <a:p>
            <a:pPr marL="457189" indent="-457189" defTabSz="1219170">
              <a:spcAft>
                <a:spcPts val="800"/>
              </a:spcAft>
            </a:pPr>
            <a:endParaRPr lang="en-US" sz="2133">
              <a:solidFill>
                <a:srgbClr val="243782"/>
              </a:solidFill>
              <a:latin typeface="Encode Sans" pitchFamily="2" charset="0"/>
              <a:sym typeface="Arial"/>
            </a:endParaRPr>
          </a:p>
          <a:p>
            <a:pPr marL="457189" indent="-457189" defTabSz="1219170">
              <a:spcAft>
                <a:spcPts val="800"/>
              </a:spcAft>
            </a:pPr>
            <a:endParaRPr lang="en-US" sz="2133">
              <a:solidFill>
                <a:srgbClr val="243782"/>
              </a:solidFill>
              <a:latin typeface="Encode Sans" pitchFamily="2" charset="0"/>
              <a:sym typeface="Arial"/>
            </a:endParaRPr>
          </a:p>
          <a:p>
            <a:pPr marL="0" marR="0" indent="0" algn="l" rtl="0">
              <a:lnSpc>
                <a:spcPct val="100000"/>
              </a:lnSpc>
              <a:spcBef>
                <a:spcPts val="0"/>
              </a:spcBef>
              <a:spcAft>
                <a:spcPts val="0"/>
              </a:spcAft>
              <a:buClr>
                <a:srgbClr val="000000"/>
              </a:buClr>
              <a:buSzPts val="1100"/>
              <a:buFontTx/>
              <a:buNone/>
            </a:pPr>
            <a:endParaRPr lang="fr-FR" b="0" i="0">
              <a:effectLst/>
              <a:latin typeface="+mn-lt"/>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80510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For application SaaS :</a:t>
            </a:r>
          </a:p>
          <a:p>
            <a:pPr lvl="1"/>
            <a:r>
              <a:rPr lang="fr-FR" err="1"/>
              <a:t>please</a:t>
            </a:r>
            <a:r>
              <a:rPr lang="fr-FR"/>
              <a:t> check and control </a:t>
            </a:r>
            <a:r>
              <a:rPr lang="fr-FR" err="1"/>
              <a:t>regarding</a:t>
            </a:r>
            <a:r>
              <a:rPr lang="fr-FR"/>
              <a:t> the Supplier </a:t>
            </a:r>
            <a:r>
              <a:rPr lang="fr-FR" err="1"/>
              <a:t>commitments</a:t>
            </a:r>
            <a:r>
              <a:rPr lang="fr-FR"/>
              <a:t> </a:t>
            </a:r>
            <a:r>
              <a:rPr lang="fr-FR" err="1"/>
              <a:t>given</a:t>
            </a:r>
            <a:r>
              <a:rPr lang="fr-FR"/>
              <a:t> on </a:t>
            </a:r>
            <a:r>
              <a:rPr lang="fr-FR" err="1"/>
              <a:t>its</a:t>
            </a:r>
            <a:r>
              <a:rPr lang="fr-FR"/>
              <a:t> </a:t>
            </a:r>
            <a:r>
              <a:rPr lang="fr-FR" err="1"/>
              <a:t>offer</a:t>
            </a:r>
            <a:r>
              <a:rPr lang="fr-FR"/>
              <a:t>. (</a:t>
            </a:r>
            <a:r>
              <a:rPr lang="fr-FR" err="1"/>
              <a:t>cf</a:t>
            </a:r>
            <a:r>
              <a:rPr lang="fr-FR"/>
              <a:t> </a:t>
            </a:r>
            <a:r>
              <a:rPr lang="fr-FR" err="1"/>
              <a:t>contract</a:t>
            </a:r>
            <a:r>
              <a:rPr lang="fr-FR"/>
              <a:t> </a:t>
            </a:r>
            <a:r>
              <a:rPr lang="fr-FR" err="1"/>
              <a:t>commitments</a:t>
            </a:r>
            <a:r>
              <a:rPr lang="fr-FR"/>
              <a:t> </a:t>
            </a:r>
            <a:r>
              <a:rPr lang="fr-FR" err="1"/>
              <a:t>too</a:t>
            </a:r>
            <a:r>
              <a:rPr lang="fr-FR"/>
              <a:t>)</a:t>
            </a:r>
          </a:p>
          <a:p>
            <a:pPr lvl="1"/>
            <a:r>
              <a:rPr lang="fr-FR" err="1"/>
              <a:t>Please</a:t>
            </a:r>
            <a:r>
              <a:rPr lang="fr-FR"/>
              <a:t> check and </a:t>
            </a:r>
            <a:r>
              <a:rPr lang="fr-FR" err="1"/>
              <a:t>present</a:t>
            </a:r>
            <a:r>
              <a:rPr lang="fr-FR"/>
              <a:t> </a:t>
            </a:r>
            <a:r>
              <a:rPr lang="fr-FR" err="1"/>
              <a:t>its</a:t>
            </a:r>
            <a:r>
              <a:rPr lang="fr-FR"/>
              <a:t> </a:t>
            </a:r>
            <a:r>
              <a:rPr lang="fr-FR" err="1"/>
              <a:t>compliancy</a:t>
            </a:r>
            <a:r>
              <a:rPr lang="fr-FR"/>
              <a:t> and revelancy </a:t>
            </a:r>
            <a:r>
              <a:rPr lang="fr-FR" err="1"/>
              <a:t>regarding</a:t>
            </a:r>
            <a:r>
              <a:rPr lang="fr-FR"/>
              <a:t> the E2E </a:t>
            </a:r>
            <a:r>
              <a:rPr lang="fr-FR" err="1"/>
              <a:t>eco</a:t>
            </a:r>
            <a:r>
              <a:rPr lang="fr-FR"/>
              <a:t> system. </a:t>
            </a:r>
          </a:p>
          <a:p>
            <a:pPr lvl="2"/>
            <a:endParaRPr lang="en-GB"/>
          </a:p>
        </p:txBody>
      </p:sp>
    </p:spTree>
    <p:extLst>
      <p:ext uri="{BB962C8B-B14F-4D97-AF65-F5344CB8AC3E}">
        <p14:creationId xmlns:p14="http://schemas.microsoft.com/office/powerpoint/2010/main" val="29726434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indent="0">
              <a:buNone/>
            </a:pPr>
            <a:r>
              <a:rPr lang="fr-FR" sz="1100">
                <a:latin typeface="Encode Sans ExpandedMedium" pitchFamily="2" charset="0"/>
              </a:rPr>
              <a:t>#Data</a:t>
            </a:r>
            <a:br>
              <a:rPr lang="fr-FR" sz="1100">
                <a:latin typeface="Encode Sans ExpandedMedium" pitchFamily="2" charset="0"/>
              </a:rPr>
            </a:br>
            <a:r>
              <a:rPr lang="fr-FR" sz="1100" err="1">
                <a:latin typeface="Encode Sans ExpandedMedium" pitchFamily="2" charset="0"/>
              </a:rPr>
              <a:t>Remove</a:t>
            </a:r>
            <a:r>
              <a:rPr lang="fr-FR" sz="1100">
                <a:latin typeface="Encode Sans ExpandedMedium" pitchFamily="2" charset="0"/>
              </a:rPr>
              <a:t> the data section if data </a:t>
            </a:r>
            <a:r>
              <a:rPr lang="fr-FR" sz="1100" err="1">
                <a:latin typeface="Encode Sans ExpandedMedium" pitchFamily="2" charset="0"/>
              </a:rPr>
              <a:t>is</a:t>
            </a:r>
            <a:r>
              <a:rPr lang="fr-FR" sz="1100">
                <a:latin typeface="Encode Sans ExpandedMedium" pitchFamily="2" charset="0"/>
              </a:rPr>
              <a:t> not </a:t>
            </a:r>
            <a:r>
              <a:rPr lang="fr-FR" sz="1100" err="1">
                <a:latin typeface="Encode Sans ExpandedMedium" pitchFamily="2" charset="0"/>
              </a:rPr>
              <a:t>involved</a:t>
            </a:r>
            <a:endParaRPr lang="fr-FR" sz="1100">
              <a:latin typeface="Encode Sans ExpandedMedium"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a:solidFill>
                  <a:srgbClr val="002060"/>
                </a:solidFill>
                <a:latin typeface="+mn-lt"/>
                <a:ea typeface="+mn-lt"/>
                <a:cs typeface="+mn-lt"/>
              </a:rPr>
              <a:t>Proposed Solution Highlights</a:t>
            </a:r>
            <a:r>
              <a:rPr lang="en-US" sz="1100">
                <a:solidFill>
                  <a:srgbClr val="002060"/>
                </a:solidFill>
                <a:latin typeface="+mn-lt"/>
                <a:ea typeface="+mn-lt"/>
                <a:cs typeface="+mn-lt"/>
              </a:rPr>
              <a:t>:</a:t>
            </a:r>
            <a:r>
              <a:rPr lang="en-US" sz="1100" b="0">
                <a:solidFill>
                  <a:srgbClr val="002060"/>
                </a:solidFill>
                <a:latin typeface="+mn-lt"/>
                <a:ea typeface="+mn-lt"/>
                <a:cs typeface="+mn-lt"/>
              </a:rPr>
              <a:t> brief description of the technical solution, listing the platforms / technologies used or any other relevant element of the proposed solution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a:solidFill>
                  <a:srgbClr val="002060"/>
                </a:solidFill>
                <a:latin typeface="+mn-lt"/>
                <a:ea typeface="+mn-lt"/>
                <a:cs typeface="+mn-lt"/>
              </a:rPr>
              <a:t>Business Domain​</a:t>
            </a:r>
            <a:r>
              <a:rPr lang="en-US" sz="1100">
                <a:solidFill>
                  <a:srgbClr val="002060"/>
                </a:solidFill>
                <a:latin typeface="+mn-lt"/>
                <a:ea typeface="+mn-lt"/>
                <a:cs typeface="+mn-lt"/>
              </a:rPr>
              <a:t>:</a:t>
            </a:r>
            <a:r>
              <a:rPr lang="en-US" sz="1100" b="0">
                <a:solidFill>
                  <a:srgbClr val="002060"/>
                </a:solidFill>
                <a:latin typeface="+mn-lt"/>
                <a:ea typeface="+mn-lt"/>
                <a:cs typeface="+mn-lt"/>
              </a:rPr>
              <a:t> declare the business domain stakeholder of the initiative / projects. There is a relationship between business domain and data product manager / data product owner. </a:t>
            </a:r>
          </a:p>
          <a:p>
            <a:pPr marL="0" indent="0">
              <a:buNone/>
            </a:pPr>
            <a:endParaRPr lang="en-US" sz="1100">
              <a:latin typeface="Encode Sans ExpandedMedium" pitchFamily="2" charset="0"/>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26586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a:latin typeface="Encode Sans ExpandedMedium" pitchFamily="2" charset="0"/>
              </a:rPr>
              <a:t>#Data</a:t>
            </a:r>
            <a:br>
              <a:rPr lang="fr-FR" sz="1100">
                <a:latin typeface="Encode Sans ExpandedMedium" pitchFamily="2" charset="0"/>
              </a:rPr>
            </a:br>
            <a:r>
              <a:rPr lang="fr-FR" sz="1100" err="1">
                <a:latin typeface="Encode Sans ExpandedMedium" pitchFamily="2" charset="0"/>
              </a:rPr>
              <a:t>Remove</a:t>
            </a:r>
            <a:r>
              <a:rPr lang="fr-FR" sz="1100">
                <a:latin typeface="Encode Sans ExpandedMedium" pitchFamily="2" charset="0"/>
              </a:rPr>
              <a:t> the data section if data </a:t>
            </a:r>
            <a:r>
              <a:rPr lang="fr-FR" sz="1100" err="1">
                <a:latin typeface="Encode Sans ExpandedMedium" pitchFamily="2" charset="0"/>
              </a:rPr>
              <a:t>is</a:t>
            </a:r>
            <a:r>
              <a:rPr lang="fr-FR" sz="1100">
                <a:latin typeface="Encode Sans ExpandedMedium" pitchFamily="2" charset="0"/>
              </a:rPr>
              <a:t> not </a:t>
            </a:r>
            <a:r>
              <a:rPr lang="fr-FR" sz="1100" err="1">
                <a:latin typeface="Encode Sans ExpandedMedium" pitchFamily="2" charset="0"/>
              </a:rPr>
              <a:t>involved</a:t>
            </a:r>
            <a:endParaRPr lang="fr-FR" sz="1100">
              <a:latin typeface="Encode Sans ExpandedMedium" pitchFamily="2" charset="0"/>
            </a:endParaRPr>
          </a:p>
          <a:p>
            <a:pPr marL="0" indent="0">
              <a:buNone/>
            </a:pPr>
            <a:r>
              <a:rPr lang="it-IT" sz="1100" b="0">
                <a:solidFill>
                  <a:srgbClr val="002060"/>
                </a:solidFill>
                <a:latin typeface="+mn-lt"/>
              </a:rPr>
              <a:t>Characteristics of the </a:t>
            </a:r>
            <a:r>
              <a:rPr lang="en-US" sz="1100" b="0">
                <a:solidFill>
                  <a:srgbClr val="002060"/>
                </a:solidFill>
                <a:latin typeface="+mn-lt"/>
              </a:rPr>
              <a:t>functional objects requested for the data product development</a:t>
            </a:r>
            <a:endParaRPr lang="it-IT" sz="1100" b="0">
              <a:solidFill>
                <a:srgbClr val="002060"/>
              </a:solidFill>
              <a:latin typeface="+mn-lt"/>
            </a:endParaRPr>
          </a:p>
          <a:p>
            <a:r>
              <a:rPr lang="en-US" sz="1100">
                <a:solidFill>
                  <a:srgbClr val="002060"/>
                </a:solidFill>
                <a:latin typeface="+mn-lt"/>
                <a:ea typeface="+mn-lt"/>
                <a:cs typeface="+mn-lt"/>
              </a:rPr>
              <a:t>Object Name:</a:t>
            </a:r>
            <a:r>
              <a:rPr lang="en-US" sz="1100" b="0">
                <a:solidFill>
                  <a:srgbClr val="002060"/>
                </a:solidFill>
                <a:latin typeface="+mn-lt"/>
                <a:ea typeface="+mn-lt"/>
                <a:cs typeface="+mn-lt"/>
              </a:rPr>
              <a:t> functional name of the object</a:t>
            </a:r>
          </a:p>
          <a:p>
            <a:r>
              <a:rPr lang="en-US" sz="1100">
                <a:solidFill>
                  <a:srgbClr val="002060"/>
                </a:solidFill>
                <a:latin typeface="+mn-lt"/>
                <a:ea typeface="+mn-lt"/>
                <a:cs typeface="+mn-lt"/>
              </a:rPr>
              <a:t>Business owner:</a:t>
            </a:r>
            <a:r>
              <a:rPr lang="en-US" sz="1100" b="0">
                <a:solidFill>
                  <a:srgbClr val="002060"/>
                </a:solidFill>
                <a:latin typeface="+mn-lt"/>
                <a:ea typeface="+mn-lt"/>
                <a:cs typeface="+mn-lt"/>
              </a:rPr>
              <a:t> name of the business department owner of the functional object</a:t>
            </a:r>
          </a:p>
          <a:p>
            <a:r>
              <a:rPr lang="en-US" sz="1100">
                <a:solidFill>
                  <a:srgbClr val="002060"/>
                </a:solidFill>
                <a:latin typeface="+mn-lt"/>
                <a:ea typeface="+mn-lt"/>
                <a:cs typeface="+mn-lt"/>
              </a:rPr>
              <a:t>History depth:</a:t>
            </a:r>
            <a:r>
              <a:rPr lang="en-US" sz="1100" b="0">
                <a:solidFill>
                  <a:srgbClr val="002060"/>
                </a:solidFill>
                <a:latin typeface="+mn-lt"/>
                <a:ea typeface="+mn-lt"/>
                <a:cs typeface="+mn-lt"/>
              </a:rPr>
              <a:t> history depth required in data products, which contributes in the analysis of the data volumetry and the costs for storage</a:t>
            </a:r>
          </a:p>
          <a:p>
            <a:r>
              <a:rPr lang="en-US" sz="1100">
                <a:solidFill>
                  <a:srgbClr val="002060"/>
                </a:solidFill>
                <a:latin typeface="+mn-lt"/>
                <a:ea typeface="+mn-lt"/>
                <a:cs typeface="+mn-lt"/>
              </a:rPr>
              <a:t>Status:</a:t>
            </a:r>
            <a:r>
              <a:rPr lang="en-US" sz="1100" b="0">
                <a:solidFill>
                  <a:srgbClr val="002060"/>
                </a:solidFill>
                <a:latin typeface="+mn-lt"/>
                <a:ea typeface="+mn-lt"/>
                <a:cs typeface="+mn-lt"/>
              </a:rPr>
              <a:t> status of the functional object, e.g., “New” if is a new one (into </a:t>
            </a:r>
            <a:r>
              <a:rPr lang="en-US" sz="1100" b="0" err="1">
                <a:solidFill>
                  <a:srgbClr val="002060"/>
                </a:solidFill>
                <a:latin typeface="+mn-lt"/>
                <a:ea typeface="+mn-lt"/>
                <a:cs typeface="+mn-lt"/>
              </a:rPr>
              <a:t>SnowFlake</a:t>
            </a:r>
            <a:r>
              <a:rPr lang="en-US" sz="1100" b="0">
                <a:solidFill>
                  <a:srgbClr val="002060"/>
                </a:solidFill>
                <a:latin typeface="+mn-lt"/>
                <a:ea typeface="+mn-lt"/>
                <a:cs typeface="+mn-lt"/>
              </a:rPr>
              <a:t> databases, Foundry Ontology, Databricks catalog), already existing with the related technical name</a:t>
            </a:r>
          </a:p>
          <a:p>
            <a:r>
              <a:rPr lang="en-US" sz="1100">
                <a:solidFill>
                  <a:srgbClr val="002060"/>
                </a:solidFill>
                <a:latin typeface="+mn-lt"/>
                <a:ea typeface="+mn-lt"/>
                <a:cs typeface="+mn-lt"/>
              </a:rPr>
              <a:t>Data model:</a:t>
            </a:r>
            <a:r>
              <a:rPr lang="en-US" sz="1100" b="0">
                <a:solidFill>
                  <a:srgbClr val="002060"/>
                </a:solidFill>
                <a:latin typeface="+mn-lt"/>
                <a:ea typeface="+mn-lt"/>
                <a:cs typeface="+mn-lt"/>
              </a:rPr>
              <a:t> link to the documents of the functional data model, deliverables under the responsibility of the business team as part of the documentation that specify all the requirements, or the availability date if the functional data model is not defined yet. </a:t>
            </a:r>
            <a:r>
              <a:rPr lang="it-IT" sz="1100">
                <a:solidFill>
                  <a:srgbClr val="002060"/>
                </a:solidFill>
                <a:latin typeface="+mn-lt"/>
                <a:ea typeface="+mn-lt"/>
                <a:cs typeface="+mn-lt"/>
              </a:rPr>
              <a:t>Mandatory</a:t>
            </a:r>
            <a:endParaRPr lang="en-US" sz="1100" b="0">
              <a:solidFill>
                <a:srgbClr val="002060"/>
              </a:solidFill>
              <a:latin typeface="+mn-lt"/>
              <a:ea typeface="+mn-lt"/>
              <a:cs typeface="+mn-lt"/>
            </a:endParaRPr>
          </a:p>
          <a:p>
            <a:pPr marL="158750" indent="0">
              <a:buNone/>
            </a:pPr>
            <a:endParaRPr lang="en-US"/>
          </a:p>
          <a:p>
            <a:r>
              <a:rPr lang="en-US" sz="1800">
                <a:solidFill>
                  <a:srgbClr val="002060"/>
                </a:solidFill>
                <a:latin typeface="+mn-lt"/>
                <a:ea typeface="+mn-lt"/>
                <a:cs typeface="+mn-lt"/>
              </a:rPr>
              <a:t>Confidentiality:</a:t>
            </a:r>
            <a:r>
              <a:rPr lang="en-US" sz="1800" b="0">
                <a:solidFill>
                  <a:srgbClr val="002060"/>
                </a:solidFill>
                <a:latin typeface="+mn-lt"/>
                <a:ea typeface="+mn-lt"/>
                <a:cs typeface="+mn-lt"/>
              </a:rPr>
              <a:t> specify the maximum level of confidentiality, compliant with the official documentation for the confidentiality </a:t>
            </a:r>
            <a:r>
              <a:rPr lang="en-US" sz="1800" b="0" err="1">
                <a:solidFill>
                  <a:srgbClr val="002060"/>
                </a:solidFill>
                <a:latin typeface="+mn-lt"/>
                <a:ea typeface="+mn-lt"/>
                <a:cs typeface="+mn-lt"/>
              </a:rPr>
              <a:t>criterias</a:t>
            </a:r>
            <a:r>
              <a:rPr lang="en-US" sz="1800" b="0">
                <a:solidFill>
                  <a:srgbClr val="002060"/>
                </a:solidFill>
                <a:latin typeface="+mn-lt"/>
                <a:ea typeface="+mn-lt"/>
                <a:cs typeface="+mn-lt"/>
              </a:rPr>
              <a:t>, and aligned with the official result of the self assessment with the DPO team. If no detailed information are available, take the available information from the source systems, supported by the business data owners, or from the repositories used to register the applications (APM for </a:t>
            </a:r>
            <a:r>
              <a:rPr lang="en-US" sz="1800" b="0" err="1">
                <a:solidFill>
                  <a:srgbClr val="002060"/>
                </a:solidFill>
                <a:latin typeface="+mn-lt"/>
                <a:ea typeface="+mn-lt"/>
                <a:cs typeface="+mn-lt"/>
              </a:rPr>
              <a:t>xF</a:t>
            </a:r>
            <a:r>
              <a:rPr lang="en-US" sz="1800" b="0">
                <a:solidFill>
                  <a:srgbClr val="002060"/>
                </a:solidFill>
                <a:latin typeface="+mn-lt"/>
                <a:ea typeface="+mn-lt"/>
                <a:cs typeface="+mn-lt"/>
              </a:rPr>
              <a:t>, Reflex for </a:t>
            </a:r>
            <a:r>
              <a:rPr lang="en-US" sz="1800" b="0" err="1">
                <a:solidFill>
                  <a:srgbClr val="002060"/>
                </a:solidFill>
                <a:latin typeface="+mn-lt"/>
                <a:ea typeface="+mn-lt"/>
                <a:cs typeface="+mn-lt"/>
              </a:rPr>
              <a:t>xP</a:t>
            </a:r>
            <a:r>
              <a:rPr lang="en-US" sz="1800" b="0">
                <a:solidFill>
                  <a:srgbClr val="002060"/>
                </a:solidFill>
                <a:latin typeface="+mn-lt"/>
                <a:ea typeface="+mn-lt"/>
                <a:cs typeface="+mn-lt"/>
              </a:rPr>
              <a:t>). In case of personal data availability, the level of confidentiality become C3, with the exception when VIN code is the only personal information available, for which the level of confidentiality is C2. Possible values are:</a:t>
            </a:r>
          </a:p>
          <a:p>
            <a:pPr lvl="1"/>
            <a:r>
              <a:rPr lang="en-US" sz="1800">
                <a:solidFill>
                  <a:srgbClr val="002060"/>
                </a:solidFill>
                <a:latin typeface="+mn-lt"/>
                <a:ea typeface="+mn-lt"/>
                <a:cs typeface="+mn-lt"/>
              </a:rPr>
              <a:t>C1</a:t>
            </a:r>
          </a:p>
          <a:p>
            <a:pPr lvl="1"/>
            <a:r>
              <a:rPr lang="en-US" sz="1800" b="0">
                <a:solidFill>
                  <a:srgbClr val="002060"/>
                </a:solidFill>
                <a:latin typeface="+mn-lt"/>
                <a:ea typeface="+mn-lt"/>
                <a:cs typeface="+mn-lt"/>
              </a:rPr>
              <a:t>C2</a:t>
            </a:r>
          </a:p>
          <a:p>
            <a:pPr lvl="1"/>
            <a:r>
              <a:rPr lang="en-US" sz="1800">
                <a:solidFill>
                  <a:srgbClr val="002060"/>
                </a:solidFill>
                <a:latin typeface="+mn-lt"/>
                <a:ea typeface="+mn-lt"/>
                <a:cs typeface="+mn-lt"/>
              </a:rPr>
              <a:t>C3</a:t>
            </a:r>
          </a:p>
          <a:p>
            <a:pPr lvl="1"/>
            <a:r>
              <a:rPr lang="en-US" sz="1800" b="0">
                <a:solidFill>
                  <a:srgbClr val="002060"/>
                </a:solidFill>
                <a:latin typeface="+mn-lt"/>
                <a:ea typeface="+mn-lt"/>
                <a:cs typeface="+mn-lt"/>
              </a:rPr>
              <a:t>C4, for which the initiative is automatically not approved</a:t>
            </a:r>
          </a:p>
          <a:p>
            <a:pPr marL="371475" lvl="1" indent="0">
              <a:buNone/>
            </a:pPr>
            <a:r>
              <a:rPr lang="en-US" sz="1800">
                <a:solidFill>
                  <a:srgbClr val="002060"/>
                </a:solidFill>
                <a:latin typeface="+mn-lt"/>
                <a:ea typeface="+mn-lt"/>
                <a:cs typeface="+mn-lt"/>
              </a:rPr>
              <a:t>In case of C3 data, provide more detailed </a:t>
            </a:r>
            <a:r>
              <a:rPr lang="en-US" sz="1800" err="1">
                <a:solidFill>
                  <a:srgbClr val="002060"/>
                </a:solidFill>
                <a:latin typeface="+mn-lt"/>
                <a:ea typeface="+mn-lt"/>
                <a:cs typeface="+mn-lt"/>
              </a:rPr>
              <a:t>informationfor</a:t>
            </a:r>
            <a:r>
              <a:rPr lang="en-US" sz="1800">
                <a:solidFill>
                  <a:srgbClr val="002060"/>
                </a:solidFill>
                <a:latin typeface="+mn-lt"/>
                <a:ea typeface="+mn-lt"/>
                <a:cs typeface="+mn-lt"/>
              </a:rPr>
              <a:t> tables and fields hosting confidential information. The same for C4 data. </a:t>
            </a:r>
            <a:r>
              <a:rPr lang="en-US" sz="1800" b="1">
                <a:solidFill>
                  <a:srgbClr val="002060"/>
                </a:solidFill>
                <a:latin typeface="+mn-lt"/>
                <a:ea typeface="+mn-lt"/>
                <a:cs typeface="+mn-lt"/>
              </a:rPr>
              <a:t>LINK TO STELLANTIS DOCUMENTS. </a:t>
            </a:r>
            <a:r>
              <a:rPr lang="it-IT" sz="1800" b="1">
                <a:solidFill>
                  <a:srgbClr val="002060"/>
                </a:solidFill>
                <a:latin typeface="+mn-lt"/>
                <a:ea typeface="+mn-lt"/>
                <a:cs typeface="+mn-lt"/>
              </a:rPr>
              <a:t>Mandatory</a:t>
            </a:r>
            <a:endParaRPr lang="en-US" sz="1800" b="1">
              <a:solidFill>
                <a:srgbClr val="002060"/>
              </a:solidFill>
              <a:latin typeface="+mn-lt"/>
              <a:ea typeface="+mn-lt"/>
              <a:cs typeface="+mn-lt"/>
            </a:endParaRPr>
          </a:p>
          <a:p>
            <a:r>
              <a:rPr lang="en-US" sz="1800">
                <a:solidFill>
                  <a:srgbClr val="002060"/>
                </a:solidFill>
                <a:latin typeface="+mn-lt"/>
                <a:ea typeface="+mn-lt"/>
                <a:cs typeface="+mn-lt"/>
              </a:rPr>
              <a:t>Personal data (Y/N):</a:t>
            </a:r>
            <a:r>
              <a:rPr lang="en-US" sz="1800" b="0">
                <a:solidFill>
                  <a:srgbClr val="002060"/>
                </a:solidFill>
                <a:latin typeface="+mn-lt"/>
                <a:ea typeface="+mn-lt"/>
                <a:cs typeface="+mn-lt"/>
              </a:rPr>
              <a:t> specify if personal information are available; possible values are:</a:t>
            </a:r>
          </a:p>
          <a:p>
            <a:pPr lvl="1"/>
            <a:r>
              <a:rPr lang="en-US" sz="1800">
                <a:solidFill>
                  <a:srgbClr val="002060"/>
                </a:solidFill>
                <a:latin typeface="+mn-lt"/>
                <a:ea typeface="+mn-lt"/>
                <a:cs typeface="+mn-lt"/>
              </a:rPr>
              <a:t>Y, if personal information are available</a:t>
            </a:r>
          </a:p>
          <a:p>
            <a:pPr lvl="1"/>
            <a:r>
              <a:rPr lang="en-US" sz="1800" b="0">
                <a:solidFill>
                  <a:srgbClr val="002060"/>
                </a:solidFill>
                <a:latin typeface="+mn-lt"/>
                <a:ea typeface="+mn-lt"/>
                <a:cs typeface="+mn-lt"/>
              </a:rPr>
              <a:t>N, if personal information are not available</a:t>
            </a:r>
          </a:p>
          <a:p>
            <a:pPr lvl="1"/>
            <a:r>
              <a:rPr lang="en-US" sz="1800">
                <a:solidFill>
                  <a:srgbClr val="002060"/>
                </a:solidFill>
                <a:latin typeface="+mn-lt"/>
                <a:ea typeface="+mn-lt"/>
                <a:cs typeface="+mn-lt"/>
              </a:rPr>
              <a:t>VIN, if </a:t>
            </a:r>
            <a:r>
              <a:rPr lang="en-US" sz="1800" b="0">
                <a:solidFill>
                  <a:srgbClr val="002060"/>
                </a:solidFill>
                <a:latin typeface="+mn-lt"/>
                <a:ea typeface="+mn-lt"/>
                <a:cs typeface="+mn-lt"/>
              </a:rPr>
              <a:t>VIN code is the only personal information available</a:t>
            </a:r>
          </a:p>
          <a:p>
            <a:pPr lvl="1"/>
            <a:r>
              <a:rPr lang="en-US" sz="1800">
                <a:solidFill>
                  <a:srgbClr val="002060"/>
                </a:solidFill>
                <a:latin typeface="+mn-lt"/>
                <a:ea typeface="+mn-lt"/>
                <a:cs typeface="+mn-lt"/>
              </a:rPr>
              <a:t>Y + </a:t>
            </a:r>
            <a:r>
              <a:rPr lang="en-US" sz="1800" err="1">
                <a:solidFill>
                  <a:srgbClr val="002060"/>
                </a:solidFill>
                <a:latin typeface="+mn-lt"/>
                <a:ea typeface="+mn-lt"/>
                <a:cs typeface="+mn-lt"/>
              </a:rPr>
              <a:t>geolocalization</a:t>
            </a:r>
            <a:r>
              <a:rPr lang="en-US" sz="1800">
                <a:solidFill>
                  <a:srgbClr val="002060"/>
                </a:solidFill>
                <a:latin typeface="+mn-lt"/>
                <a:ea typeface="+mn-lt"/>
                <a:cs typeface="+mn-lt"/>
              </a:rPr>
              <a:t>, if </a:t>
            </a:r>
            <a:r>
              <a:rPr lang="en-US" sz="1800" err="1">
                <a:solidFill>
                  <a:srgbClr val="002060"/>
                </a:solidFill>
                <a:latin typeface="+mn-lt"/>
                <a:ea typeface="+mn-lt"/>
                <a:cs typeface="+mn-lt"/>
              </a:rPr>
              <a:t>geolocalization</a:t>
            </a:r>
            <a:r>
              <a:rPr lang="en-US" sz="1800">
                <a:solidFill>
                  <a:srgbClr val="002060"/>
                </a:solidFill>
                <a:latin typeface="+mn-lt"/>
                <a:ea typeface="+mn-lt"/>
                <a:cs typeface="+mn-lt"/>
              </a:rPr>
              <a:t> information are available</a:t>
            </a:r>
          </a:p>
          <a:p>
            <a:pPr marL="371475" lvl="1" indent="0">
              <a:buNone/>
            </a:pPr>
            <a:r>
              <a:rPr lang="it-IT" sz="1800" b="1">
                <a:solidFill>
                  <a:srgbClr val="002060"/>
                </a:solidFill>
                <a:latin typeface="+mn-lt"/>
                <a:ea typeface="+mn-lt"/>
                <a:cs typeface="+mn-lt"/>
              </a:rPr>
              <a:t>Mandatory</a:t>
            </a:r>
            <a:endParaRPr lang="en-US" sz="1800" b="1"/>
          </a:p>
          <a:p>
            <a:pPr marL="158750" indent="0">
              <a:buNone/>
            </a:pPr>
            <a:endParaRPr lang="en-US"/>
          </a:p>
          <a:p>
            <a:r>
              <a:rPr lang="en-US" sz="1100">
                <a:solidFill>
                  <a:srgbClr val="002060"/>
                </a:solidFill>
                <a:latin typeface="+mn-lt"/>
                <a:ea typeface="+mn-lt"/>
                <a:cs typeface="+mn-lt"/>
              </a:rPr>
              <a:t>Region / Brand:</a:t>
            </a:r>
            <a:r>
              <a:rPr lang="en-US" sz="1100" b="0">
                <a:solidFill>
                  <a:srgbClr val="002060"/>
                </a:solidFill>
                <a:latin typeface="+mn-lt"/>
                <a:ea typeface="+mn-lt"/>
                <a:cs typeface="+mn-lt"/>
              </a:rPr>
              <a:t> regions / brands associated with data sent by the source systems</a:t>
            </a:r>
          </a:p>
          <a:p>
            <a:r>
              <a:rPr lang="en-US" sz="1100">
                <a:solidFill>
                  <a:srgbClr val="002060"/>
                </a:solidFill>
                <a:latin typeface="+mn-lt"/>
                <a:ea typeface="+mn-lt"/>
                <a:cs typeface="+mn-lt"/>
              </a:rPr>
              <a:t>Source Name:</a:t>
            </a:r>
            <a:r>
              <a:rPr lang="en-US" sz="1100" b="0">
                <a:solidFill>
                  <a:srgbClr val="002060"/>
                </a:solidFill>
                <a:latin typeface="+mn-lt"/>
                <a:ea typeface="+mn-lt"/>
                <a:cs typeface="+mn-lt"/>
              </a:rPr>
              <a:t> source system name</a:t>
            </a:r>
          </a:p>
          <a:p>
            <a:r>
              <a:rPr lang="en-US" sz="1100">
                <a:solidFill>
                  <a:srgbClr val="002060"/>
                </a:solidFill>
                <a:latin typeface="+mn-lt"/>
                <a:ea typeface="+mn-lt"/>
                <a:cs typeface="+mn-lt"/>
              </a:rPr>
              <a:t>Source ingestion status:</a:t>
            </a:r>
            <a:r>
              <a:rPr lang="en-US" sz="1100" b="0">
                <a:solidFill>
                  <a:srgbClr val="002060"/>
                </a:solidFill>
                <a:latin typeface="+mn-lt"/>
                <a:ea typeface="+mn-lt"/>
                <a:cs typeface="+mn-lt"/>
              </a:rPr>
              <a:t> ingestion status, e.g., already ingested, not ingested yet, ingested into the layer …. only, etc.</a:t>
            </a:r>
          </a:p>
          <a:p>
            <a:r>
              <a:rPr lang="en-US" sz="1100">
                <a:solidFill>
                  <a:srgbClr val="002060"/>
                </a:solidFill>
                <a:latin typeface="+mn-lt"/>
                <a:ea typeface="+mn-lt"/>
                <a:cs typeface="+mn-lt"/>
              </a:rPr>
              <a:t>Flows already ingested:</a:t>
            </a:r>
            <a:r>
              <a:rPr lang="en-US" sz="1100" b="0">
                <a:solidFill>
                  <a:srgbClr val="002060"/>
                </a:solidFill>
                <a:latin typeface="+mn-lt"/>
                <a:ea typeface="+mn-lt"/>
                <a:cs typeface="+mn-lt"/>
              </a:rPr>
              <a:t> number of flows already ingested into the data platform</a:t>
            </a:r>
          </a:p>
          <a:p>
            <a:r>
              <a:rPr lang="en-US" sz="1100">
                <a:solidFill>
                  <a:srgbClr val="002060"/>
                </a:solidFill>
                <a:latin typeface="+mn-lt"/>
                <a:ea typeface="+mn-lt"/>
                <a:cs typeface="+mn-lt"/>
              </a:rPr>
              <a:t>New flows to be ingested :</a:t>
            </a:r>
            <a:r>
              <a:rPr lang="en-US" sz="1100" b="0">
                <a:solidFill>
                  <a:srgbClr val="002060"/>
                </a:solidFill>
                <a:latin typeface="+mn-lt"/>
                <a:ea typeface="+mn-lt"/>
                <a:cs typeface="+mn-lt"/>
              </a:rPr>
              <a:t> number of new flows to be ingested into the data platform</a:t>
            </a:r>
          </a:p>
          <a:p>
            <a:r>
              <a:rPr lang="en-US" sz="1100">
                <a:solidFill>
                  <a:srgbClr val="002060"/>
                </a:solidFill>
                <a:latin typeface="+mn-lt"/>
                <a:ea typeface="+mn-lt"/>
                <a:cs typeface="+mn-lt"/>
              </a:rPr>
              <a:t>Retention Period:</a:t>
            </a:r>
            <a:r>
              <a:rPr lang="en-US" sz="1100" b="0">
                <a:solidFill>
                  <a:srgbClr val="002060"/>
                </a:solidFill>
                <a:latin typeface="+mn-lt"/>
                <a:ea typeface="+mn-lt"/>
                <a:cs typeface="+mn-lt"/>
              </a:rPr>
              <a:t> retention period inside the data platform. The retention period must be compliant with the level of confidentiality, the internal regulations an the external international regulations for personal data. </a:t>
            </a:r>
            <a:r>
              <a:rPr lang="it-IT" sz="1100">
                <a:solidFill>
                  <a:srgbClr val="002060"/>
                </a:solidFill>
                <a:latin typeface="+mn-lt"/>
                <a:ea typeface="+mn-lt"/>
                <a:cs typeface="+mn-lt"/>
              </a:rPr>
              <a:t>Mandatory</a:t>
            </a:r>
            <a:endParaRPr lang="en-US" sz="1100" b="0">
              <a:solidFill>
                <a:srgbClr val="002060"/>
              </a:solidFill>
              <a:latin typeface="+mn-lt"/>
              <a:ea typeface="+mn-lt"/>
              <a:cs typeface="+mn-lt"/>
            </a:endParaRPr>
          </a:p>
          <a:p>
            <a:r>
              <a:rPr lang="en-US" sz="1100">
                <a:solidFill>
                  <a:srgbClr val="002060"/>
                </a:solidFill>
                <a:latin typeface="+mn-lt"/>
                <a:ea typeface="+mn-lt"/>
                <a:cs typeface="+mn-lt"/>
              </a:rPr>
              <a:t>Disposal Action:</a:t>
            </a:r>
            <a:r>
              <a:rPr lang="en-US" sz="1100" b="0">
                <a:solidFill>
                  <a:srgbClr val="002060"/>
                </a:solidFill>
                <a:latin typeface="+mn-lt"/>
                <a:ea typeface="+mn-lt"/>
                <a:cs typeface="+mn-lt"/>
              </a:rPr>
              <a:t> disposal action at the end of the retention period. Specify the disposal action in case of change of the </a:t>
            </a:r>
            <a:r>
              <a:rPr lang="en-US" sz="1100" b="0" err="1">
                <a:solidFill>
                  <a:srgbClr val="002060"/>
                </a:solidFill>
                <a:latin typeface="+mn-lt"/>
                <a:ea typeface="+mn-lt"/>
                <a:cs typeface="+mn-lt"/>
              </a:rPr>
              <a:t>consense</a:t>
            </a:r>
            <a:r>
              <a:rPr lang="en-US" sz="1100" b="0">
                <a:solidFill>
                  <a:srgbClr val="002060"/>
                </a:solidFill>
                <a:latin typeface="+mn-lt"/>
                <a:ea typeface="+mn-lt"/>
                <a:cs typeface="+mn-lt"/>
              </a:rPr>
              <a:t> for personal information. </a:t>
            </a:r>
            <a:r>
              <a:rPr lang="it-IT" sz="1100">
                <a:solidFill>
                  <a:srgbClr val="002060"/>
                </a:solidFill>
                <a:latin typeface="+mn-lt"/>
                <a:ea typeface="+mn-lt"/>
                <a:cs typeface="+mn-lt"/>
              </a:rPr>
              <a:t>Mandatory</a:t>
            </a:r>
            <a:endParaRPr lang="en-US" sz="1100" b="0">
              <a:solidFill>
                <a:srgbClr val="002060"/>
              </a:solidFill>
              <a:latin typeface="+mn-lt"/>
              <a:ea typeface="+mn-lt"/>
              <a:cs typeface="+mn-lt"/>
            </a:endParaRPr>
          </a:p>
          <a:p>
            <a:r>
              <a:rPr lang="en-US" sz="1100">
                <a:solidFill>
                  <a:srgbClr val="002060"/>
                </a:solidFill>
                <a:latin typeface="+mn-lt"/>
                <a:ea typeface="+mn-lt"/>
                <a:cs typeface="+mn-lt"/>
              </a:rPr>
              <a:t>Start of Event:</a:t>
            </a:r>
            <a:r>
              <a:rPr lang="en-US" sz="1100" b="0">
                <a:solidFill>
                  <a:srgbClr val="002060"/>
                </a:solidFill>
                <a:latin typeface="+mn-lt"/>
                <a:ea typeface="+mn-lt"/>
                <a:cs typeface="+mn-lt"/>
              </a:rPr>
              <a:t> event which triggers the disposal action</a:t>
            </a:r>
          </a:p>
          <a:p>
            <a:endParaRPr lang="en-US" sz="1100" b="0">
              <a:solidFill>
                <a:srgbClr val="002060"/>
              </a:solidFill>
              <a:latin typeface="+mn-lt"/>
              <a:ea typeface="+mn-lt"/>
              <a:cs typeface="+mn-lt"/>
            </a:endParaRPr>
          </a:p>
          <a:p>
            <a:endParaRPr lang="en-US" sz="1100" b="0">
              <a:solidFill>
                <a:srgbClr val="002060"/>
              </a:solidFill>
              <a:latin typeface="+mn-lt"/>
              <a:ea typeface="+mn-lt"/>
              <a:cs typeface="+mn-lt"/>
            </a:endParaRPr>
          </a:p>
          <a:p>
            <a:pPr marL="158750" indent="0">
              <a:buNone/>
            </a:pPr>
            <a:endParaRPr lang="en-US"/>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5D7A26-F5C6-4C94-B9BE-37D68770E680}" type="slidenum">
              <a:rPr kumimoji="0" lang="fr-FR"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fr-FR"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23719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dirty="0">
                <a:latin typeface="Encode Sans ExpandedMedium" pitchFamily="2" charset="0"/>
              </a:rPr>
              <a:t>#Data</a:t>
            </a:r>
            <a:br>
              <a:rPr lang="fr-FR" sz="1100" dirty="0">
                <a:latin typeface="Encode Sans ExpandedMedium" pitchFamily="2" charset="0"/>
              </a:rPr>
            </a:br>
            <a:r>
              <a:rPr lang="fr-FR" sz="1100" dirty="0" err="1">
                <a:latin typeface="Encode Sans ExpandedMedium" pitchFamily="2" charset="0"/>
              </a:rPr>
              <a:t>Remove</a:t>
            </a:r>
            <a:r>
              <a:rPr lang="fr-FR" sz="1100" dirty="0">
                <a:latin typeface="Encode Sans ExpandedMedium" pitchFamily="2" charset="0"/>
              </a:rPr>
              <a:t> the data section if data </a:t>
            </a:r>
            <a:r>
              <a:rPr lang="fr-FR" sz="1100" dirty="0" err="1">
                <a:latin typeface="Encode Sans ExpandedMedium" pitchFamily="2" charset="0"/>
              </a:rPr>
              <a:t>is</a:t>
            </a:r>
            <a:r>
              <a:rPr lang="fr-FR" sz="1100" dirty="0">
                <a:latin typeface="Encode Sans ExpandedMedium" pitchFamily="2" charset="0"/>
              </a:rPr>
              <a:t> not </a:t>
            </a:r>
            <a:r>
              <a:rPr lang="fr-FR" sz="1100" dirty="0" err="1">
                <a:latin typeface="Encode Sans ExpandedMedium" pitchFamily="2" charset="0"/>
              </a:rPr>
              <a:t>involved</a:t>
            </a:r>
            <a:endParaRPr lang="fr-FR" sz="1100" dirty="0">
              <a:latin typeface="Encode Sans ExpandedMedium" pitchFamily="2" charset="0"/>
            </a:endParaRPr>
          </a:p>
          <a:p>
            <a:pPr marL="0" indent="0">
              <a:buNone/>
            </a:pPr>
            <a:r>
              <a:rPr lang="it-IT" sz="1100" b="0" dirty="0">
                <a:solidFill>
                  <a:srgbClr val="002060"/>
                </a:solidFill>
                <a:latin typeface="+mn-lt"/>
              </a:rPr>
              <a:t>Technical information for data ingestion</a:t>
            </a:r>
            <a:r>
              <a:rPr lang="en-US" sz="1100" b="0" dirty="0">
                <a:solidFill>
                  <a:srgbClr val="002060"/>
                </a:solidFill>
                <a:latin typeface="+mn-lt"/>
              </a:rPr>
              <a:t> and usage requested for the development of Power BI dashboards:</a:t>
            </a:r>
            <a:endParaRPr lang="it-IT" sz="1100" b="0" dirty="0">
              <a:solidFill>
                <a:srgbClr val="002060"/>
              </a:solidFill>
              <a:latin typeface="+mn-lt"/>
            </a:endParaRPr>
          </a:p>
          <a:p>
            <a:r>
              <a:rPr lang="en-US" sz="1100" dirty="0">
                <a:solidFill>
                  <a:srgbClr val="002060"/>
                </a:solidFill>
                <a:latin typeface="+mn-lt"/>
                <a:ea typeface="+mn-lt"/>
                <a:cs typeface="+mn-lt"/>
              </a:rPr>
              <a:t>Applications:</a:t>
            </a:r>
            <a:r>
              <a:rPr lang="en-US" sz="1100" b="0" dirty="0">
                <a:solidFill>
                  <a:srgbClr val="002060"/>
                </a:solidFill>
                <a:latin typeface="+mn-lt"/>
                <a:ea typeface="+mn-lt"/>
                <a:cs typeface="+mn-lt"/>
              </a:rPr>
              <a:t> name of the source application</a:t>
            </a:r>
          </a:p>
          <a:p>
            <a:r>
              <a:rPr lang="en-US" sz="1100" b="0" dirty="0">
                <a:solidFill>
                  <a:srgbClr val="002060"/>
                </a:solidFill>
                <a:latin typeface="+mn-lt"/>
                <a:ea typeface="+mn-lt"/>
                <a:cs typeface="+mn-lt"/>
              </a:rPr>
              <a:t>Data ingestion: data ingestion technique used to populate the data set, e.g. import mode, direct query, hybrid mode</a:t>
            </a:r>
          </a:p>
          <a:p>
            <a:r>
              <a:rPr lang="en-US" sz="1100" dirty="0">
                <a:solidFill>
                  <a:srgbClr val="002060"/>
                </a:solidFill>
                <a:latin typeface="+mn-lt"/>
                <a:ea typeface="+mn-lt"/>
                <a:cs typeface="+mn-lt"/>
              </a:rPr>
              <a:t>Requested SKUs:</a:t>
            </a:r>
            <a:r>
              <a:rPr lang="en-US" sz="1100" b="0" dirty="0">
                <a:solidFill>
                  <a:srgbClr val="002060"/>
                </a:solidFill>
                <a:latin typeface="+mn-lt"/>
                <a:ea typeface="+mn-lt"/>
                <a:cs typeface="+mn-lt"/>
              </a:rPr>
              <a:t> declare which are the SKUs (P1 units, P2 </a:t>
            </a:r>
            <a:r>
              <a:rPr lang="en-US" sz="1100" b="0" dirty="0" err="1">
                <a:solidFill>
                  <a:srgbClr val="002060"/>
                </a:solidFill>
                <a:latin typeface="+mn-lt"/>
                <a:ea typeface="+mn-lt"/>
                <a:cs typeface="+mn-lt"/>
              </a:rPr>
              <a:t>untis</a:t>
            </a:r>
            <a:r>
              <a:rPr lang="en-US" sz="1100" b="0" dirty="0">
                <a:solidFill>
                  <a:srgbClr val="002060"/>
                </a:solidFill>
                <a:latin typeface="+mn-lt"/>
                <a:ea typeface="+mn-lt"/>
                <a:cs typeface="+mn-lt"/>
              </a:rPr>
              <a:t>, etc.) needed to support the consuming of the dashboard by all the expects users </a:t>
            </a:r>
          </a:p>
          <a:p>
            <a:r>
              <a:rPr lang="en-US" sz="1100" dirty="0">
                <a:solidFill>
                  <a:srgbClr val="002060"/>
                </a:solidFill>
                <a:latin typeface="+mn-lt"/>
                <a:ea typeface="+mn-lt"/>
                <a:cs typeface="+mn-lt"/>
              </a:rPr>
              <a:t># Nominal users:</a:t>
            </a:r>
            <a:r>
              <a:rPr lang="en-US" sz="1100" b="0" dirty="0">
                <a:solidFill>
                  <a:srgbClr val="002060"/>
                </a:solidFill>
                <a:latin typeface="+mn-lt"/>
                <a:ea typeface="+mn-lt"/>
                <a:cs typeface="+mn-lt"/>
              </a:rPr>
              <a:t> total number of users enabled to access the dashboard</a:t>
            </a:r>
          </a:p>
          <a:p>
            <a:r>
              <a:rPr lang="en-US" sz="1800" dirty="0">
                <a:solidFill>
                  <a:srgbClr val="002060"/>
                </a:solidFill>
                <a:latin typeface="+mn-lt"/>
                <a:ea typeface="+mn-lt"/>
                <a:cs typeface="+mn-lt"/>
              </a:rPr>
              <a:t># Concurrent users:</a:t>
            </a:r>
            <a:r>
              <a:rPr lang="en-US" sz="1800" b="0" dirty="0">
                <a:solidFill>
                  <a:srgbClr val="002060"/>
                </a:solidFill>
                <a:latin typeface="+mn-lt"/>
                <a:ea typeface="+mn-lt"/>
                <a:cs typeface="+mn-lt"/>
              </a:rPr>
              <a:t> number of users connected into the dashboard that are pushing a computational activity in concurrent mode</a:t>
            </a:r>
          </a:p>
          <a:p>
            <a:r>
              <a:rPr lang="en-US" sz="1800" dirty="0">
                <a:solidFill>
                  <a:srgbClr val="002060"/>
                </a:solidFill>
                <a:latin typeface="+mn-lt"/>
                <a:ea typeface="+mn-lt"/>
                <a:cs typeface="+mn-lt"/>
              </a:rPr>
              <a:t>Frequency refresh:</a:t>
            </a:r>
            <a:r>
              <a:rPr lang="en-US" sz="1800" b="0" dirty="0">
                <a:solidFill>
                  <a:srgbClr val="002060"/>
                </a:solidFill>
                <a:latin typeface="+mn-lt"/>
                <a:ea typeface="+mn-lt"/>
                <a:cs typeface="+mn-lt"/>
              </a:rPr>
              <a:t> frequency for the refresh of the Power BI data set</a:t>
            </a:r>
          </a:p>
          <a:p>
            <a:r>
              <a:rPr lang="en-US" sz="1800" dirty="0">
                <a:solidFill>
                  <a:srgbClr val="002060"/>
                </a:solidFill>
                <a:latin typeface="+mn-lt"/>
                <a:ea typeface="+mn-lt"/>
                <a:cs typeface="+mn-lt"/>
              </a:rPr>
              <a:t>Confidentiality:</a:t>
            </a:r>
            <a:r>
              <a:rPr lang="en-US" sz="1800" b="0" dirty="0">
                <a:solidFill>
                  <a:srgbClr val="002060"/>
                </a:solidFill>
                <a:latin typeface="+mn-lt"/>
                <a:ea typeface="+mn-lt"/>
                <a:cs typeface="+mn-lt"/>
              </a:rPr>
              <a:t> specify the maximum level of confidentiality, compliant with the official documentation for the confidentiality </a:t>
            </a:r>
            <a:r>
              <a:rPr lang="en-US" sz="1800" b="0" dirty="0" err="1">
                <a:solidFill>
                  <a:srgbClr val="002060"/>
                </a:solidFill>
                <a:latin typeface="+mn-lt"/>
                <a:ea typeface="+mn-lt"/>
                <a:cs typeface="+mn-lt"/>
              </a:rPr>
              <a:t>criterias</a:t>
            </a:r>
            <a:r>
              <a:rPr lang="en-US" sz="1800" b="0" dirty="0">
                <a:solidFill>
                  <a:srgbClr val="002060"/>
                </a:solidFill>
                <a:latin typeface="+mn-lt"/>
                <a:ea typeface="+mn-lt"/>
                <a:cs typeface="+mn-lt"/>
              </a:rPr>
              <a:t>, and aligned with the official result of the self assessment with the DPO team. If no detailed information are available, take the available information from the source systems, supported by the business data owners, or from the repositories used to register the applications (APM for </a:t>
            </a:r>
            <a:r>
              <a:rPr lang="en-US" sz="1800" b="0" dirty="0" err="1">
                <a:solidFill>
                  <a:srgbClr val="002060"/>
                </a:solidFill>
                <a:latin typeface="+mn-lt"/>
                <a:ea typeface="+mn-lt"/>
                <a:cs typeface="+mn-lt"/>
              </a:rPr>
              <a:t>xF</a:t>
            </a:r>
            <a:r>
              <a:rPr lang="en-US" sz="1800" b="0" dirty="0">
                <a:solidFill>
                  <a:srgbClr val="002060"/>
                </a:solidFill>
                <a:latin typeface="+mn-lt"/>
                <a:ea typeface="+mn-lt"/>
                <a:cs typeface="+mn-lt"/>
              </a:rPr>
              <a:t>, Reflex for </a:t>
            </a:r>
            <a:r>
              <a:rPr lang="en-US" sz="1800" b="0" dirty="0" err="1">
                <a:solidFill>
                  <a:srgbClr val="002060"/>
                </a:solidFill>
                <a:latin typeface="+mn-lt"/>
                <a:ea typeface="+mn-lt"/>
                <a:cs typeface="+mn-lt"/>
              </a:rPr>
              <a:t>xP</a:t>
            </a:r>
            <a:r>
              <a:rPr lang="en-US" sz="1800" b="0" dirty="0">
                <a:solidFill>
                  <a:srgbClr val="002060"/>
                </a:solidFill>
                <a:latin typeface="+mn-lt"/>
                <a:ea typeface="+mn-lt"/>
                <a:cs typeface="+mn-lt"/>
              </a:rPr>
              <a:t>). In case of personal data availability, the level of confidentiality become C3, with the exception when VIN code is the only personal information available, for which the level of confidentiality is C2. Possible values are:</a:t>
            </a:r>
          </a:p>
          <a:p>
            <a:pPr lvl="1"/>
            <a:r>
              <a:rPr lang="en-US" sz="1800" dirty="0">
                <a:solidFill>
                  <a:srgbClr val="002060"/>
                </a:solidFill>
                <a:latin typeface="+mn-lt"/>
                <a:ea typeface="+mn-lt"/>
                <a:cs typeface="+mn-lt"/>
              </a:rPr>
              <a:t>C1</a:t>
            </a:r>
          </a:p>
          <a:p>
            <a:pPr lvl="1"/>
            <a:r>
              <a:rPr lang="en-US" sz="1800" b="0" dirty="0">
                <a:solidFill>
                  <a:srgbClr val="002060"/>
                </a:solidFill>
                <a:latin typeface="+mn-lt"/>
                <a:ea typeface="+mn-lt"/>
                <a:cs typeface="+mn-lt"/>
              </a:rPr>
              <a:t>C2</a:t>
            </a:r>
          </a:p>
          <a:p>
            <a:pPr lvl="1"/>
            <a:r>
              <a:rPr lang="en-US" sz="1800" dirty="0">
                <a:solidFill>
                  <a:srgbClr val="002060"/>
                </a:solidFill>
                <a:latin typeface="+mn-lt"/>
                <a:ea typeface="+mn-lt"/>
                <a:cs typeface="+mn-lt"/>
              </a:rPr>
              <a:t>C3</a:t>
            </a:r>
          </a:p>
          <a:p>
            <a:pPr lvl="1"/>
            <a:r>
              <a:rPr lang="en-US" sz="1800" b="0" dirty="0">
                <a:solidFill>
                  <a:srgbClr val="002060"/>
                </a:solidFill>
                <a:latin typeface="+mn-lt"/>
                <a:ea typeface="+mn-lt"/>
                <a:cs typeface="+mn-lt"/>
              </a:rPr>
              <a:t>C4, for which the initiative is automatically not approved</a:t>
            </a:r>
          </a:p>
          <a:p>
            <a:pPr marL="371475" lvl="1" indent="0">
              <a:buNone/>
            </a:pPr>
            <a:r>
              <a:rPr lang="en-US" sz="1800" dirty="0">
                <a:solidFill>
                  <a:srgbClr val="002060"/>
                </a:solidFill>
                <a:latin typeface="+mn-lt"/>
                <a:ea typeface="+mn-lt"/>
                <a:cs typeface="+mn-lt"/>
              </a:rPr>
              <a:t>In case of C3 data, provide more detailed </a:t>
            </a:r>
            <a:r>
              <a:rPr lang="en-US" sz="1800" dirty="0" err="1">
                <a:solidFill>
                  <a:srgbClr val="002060"/>
                </a:solidFill>
                <a:latin typeface="+mn-lt"/>
                <a:ea typeface="+mn-lt"/>
                <a:cs typeface="+mn-lt"/>
              </a:rPr>
              <a:t>informationfor</a:t>
            </a:r>
            <a:r>
              <a:rPr lang="en-US" sz="1800" dirty="0">
                <a:solidFill>
                  <a:srgbClr val="002060"/>
                </a:solidFill>
                <a:latin typeface="+mn-lt"/>
                <a:ea typeface="+mn-lt"/>
                <a:cs typeface="+mn-lt"/>
              </a:rPr>
              <a:t> tables and fields hosting confidential information. The same for C4 data. </a:t>
            </a:r>
            <a:r>
              <a:rPr lang="en-US" sz="1800" b="1" dirty="0">
                <a:solidFill>
                  <a:srgbClr val="002060"/>
                </a:solidFill>
                <a:latin typeface="+mn-lt"/>
                <a:ea typeface="+mn-lt"/>
                <a:cs typeface="+mn-lt"/>
              </a:rPr>
              <a:t>LINK TO STELLANTIS DOCUMENTS. </a:t>
            </a:r>
            <a:r>
              <a:rPr lang="it-IT" sz="1800" b="1" dirty="0">
                <a:solidFill>
                  <a:srgbClr val="002060"/>
                </a:solidFill>
                <a:latin typeface="+mn-lt"/>
                <a:ea typeface="+mn-lt"/>
                <a:cs typeface="+mn-lt"/>
              </a:rPr>
              <a:t>Mandatory</a:t>
            </a:r>
            <a:endParaRPr lang="en-US" sz="1800" b="0" dirty="0">
              <a:solidFill>
                <a:srgbClr val="002060"/>
              </a:solidFill>
              <a:latin typeface="+mn-lt"/>
              <a:ea typeface="+mn-lt"/>
              <a:cs typeface="+mn-lt"/>
            </a:endParaRPr>
          </a:p>
          <a:p>
            <a:pPr marL="0" indent="0">
              <a:buNone/>
            </a:pPr>
            <a:endParaRPr lang="en-US" sz="1800" b="0" dirty="0">
              <a:solidFill>
                <a:srgbClr val="002060"/>
              </a:solidFill>
              <a:latin typeface="+mn-lt"/>
              <a:ea typeface="+mn-lt"/>
              <a:cs typeface="+mn-lt"/>
            </a:endParaRPr>
          </a:p>
          <a:p>
            <a:r>
              <a:rPr lang="en-US" sz="1800" dirty="0">
                <a:solidFill>
                  <a:srgbClr val="002060"/>
                </a:solidFill>
                <a:latin typeface="+mn-lt"/>
                <a:ea typeface="+mn-lt"/>
                <a:cs typeface="+mn-lt"/>
              </a:rPr>
              <a:t>Personal data (Y/N):</a:t>
            </a:r>
            <a:r>
              <a:rPr lang="en-US" sz="1800" b="0" dirty="0">
                <a:solidFill>
                  <a:srgbClr val="002060"/>
                </a:solidFill>
                <a:latin typeface="+mn-lt"/>
                <a:ea typeface="+mn-lt"/>
                <a:cs typeface="+mn-lt"/>
              </a:rPr>
              <a:t> specify if personal information are available; possible values are:</a:t>
            </a:r>
          </a:p>
          <a:p>
            <a:pPr lvl="1"/>
            <a:r>
              <a:rPr lang="en-US" sz="1800" dirty="0">
                <a:solidFill>
                  <a:srgbClr val="002060"/>
                </a:solidFill>
                <a:latin typeface="+mn-lt"/>
                <a:ea typeface="+mn-lt"/>
                <a:cs typeface="+mn-lt"/>
              </a:rPr>
              <a:t>Y, if personal information are available</a:t>
            </a:r>
          </a:p>
          <a:p>
            <a:pPr lvl="1"/>
            <a:r>
              <a:rPr lang="en-US" sz="1800" b="0" dirty="0">
                <a:solidFill>
                  <a:srgbClr val="002060"/>
                </a:solidFill>
                <a:latin typeface="+mn-lt"/>
                <a:ea typeface="+mn-lt"/>
                <a:cs typeface="+mn-lt"/>
              </a:rPr>
              <a:t>N, if personal information are not available</a:t>
            </a:r>
          </a:p>
          <a:p>
            <a:pPr lvl="1"/>
            <a:r>
              <a:rPr lang="en-US" sz="1800" dirty="0">
                <a:solidFill>
                  <a:srgbClr val="002060"/>
                </a:solidFill>
                <a:latin typeface="+mn-lt"/>
                <a:ea typeface="+mn-lt"/>
                <a:cs typeface="+mn-lt"/>
              </a:rPr>
              <a:t>VIN, if </a:t>
            </a:r>
            <a:r>
              <a:rPr lang="en-US" sz="1800" b="0" dirty="0">
                <a:solidFill>
                  <a:srgbClr val="002060"/>
                </a:solidFill>
                <a:latin typeface="+mn-lt"/>
                <a:ea typeface="+mn-lt"/>
                <a:cs typeface="+mn-lt"/>
              </a:rPr>
              <a:t>VIN code is the only personal information available</a:t>
            </a:r>
          </a:p>
          <a:p>
            <a:pPr lvl="1"/>
            <a:r>
              <a:rPr lang="en-US" sz="1800" dirty="0">
                <a:solidFill>
                  <a:srgbClr val="002060"/>
                </a:solidFill>
                <a:latin typeface="+mn-lt"/>
                <a:ea typeface="+mn-lt"/>
                <a:cs typeface="+mn-lt"/>
              </a:rPr>
              <a:t>Y + </a:t>
            </a:r>
            <a:r>
              <a:rPr lang="en-US" sz="1800" dirty="0" err="1">
                <a:solidFill>
                  <a:srgbClr val="002060"/>
                </a:solidFill>
                <a:latin typeface="+mn-lt"/>
                <a:ea typeface="+mn-lt"/>
                <a:cs typeface="+mn-lt"/>
              </a:rPr>
              <a:t>geolocalization</a:t>
            </a:r>
            <a:r>
              <a:rPr lang="en-US" sz="1800" dirty="0">
                <a:solidFill>
                  <a:srgbClr val="002060"/>
                </a:solidFill>
                <a:latin typeface="+mn-lt"/>
                <a:ea typeface="+mn-lt"/>
                <a:cs typeface="+mn-lt"/>
              </a:rPr>
              <a:t>, if </a:t>
            </a:r>
            <a:r>
              <a:rPr lang="en-US" sz="1800" dirty="0" err="1">
                <a:solidFill>
                  <a:srgbClr val="002060"/>
                </a:solidFill>
                <a:latin typeface="+mn-lt"/>
                <a:ea typeface="+mn-lt"/>
                <a:cs typeface="+mn-lt"/>
              </a:rPr>
              <a:t>geolocalization</a:t>
            </a:r>
            <a:r>
              <a:rPr lang="en-US" sz="1800" dirty="0">
                <a:solidFill>
                  <a:srgbClr val="002060"/>
                </a:solidFill>
                <a:latin typeface="+mn-lt"/>
                <a:ea typeface="+mn-lt"/>
                <a:cs typeface="+mn-lt"/>
              </a:rPr>
              <a:t> information are available</a:t>
            </a:r>
          </a:p>
          <a:p>
            <a:pPr marL="371475" lvl="1" indent="0">
              <a:buNone/>
            </a:pPr>
            <a:r>
              <a:rPr lang="it-IT" sz="1800" b="1" dirty="0">
                <a:solidFill>
                  <a:srgbClr val="002060"/>
                </a:solidFill>
                <a:latin typeface="+mn-lt"/>
                <a:ea typeface="+mn-lt"/>
                <a:cs typeface="+mn-lt"/>
              </a:rPr>
              <a:t>Mandatory</a:t>
            </a:r>
            <a:endParaRPr lang="en-US" sz="1800" b="1" dirty="0">
              <a:solidFill>
                <a:srgbClr val="002060"/>
              </a:solidFill>
              <a:latin typeface="+mn-lt"/>
              <a:ea typeface="+mn-lt"/>
              <a:cs typeface="+mn-lt"/>
            </a:endParaRPr>
          </a:p>
          <a:p>
            <a:r>
              <a:rPr lang="en-US" sz="1800" dirty="0">
                <a:solidFill>
                  <a:srgbClr val="002060"/>
                </a:solidFill>
                <a:latin typeface="+mn-lt"/>
                <a:ea typeface="+mn-lt"/>
                <a:cs typeface="+mn-lt"/>
              </a:rPr>
              <a:t>Comments:</a:t>
            </a:r>
            <a:r>
              <a:rPr lang="en-US" sz="1800" b="0" dirty="0">
                <a:solidFill>
                  <a:srgbClr val="002060"/>
                </a:solidFill>
                <a:latin typeface="+mn-lt"/>
                <a:ea typeface="+mn-lt"/>
                <a:cs typeface="+mn-lt"/>
              </a:rPr>
              <a:t> additional comments</a:t>
            </a:r>
          </a:p>
          <a:p>
            <a:endParaRPr lang="en-US" sz="1800" b="0" dirty="0">
              <a:solidFill>
                <a:srgbClr val="002060"/>
              </a:solidFill>
              <a:latin typeface="+mn-lt"/>
              <a:ea typeface="+mn-lt"/>
              <a:cs typeface="+mn-lt"/>
            </a:endParaRPr>
          </a:p>
          <a:p>
            <a:pPr marL="158750" indent="0">
              <a:buNone/>
            </a:pPr>
            <a:endParaRPr lang="en-US"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5D7A26-F5C6-4C94-B9BE-37D68770E680}" type="slidenum">
              <a:rPr kumimoji="0" lang="fr-FR"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fr-FR"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14478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b="0" i="0">
                <a:effectLst/>
                <a:latin typeface="+mn-lt"/>
              </a:rPr>
              <a:t>#DevSecOps</a:t>
            </a:r>
          </a:p>
          <a:p>
            <a:pPr marL="0" marR="0" indent="0" algn="l" rtl="0">
              <a:lnSpc>
                <a:spcPct val="100000"/>
              </a:lnSpc>
              <a:spcBef>
                <a:spcPts val="0"/>
              </a:spcBef>
              <a:spcAft>
                <a:spcPts val="0"/>
              </a:spcAft>
              <a:buClr>
                <a:srgbClr val="000000"/>
              </a:buClr>
              <a:buSzPts val="1100"/>
              <a:buFontTx/>
              <a:buNone/>
            </a:pPr>
            <a:r>
              <a:rPr lang="fr-FR" b="0" i="0" err="1">
                <a:effectLst/>
                <a:latin typeface="+mn-lt"/>
              </a:rPr>
              <a:t>Related</a:t>
            </a:r>
            <a:r>
              <a:rPr lang="fr-FR" b="0" i="0">
                <a:effectLst/>
                <a:latin typeface="+mn-lt"/>
              </a:rPr>
              <a:t> to the </a:t>
            </a:r>
            <a:r>
              <a:rPr lang="fr-FR" b="0" i="0" err="1">
                <a:effectLst/>
                <a:latin typeface="+mn-lt"/>
              </a:rPr>
              <a:t>DevSecOps</a:t>
            </a:r>
            <a:r>
              <a:rPr lang="fr-FR" b="0" i="0">
                <a:effectLst/>
                <a:latin typeface="+mn-lt"/>
              </a:rPr>
              <a:t> </a:t>
            </a:r>
            <a:r>
              <a:rPr lang="fr-FR" b="0" i="0" err="1">
                <a:effectLst/>
                <a:latin typeface="+mn-lt"/>
              </a:rPr>
              <a:t>criteria</a:t>
            </a:r>
            <a:r>
              <a:rPr lang="fr-FR" b="0" i="0">
                <a:effectLst/>
                <a:latin typeface="+mn-lt"/>
              </a:rPr>
              <a:t> </a:t>
            </a:r>
            <a:r>
              <a:rPr lang="fr-FR" b="0" i="0" err="1">
                <a:effectLst/>
                <a:latin typeface="+mn-lt"/>
              </a:rPr>
              <a:t>domain</a:t>
            </a:r>
            <a:r>
              <a:rPr lang="fr-FR" b="0" i="0">
                <a:effectLst/>
                <a:latin typeface="+mn-lt"/>
              </a:rPr>
              <a:t>.</a:t>
            </a:r>
          </a:p>
          <a:p>
            <a:pPr marL="0" marR="0" indent="0" algn="l" rtl="0">
              <a:lnSpc>
                <a:spcPct val="100000"/>
              </a:lnSpc>
              <a:spcBef>
                <a:spcPts val="0"/>
              </a:spcBef>
              <a:spcAft>
                <a:spcPts val="0"/>
              </a:spcAft>
              <a:buClr>
                <a:srgbClr val="000000"/>
              </a:buClr>
              <a:buSzPts val="1100"/>
              <a:buFontTx/>
              <a:buNone/>
            </a:pPr>
            <a:endParaRPr lang="fr-FR" b="0" i="0">
              <a:effectLst/>
              <a:latin typeface="+mn-lt"/>
            </a:endParaRPr>
          </a:p>
          <a:p>
            <a:pPr marL="0" marR="0" indent="0" algn="l" rtl="0">
              <a:lnSpc>
                <a:spcPct val="100000"/>
              </a:lnSpc>
              <a:spcBef>
                <a:spcPts val="0"/>
              </a:spcBef>
              <a:spcAft>
                <a:spcPts val="0"/>
              </a:spcAft>
              <a:buClr>
                <a:srgbClr val="000000"/>
              </a:buClr>
              <a:buSzPts val="1100"/>
              <a:buFontTx/>
              <a:buNone/>
            </a:pPr>
            <a:r>
              <a:rPr lang="fr-FR" b="0" i="0">
                <a:effectLst/>
                <a:latin typeface="+mn-lt"/>
              </a:rPr>
              <a:t>CIQ : https://ciq.mpsa.com</a:t>
            </a:r>
          </a:p>
          <a:p>
            <a:pPr marL="0" marR="0" indent="0" algn="l" rtl="0">
              <a:lnSpc>
                <a:spcPct val="100000"/>
              </a:lnSpc>
              <a:spcBef>
                <a:spcPts val="0"/>
              </a:spcBef>
              <a:spcAft>
                <a:spcPts val="0"/>
              </a:spcAft>
              <a:buClr>
                <a:srgbClr val="000000"/>
              </a:buClr>
              <a:buSzPts val="1100"/>
              <a:buFontTx/>
              <a:buNone/>
            </a:pPr>
            <a:r>
              <a:rPr lang="fr-FR" b="0" i="0">
                <a:effectLst/>
                <a:latin typeface="+mn-lt"/>
              </a:rPr>
              <a:t>  From CIQ </a:t>
            </a:r>
            <a:r>
              <a:rPr lang="fr-FR" b="0" i="0" err="1">
                <a:effectLst/>
                <a:latin typeface="+mn-lt"/>
              </a:rPr>
              <a:t>you</a:t>
            </a:r>
            <a:r>
              <a:rPr lang="fr-FR" b="0" i="0">
                <a:effectLst/>
                <a:latin typeface="+mn-lt"/>
              </a:rPr>
              <a:t> </a:t>
            </a:r>
            <a:r>
              <a:rPr lang="fr-FR" b="0" i="0" err="1">
                <a:effectLst/>
                <a:latin typeface="+mn-lt"/>
              </a:rPr>
              <a:t>will</a:t>
            </a:r>
            <a:r>
              <a:rPr lang="fr-FR" b="0" i="0">
                <a:effectLst/>
                <a:latin typeface="+mn-lt"/>
              </a:rPr>
              <a:t> have </a:t>
            </a:r>
            <a:r>
              <a:rPr lang="fr-FR" b="0" i="0" err="1">
                <a:effectLst/>
                <a:latin typeface="+mn-lt"/>
              </a:rPr>
              <a:t>access</a:t>
            </a:r>
            <a:r>
              <a:rPr lang="fr-FR" b="0" i="0">
                <a:effectLst/>
                <a:latin typeface="+mn-lt"/>
              </a:rPr>
              <a:t> to all </a:t>
            </a:r>
            <a:r>
              <a:rPr lang="fr-FR" b="0" i="0" err="1">
                <a:effectLst/>
                <a:latin typeface="+mn-lt"/>
              </a:rPr>
              <a:t>other</a:t>
            </a:r>
            <a:r>
              <a:rPr lang="fr-FR" b="0" i="0">
                <a:effectLst/>
                <a:latin typeface="+mn-lt"/>
              </a:rPr>
              <a:t> CICD </a:t>
            </a:r>
            <a:r>
              <a:rPr lang="fr-FR" b="0" i="0" err="1">
                <a:effectLst/>
                <a:latin typeface="+mn-lt"/>
              </a:rPr>
              <a:t>tools</a:t>
            </a:r>
            <a:r>
              <a:rPr lang="fr-FR" b="0" i="0">
                <a:effectLst/>
                <a:latin typeface="+mn-lt"/>
              </a:rPr>
              <a:t> (</a:t>
            </a:r>
            <a:r>
              <a:rPr lang="fr-FR" b="0" i="0" err="1">
                <a:effectLst/>
                <a:latin typeface="+mn-lt"/>
              </a:rPr>
              <a:t>SonarQube</a:t>
            </a:r>
            <a:r>
              <a:rPr lang="fr-FR" b="0" i="0">
                <a:effectLst/>
                <a:latin typeface="+mn-lt"/>
              </a:rPr>
              <a:t>, </a:t>
            </a:r>
            <a:r>
              <a:rPr lang="fr-FR" b="0" i="0" err="1">
                <a:effectLst/>
                <a:latin typeface="+mn-lt"/>
              </a:rPr>
              <a:t>Artifactory</a:t>
            </a:r>
            <a:r>
              <a:rPr lang="fr-FR" b="0" i="0">
                <a:effectLst/>
                <a:latin typeface="+mn-lt"/>
              </a:rPr>
              <a:t>, </a:t>
            </a:r>
            <a:r>
              <a:rPr lang="fr-FR" b="0" i="0" err="1">
                <a:effectLst/>
                <a:latin typeface="+mn-lt"/>
              </a:rPr>
              <a:t>Checkmarx</a:t>
            </a:r>
            <a:r>
              <a:rPr lang="fr-FR" b="0" i="0">
                <a:effectLst/>
                <a:latin typeface="+mn-lt"/>
              </a:rPr>
              <a:t>).</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30734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b="0" i="0" err="1">
                <a:effectLst/>
                <a:latin typeface="+mn-lt"/>
              </a:rPr>
              <a:t>IaaC</a:t>
            </a:r>
            <a:r>
              <a:rPr lang="fr-FR" b="0" i="0">
                <a:effectLst/>
                <a:latin typeface="+mn-lt"/>
              </a:rPr>
              <a:t> / </a:t>
            </a:r>
            <a:r>
              <a:rPr lang="fr-FR" b="0" i="0" err="1">
                <a:effectLst/>
                <a:latin typeface="+mn-lt"/>
              </a:rPr>
              <a:t>IaC</a:t>
            </a:r>
            <a:r>
              <a:rPr lang="fr-FR" b="0" i="0">
                <a:effectLst/>
                <a:latin typeface="+mn-lt"/>
              </a:rPr>
              <a:t> : Infra as a code</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7513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 typeface="Arial"/>
              <a:buNone/>
            </a:pPr>
            <a:r>
              <a:rPr lang="fr-FR" sz="1100">
                <a:latin typeface="Encode Sans ExpandedMedium" pitchFamily="2" charset="0"/>
              </a:rPr>
              <a:t>Application Service : use the ARIS </a:t>
            </a:r>
            <a:r>
              <a:rPr lang="fr-FR" sz="1100" err="1">
                <a:latin typeface="Encode Sans ExpandedMedium" pitchFamily="2" charset="0"/>
              </a:rPr>
              <a:t>name</a:t>
            </a:r>
            <a:endParaRPr lang="fr-FR" sz="1100">
              <a:latin typeface="Encode Sans ExpandedMedium" pitchFamily="2" charset="0"/>
            </a:endParaRPr>
          </a:p>
          <a:p>
            <a:pPr marL="0" marR="0" indent="0" algn="l" rtl="0">
              <a:lnSpc>
                <a:spcPct val="100000"/>
              </a:lnSpc>
              <a:spcBef>
                <a:spcPts val="0"/>
              </a:spcBef>
              <a:spcAft>
                <a:spcPts val="0"/>
              </a:spcAft>
              <a:buClr>
                <a:srgbClr val="000000"/>
              </a:buClr>
              <a:buSzPts val="1100"/>
              <a:buFont typeface="Arial"/>
              <a:buNone/>
            </a:pPr>
            <a:r>
              <a:rPr lang="fr-FR" sz="1100">
                <a:latin typeface="Encode Sans ExpandedMedium" pitchFamily="2" charset="0"/>
              </a:rPr>
              <a:t>Flow type &lt;&gt; </a:t>
            </a:r>
            <a:r>
              <a:rPr lang="fr-FR" sz="1100" err="1">
                <a:latin typeface="Encode Sans ExpandedMedium" pitchFamily="2" charset="0"/>
              </a:rPr>
              <a:t>protocol</a:t>
            </a:r>
            <a:r>
              <a:rPr lang="fr-FR" sz="1100">
                <a:latin typeface="Encode Sans ExpandedMedium" pitchFamily="2" charset="0"/>
              </a:rPr>
              <a:t> =&gt; MQTT…. If TCP port </a:t>
            </a:r>
            <a:r>
              <a:rPr lang="fr-FR" sz="1100" err="1">
                <a:latin typeface="Encode Sans ExpandedMedium" pitchFamily="2" charset="0"/>
              </a:rPr>
              <a:t>is</a:t>
            </a:r>
            <a:r>
              <a:rPr lang="fr-FR" sz="1100">
                <a:latin typeface="Encode Sans ExpandedMedium" pitchFamily="2" charset="0"/>
              </a:rPr>
              <a:t> not standard, </a:t>
            </a:r>
            <a:r>
              <a:rPr lang="fr-FR" sz="1100" err="1">
                <a:latin typeface="Encode Sans ExpandedMedium" pitchFamily="2" charset="0"/>
              </a:rPr>
              <a:t>indicate</a:t>
            </a:r>
            <a:r>
              <a:rPr lang="fr-FR" sz="1100">
                <a:latin typeface="Encode Sans ExpandedMedium" pitchFamily="2" charset="0"/>
              </a:rPr>
              <a:t> the custom TCP port</a:t>
            </a:r>
            <a:endParaRPr lang="en-US" sz="1100">
              <a:latin typeface="Encode Sans ExpandedMedium" pitchFamily="2" charset="0"/>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31516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 typeface="Arial"/>
              <a:buNone/>
            </a:pPr>
            <a:r>
              <a:rPr lang="fr-FR" sz="1100">
                <a:latin typeface="Encode Sans ExpandedMedium" pitchFamily="2" charset="0"/>
              </a:rPr>
              <a:t>#Impacted Applications Service</a:t>
            </a:r>
          </a:p>
          <a:p>
            <a:pPr marL="0" marR="0" indent="0" algn="l" rtl="0">
              <a:lnSpc>
                <a:spcPct val="100000"/>
              </a:lnSpc>
              <a:spcBef>
                <a:spcPts val="0"/>
              </a:spcBef>
              <a:spcAft>
                <a:spcPts val="0"/>
              </a:spcAft>
              <a:buClr>
                <a:srgbClr val="000000"/>
              </a:buClr>
              <a:buSzPts val="1100"/>
              <a:buFont typeface="Arial"/>
              <a:buNone/>
            </a:pPr>
            <a:r>
              <a:rPr lang="fr-FR" sz="1100" err="1">
                <a:latin typeface="Encode Sans ExpandedMedium" pitchFamily="2" charset="0"/>
              </a:rPr>
              <a:t>Refer</a:t>
            </a:r>
            <a:r>
              <a:rPr lang="fr-FR" sz="1100">
                <a:latin typeface="Encode Sans ExpandedMedium" pitchFamily="2" charset="0"/>
              </a:rPr>
              <a:t> on CMDB to know AIC/SOX/DP/RTO-RPO/SLA</a:t>
            </a:r>
          </a:p>
          <a:p>
            <a:pPr marL="0" marR="0" indent="0" algn="l" rtl="0">
              <a:lnSpc>
                <a:spcPct val="100000"/>
              </a:lnSpc>
              <a:spcBef>
                <a:spcPts val="0"/>
              </a:spcBef>
              <a:spcAft>
                <a:spcPts val="0"/>
              </a:spcAft>
              <a:buClr>
                <a:srgbClr val="000000"/>
              </a:buClr>
              <a:buSzPts val="1100"/>
              <a:buFont typeface="Arial"/>
              <a:buNone/>
            </a:pPr>
            <a:r>
              <a:rPr lang="fr-FR" sz="1100">
                <a:latin typeface="Encode Sans ExpandedMedium" pitchFamily="2" charset="0"/>
              </a:rPr>
              <a:t>SLA ?</a:t>
            </a:r>
          </a:p>
          <a:p>
            <a:pPr marL="0" marR="0" indent="0" algn="l" rtl="0">
              <a:lnSpc>
                <a:spcPct val="100000"/>
              </a:lnSpc>
              <a:spcBef>
                <a:spcPts val="0"/>
              </a:spcBef>
              <a:spcAft>
                <a:spcPts val="0"/>
              </a:spcAft>
              <a:buClr>
                <a:srgbClr val="000000"/>
              </a:buClr>
              <a:buSzPts val="1100"/>
              <a:buFont typeface="Arial"/>
              <a:buNone/>
            </a:pPr>
            <a:r>
              <a:rPr lang="fr-FR" sz="1100">
                <a:latin typeface="Encode Sans ExpandedMedium" pitchFamily="2" charset="0"/>
              </a:rPr>
              <a:t>Application Service Name : as </a:t>
            </a:r>
            <a:r>
              <a:rPr lang="fr-FR" sz="1100" err="1">
                <a:latin typeface="Encode Sans ExpandedMedium" pitchFamily="2" charset="0"/>
              </a:rPr>
              <a:t>referenced</a:t>
            </a:r>
            <a:r>
              <a:rPr lang="fr-FR" sz="1100">
                <a:latin typeface="Encode Sans ExpandedMedium" pitchFamily="2" charset="0"/>
              </a:rPr>
              <a:t> in CMDB</a:t>
            </a:r>
          </a:p>
          <a:p>
            <a:pPr marL="0" marR="0" indent="0" algn="l" rtl="0">
              <a:lnSpc>
                <a:spcPct val="100000"/>
              </a:lnSpc>
              <a:spcBef>
                <a:spcPts val="0"/>
              </a:spcBef>
              <a:spcAft>
                <a:spcPts val="0"/>
              </a:spcAft>
              <a:buClr>
                <a:srgbClr val="000000"/>
              </a:buClr>
              <a:buSzPts val="1100"/>
              <a:buFont typeface="Arial"/>
              <a:buNone/>
            </a:pPr>
            <a:r>
              <a:rPr lang="fr-FR" sz="1100" err="1">
                <a:latin typeface="Encode Sans ExpandedMedium" pitchFamily="2" charset="0"/>
              </a:rPr>
              <a:t>Availability</a:t>
            </a:r>
            <a:r>
              <a:rPr lang="fr-FR" sz="1100">
                <a:latin typeface="Encode Sans ExpandedMedium" pitchFamily="2" charset="0"/>
              </a:rPr>
              <a:t>, </a:t>
            </a:r>
            <a:r>
              <a:rPr lang="fr-FR" sz="1100" err="1">
                <a:latin typeface="Encode Sans ExpandedMedium" pitchFamily="2" charset="0"/>
              </a:rPr>
              <a:t>Integrity</a:t>
            </a:r>
            <a:r>
              <a:rPr lang="fr-FR" sz="1100">
                <a:latin typeface="Encode Sans ExpandedMedium" pitchFamily="2" charset="0"/>
              </a:rPr>
              <a:t>, </a:t>
            </a:r>
            <a:r>
              <a:rPr lang="fr-FR" sz="1100" err="1">
                <a:latin typeface="Encode Sans ExpandedMedium" pitchFamily="2" charset="0"/>
              </a:rPr>
              <a:t>Confidentiality</a:t>
            </a:r>
            <a:r>
              <a:rPr lang="fr-FR" sz="1100">
                <a:latin typeface="Encode Sans ExpandedMedium" pitchFamily="2" charset="0"/>
              </a:rPr>
              <a:t> :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a:solidFill>
                  <a:srgbClr val="002060"/>
                </a:solidFill>
                <a:latin typeface="+mn-lt"/>
                <a:ea typeface="+mn-lt"/>
                <a:cs typeface="+mn-lt"/>
              </a:rPr>
              <a:t>Technology:</a:t>
            </a:r>
            <a:r>
              <a:rPr lang="en-US" sz="1100" b="0">
                <a:solidFill>
                  <a:srgbClr val="002060"/>
                </a:solidFill>
                <a:latin typeface="+mn-lt"/>
                <a:ea typeface="+mn-lt"/>
                <a:cs typeface="+mn-lt"/>
              </a:rPr>
              <a:t> main technologies used to develop the source application</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5453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endParaRPr lang="fr-F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77807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b="0" i="0">
                <a:effectLst/>
                <a:latin typeface="+mn-lt"/>
              </a:rPr>
              <a:t>#API</a:t>
            </a:r>
          </a:p>
          <a:p>
            <a:pPr marL="0" marR="0" indent="0" algn="l" rtl="0">
              <a:lnSpc>
                <a:spcPct val="100000"/>
              </a:lnSpc>
              <a:spcBef>
                <a:spcPts val="0"/>
              </a:spcBef>
              <a:spcAft>
                <a:spcPts val="0"/>
              </a:spcAft>
              <a:buClr>
                <a:srgbClr val="000000"/>
              </a:buClr>
              <a:buSzPts val="1100"/>
              <a:buFontTx/>
              <a:buNone/>
            </a:pPr>
            <a:r>
              <a:rPr lang="fr-FR" b="1" i="0" err="1">
                <a:effectLst/>
                <a:latin typeface="+mn-lt"/>
              </a:rPr>
              <a:t>Gate</a:t>
            </a:r>
            <a:r>
              <a:rPr lang="fr-FR" b="1" i="0">
                <a:effectLst/>
                <a:latin typeface="+mn-lt"/>
              </a:rPr>
              <a:t> 2:</a:t>
            </a:r>
          </a:p>
          <a:p>
            <a:pPr marL="0" marR="0" indent="0" algn="l" rtl="0">
              <a:lnSpc>
                <a:spcPct val="100000"/>
              </a:lnSpc>
              <a:spcBef>
                <a:spcPts val="0"/>
              </a:spcBef>
              <a:spcAft>
                <a:spcPts val="0"/>
              </a:spcAft>
              <a:buClr>
                <a:srgbClr val="000000"/>
              </a:buClr>
              <a:buSzPts val="1100"/>
              <a:buFontTx/>
              <a:buNone/>
            </a:pPr>
            <a:r>
              <a:rPr lang="fr-FR" b="0" i="0">
                <a:effectLst/>
                <a:latin typeface="+mn-lt"/>
              </a:rPr>
              <a:t>Notice if </a:t>
            </a:r>
            <a:r>
              <a:rPr lang="fr-FR" b="0" i="0" err="1">
                <a:effectLst/>
                <a:latin typeface="+mn-lt"/>
              </a:rPr>
              <a:t>Subscribe</a:t>
            </a:r>
            <a:r>
              <a:rPr lang="fr-FR" b="0" i="0">
                <a:effectLst/>
                <a:latin typeface="+mn-lt"/>
              </a:rPr>
              <a:t> </a:t>
            </a:r>
            <a:r>
              <a:rPr lang="fr-FR" b="0" i="0" err="1">
                <a:effectLst/>
                <a:latin typeface="+mn-lt"/>
              </a:rPr>
              <a:t>existing</a:t>
            </a:r>
            <a:r>
              <a:rPr lang="fr-FR" b="0" i="0">
                <a:effectLst/>
                <a:latin typeface="+mn-lt"/>
              </a:rPr>
              <a:t> API and </a:t>
            </a:r>
            <a:r>
              <a:rPr lang="fr-FR" b="0" i="0" err="1">
                <a:effectLst/>
                <a:latin typeface="+mn-lt"/>
              </a:rPr>
              <a:t>list</a:t>
            </a:r>
            <a:r>
              <a:rPr lang="fr-FR" b="0" i="0">
                <a:effectLst/>
                <a:latin typeface="+mn-lt"/>
              </a:rPr>
              <a:t> the API </a:t>
            </a:r>
            <a:r>
              <a:rPr lang="fr-FR" b="0" i="0" err="1">
                <a:effectLst/>
                <a:latin typeface="+mn-lt"/>
              </a:rPr>
              <a:t>concerned</a:t>
            </a:r>
            <a:r>
              <a:rPr lang="fr-FR" b="0" i="0">
                <a:effectLst/>
                <a:latin typeface="+mn-lt"/>
              </a:rPr>
              <a:t> Or/and </a:t>
            </a:r>
            <a:r>
              <a:rPr lang="fr-FR" b="0" i="0" err="1">
                <a:effectLst/>
                <a:latin typeface="+mn-lt"/>
              </a:rPr>
              <a:t>creation</a:t>
            </a:r>
            <a:r>
              <a:rPr lang="fr-FR" b="0" i="0">
                <a:effectLst/>
                <a:latin typeface="+mn-lt"/>
              </a:rPr>
              <a:t> and publication for new API </a:t>
            </a:r>
            <a:r>
              <a:rPr lang="fr-FR" b="0" i="0">
                <a:effectLst/>
                <a:latin typeface="+mn-lt"/>
                <a:sym typeface="Wingdings" panose="05000000000000000000" pitchFamily="2" charset="2"/>
              </a:rPr>
              <a:t> Table in the page </a:t>
            </a:r>
            <a:r>
              <a:rPr lang="fr-FR" b="0" i="0">
                <a:effectLst/>
                <a:latin typeface="+mn-lt"/>
              </a:rPr>
              <a:t>« Enterprise Architecture – interactions </a:t>
            </a:r>
            <a:r>
              <a:rPr lang="fr-FR" b="0" i="0" err="1">
                <a:effectLst/>
                <a:latin typeface="+mn-lt"/>
              </a:rPr>
              <a:t>details</a:t>
            </a:r>
            <a:r>
              <a:rPr lang="fr-FR" b="0" i="0">
                <a:effectLst/>
                <a:latin typeface="+mn-lt"/>
              </a:rPr>
              <a:t> »</a:t>
            </a:r>
          </a:p>
          <a:p>
            <a:pPr marL="0" marR="0" indent="0" algn="l" rtl="0">
              <a:lnSpc>
                <a:spcPct val="100000"/>
              </a:lnSpc>
              <a:spcBef>
                <a:spcPts val="0"/>
              </a:spcBef>
              <a:spcAft>
                <a:spcPts val="0"/>
              </a:spcAft>
              <a:buClr>
                <a:srgbClr val="000000"/>
              </a:buClr>
              <a:buSzPts val="1100"/>
              <a:buFontTx/>
              <a:buNone/>
            </a:pPr>
            <a:r>
              <a:rPr lang="fr-FR" b="0" i="0" err="1">
                <a:effectLst/>
                <a:latin typeface="+mn-lt"/>
              </a:rPr>
              <a:t>Refere</a:t>
            </a:r>
            <a:r>
              <a:rPr lang="fr-FR" b="0" i="0">
                <a:effectLst/>
                <a:latin typeface="+mn-lt"/>
              </a:rPr>
              <a:t> to https://shiftup.sharepoint.com/sites/COEAPI/SitePages/Publish-APIs-all-Lifecycle.aspx</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30459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a:extLst>
            <a:ext uri="{FF2B5EF4-FFF2-40B4-BE49-F238E27FC236}">
              <a16:creationId xmlns:a16="http://schemas.microsoft.com/office/drawing/2014/main" id="{51040AC1-B08E-3D39-42A7-9C2A57B56EA0}"/>
            </a:ext>
          </a:extLst>
        </p:cNvPr>
        <p:cNvGrpSpPr/>
        <p:nvPr/>
      </p:nvGrpSpPr>
      <p:grpSpPr>
        <a:xfrm>
          <a:off x="0" y="0"/>
          <a:ext cx="0" cy="0"/>
          <a:chOff x="0" y="0"/>
          <a:chExt cx="0" cy="0"/>
        </a:xfrm>
      </p:grpSpPr>
      <p:sp>
        <p:nvSpPr>
          <p:cNvPr id="1155" name="Google Shape;1155;p4:notes">
            <a:extLst>
              <a:ext uri="{FF2B5EF4-FFF2-40B4-BE49-F238E27FC236}">
                <a16:creationId xmlns:a16="http://schemas.microsoft.com/office/drawing/2014/main" id="{5FF2277F-AA76-A2BE-5EF3-84C3BC027B8F}"/>
              </a:ext>
            </a:extLst>
          </p:cNvPr>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b="0" i="0">
                <a:effectLst/>
                <a:latin typeface="+mn-lt"/>
              </a:rPr>
              <a:t>#API</a:t>
            </a:r>
          </a:p>
          <a:p>
            <a:pPr marL="0" marR="0" indent="0" algn="l" rtl="0">
              <a:lnSpc>
                <a:spcPct val="100000"/>
              </a:lnSpc>
              <a:spcBef>
                <a:spcPts val="0"/>
              </a:spcBef>
              <a:spcAft>
                <a:spcPts val="0"/>
              </a:spcAft>
              <a:buClr>
                <a:srgbClr val="000000"/>
              </a:buClr>
              <a:buSzPts val="1100"/>
              <a:buFontTx/>
              <a:buNone/>
            </a:pPr>
            <a:r>
              <a:rPr lang="fr-FR" b="1" i="0" err="1">
                <a:effectLst/>
                <a:latin typeface="+mn-lt"/>
              </a:rPr>
              <a:t>Gate</a:t>
            </a:r>
            <a:r>
              <a:rPr lang="fr-FR" b="1" i="0">
                <a:effectLst/>
                <a:latin typeface="+mn-lt"/>
              </a:rPr>
              <a:t> 2:</a:t>
            </a:r>
          </a:p>
          <a:p>
            <a:pPr marL="0" marR="0" indent="0" algn="l" rtl="0">
              <a:lnSpc>
                <a:spcPct val="100000"/>
              </a:lnSpc>
              <a:spcBef>
                <a:spcPts val="0"/>
              </a:spcBef>
              <a:spcAft>
                <a:spcPts val="0"/>
              </a:spcAft>
              <a:buClr>
                <a:srgbClr val="000000"/>
              </a:buClr>
              <a:buSzPts val="1100"/>
              <a:buFontTx/>
              <a:buNone/>
            </a:pPr>
            <a:r>
              <a:rPr lang="fr-FR" b="0" i="0">
                <a:effectLst/>
                <a:latin typeface="+mn-lt"/>
              </a:rPr>
              <a:t>Notice if </a:t>
            </a:r>
            <a:r>
              <a:rPr lang="fr-FR" b="0" i="0" err="1">
                <a:effectLst/>
                <a:latin typeface="+mn-lt"/>
              </a:rPr>
              <a:t>Subscribe</a:t>
            </a:r>
            <a:r>
              <a:rPr lang="fr-FR" b="0" i="0">
                <a:effectLst/>
                <a:latin typeface="+mn-lt"/>
              </a:rPr>
              <a:t> </a:t>
            </a:r>
            <a:r>
              <a:rPr lang="fr-FR" b="0" i="0" err="1">
                <a:effectLst/>
                <a:latin typeface="+mn-lt"/>
              </a:rPr>
              <a:t>existing</a:t>
            </a:r>
            <a:r>
              <a:rPr lang="fr-FR" b="0" i="0">
                <a:effectLst/>
                <a:latin typeface="+mn-lt"/>
              </a:rPr>
              <a:t> API and </a:t>
            </a:r>
            <a:r>
              <a:rPr lang="fr-FR" b="0" i="0" err="1">
                <a:effectLst/>
                <a:latin typeface="+mn-lt"/>
              </a:rPr>
              <a:t>list</a:t>
            </a:r>
            <a:r>
              <a:rPr lang="fr-FR" b="0" i="0">
                <a:effectLst/>
                <a:latin typeface="+mn-lt"/>
              </a:rPr>
              <a:t> the API </a:t>
            </a:r>
            <a:r>
              <a:rPr lang="fr-FR" b="0" i="0" err="1">
                <a:effectLst/>
                <a:latin typeface="+mn-lt"/>
              </a:rPr>
              <a:t>concerned</a:t>
            </a:r>
            <a:r>
              <a:rPr lang="fr-FR" b="0" i="0">
                <a:effectLst/>
                <a:latin typeface="+mn-lt"/>
              </a:rPr>
              <a:t> Or/and </a:t>
            </a:r>
            <a:r>
              <a:rPr lang="fr-FR" b="0" i="0" err="1">
                <a:effectLst/>
                <a:latin typeface="+mn-lt"/>
              </a:rPr>
              <a:t>creation</a:t>
            </a:r>
            <a:r>
              <a:rPr lang="fr-FR" b="0" i="0">
                <a:effectLst/>
                <a:latin typeface="+mn-lt"/>
              </a:rPr>
              <a:t> and publication for new API </a:t>
            </a:r>
            <a:r>
              <a:rPr lang="fr-FR" b="0" i="0">
                <a:effectLst/>
                <a:latin typeface="+mn-lt"/>
                <a:sym typeface="Wingdings" panose="05000000000000000000" pitchFamily="2" charset="2"/>
              </a:rPr>
              <a:t> Table in the page </a:t>
            </a:r>
            <a:r>
              <a:rPr lang="fr-FR" b="0" i="0">
                <a:effectLst/>
                <a:latin typeface="+mn-lt"/>
              </a:rPr>
              <a:t>« Enterprise Architecture – interactions </a:t>
            </a:r>
            <a:r>
              <a:rPr lang="fr-FR" b="0" i="0" err="1">
                <a:effectLst/>
                <a:latin typeface="+mn-lt"/>
              </a:rPr>
              <a:t>details</a:t>
            </a:r>
            <a:r>
              <a:rPr lang="fr-FR" b="0" i="0">
                <a:effectLst/>
                <a:latin typeface="+mn-lt"/>
              </a:rPr>
              <a:t> »</a:t>
            </a:r>
          </a:p>
          <a:p>
            <a:pPr marL="0" marR="0" indent="0" algn="l" rtl="0">
              <a:lnSpc>
                <a:spcPct val="100000"/>
              </a:lnSpc>
              <a:spcBef>
                <a:spcPts val="0"/>
              </a:spcBef>
              <a:spcAft>
                <a:spcPts val="0"/>
              </a:spcAft>
              <a:buClr>
                <a:srgbClr val="000000"/>
              </a:buClr>
              <a:buSzPts val="1100"/>
              <a:buFontTx/>
              <a:buNone/>
            </a:pPr>
            <a:r>
              <a:rPr lang="fr-FR" b="0" i="0" err="1">
                <a:effectLst/>
                <a:latin typeface="+mn-lt"/>
              </a:rPr>
              <a:t>Refere</a:t>
            </a:r>
            <a:r>
              <a:rPr lang="fr-FR" b="0" i="0">
                <a:effectLst/>
                <a:latin typeface="+mn-lt"/>
              </a:rPr>
              <a:t> to https://shiftup.sharepoint.com/sites/COEAPI/SitePages/Publish-APIs-all-Lifecycle.aspx</a:t>
            </a:r>
          </a:p>
        </p:txBody>
      </p:sp>
      <p:sp>
        <p:nvSpPr>
          <p:cNvPr id="1156" name="Google Shape;1156;p4:notes">
            <a:extLst>
              <a:ext uri="{FF2B5EF4-FFF2-40B4-BE49-F238E27FC236}">
                <a16:creationId xmlns:a16="http://schemas.microsoft.com/office/drawing/2014/main" id="{3B6B6D9F-7F1A-79FE-6111-600C9BEC4CD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37494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b="0" i="0">
                <a:effectLst/>
                <a:latin typeface="+mn-lt"/>
              </a:rPr>
              <a:t>#GenAI</a:t>
            </a:r>
          </a:p>
          <a:p>
            <a:pPr marL="0" marR="0" indent="0" algn="l" rtl="0">
              <a:lnSpc>
                <a:spcPct val="100000"/>
              </a:lnSpc>
              <a:spcBef>
                <a:spcPts val="0"/>
              </a:spcBef>
              <a:spcAft>
                <a:spcPts val="0"/>
              </a:spcAft>
              <a:buClr>
                <a:srgbClr val="000000"/>
              </a:buClr>
              <a:buSzPts val="1100"/>
              <a:buFontTx/>
              <a:buNone/>
            </a:pPr>
            <a:endParaRPr lang="fr-FR" b="0" i="0">
              <a:effectLst/>
              <a:latin typeface="+mn-lt"/>
            </a:endParaRPr>
          </a:p>
          <a:p>
            <a:pPr marL="0" marR="0" indent="0" algn="l" rtl="0">
              <a:lnSpc>
                <a:spcPct val="100000"/>
              </a:lnSpc>
              <a:spcBef>
                <a:spcPts val="0"/>
              </a:spcBef>
              <a:spcAft>
                <a:spcPts val="0"/>
              </a:spcAft>
              <a:buClr>
                <a:srgbClr val="000000"/>
              </a:buClr>
              <a:buSzPts val="1100"/>
              <a:buFontTx/>
              <a:buNone/>
            </a:pPr>
            <a:r>
              <a:rPr lang="fr-FR" b="0" i="0">
                <a:effectLst/>
                <a:latin typeface="+mn-lt"/>
              </a:rPr>
              <a:t>Initial in </a:t>
            </a:r>
            <a:r>
              <a:rPr lang="fr-FR" b="0" i="0" err="1">
                <a:effectLst/>
                <a:latin typeface="+mn-lt"/>
              </a:rPr>
              <a:t>Gate</a:t>
            </a:r>
            <a:r>
              <a:rPr lang="fr-FR" b="0" i="0">
                <a:effectLst/>
                <a:latin typeface="+mn-lt"/>
              </a:rPr>
              <a:t> 2 and </a:t>
            </a:r>
            <a:r>
              <a:rPr lang="fr-FR" b="0" i="0" err="1">
                <a:effectLst/>
                <a:latin typeface="+mn-lt"/>
              </a:rPr>
              <a:t>complete</a:t>
            </a:r>
            <a:r>
              <a:rPr lang="fr-FR" b="0" i="0">
                <a:effectLst/>
                <a:latin typeface="+mn-lt"/>
              </a:rPr>
              <a:t> in </a:t>
            </a:r>
            <a:r>
              <a:rPr lang="fr-FR" b="0" i="0" err="1">
                <a:effectLst/>
                <a:latin typeface="+mn-lt"/>
              </a:rPr>
              <a:t>Gate</a:t>
            </a:r>
            <a:r>
              <a:rPr lang="fr-FR" b="0" i="0">
                <a:effectLst/>
                <a:latin typeface="+mn-lt"/>
              </a:rPr>
              <a:t> 3</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76378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a:t>#Technical Stack</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a:t>EXAMPLE of a </a:t>
            </a:r>
            <a:r>
              <a:rPr lang="fr-FR" sz="1100" err="1"/>
              <a:t>technical</a:t>
            </a:r>
            <a:r>
              <a:rPr lang="fr-FR" sz="1100"/>
              <a:t> stack </a:t>
            </a:r>
            <a:r>
              <a:rPr lang="fr-FR" sz="1100" err="1"/>
              <a:t>diagram</a:t>
            </a:r>
            <a:r>
              <a:rPr lang="fr-FR" sz="1100"/>
              <a:t>.</a:t>
            </a:r>
            <a:br>
              <a:rPr lang="fr-FR" sz="1100"/>
            </a:br>
            <a:r>
              <a:rPr lang="fr-FR" sz="1100" err="1"/>
              <a:t>We</a:t>
            </a:r>
            <a:r>
              <a:rPr lang="fr-FR" sz="1100"/>
              <a:t> can use </a:t>
            </a:r>
            <a:r>
              <a:rPr lang="fr-FR" sz="1100" err="1"/>
              <a:t>here</a:t>
            </a:r>
            <a:r>
              <a:rPr lang="fr-FR" sz="1100"/>
              <a:t> </a:t>
            </a:r>
            <a:r>
              <a:rPr lang="fr-FR" sz="1100" err="1"/>
              <a:t>specific</a:t>
            </a:r>
            <a:r>
              <a:rPr lang="fr-FR" sz="1100"/>
              <a:t> cloud provider service (AWS </a:t>
            </a:r>
            <a:r>
              <a:rPr lang="fr-FR" sz="1100" err="1"/>
              <a:t>DynamoDB</a:t>
            </a:r>
            <a:r>
              <a:rPr lang="fr-FR" sz="1100"/>
              <a:t>) or </a:t>
            </a:r>
            <a:r>
              <a:rPr lang="fr-FR" sz="1100" err="1"/>
              <a:t>we</a:t>
            </a:r>
            <a:r>
              <a:rPr lang="fr-FR" sz="1100"/>
              <a:t> can </a:t>
            </a:r>
            <a:r>
              <a:rPr lang="fr-FR" sz="1100" err="1"/>
              <a:t>stay</a:t>
            </a:r>
            <a:r>
              <a:rPr lang="fr-FR" sz="1100"/>
              <a:t> cloud-</a:t>
            </a:r>
            <a:r>
              <a:rPr lang="fr-FR" sz="1100" err="1"/>
              <a:t>agnostic</a:t>
            </a:r>
            <a:r>
              <a:rPr lang="fr-FR" sz="1100"/>
              <a:t> (« MySQL » </a:t>
            </a:r>
            <a:r>
              <a:rPr lang="fr-FR" sz="1100" err="1"/>
              <a:t>instead</a:t>
            </a:r>
            <a:r>
              <a:rPr lang="fr-FR" sz="1100"/>
              <a:t> of « Aurora »)</a:t>
            </a:r>
          </a:p>
        </p:txBody>
      </p:sp>
      <p:sp>
        <p:nvSpPr>
          <p:cNvPr id="1156" name="Google Shape;115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3580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PaaS/SaaS solution :</a:t>
            </a:r>
          </a:p>
          <a:p>
            <a:pPr lvl="1"/>
            <a:r>
              <a:rPr lang="fr-FR"/>
              <a:t> mention </a:t>
            </a:r>
            <a:r>
              <a:rPr lang="fr-FR" err="1"/>
              <a:t>it</a:t>
            </a:r>
            <a:r>
              <a:rPr lang="fr-FR"/>
              <a:t> </a:t>
            </a:r>
            <a:r>
              <a:rPr lang="fr-FR" err="1"/>
              <a:t>when</a:t>
            </a:r>
            <a:r>
              <a:rPr lang="fr-FR"/>
              <a:t> supplier gave information . </a:t>
            </a:r>
          </a:p>
          <a:p>
            <a:pPr lvl="1"/>
            <a:r>
              <a:rPr lang="fr-FR" b="1"/>
              <a:t>It </a:t>
            </a:r>
            <a:r>
              <a:rPr lang="fr-FR" b="1" err="1"/>
              <a:t>is</a:t>
            </a:r>
            <a:r>
              <a:rPr lang="fr-FR" b="1"/>
              <a:t> important to focus  on stack </a:t>
            </a:r>
            <a:r>
              <a:rPr lang="fr-FR" b="1" err="1"/>
              <a:t>when</a:t>
            </a:r>
            <a:r>
              <a:rPr lang="fr-FR" b="1"/>
              <a:t> the Customer </a:t>
            </a:r>
            <a:r>
              <a:rPr lang="fr-FR" b="1" err="1"/>
              <a:t>is</a:t>
            </a:r>
            <a:r>
              <a:rPr lang="fr-FR" b="1"/>
              <a:t> </a:t>
            </a:r>
            <a:r>
              <a:rPr lang="fr-FR" b="1" err="1"/>
              <a:t>evolved</a:t>
            </a:r>
            <a:r>
              <a:rPr lang="fr-FR" b="1"/>
              <a:t> on </a:t>
            </a:r>
            <a:r>
              <a:rPr lang="fr-FR" b="1" err="1"/>
              <a:t>development</a:t>
            </a:r>
            <a:r>
              <a:rPr lang="fr-FR" b="1"/>
              <a:t> to </a:t>
            </a:r>
            <a:r>
              <a:rPr lang="fr-FR" b="1" err="1"/>
              <a:t>add</a:t>
            </a:r>
            <a:r>
              <a:rPr lang="fr-FR" b="1"/>
              <a:t> </a:t>
            </a:r>
            <a:r>
              <a:rPr lang="fr-FR" b="1" err="1"/>
              <a:t>features</a:t>
            </a:r>
            <a:r>
              <a:rPr lang="fr-FR" b="1"/>
              <a:t>  (PaaS </a:t>
            </a:r>
            <a:r>
              <a:rPr lang="fr-FR" b="1" err="1"/>
              <a:t>features</a:t>
            </a:r>
            <a:r>
              <a:rPr lang="fr-FR" b="1"/>
              <a:t> ) to </a:t>
            </a:r>
            <a:r>
              <a:rPr lang="fr-FR" b="1" err="1"/>
              <a:t>be</a:t>
            </a:r>
            <a:r>
              <a:rPr lang="fr-FR" b="1"/>
              <a:t> sure Customer </a:t>
            </a:r>
            <a:r>
              <a:rPr lang="fr-FR" b="1" err="1"/>
              <a:t>is</a:t>
            </a:r>
            <a:r>
              <a:rPr lang="fr-FR" b="1"/>
              <a:t> </a:t>
            </a:r>
            <a:r>
              <a:rPr lang="fr-FR" b="1" err="1"/>
              <a:t>aware</a:t>
            </a:r>
            <a:r>
              <a:rPr lang="fr-FR" b="1"/>
              <a:t> of the langage and </a:t>
            </a:r>
            <a:r>
              <a:rPr lang="fr-FR" b="1" err="1"/>
              <a:t>skills</a:t>
            </a:r>
            <a:r>
              <a:rPr lang="fr-FR" b="1"/>
              <a:t> </a:t>
            </a:r>
            <a:r>
              <a:rPr lang="fr-FR" b="1" err="1"/>
              <a:t>required</a:t>
            </a:r>
            <a:r>
              <a:rPr lang="fr-FR" b="1"/>
              <a:t> to use </a:t>
            </a:r>
            <a:r>
              <a:rPr lang="fr-FR" b="1" err="1"/>
              <a:t>it</a:t>
            </a:r>
            <a:r>
              <a:rPr lang="fr-FR"/>
              <a:t>.  </a:t>
            </a:r>
            <a:endParaRPr lang="en-GB"/>
          </a:p>
        </p:txBody>
      </p:sp>
    </p:spTree>
    <p:extLst>
      <p:ext uri="{BB962C8B-B14F-4D97-AF65-F5344CB8AC3E}">
        <p14:creationId xmlns:p14="http://schemas.microsoft.com/office/powerpoint/2010/main" val="38889910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a:t>Project when  onboarding a “SaaS” product </a:t>
            </a:r>
          </a:p>
          <a:p>
            <a:pPr marL="628650" marR="0" lvl="1"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a:t>The project shall present the exit strategy attached to the selected SaaS Scope and the contract content defined to support it.  </a:t>
            </a:r>
            <a:r>
              <a:rPr lang="fr-FR" sz="1800" u="sng">
                <a:solidFill>
                  <a:srgbClr val="0000FF"/>
                </a:solidFill>
                <a:effectLst/>
                <a:latin typeface="Aptos"/>
                <a:ea typeface="Calibri"/>
                <a:cs typeface="Aptos" panose="020B0004020202020204" pitchFamily="34" charset="0"/>
                <a:hlinkClick r:id="rId3"/>
              </a:rPr>
              <a:t>https://docinfogroupe.stellantis.com/ead/doc/ref.20373_21_06896/v.vc/pj</a:t>
            </a:r>
            <a:endParaRPr lang="en-US" sz="1100" b="1">
              <a:latin typeface="Aptos"/>
              <a:ea typeface="Calibri"/>
            </a:endParaRPr>
          </a:p>
          <a:p>
            <a:pPr marL="628650" marR="0" lvl="1"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a:t>The validation of the project shall validate the delivery of exit plan document and the delivery of the export facilities attached  to migration plan with test done on Supplier’s side during the project.  </a:t>
            </a:r>
          </a:p>
          <a:p>
            <a:pPr marL="628650" marR="0" lvl="1"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a:t>A slide shall present the export facilities in front of the data migration plan and the conditions of security to control and access to the data exported, the validation of the test and its deletion process after validation.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endParaRPr lang="fr-FR" b="1"/>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fr-FR" b="1"/>
              <a:t>For SaaS and a </a:t>
            </a:r>
            <a:r>
              <a:rPr lang="fr-FR" b="1" err="1"/>
              <a:t>executive</a:t>
            </a:r>
            <a:r>
              <a:rPr lang="fr-FR" b="1"/>
              <a:t> exit plan : </a:t>
            </a:r>
          </a:p>
          <a:p>
            <a:pPr marL="628650" marR="0" lvl="1" indent="-171450" algn="l" defTabSz="914400" rtl="0" eaLnBrk="1" fontAlgn="auto" latinLnBrk="0" hangingPunct="1">
              <a:lnSpc>
                <a:spcPct val="100000"/>
              </a:lnSpc>
              <a:spcBef>
                <a:spcPts val="0"/>
              </a:spcBef>
              <a:spcAft>
                <a:spcPts val="0"/>
              </a:spcAft>
              <a:buClr>
                <a:srgbClr val="000000"/>
              </a:buClr>
              <a:buSzPts val="1100"/>
              <a:tabLst/>
              <a:defRPr/>
            </a:pPr>
            <a:r>
              <a:rPr lang="fr-FR" b="1" err="1"/>
              <a:t>three</a:t>
            </a:r>
            <a:r>
              <a:rPr lang="fr-FR" b="1"/>
              <a:t> main scopes to </a:t>
            </a:r>
            <a:r>
              <a:rPr lang="fr-FR" b="1" err="1"/>
              <a:t>present</a:t>
            </a:r>
            <a:r>
              <a:rPr lang="fr-FR" b="1"/>
              <a:t> ( the new </a:t>
            </a:r>
            <a:r>
              <a:rPr lang="fr-FR" b="1" err="1"/>
              <a:t>target</a:t>
            </a:r>
            <a:r>
              <a:rPr lang="fr-FR" b="1"/>
              <a:t> </a:t>
            </a:r>
            <a:r>
              <a:rPr lang="fr-FR" b="1" err="1"/>
              <a:t>itself</a:t>
            </a:r>
            <a:r>
              <a:rPr lang="fr-FR" b="1"/>
              <a:t>, the exit plan </a:t>
            </a:r>
            <a:r>
              <a:rPr lang="fr-FR" b="1" err="1"/>
              <a:t>execution</a:t>
            </a:r>
            <a:r>
              <a:rPr lang="fr-FR" b="1"/>
              <a:t> </a:t>
            </a:r>
            <a:r>
              <a:rPr lang="fr-FR" b="1" err="1"/>
              <a:t>whit</a:t>
            </a:r>
            <a:r>
              <a:rPr lang="fr-FR" b="1"/>
              <a:t> the migration and transition phase, and the </a:t>
            </a:r>
            <a:r>
              <a:rPr lang="fr-FR" b="1" err="1"/>
              <a:t>disengagement</a:t>
            </a:r>
            <a:r>
              <a:rPr lang="fr-FR" b="1"/>
              <a:t> of the SaaS </a:t>
            </a:r>
            <a:r>
              <a:rPr lang="fr-FR" b="1" err="1"/>
              <a:t>replaced</a:t>
            </a:r>
            <a:r>
              <a:rPr lang="fr-FR" b="1"/>
              <a:t>) .</a:t>
            </a:r>
          </a:p>
          <a:p>
            <a:pPr marL="628650" marR="0" lvl="1" indent="-171450" algn="l" defTabSz="914400" rtl="0" eaLnBrk="1" fontAlgn="auto" latinLnBrk="0" hangingPunct="1">
              <a:lnSpc>
                <a:spcPct val="100000"/>
              </a:lnSpc>
              <a:spcBef>
                <a:spcPts val="0"/>
              </a:spcBef>
              <a:spcAft>
                <a:spcPts val="0"/>
              </a:spcAft>
              <a:buClr>
                <a:srgbClr val="000000"/>
              </a:buClr>
              <a:buSzPts val="1100"/>
              <a:tabLst/>
              <a:defRPr/>
            </a:pPr>
            <a:endParaRPr lang="fr-FR" b="1"/>
          </a:p>
          <a:p>
            <a:pPr marL="628650" marR="0" lvl="1" indent="-171450" algn="l" defTabSz="914400" rtl="0" eaLnBrk="1" fontAlgn="auto" latinLnBrk="0" hangingPunct="1">
              <a:lnSpc>
                <a:spcPct val="100000"/>
              </a:lnSpc>
              <a:spcBef>
                <a:spcPts val="0"/>
              </a:spcBef>
              <a:spcAft>
                <a:spcPts val="0"/>
              </a:spcAft>
              <a:buClr>
                <a:srgbClr val="000000"/>
              </a:buClr>
              <a:buSzPts val="1100"/>
              <a:tabLst/>
              <a:defRPr/>
            </a:pPr>
            <a:r>
              <a:rPr lang="fr-FR" b="1"/>
              <a:t>1- New </a:t>
            </a:r>
            <a:r>
              <a:rPr lang="fr-FR" b="1" err="1"/>
              <a:t>target</a:t>
            </a:r>
            <a:r>
              <a:rPr lang="fr-FR" b="1"/>
              <a:t> : </a:t>
            </a:r>
          </a:p>
          <a:p>
            <a:pPr marL="628650" marR="0" lvl="1" indent="-171450" algn="l" defTabSz="914400" rtl="0" eaLnBrk="1" fontAlgn="auto" latinLnBrk="0" hangingPunct="1">
              <a:lnSpc>
                <a:spcPct val="100000"/>
              </a:lnSpc>
              <a:spcBef>
                <a:spcPts val="0"/>
              </a:spcBef>
              <a:spcAft>
                <a:spcPts val="0"/>
              </a:spcAft>
              <a:buClr>
                <a:srgbClr val="000000"/>
              </a:buClr>
              <a:buSzPts val="1100"/>
              <a:tabLst/>
              <a:defRPr/>
            </a:pPr>
            <a:endParaRPr lang="fr-F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err="1"/>
              <a:t>Add</a:t>
            </a:r>
            <a:r>
              <a:rPr lang="fr-FR"/>
              <a:t> as slide </a:t>
            </a:r>
            <a:r>
              <a:rPr lang="fr-FR" err="1"/>
              <a:t>explaining</a:t>
            </a:r>
            <a:r>
              <a:rPr lang="fr-FR"/>
              <a:t> </a:t>
            </a:r>
            <a:r>
              <a:rPr lang="fr-FR" err="1"/>
              <a:t>your</a:t>
            </a:r>
            <a:r>
              <a:rPr lang="fr-FR"/>
              <a:t> </a:t>
            </a:r>
            <a:r>
              <a:rPr lang="fr-FR" err="1"/>
              <a:t>organization</a:t>
            </a:r>
            <a:r>
              <a:rPr lang="fr-FR"/>
              <a:t> future/in place (</a:t>
            </a:r>
            <a:r>
              <a:rPr lang="fr-FR" err="1"/>
              <a:t>build</a:t>
            </a:r>
            <a:r>
              <a:rPr lang="fr-FR"/>
              <a:t>/run)  to </a:t>
            </a:r>
            <a:r>
              <a:rPr lang="fr-FR" err="1"/>
              <a:t>prevent</a:t>
            </a:r>
            <a:r>
              <a:rPr lang="fr-FR"/>
              <a:t> and follow the </a:t>
            </a:r>
            <a:r>
              <a:rPr lang="fr-FR" err="1"/>
              <a:t>risk</a:t>
            </a:r>
            <a:r>
              <a:rPr lang="fr-FR"/>
              <a:t> on exit triggers </a:t>
            </a:r>
            <a:r>
              <a:rPr lang="fr-FR" err="1"/>
              <a:t>events</a:t>
            </a:r>
            <a:r>
              <a:rPr lang="fr-FR"/>
              <a:t> (</a:t>
            </a:r>
            <a:r>
              <a:rPr lang="fr-FR" err="1"/>
              <a:t>cf</a:t>
            </a:r>
            <a:r>
              <a:rPr lang="fr-FR"/>
              <a:t> SaaS_ exit plan _</a:t>
            </a:r>
            <a:r>
              <a:rPr lang="fr-FR" err="1"/>
              <a:t>framework_helper</a:t>
            </a:r>
            <a:r>
              <a:rPr lang="fr-FR"/>
              <a:t>)</a:t>
            </a: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a:t>On design/</a:t>
            </a:r>
            <a:r>
              <a:rPr lang="fr-FR" err="1"/>
              <a:t>build</a:t>
            </a:r>
            <a:r>
              <a:rPr lang="fr-FR"/>
              <a:t> phase, </a:t>
            </a:r>
            <a:r>
              <a:rPr lang="fr-FR" err="1"/>
              <a:t>define</a:t>
            </a:r>
            <a:r>
              <a:rPr lang="fr-FR"/>
              <a:t> the export </a:t>
            </a:r>
            <a:r>
              <a:rPr lang="fr-FR" err="1"/>
              <a:t>facilities</a:t>
            </a:r>
            <a:r>
              <a:rPr lang="fr-FR"/>
              <a:t> </a:t>
            </a:r>
            <a:r>
              <a:rPr lang="fr-FR" err="1"/>
              <a:t>attached</a:t>
            </a:r>
            <a:r>
              <a:rPr lang="fr-FR"/>
              <a:t> to </a:t>
            </a:r>
            <a:r>
              <a:rPr lang="fr-FR" err="1"/>
              <a:t>each</a:t>
            </a:r>
            <a:r>
              <a:rPr lang="fr-FR"/>
              <a:t> </a:t>
            </a:r>
            <a:r>
              <a:rPr lang="fr-FR" err="1"/>
              <a:t>catagory</a:t>
            </a:r>
            <a:r>
              <a:rPr lang="fr-FR"/>
              <a:t> data set </a:t>
            </a:r>
            <a:r>
              <a:rPr lang="fr-FR" err="1"/>
              <a:t>managed</a:t>
            </a:r>
            <a:r>
              <a:rPr lang="fr-FR"/>
              <a:t> or </a:t>
            </a:r>
            <a:r>
              <a:rPr lang="fr-FR" err="1"/>
              <a:t>processed</a:t>
            </a:r>
            <a:r>
              <a:rPr lang="fr-FR"/>
              <a:t> by the Supplier :  </a:t>
            </a:r>
            <a:r>
              <a:rPr lang="fr-FR" err="1"/>
              <a:t>it</a:t>
            </a:r>
            <a:r>
              <a:rPr lang="fr-FR"/>
              <a:t> </a:t>
            </a:r>
            <a:r>
              <a:rPr lang="fr-FR" err="1"/>
              <a:t>is</a:t>
            </a:r>
            <a:r>
              <a:rPr lang="fr-FR"/>
              <a:t> a </a:t>
            </a:r>
            <a:r>
              <a:rPr lang="fr-FR" err="1"/>
              <a:t>prerequisite</a:t>
            </a:r>
            <a:r>
              <a:rPr lang="fr-FR"/>
              <a:t> for data migration plan (</a:t>
            </a:r>
            <a:r>
              <a:rPr lang="fr-FR" err="1"/>
              <a:t>cf</a:t>
            </a:r>
            <a:r>
              <a:rPr lang="fr-FR"/>
              <a:t> </a:t>
            </a:r>
            <a:r>
              <a:rPr lang="fr-FR" err="1"/>
              <a:t>SaaS_exit</a:t>
            </a:r>
            <a:r>
              <a:rPr lang="fr-FR"/>
              <a:t> </a:t>
            </a:r>
            <a:r>
              <a:rPr lang="fr-FR" err="1"/>
              <a:t>plan_frawework_helper</a:t>
            </a:r>
            <a:r>
              <a:rPr lang="fr-FR"/>
              <a:t>) </a:t>
            </a: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a:t>On </a:t>
            </a:r>
            <a:r>
              <a:rPr lang="fr-FR" err="1"/>
              <a:t>transfer</a:t>
            </a:r>
            <a:r>
              <a:rPr lang="fr-FR"/>
              <a:t> </a:t>
            </a:r>
            <a:r>
              <a:rPr lang="fr-FR" err="1"/>
              <a:t>Build</a:t>
            </a:r>
            <a:r>
              <a:rPr lang="fr-FR"/>
              <a:t>/ Run , the exit plan document </a:t>
            </a:r>
            <a:r>
              <a:rPr lang="fr-FR" err="1"/>
              <a:t>shall</a:t>
            </a:r>
            <a:r>
              <a:rPr lang="fr-FR"/>
              <a:t> </a:t>
            </a:r>
            <a:r>
              <a:rPr lang="fr-FR" err="1"/>
              <a:t>be</a:t>
            </a:r>
            <a:r>
              <a:rPr lang="fr-FR"/>
              <a:t> </a:t>
            </a:r>
            <a:r>
              <a:rPr lang="fr-FR" err="1"/>
              <a:t>fully</a:t>
            </a:r>
            <a:r>
              <a:rPr lang="fr-FR"/>
              <a:t> </a:t>
            </a:r>
            <a:r>
              <a:rPr lang="fr-FR" err="1"/>
              <a:t>controled</a:t>
            </a:r>
            <a:r>
              <a:rPr lang="fr-FR"/>
              <a:t> and </a:t>
            </a:r>
            <a:r>
              <a:rPr lang="fr-FR" err="1"/>
              <a:t>maintained</a:t>
            </a:r>
            <a:r>
              <a:rPr lang="fr-FR"/>
              <a:t> </a:t>
            </a:r>
            <a:r>
              <a:rPr lang="fr-FR" err="1"/>
              <a:t>until</a:t>
            </a:r>
            <a:r>
              <a:rPr lang="fr-FR"/>
              <a:t> the end of the new SaaS service </a:t>
            </a: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a:t>On </a:t>
            </a:r>
            <a:r>
              <a:rPr lang="fr-FR" err="1"/>
              <a:t>transfer</a:t>
            </a:r>
            <a:r>
              <a:rPr lang="fr-FR"/>
              <a:t>  </a:t>
            </a:r>
            <a:r>
              <a:rPr lang="fr-FR" err="1"/>
              <a:t>Build</a:t>
            </a:r>
            <a:r>
              <a:rPr lang="fr-FR"/>
              <a:t>/Run, the </a:t>
            </a:r>
            <a:r>
              <a:rPr lang="fr-FR" err="1"/>
              <a:t>governance</a:t>
            </a:r>
            <a:r>
              <a:rPr lang="fr-FR"/>
              <a:t> on exit </a:t>
            </a:r>
            <a:r>
              <a:rPr lang="fr-FR" err="1"/>
              <a:t>events</a:t>
            </a:r>
            <a:r>
              <a:rPr lang="fr-FR"/>
              <a:t> triggers </a:t>
            </a:r>
            <a:r>
              <a:rPr lang="fr-FR" err="1"/>
              <a:t>should</a:t>
            </a:r>
            <a:r>
              <a:rPr lang="fr-FR"/>
              <a:t> </a:t>
            </a:r>
            <a:r>
              <a:rPr lang="fr-FR" err="1"/>
              <a:t>be</a:t>
            </a:r>
            <a:r>
              <a:rPr lang="fr-FR"/>
              <a:t> </a:t>
            </a:r>
            <a:r>
              <a:rPr lang="fr-FR" err="1"/>
              <a:t>taken</a:t>
            </a:r>
            <a:r>
              <a:rPr lang="fr-FR"/>
              <a:t> in </a:t>
            </a:r>
            <a:r>
              <a:rPr lang="fr-FR" err="1"/>
              <a:t>account</a:t>
            </a:r>
            <a:r>
              <a:rPr lang="fr-FR"/>
              <a:t> and </a:t>
            </a:r>
            <a:r>
              <a:rPr lang="fr-FR" err="1"/>
              <a:t>maintained</a:t>
            </a:r>
            <a:r>
              <a:rPr lang="fr-FR"/>
              <a:t> </a:t>
            </a:r>
            <a:r>
              <a:rPr lang="fr-FR" err="1"/>
              <a:t>until</a:t>
            </a:r>
            <a:r>
              <a:rPr lang="fr-FR"/>
              <a:t> the end of the new SaaS service </a:t>
            </a: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a:t>The </a:t>
            </a:r>
            <a:r>
              <a:rPr lang="fr-FR" err="1"/>
              <a:t>execution</a:t>
            </a:r>
            <a:r>
              <a:rPr lang="fr-FR"/>
              <a:t>  of the </a:t>
            </a:r>
            <a:r>
              <a:rPr lang="fr-FR" err="1"/>
              <a:t>disengagement</a:t>
            </a:r>
            <a:r>
              <a:rPr lang="fr-FR"/>
              <a:t> of the </a:t>
            </a:r>
            <a:r>
              <a:rPr lang="fr-FR" err="1"/>
              <a:t>old</a:t>
            </a:r>
            <a:r>
              <a:rPr lang="fr-FR"/>
              <a:t> SaaS </a:t>
            </a:r>
            <a:r>
              <a:rPr lang="fr-FR" err="1"/>
              <a:t>should</a:t>
            </a:r>
            <a:r>
              <a:rPr lang="fr-FR"/>
              <a:t> </a:t>
            </a:r>
            <a:r>
              <a:rPr lang="fr-FR" err="1"/>
              <a:t>be</a:t>
            </a:r>
            <a:r>
              <a:rPr lang="fr-FR"/>
              <a:t> </a:t>
            </a:r>
            <a:r>
              <a:rPr lang="fr-FR" err="1"/>
              <a:t>fully</a:t>
            </a:r>
            <a:r>
              <a:rPr lang="fr-FR"/>
              <a:t> </a:t>
            </a:r>
            <a:r>
              <a:rPr lang="fr-FR" err="1"/>
              <a:t>controled</a:t>
            </a:r>
            <a:r>
              <a:rPr lang="fr-FR"/>
              <a:t>  </a:t>
            </a:r>
            <a:r>
              <a:rPr lang="fr-FR" err="1"/>
              <a:t>after</a:t>
            </a:r>
            <a:r>
              <a:rPr lang="fr-FR"/>
              <a:t> the </a:t>
            </a:r>
            <a:r>
              <a:rPr lang="fr-FR" err="1"/>
              <a:t>deployment</a:t>
            </a:r>
            <a:r>
              <a:rPr lang="fr-FR"/>
              <a:t> of the new Service and </a:t>
            </a:r>
            <a:r>
              <a:rPr lang="fr-FR" err="1"/>
              <a:t>validated</a:t>
            </a:r>
            <a:r>
              <a:rPr lang="fr-FR"/>
              <a:t> (</a:t>
            </a:r>
            <a:r>
              <a:rPr lang="fr-FR" err="1"/>
              <a:t>contract</a:t>
            </a:r>
            <a:r>
              <a:rPr lang="fr-FR"/>
              <a:t>, data </a:t>
            </a:r>
            <a:r>
              <a:rPr lang="fr-FR" err="1"/>
              <a:t>deleted</a:t>
            </a:r>
            <a:r>
              <a:rPr lang="fr-FR"/>
              <a:t> , </a:t>
            </a:r>
            <a:r>
              <a:rPr lang="fr-FR" err="1"/>
              <a:t>etc</a:t>
            </a:r>
            <a:r>
              <a:rPr lang="fr-FR"/>
              <a:t> ) </a:t>
            </a:r>
            <a:r>
              <a:rPr lang="fr-FR" err="1"/>
              <a:t>accordiing</a:t>
            </a:r>
            <a:r>
              <a:rPr lang="fr-FR"/>
              <a:t> to the exit plan document. </a:t>
            </a: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endParaRPr lang="fr-FR"/>
          </a:p>
          <a:p>
            <a:pPr marL="628650" marR="0" lvl="1" indent="-171450" algn="l" defTabSz="914400" rtl="0" eaLnBrk="1" fontAlgn="auto" latinLnBrk="0" hangingPunct="1">
              <a:lnSpc>
                <a:spcPct val="100000"/>
              </a:lnSpc>
              <a:spcBef>
                <a:spcPts val="0"/>
              </a:spcBef>
              <a:spcAft>
                <a:spcPts val="0"/>
              </a:spcAft>
              <a:buClr>
                <a:srgbClr val="000000"/>
              </a:buClr>
              <a:buSzPts val="1100"/>
              <a:tabLst/>
              <a:defRPr/>
            </a:pPr>
            <a:r>
              <a:rPr lang="fr-FR"/>
              <a:t>2 - </a:t>
            </a:r>
            <a:r>
              <a:rPr lang="fr-FR" b="1"/>
              <a:t>Old Solution /New </a:t>
            </a:r>
            <a:r>
              <a:rPr lang="fr-FR" b="1" err="1"/>
              <a:t>target</a:t>
            </a:r>
            <a:r>
              <a:rPr lang="fr-FR" b="1"/>
              <a:t> (switch)</a:t>
            </a: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err="1"/>
              <a:t>Add</a:t>
            </a:r>
            <a:r>
              <a:rPr lang="fr-FR"/>
              <a:t> the </a:t>
            </a:r>
            <a:r>
              <a:rPr lang="fr-FR" err="1"/>
              <a:t>schema</a:t>
            </a:r>
            <a:r>
              <a:rPr lang="fr-FR"/>
              <a:t> and </a:t>
            </a:r>
            <a:r>
              <a:rPr lang="fr-FR" err="1"/>
              <a:t>policy</a:t>
            </a:r>
            <a:r>
              <a:rPr lang="fr-FR"/>
              <a:t> of the DATA Migration plan </a:t>
            </a:r>
            <a:r>
              <a:rPr lang="fr-FR" err="1"/>
              <a:t>between</a:t>
            </a:r>
            <a:r>
              <a:rPr lang="fr-FR"/>
              <a:t> the </a:t>
            </a:r>
            <a:r>
              <a:rPr lang="fr-FR" err="1"/>
              <a:t>skateholders</a:t>
            </a:r>
            <a:endParaRPr lang="fr-F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err="1"/>
              <a:t>Add</a:t>
            </a:r>
            <a:r>
              <a:rPr lang="fr-FR"/>
              <a:t> the </a:t>
            </a:r>
            <a:r>
              <a:rPr lang="fr-FR" err="1"/>
              <a:t>schema</a:t>
            </a:r>
            <a:r>
              <a:rPr lang="fr-FR"/>
              <a:t> and </a:t>
            </a:r>
            <a:r>
              <a:rPr lang="fr-FR" err="1"/>
              <a:t>policy</a:t>
            </a:r>
            <a:r>
              <a:rPr lang="fr-FR"/>
              <a:t> of the transition phase </a:t>
            </a:r>
            <a:r>
              <a:rPr lang="fr-FR" err="1"/>
              <a:t>organization</a:t>
            </a:r>
            <a:r>
              <a:rPr lang="fr-FR"/>
              <a:t> </a:t>
            </a: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a:t>All </a:t>
            </a:r>
            <a:r>
              <a:rPr lang="fr-FR" err="1"/>
              <a:t>environment</a:t>
            </a:r>
            <a:r>
              <a:rPr lang="fr-FR"/>
              <a:t> </a:t>
            </a:r>
            <a:r>
              <a:rPr lang="fr-FR" err="1"/>
              <a:t>shall</a:t>
            </a:r>
            <a:r>
              <a:rPr lang="fr-FR"/>
              <a:t> </a:t>
            </a:r>
            <a:r>
              <a:rPr lang="fr-FR" err="1"/>
              <a:t>be</a:t>
            </a:r>
            <a:r>
              <a:rPr lang="fr-FR"/>
              <a:t> </a:t>
            </a:r>
            <a:r>
              <a:rPr lang="fr-FR" err="1"/>
              <a:t>considered</a:t>
            </a:r>
            <a:endParaRPr lang="fr-F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err="1"/>
              <a:t>Add</a:t>
            </a:r>
            <a:r>
              <a:rPr lang="fr-FR"/>
              <a:t> a </a:t>
            </a:r>
            <a:r>
              <a:rPr lang="fr-FR" err="1"/>
              <a:t>schema</a:t>
            </a:r>
            <a:r>
              <a:rPr lang="fr-FR"/>
              <a:t> of </a:t>
            </a:r>
            <a:r>
              <a:rPr lang="fr-FR" err="1"/>
              <a:t>conduct</a:t>
            </a:r>
            <a:r>
              <a:rPr lang="fr-FR"/>
              <a:t> of change </a:t>
            </a:r>
            <a:r>
              <a:rPr lang="fr-FR" err="1"/>
              <a:t>regarding</a:t>
            </a:r>
            <a:r>
              <a:rPr lang="fr-FR"/>
              <a:t> the </a:t>
            </a:r>
            <a:r>
              <a:rPr lang="fr-FR" err="1"/>
              <a:t>others</a:t>
            </a:r>
            <a:r>
              <a:rPr lang="fr-FR"/>
              <a:t> applications </a:t>
            </a: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endParaRPr lang="fr-FR" b="1"/>
          </a:p>
          <a:p>
            <a:pPr marL="628650" marR="0" lvl="1" indent="-171450" algn="l" defTabSz="914400" rtl="0" eaLnBrk="1" fontAlgn="auto" latinLnBrk="0" hangingPunct="1">
              <a:lnSpc>
                <a:spcPct val="100000"/>
              </a:lnSpc>
              <a:spcBef>
                <a:spcPts val="0"/>
              </a:spcBef>
              <a:spcAft>
                <a:spcPts val="0"/>
              </a:spcAft>
              <a:buClr>
                <a:srgbClr val="000000"/>
              </a:buClr>
              <a:buSzPts val="1100"/>
              <a:tabLst/>
              <a:defRPr/>
            </a:pPr>
            <a:r>
              <a:rPr lang="fr-FR" b="1"/>
              <a:t>3 - Old solution - </a:t>
            </a:r>
            <a:r>
              <a:rPr lang="fr-FR" b="1" err="1"/>
              <a:t>disengagement</a:t>
            </a:r>
            <a:endParaRPr lang="fr-FR" b="1"/>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err="1"/>
              <a:t>Add</a:t>
            </a:r>
            <a:r>
              <a:rPr lang="fr-FR"/>
              <a:t> as </a:t>
            </a:r>
            <a:r>
              <a:rPr lang="fr-FR" err="1"/>
              <a:t>schema</a:t>
            </a:r>
            <a:r>
              <a:rPr lang="fr-FR"/>
              <a:t> </a:t>
            </a:r>
            <a:r>
              <a:rPr lang="fr-FR" err="1"/>
              <a:t>reqgarding</a:t>
            </a:r>
            <a:r>
              <a:rPr lang="fr-FR"/>
              <a:t> the </a:t>
            </a:r>
            <a:r>
              <a:rPr lang="fr-FR" err="1"/>
              <a:t>disengagement</a:t>
            </a:r>
            <a:r>
              <a:rPr lang="fr-FR"/>
              <a:t> and </a:t>
            </a:r>
            <a:r>
              <a:rPr lang="fr-FR" err="1"/>
              <a:t>policy</a:t>
            </a:r>
            <a:endParaRPr lang="fr-F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r>
              <a:rPr lang="fr-FR" err="1"/>
              <a:t>Add</a:t>
            </a:r>
            <a:r>
              <a:rPr lang="fr-FR"/>
              <a:t> the </a:t>
            </a:r>
            <a:r>
              <a:rPr lang="fr-FR" err="1"/>
              <a:t>schema</a:t>
            </a:r>
            <a:r>
              <a:rPr lang="fr-FR"/>
              <a:t> of </a:t>
            </a:r>
            <a:r>
              <a:rPr lang="fr-FR" err="1"/>
              <a:t>what</a:t>
            </a:r>
            <a:r>
              <a:rPr lang="fr-FR"/>
              <a:t> </a:t>
            </a:r>
            <a:r>
              <a:rPr lang="fr-FR" err="1"/>
              <a:t>would</a:t>
            </a:r>
            <a:r>
              <a:rPr lang="fr-FR"/>
              <a:t> </a:t>
            </a:r>
            <a:r>
              <a:rPr lang="fr-FR" err="1"/>
              <a:t>be</a:t>
            </a:r>
            <a:r>
              <a:rPr lang="fr-FR"/>
              <a:t> </a:t>
            </a:r>
            <a:r>
              <a:rPr lang="fr-FR" err="1"/>
              <a:t>disengaged</a:t>
            </a:r>
            <a:endParaRPr lang="fr-FR"/>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endParaRPr lang="fr-FR"/>
          </a:p>
          <a:p>
            <a:pPr marL="628650" lvl="1" indent="-171450">
              <a:defRPr/>
            </a:pPr>
            <a:endParaRPr lang="fr-FR" b="1"/>
          </a:p>
          <a:p>
            <a:pPr marL="1085850" marR="0" lvl="2" indent="-171450" algn="l" defTabSz="914400" rtl="0" eaLnBrk="1" fontAlgn="auto" latinLnBrk="0" hangingPunct="1">
              <a:lnSpc>
                <a:spcPct val="100000"/>
              </a:lnSpc>
              <a:spcBef>
                <a:spcPts val="0"/>
              </a:spcBef>
              <a:spcAft>
                <a:spcPts val="0"/>
              </a:spcAft>
              <a:buClr>
                <a:srgbClr val="000000"/>
              </a:buClr>
              <a:buSzPts val="1100"/>
              <a:tabLst/>
              <a:defRPr/>
            </a:pPr>
            <a:endParaRPr lang="fr-FR"/>
          </a:p>
          <a:p>
            <a:pPr marL="628650" lvl="1" indent="-171450">
              <a:defRPr/>
            </a:pPr>
            <a:endParaRPr lang="fr-F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23396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For a SaaS solution </a:t>
            </a:r>
            <a:r>
              <a:rPr lang="fr-FR" dirty="0"/>
              <a:t>:  </a:t>
            </a:r>
          </a:p>
          <a:p>
            <a:pPr lvl="1"/>
            <a:r>
              <a:rPr lang="fr-FR" dirty="0"/>
              <a:t>Mention the </a:t>
            </a:r>
            <a:r>
              <a:rPr lang="fr-FR" dirty="0" err="1"/>
              <a:t>physical</a:t>
            </a:r>
            <a:r>
              <a:rPr lang="fr-FR" dirty="0"/>
              <a:t> sites </a:t>
            </a:r>
            <a:r>
              <a:rPr lang="fr-FR" dirty="0" err="1"/>
              <a:t>evolved</a:t>
            </a:r>
            <a:r>
              <a:rPr lang="fr-FR" dirty="0"/>
              <a:t> by the SaaS supplier service </a:t>
            </a:r>
          </a:p>
          <a:p>
            <a:pPr lvl="2"/>
            <a:r>
              <a:rPr lang="fr-FR" dirty="0"/>
              <a:t>Physical site, provider of the </a:t>
            </a:r>
            <a:r>
              <a:rPr lang="fr-FR" dirty="0" err="1"/>
              <a:t>hosting</a:t>
            </a:r>
            <a:r>
              <a:rPr lang="fr-FR" dirty="0"/>
              <a:t> site , localisation and </a:t>
            </a:r>
            <a:r>
              <a:rPr lang="fr-FR" dirty="0" err="1"/>
              <a:t>its</a:t>
            </a:r>
            <a:r>
              <a:rPr lang="fr-FR" dirty="0"/>
              <a:t> rôle in the SaaS </a:t>
            </a:r>
            <a:r>
              <a:rPr lang="fr-FR" dirty="0" err="1"/>
              <a:t>context</a:t>
            </a:r>
            <a:r>
              <a:rPr lang="fr-FR" dirty="0"/>
              <a:t> (DRP, backup, part of solution)</a:t>
            </a:r>
          </a:p>
          <a:p>
            <a:pPr lvl="2"/>
            <a:r>
              <a:rPr lang="fr-FR" dirty="0"/>
              <a:t>Show If the </a:t>
            </a:r>
            <a:r>
              <a:rPr lang="fr-FR" dirty="0" err="1"/>
              <a:t>offer</a:t>
            </a:r>
            <a:r>
              <a:rPr lang="fr-FR" dirty="0"/>
              <a:t> </a:t>
            </a:r>
            <a:r>
              <a:rPr lang="fr-FR" dirty="0" err="1"/>
              <a:t>is</a:t>
            </a:r>
            <a:r>
              <a:rPr lang="fr-FR" dirty="0"/>
              <a:t> </a:t>
            </a:r>
            <a:r>
              <a:rPr lang="fr-FR" dirty="0" err="1"/>
              <a:t>distributed</a:t>
            </a:r>
            <a:r>
              <a:rPr lang="fr-FR" dirty="0"/>
              <a:t> on </a:t>
            </a:r>
            <a:r>
              <a:rPr lang="fr-FR" dirty="0" err="1"/>
              <a:t>different</a:t>
            </a:r>
            <a:r>
              <a:rPr lang="fr-FR" dirty="0"/>
              <a:t> </a:t>
            </a:r>
            <a:r>
              <a:rPr lang="fr-FR" dirty="0" err="1"/>
              <a:t>physical</a:t>
            </a:r>
            <a:r>
              <a:rPr lang="fr-FR" dirty="0"/>
              <a:t> sites and model of conception (CaaS/IaaS VM, etc.)</a:t>
            </a:r>
          </a:p>
          <a:p>
            <a:pPr lvl="2"/>
            <a:r>
              <a:rPr lang="fr-FR" dirty="0"/>
              <a:t>Show the interaction of the </a:t>
            </a:r>
            <a:r>
              <a:rPr lang="fr-FR" dirty="0" err="1"/>
              <a:t>physical</a:t>
            </a:r>
            <a:r>
              <a:rPr lang="fr-FR" dirty="0"/>
              <a:t> sites </a:t>
            </a:r>
            <a:r>
              <a:rPr lang="fr-FR" dirty="0" err="1"/>
              <a:t>evolved</a:t>
            </a:r>
            <a:r>
              <a:rPr lang="fr-FR" dirty="0"/>
              <a:t> by the SaaS supplier and the Eco system of </a:t>
            </a:r>
            <a:r>
              <a:rPr lang="fr-FR" dirty="0" err="1"/>
              <a:t>integration</a:t>
            </a:r>
            <a:r>
              <a:rPr lang="fr-FR" dirty="0"/>
              <a:t> (</a:t>
            </a:r>
            <a:r>
              <a:rPr lang="fr-FR" dirty="0" err="1"/>
              <a:t>Users</a:t>
            </a:r>
            <a:r>
              <a:rPr lang="fr-FR" dirty="0"/>
              <a:t>, team </a:t>
            </a:r>
            <a:r>
              <a:rPr lang="fr-FR" dirty="0" err="1"/>
              <a:t>build</a:t>
            </a:r>
            <a:r>
              <a:rPr lang="fr-FR" dirty="0"/>
              <a:t>/run, flow….) </a:t>
            </a:r>
          </a:p>
          <a:p>
            <a:pPr lvl="2"/>
            <a:r>
              <a:rPr lang="fr-FR" dirty="0"/>
              <a:t>Cf the </a:t>
            </a:r>
            <a:r>
              <a:rPr lang="fr-FR" dirty="0" err="1"/>
              <a:t>evaluation</a:t>
            </a:r>
            <a:r>
              <a:rPr lang="fr-FR" dirty="0"/>
              <a:t> </a:t>
            </a:r>
            <a:r>
              <a:rPr lang="fr-FR" dirty="0" err="1"/>
              <a:t>done</a:t>
            </a:r>
            <a:r>
              <a:rPr lang="fr-FR" dirty="0"/>
              <a:t> </a:t>
            </a:r>
            <a:r>
              <a:rPr lang="fr-FR" dirty="0" err="1"/>
              <a:t>according</a:t>
            </a:r>
            <a:r>
              <a:rPr lang="fr-FR" dirty="0"/>
              <a:t> to the supplier </a:t>
            </a:r>
            <a:r>
              <a:rPr lang="fr-FR" dirty="0" err="1"/>
              <a:t>answer</a:t>
            </a:r>
            <a:r>
              <a:rPr lang="fr-FR" dirty="0"/>
              <a:t> to the SaaS </a:t>
            </a:r>
            <a:r>
              <a:rPr lang="fr-FR" dirty="0" err="1"/>
              <a:t>well</a:t>
            </a:r>
            <a:r>
              <a:rPr lang="fr-FR" dirty="0"/>
              <a:t> </a:t>
            </a:r>
            <a:r>
              <a:rPr lang="fr-FR" dirty="0" err="1"/>
              <a:t>architect</a:t>
            </a:r>
            <a:r>
              <a:rPr lang="fr-FR" dirty="0"/>
              <a:t> </a:t>
            </a:r>
            <a:r>
              <a:rPr lang="fr-FR" dirty="0" err="1"/>
              <a:t>excel</a:t>
            </a:r>
            <a:r>
              <a:rPr lang="fr-FR" dirty="0"/>
              <a:t> </a:t>
            </a:r>
          </a:p>
          <a:p>
            <a:pPr lvl="2"/>
            <a:r>
              <a:rPr lang="fr-FR" dirty="0"/>
              <a:t>Cf Risk </a:t>
            </a:r>
            <a:r>
              <a:rPr lang="fr-FR" dirty="0" err="1"/>
              <a:t>security</a:t>
            </a:r>
            <a:r>
              <a:rPr lang="fr-FR" dirty="0"/>
              <a:t> </a:t>
            </a:r>
            <a:r>
              <a:rPr lang="fr-FR" dirty="0" err="1"/>
              <a:t>assesment</a:t>
            </a:r>
            <a:r>
              <a:rPr lang="fr-FR" dirty="0"/>
              <a:t> (</a:t>
            </a:r>
            <a:r>
              <a:rPr lang="fr-FR" dirty="0" err="1"/>
              <a:t>add</a:t>
            </a:r>
            <a:r>
              <a:rPr lang="fr-FR" dirty="0"/>
              <a:t> </a:t>
            </a:r>
            <a:r>
              <a:rPr lang="fr-FR" dirty="0" err="1"/>
              <a:t>link</a:t>
            </a:r>
            <a:r>
              <a:rPr lang="fr-FR" dirty="0"/>
              <a:t>) </a:t>
            </a:r>
            <a:r>
              <a:rPr lang="fr-FR" dirty="0" err="1"/>
              <a:t>with</a:t>
            </a:r>
            <a:r>
              <a:rPr lang="fr-FR" dirty="0"/>
              <a:t> a focus </a:t>
            </a:r>
            <a:r>
              <a:rPr lang="fr-FR" dirty="0" err="1"/>
              <a:t>also</a:t>
            </a:r>
            <a:r>
              <a:rPr lang="fr-FR" dirty="0"/>
              <a:t> to the </a:t>
            </a:r>
            <a:r>
              <a:rPr lang="fr-FR" dirty="0" err="1"/>
              <a:t>security</a:t>
            </a:r>
            <a:r>
              <a:rPr lang="fr-FR" dirty="0"/>
              <a:t> </a:t>
            </a:r>
            <a:r>
              <a:rPr lang="fr-FR" dirty="0" err="1"/>
              <a:t>mechanisms</a:t>
            </a:r>
            <a:r>
              <a:rPr lang="fr-FR" dirty="0"/>
              <a:t> for Data Export </a:t>
            </a:r>
            <a:r>
              <a:rPr lang="fr-FR" dirty="0" err="1"/>
              <a:t>faciliites</a:t>
            </a:r>
            <a:r>
              <a:rPr lang="fr-FR" dirty="0"/>
              <a:t> and </a:t>
            </a:r>
            <a:r>
              <a:rPr lang="fr-FR" dirty="0" err="1"/>
              <a:t>its</a:t>
            </a:r>
            <a:r>
              <a:rPr lang="fr-FR" dirty="0"/>
              <a:t> control. Cf Risk </a:t>
            </a:r>
            <a:r>
              <a:rPr lang="fr-FR" dirty="0" err="1"/>
              <a:t>vendor</a:t>
            </a:r>
            <a:r>
              <a:rPr lang="fr-FR" dirty="0"/>
              <a:t> </a:t>
            </a:r>
            <a:r>
              <a:rPr lang="fr-FR" dirty="0" err="1"/>
              <a:t>assessment</a:t>
            </a:r>
            <a:r>
              <a:rPr lang="fr-FR" dirty="0"/>
              <a:t> (</a:t>
            </a:r>
            <a:r>
              <a:rPr lang="fr-FR" dirty="0" err="1"/>
              <a:t>add</a:t>
            </a:r>
            <a:r>
              <a:rPr lang="fr-FR" dirty="0"/>
              <a:t> </a:t>
            </a:r>
            <a:r>
              <a:rPr lang="fr-FR" dirty="0" err="1"/>
              <a:t>link</a:t>
            </a:r>
            <a:r>
              <a:rPr lang="fr-FR" dirty="0"/>
              <a:t>). </a:t>
            </a:r>
          </a:p>
          <a:p>
            <a:pPr lvl="2"/>
            <a:endParaRPr lang="fr-FR" dirty="0"/>
          </a:p>
          <a:p>
            <a:pPr lvl="2"/>
            <a:endParaRPr lang="fr-FR" dirty="0"/>
          </a:p>
        </p:txBody>
      </p:sp>
    </p:spTree>
    <p:extLst>
      <p:ext uri="{BB962C8B-B14F-4D97-AF65-F5344CB8AC3E}">
        <p14:creationId xmlns:p14="http://schemas.microsoft.com/office/powerpoint/2010/main" val="13677839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a:t>
            </a:r>
            <a:r>
              <a:rPr lang="fr-FR" b="1" err="1"/>
              <a:t>project</a:t>
            </a:r>
            <a:r>
              <a:rPr lang="fr-FR" b="1"/>
              <a:t> </a:t>
            </a:r>
            <a:r>
              <a:rPr lang="fr-FR" b="1" err="1"/>
              <a:t>based</a:t>
            </a:r>
            <a:r>
              <a:rPr lang="fr-FR" b="1"/>
              <a:t> on SaaS solution , </a:t>
            </a:r>
          </a:p>
          <a:p>
            <a:pPr lvl="1"/>
            <a:r>
              <a:rPr lang="fr-FR" err="1"/>
              <a:t>Describe</a:t>
            </a:r>
            <a:r>
              <a:rPr lang="fr-FR"/>
              <a:t> all </a:t>
            </a:r>
            <a:r>
              <a:rPr lang="fr-FR" err="1"/>
              <a:t>environments</a:t>
            </a:r>
            <a:r>
              <a:rPr lang="fr-FR"/>
              <a:t> </a:t>
            </a:r>
            <a:r>
              <a:rPr lang="fr-FR" err="1"/>
              <a:t>focusing</a:t>
            </a:r>
            <a:r>
              <a:rPr lang="fr-FR"/>
              <a:t> on </a:t>
            </a:r>
            <a:r>
              <a:rPr lang="fr-FR" err="1"/>
              <a:t>their</a:t>
            </a:r>
            <a:r>
              <a:rPr lang="fr-FR"/>
              <a:t> </a:t>
            </a:r>
            <a:r>
              <a:rPr lang="fr-FR" err="1"/>
              <a:t>role</a:t>
            </a:r>
            <a:r>
              <a:rPr lang="fr-FR"/>
              <a:t>, data management and SLA/Control plane services </a:t>
            </a:r>
            <a:r>
              <a:rPr lang="fr-FR" err="1"/>
              <a:t>associated</a:t>
            </a:r>
            <a:endParaRPr lang="fr-FR"/>
          </a:p>
          <a:p>
            <a:pPr lvl="1"/>
            <a:r>
              <a:rPr lang="fr-FR"/>
              <a:t>It </a:t>
            </a:r>
            <a:r>
              <a:rPr lang="fr-FR" err="1"/>
              <a:t>is</a:t>
            </a:r>
            <a:r>
              <a:rPr lang="fr-FR"/>
              <a:t> important to check </a:t>
            </a:r>
            <a:r>
              <a:rPr lang="fr-FR" err="1"/>
              <a:t>that</a:t>
            </a:r>
            <a:r>
              <a:rPr lang="fr-FR"/>
              <a:t> all </a:t>
            </a:r>
            <a:r>
              <a:rPr lang="fr-FR" err="1"/>
              <a:t>environments</a:t>
            </a:r>
            <a:r>
              <a:rPr lang="fr-FR"/>
              <a:t> are </a:t>
            </a:r>
            <a:r>
              <a:rPr lang="fr-FR" err="1"/>
              <a:t>secured</a:t>
            </a:r>
            <a:r>
              <a:rPr lang="fr-FR"/>
              <a:t> and </a:t>
            </a:r>
            <a:r>
              <a:rPr lang="fr-FR" err="1"/>
              <a:t>monitored</a:t>
            </a:r>
            <a:r>
              <a:rPr lang="fr-FR"/>
              <a:t> </a:t>
            </a:r>
            <a:r>
              <a:rPr lang="fr-FR" err="1"/>
              <a:t>when</a:t>
            </a:r>
            <a:r>
              <a:rPr lang="fr-FR"/>
              <a:t> </a:t>
            </a:r>
            <a:r>
              <a:rPr lang="fr-FR" err="1"/>
              <a:t>they</a:t>
            </a:r>
            <a:r>
              <a:rPr lang="fr-FR"/>
              <a:t> support sensitive data as the </a:t>
            </a:r>
            <a:r>
              <a:rPr lang="fr-FR" err="1"/>
              <a:t>same</a:t>
            </a:r>
            <a:r>
              <a:rPr lang="fr-FR"/>
              <a:t> </a:t>
            </a:r>
            <a:r>
              <a:rPr lang="fr-FR" err="1"/>
              <a:t>level</a:t>
            </a:r>
            <a:r>
              <a:rPr lang="fr-FR"/>
              <a:t> </a:t>
            </a:r>
            <a:r>
              <a:rPr lang="fr-FR" err="1"/>
              <a:t>that</a:t>
            </a:r>
            <a:r>
              <a:rPr lang="fr-FR"/>
              <a:t> a production </a:t>
            </a:r>
            <a:r>
              <a:rPr lang="fr-FR" err="1"/>
              <a:t>environment</a:t>
            </a:r>
            <a:r>
              <a:rPr lang="fr-FR"/>
              <a:t>. </a:t>
            </a:r>
          </a:p>
          <a:p>
            <a:pPr lvl="1"/>
            <a:endParaRPr lang="en-GB"/>
          </a:p>
        </p:txBody>
      </p:sp>
    </p:spTree>
    <p:extLst>
      <p:ext uri="{BB962C8B-B14F-4D97-AF65-F5344CB8AC3E}">
        <p14:creationId xmlns:p14="http://schemas.microsoft.com/office/powerpoint/2010/main" val="29385810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SaaS solution </a:t>
            </a:r>
            <a:r>
              <a:rPr lang="fr-FR" b="1" err="1"/>
              <a:t>from</a:t>
            </a:r>
            <a:r>
              <a:rPr lang="fr-FR" b="1"/>
              <a:t> scratch or for a </a:t>
            </a:r>
            <a:r>
              <a:rPr lang="fr-FR" b="1" err="1"/>
              <a:t>make</a:t>
            </a:r>
            <a:r>
              <a:rPr lang="fr-FR" b="1"/>
              <a:t> cloud solution :  </a:t>
            </a:r>
          </a:p>
          <a:p>
            <a:pPr lvl="1"/>
            <a:r>
              <a:rPr lang="fr-FR" b="1" err="1"/>
              <a:t>Precise</a:t>
            </a:r>
            <a:r>
              <a:rPr lang="fr-FR" b="1"/>
              <a:t> the exit plan </a:t>
            </a:r>
            <a:r>
              <a:rPr lang="fr-FR" b="1" err="1"/>
              <a:t>strategy</a:t>
            </a:r>
            <a:r>
              <a:rPr lang="fr-FR" b="1"/>
              <a:t> </a:t>
            </a:r>
            <a:r>
              <a:rPr lang="fr-FR" b="1" err="1"/>
              <a:t>defined</a:t>
            </a:r>
            <a:r>
              <a:rPr lang="fr-FR" b="1"/>
              <a:t> </a:t>
            </a:r>
            <a:r>
              <a:rPr lang="fr-FR" b="1" err="1"/>
              <a:t>according</a:t>
            </a:r>
            <a:r>
              <a:rPr lang="fr-FR" b="1"/>
              <a:t> to the </a:t>
            </a:r>
            <a:r>
              <a:rPr lang="fr-FR" b="1" err="1"/>
              <a:t>risk</a:t>
            </a:r>
            <a:r>
              <a:rPr lang="fr-FR" b="1"/>
              <a:t> </a:t>
            </a:r>
            <a:r>
              <a:rPr lang="fr-FR" b="1" err="1"/>
              <a:t>level</a:t>
            </a:r>
            <a:r>
              <a:rPr lang="fr-FR" b="1"/>
              <a:t> (</a:t>
            </a:r>
            <a:r>
              <a:rPr lang="fr-FR" b="1" err="1"/>
              <a:t>cf</a:t>
            </a:r>
            <a:r>
              <a:rPr lang="fr-FR" b="1"/>
              <a:t> SaaS exit plan </a:t>
            </a:r>
            <a:r>
              <a:rPr lang="fr-FR" b="1" err="1"/>
              <a:t>presentation</a:t>
            </a:r>
            <a:r>
              <a:rPr lang="fr-FR" b="1"/>
              <a:t> and helper)</a:t>
            </a:r>
          </a:p>
          <a:p>
            <a:pPr lvl="1"/>
            <a:r>
              <a:rPr lang="fr-FR" err="1"/>
              <a:t>Precise</a:t>
            </a:r>
            <a:r>
              <a:rPr lang="fr-FR"/>
              <a:t> the import </a:t>
            </a:r>
            <a:r>
              <a:rPr lang="fr-FR" err="1"/>
              <a:t>facilities</a:t>
            </a:r>
            <a:r>
              <a:rPr lang="fr-FR"/>
              <a:t> for the supplier and the conditions to do the migration  ( </a:t>
            </a:r>
            <a:r>
              <a:rPr lang="fr-FR" err="1"/>
              <a:t>pre-requisite</a:t>
            </a:r>
            <a:r>
              <a:rPr lang="fr-FR"/>
              <a:t>/</a:t>
            </a:r>
            <a:r>
              <a:rPr lang="fr-FR" err="1"/>
              <a:t>tooling</a:t>
            </a:r>
            <a:r>
              <a:rPr lang="fr-FR"/>
              <a:t>, volume, </a:t>
            </a:r>
            <a:r>
              <a:rPr lang="fr-FR" err="1"/>
              <a:t>link</a:t>
            </a:r>
            <a:r>
              <a:rPr lang="fr-FR"/>
              <a:t> , </a:t>
            </a:r>
            <a:r>
              <a:rPr lang="fr-FR" err="1"/>
              <a:t>way</a:t>
            </a:r>
            <a:r>
              <a:rPr lang="fr-FR"/>
              <a:t> to do the test) </a:t>
            </a:r>
          </a:p>
          <a:p>
            <a:pPr lvl="1"/>
            <a:r>
              <a:rPr lang="fr-FR" err="1"/>
              <a:t>Precise</a:t>
            </a:r>
            <a:r>
              <a:rPr lang="fr-FR"/>
              <a:t> the management of the transition phase.</a:t>
            </a:r>
          </a:p>
          <a:p>
            <a:pPr lvl="1"/>
            <a:r>
              <a:rPr lang="fr-FR" err="1"/>
              <a:t>Precise</a:t>
            </a:r>
            <a:r>
              <a:rPr lang="fr-FR"/>
              <a:t> the export </a:t>
            </a:r>
            <a:r>
              <a:rPr lang="fr-FR" err="1"/>
              <a:t>facilities</a:t>
            </a:r>
            <a:r>
              <a:rPr lang="fr-FR"/>
              <a:t>  </a:t>
            </a:r>
            <a:r>
              <a:rPr lang="fr-FR" err="1"/>
              <a:t>attached</a:t>
            </a:r>
            <a:r>
              <a:rPr lang="fr-FR"/>
              <a:t> to the migration plan  and test </a:t>
            </a:r>
            <a:r>
              <a:rPr lang="fr-FR" err="1"/>
              <a:t>realized</a:t>
            </a:r>
            <a:r>
              <a:rPr lang="fr-FR"/>
              <a:t> (</a:t>
            </a:r>
            <a:r>
              <a:rPr lang="fr-FR" b="1"/>
              <a:t>new in </a:t>
            </a:r>
            <a:r>
              <a:rPr lang="fr-FR" b="1" err="1"/>
              <a:t>build</a:t>
            </a:r>
            <a:r>
              <a:rPr lang="fr-FR" b="1"/>
              <a:t> but </a:t>
            </a:r>
            <a:r>
              <a:rPr lang="fr-FR" b="1" err="1"/>
              <a:t>maintained</a:t>
            </a:r>
            <a:r>
              <a:rPr lang="fr-FR" b="1"/>
              <a:t> and </a:t>
            </a:r>
            <a:r>
              <a:rPr lang="fr-FR" b="1" err="1"/>
              <a:t>reexecute</a:t>
            </a:r>
            <a:r>
              <a:rPr lang="fr-FR" b="1"/>
              <a:t> </a:t>
            </a:r>
            <a:r>
              <a:rPr lang="fr-FR" b="1" err="1"/>
              <a:t>regularly</a:t>
            </a:r>
            <a:r>
              <a:rPr lang="fr-FR" b="1"/>
              <a:t> on run </a:t>
            </a:r>
            <a:r>
              <a:rPr lang="fr-FR" b="1" err="1"/>
              <a:t>according</a:t>
            </a:r>
            <a:r>
              <a:rPr lang="fr-FR" b="1"/>
              <a:t> to the </a:t>
            </a:r>
            <a:r>
              <a:rPr lang="fr-FR" b="1" err="1"/>
              <a:t>level</a:t>
            </a:r>
            <a:r>
              <a:rPr lang="fr-FR" b="1"/>
              <a:t> of </a:t>
            </a:r>
            <a:r>
              <a:rPr lang="fr-FR" b="1" err="1"/>
              <a:t>risk</a:t>
            </a:r>
            <a:r>
              <a:rPr lang="fr-FR" b="1"/>
              <a:t> )</a:t>
            </a:r>
          </a:p>
          <a:p>
            <a:pPr lvl="1"/>
            <a:endParaRPr lang="fr-FR"/>
          </a:p>
          <a:p>
            <a:pPr lvl="1"/>
            <a:endParaRPr lang="fr-FR"/>
          </a:p>
          <a:p>
            <a:r>
              <a:rPr lang="fr-FR" b="1"/>
              <a:t>For a </a:t>
            </a:r>
            <a:r>
              <a:rPr lang="fr-FR" b="1" err="1"/>
              <a:t>project</a:t>
            </a:r>
            <a:r>
              <a:rPr lang="fr-FR" b="1"/>
              <a:t> </a:t>
            </a:r>
            <a:r>
              <a:rPr lang="fr-FR" b="1" err="1"/>
              <a:t>conducted</a:t>
            </a:r>
            <a:r>
              <a:rPr lang="fr-FR" b="1"/>
              <a:t> for </a:t>
            </a:r>
            <a:r>
              <a:rPr lang="fr-FR" b="1" err="1"/>
              <a:t>executing</a:t>
            </a:r>
            <a:r>
              <a:rPr lang="fr-FR" b="1"/>
              <a:t> an exit plan , </a:t>
            </a:r>
            <a:r>
              <a:rPr lang="fr-FR" b="1" err="1"/>
              <a:t>that</a:t>
            </a:r>
            <a:r>
              <a:rPr lang="fr-FR" b="1"/>
              <a:t> </a:t>
            </a:r>
            <a:r>
              <a:rPr lang="fr-FR" b="1" err="1"/>
              <a:t>chapter</a:t>
            </a:r>
            <a:r>
              <a:rPr lang="fr-FR" b="1"/>
              <a:t> </a:t>
            </a:r>
            <a:r>
              <a:rPr lang="fr-FR" b="1" err="1"/>
              <a:t>is</a:t>
            </a:r>
            <a:r>
              <a:rPr lang="fr-FR" b="1"/>
              <a:t> </a:t>
            </a:r>
            <a:r>
              <a:rPr lang="fr-FR" b="1" err="1"/>
              <a:t>mandatory</a:t>
            </a:r>
            <a:r>
              <a:rPr lang="fr-FR" b="1"/>
              <a:t> and essential </a:t>
            </a:r>
          </a:p>
          <a:p>
            <a:pPr lvl="1"/>
            <a:r>
              <a:rPr lang="fr-FR"/>
              <a:t>That data migration plan and transition phase </a:t>
            </a:r>
            <a:r>
              <a:rPr lang="fr-FR" err="1"/>
              <a:t>shall</a:t>
            </a:r>
            <a:r>
              <a:rPr lang="fr-FR"/>
              <a:t> </a:t>
            </a:r>
            <a:r>
              <a:rPr lang="fr-FR" err="1"/>
              <a:t>be</a:t>
            </a:r>
            <a:r>
              <a:rPr lang="fr-FR"/>
              <a:t> </a:t>
            </a:r>
            <a:r>
              <a:rPr lang="fr-FR" err="1"/>
              <a:t>conducted</a:t>
            </a:r>
            <a:r>
              <a:rPr lang="fr-FR"/>
              <a:t> </a:t>
            </a:r>
            <a:r>
              <a:rPr lang="fr-FR" err="1"/>
              <a:t>regarding</a:t>
            </a:r>
            <a:r>
              <a:rPr lang="fr-FR"/>
              <a:t> the clause </a:t>
            </a:r>
            <a:r>
              <a:rPr lang="fr-FR" err="1"/>
              <a:t>termination</a:t>
            </a:r>
            <a:r>
              <a:rPr lang="fr-FR"/>
              <a:t> of the initial SaaS provider and </a:t>
            </a:r>
            <a:r>
              <a:rPr lang="fr-FR" err="1"/>
              <a:t>its</a:t>
            </a:r>
            <a:r>
              <a:rPr lang="fr-FR"/>
              <a:t> exit plan document. That migration </a:t>
            </a:r>
            <a:r>
              <a:rPr lang="fr-FR" err="1"/>
              <a:t>shall</a:t>
            </a:r>
            <a:r>
              <a:rPr lang="fr-FR"/>
              <a:t> </a:t>
            </a:r>
            <a:r>
              <a:rPr lang="fr-FR" err="1"/>
              <a:t>be</a:t>
            </a:r>
            <a:r>
              <a:rPr lang="fr-FR"/>
              <a:t> </a:t>
            </a:r>
            <a:r>
              <a:rPr lang="fr-FR" err="1"/>
              <a:t>based</a:t>
            </a:r>
            <a:r>
              <a:rPr lang="fr-FR"/>
              <a:t> on the </a:t>
            </a:r>
            <a:r>
              <a:rPr lang="fr-FR" err="1"/>
              <a:t>principles</a:t>
            </a:r>
            <a:r>
              <a:rPr lang="fr-FR"/>
              <a:t> and data </a:t>
            </a:r>
            <a:r>
              <a:rPr lang="fr-FR" err="1"/>
              <a:t>inventory</a:t>
            </a:r>
            <a:r>
              <a:rPr lang="fr-FR"/>
              <a:t> </a:t>
            </a:r>
            <a:r>
              <a:rPr lang="fr-FR" err="1"/>
              <a:t>declared</a:t>
            </a:r>
            <a:r>
              <a:rPr lang="fr-FR"/>
              <a:t> and </a:t>
            </a:r>
            <a:r>
              <a:rPr lang="fr-FR" err="1"/>
              <a:t>maintained</a:t>
            </a:r>
            <a:r>
              <a:rPr lang="fr-FR"/>
              <a:t> in the exit plan document </a:t>
            </a:r>
            <a:r>
              <a:rPr lang="fr-FR" err="1"/>
              <a:t>attached</a:t>
            </a:r>
            <a:r>
              <a:rPr lang="fr-FR"/>
              <a:t> to the </a:t>
            </a:r>
            <a:r>
              <a:rPr lang="fr-FR" err="1"/>
              <a:t>current</a:t>
            </a:r>
            <a:r>
              <a:rPr lang="fr-FR"/>
              <a:t> solution </a:t>
            </a:r>
            <a:r>
              <a:rPr lang="fr-FR" err="1"/>
              <a:t>with</a:t>
            </a:r>
            <a:r>
              <a:rPr lang="fr-FR"/>
              <a:t> </a:t>
            </a:r>
            <a:r>
              <a:rPr lang="fr-FR" err="1"/>
              <a:t>its</a:t>
            </a:r>
            <a:r>
              <a:rPr lang="fr-FR"/>
              <a:t> </a:t>
            </a:r>
            <a:r>
              <a:rPr lang="fr-FR" err="1"/>
              <a:t>prerequisite</a:t>
            </a:r>
            <a:r>
              <a:rPr lang="fr-FR"/>
              <a:t>.</a:t>
            </a:r>
          </a:p>
          <a:p>
            <a:pPr lvl="1"/>
            <a:r>
              <a:rPr lang="fr-FR" err="1"/>
              <a:t>Here</a:t>
            </a:r>
            <a:r>
              <a:rPr lang="fr-FR"/>
              <a:t> the </a:t>
            </a:r>
            <a:r>
              <a:rPr lang="fr-FR" err="1"/>
              <a:t>project</a:t>
            </a:r>
            <a:r>
              <a:rPr lang="fr-FR"/>
              <a:t> </a:t>
            </a:r>
            <a:r>
              <a:rPr lang="fr-FR" err="1"/>
              <a:t>shall</a:t>
            </a:r>
            <a:r>
              <a:rPr lang="fr-FR"/>
              <a:t> </a:t>
            </a:r>
            <a:r>
              <a:rPr lang="fr-FR" err="1"/>
              <a:t>describe</a:t>
            </a:r>
            <a:r>
              <a:rPr lang="fr-FR"/>
              <a:t> the </a:t>
            </a:r>
            <a:r>
              <a:rPr lang="fr-FR" err="1"/>
              <a:t>principles</a:t>
            </a:r>
            <a:r>
              <a:rPr lang="fr-FR"/>
              <a:t> </a:t>
            </a:r>
            <a:r>
              <a:rPr lang="fr-FR" err="1"/>
              <a:t>consolidated</a:t>
            </a:r>
            <a:r>
              <a:rPr lang="fr-FR"/>
              <a:t> </a:t>
            </a:r>
            <a:r>
              <a:rPr lang="fr-FR" err="1"/>
              <a:t>with</a:t>
            </a:r>
            <a:r>
              <a:rPr lang="fr-FR"/>
              <a:t> the new </a:t>
            </a:r>
            <a:r>
              <a:rPr lang="fr-FR" err="1"/>
              <a:t>target</a:t>
            </a:r>
            <a:r>
              <a:rPr lang="fr-FR"/>
              <a:t> supplier and </a:t>
            </a:r>
            <a:r>
              <a:rPr lang="fr-FR" err="1"/>
              <a:t>give</a:t>
            </a:r>
            <a:r>
              <a:rPr lang="fr-FR"/>
              <a:t> the </a:t>
            </a:r>
            <a:r>
              <a:rPr lang="fr-FR" err="1"/>
              <a:t>principles</a:t>
            </a:r>
            <a:r>
              <a:rPr lang="fr-FR"/>
              <a:t> </a:t>
            </a:r>
            <a:r>
              <a:rPr lang="fr-FR" err="1"/>
              <a:t>adopted</a:t>
            </a:r>
            <a:r>
              <a:rPr lang="fr-FR"/>
              <a:t> by the parties </a:t>
            </a:r>
            <a:r>
              <a:rPr lang="fr-FR" err="1"/>
              <a:t>with</a:t>
            </a:r>
            <a:r>
              <a:rPr lang="fr-FR"/>
              <a:t> </a:t>
            </a:r>
            <a:r>
              <a:rPr lang="fr-FR" err="1"/>
              <a:t>their</a:t>
            </a:r>
            <a:r>
              <a:rPr lang="fr-FR"/>
              <a:t> </a:t>
            </a:r>
            <a:r>
              <a:rPr lang="fr-FR" err="1"/>
              <a:t>requirements</a:t>
            </a:r>
            <a:r>
              <a:rPr lang="fr-FR"/>
              <a:t> and </a:t>
            </a:r>
            <a:r>
              <a:rPr lang="fr-FR" err="1"/>
              <a:t>costs</a:t>
            </a:r>
            <a:r>
              <a:rPr lang="fr-FR"/>
              <a:t>. </a:t>
            </a:r>
          </a:p>
          <a:p>
            <a:pPr marL="914400" lvl="1" indent="-298450"/>
            <a:endParaRPr lang="fr-FR"/>
          </a:p>
        </p:txBody>
      </p:sp>
    </p:spTree>
    <p:extLst>
      <p:ext uri="{BB962C8B-B14F-4D97-AF65-F5344CB8AC3E}">
        <p14:creationId xmlns:p14="http://schemas.microsoft.com/office/powerpoint/2010/main" val="40502044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SaaS solution : </a:t>
            </a:r>
          </a:p>
          <a:p>
            <a:pPr lvl="1"/>
            <a:r>
              <a:rPr lang="fr-FR" err="1"/>
              <a:t>be</a:t>
            </a:r>
            <a:r>
              <a:rPr lang="fr-FR"/>
              <a:t> </a:t>
            </a:r>
            <a:r>
              <a:rPr lang="fr-FR" err="1"/>
              <a:t>aware</a:t>
            </a:r>
            <a:r>
              <a:rPr lang="fr-FR"/>
              <a:t> of the SaaS </a:t>
            </a:r>
            <a:r>
              <a:rPr lang="fr-FR" err="1"/>
              <a:t>well</a:t>
            </a:r>
            <a:r>
              <a:rPr lang="fr-FR"/>
              <a:t> </a:t>
            </a:r>
            <a:r>
              <a:rPr lang="fr-FR" err="1"/>
              <a:t>architect</a:t>
            </a:r>
            <a:r>
              <a:rPr lang="fr-FR"/>
              <a:t> </a:t>
            </a:r>
            <a:r>
              <a:rPr lang="fr-FR" err="1"/>
              <a:t>principles</a:t>
            </a:r>
            <a:r>
              <a:rPr lang="fr-FR"/>
              <a:t> and on </a:t>
            </a:r>
            <a:r>
              <a:rPr lang="fr-FR" err="1"/>
              <a:t>bacth</a:t>
            </a:r>
            <a:r>
              <a:rPr lang="fr-FR"/>
              <a:t>/orchestration.  </a:t>
            </a:r>
            <a:r>
              <a:rPr lang="fr-FR" b="1"/>
              <a:t>It </a:t>
            </a:r>
            <a:r>
              <a:rPr lang="fr-FR" b="1" err="1"/>
              <a:t>is</a:t>
            </a:r>
            <a:r>
              <a:rPr lang="fr-FR" b="1"/>
              <a:t> </a:t>
            </a:r>
            <a:r>
              <a:rPr lang="fr-FR" b="1" err="1"/>
              <a:t>mandatory</a:t>
            </a:r>
            <a:r>
              <a:rPr lang="fr-FR" b="1"/>
              <a:t> to focus on </a:t>
            </a:r>
            <a:r>
              <a:rPr lang="fr-FR" b="1" err="1"/>
              <a:t>that</a:t>
            </a:r>
            <a:r>
              <a:rPr lang="fr-FR" b="1"/>
              <a:t> topic.</a:t>
            </a:r>
            <a:endParaRPr lang="en-GB" b="1"/>
          </a:p>
        </p:txBody>
      </p:sp>
    </p:spTree>
    <p:extLst>
      <p:ext uri="{BB962C8B-B14F-4D97-AF65-F5344CB8AC3E}">
        <p14:creationId xmlns:p14="http://schemas.microsoft.com/office/powerpoint/2010/main" val="33773425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a:t>
            </a:r>
            <a:r>
              <a:rPr lang="fr-FR" b="1" err="1"/>
              <a:t>project</a:t>
            </a:r>
            <a:r>
              <a:rPr lang="fr-FR" b="1"/>
              <a:t> </a:t>
            </a:r>
            <a:r>
              <a:rPr lang="fr-FR" b="1" err="1"/>
              <a:t>based</a:t>
            </a:r>
            <a:r>
              <a:rPr lang="fr-FR" b="1"/>
              <a:t> on SaaS : </a:t>
            </a:r>
          </a:p>
          <a:p>
            <a:pPr lvl="1"/>
            <a:r>
              <a:rPr lang="fr-FR"/>
              <a:t>It </a:t>
            </a:r>
            <a:r>
              <a:rPr lang="fr-FR" err="1"/>
              <a:t>is</a:t>
            </a:r>
            <a:r>
              <a:rPr lang="fr-FR"/>
              <a:t> essential and </a:t>
            </a:r>
            <a:r>
              <a:rPr lang="fr-FR" err="1"/>
              <a:t>mandatory</a:t>
            </a:r>
            <a:r>
              <a:rPr lang="fr-FR"/>
              <a:t> to </a:t>
            </a:r>
            <a:r>
              <a:rPr lang="fr-FR" err="1"/>
              <a:t>maintain</a:t>
            </a:r>
            <a:r>
              <a:rPr lang="fr-FR"/>
              <a:t> an </a:t>
            </a:r>
            <a:r>
              <a:rPr lang="fr-FR" err="1"/>
              <a:t>UpToDate</a:t>
            </a:r>
            <a:r>
              <a:rPr lang="fr-FR"/>
              <a:t>  flow </a:t>
            </a:r>
            <a:r>
              <a:rPr lang="fr-FR" err="1"/>
              <a:t>inventory</a:t>
            </a:r>
            <a:r>
              <a:rPr lang="fr-FR"/>
              <a:t> for </a:t>
            </a:r>
            <a:r>
              <a:rPr lang="fr-FR" err="1"/>
              <a:t>managing</a:t>
            </a:r>
            <a:r>
              <a:rPr lang="fr-FR"/>
              <a:t> exit plan (</a:t>
            </a:r>
            <a:r>
              <a:rPr lang="fr-FR" err="1"/>
              <a:t>cf</a:t>
            </a:r>
            <a:r>
              <a:rPr lang="fr-FR"/>
              <a:t> exit plan </a:t>
            </a:r>
            <a:r>
              <a:rPr lang="fr-FR" err="1"/>
              <a:t>frawework</a:t>
            </a:r>
            <a:r>
              <a:rPr lang="fr-FR"/>
              <a:t> helper) </a:t>
            </a:r>
          </a:p>
          <a:p>
            <a:pPr lvl="1"/>
            <a:endParaRPr lang="en-GB"/>
          </a:p>
        </p:txBody>
      </p:sp>
    </p:spTree>
    <p:extLst>
      <p:ext uri="{BB962C8B-B14F-4D97-AF65-F5344CB8AC3E}">
        <p14:creationId xmlns:p14="http://schemas.microsoft.com/office/powerpoint/2010/main" val="34386464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a:t>
            </a:r>
            <a:r>
              <a:rPr lang="fr-FR" b="1" err="1"/>
              <a:t>project</a:t>
            </a:r>
            <a:r>
              <a:rPr lang="fr-FR" b="1"/>
              <a:t> </a:t>
            </a:r>
            <a:r>
              <a:rPr lang="fr-FR" b="1" err="1"/>
              <a:t>based</a:t>
            </a:r>
            <a:r>
              <a:rPr lang="fr-FR" b="1"/>
              <a:t> on a SaaS solution, </a:t>
            </a:r>
          </a:p>
          <a:p>
            <a:pPr lvl="1"/>
            <a:r>
              <a:rPr lang="fr-FR"/>
              <a:t>The </a:t>
            </a:r>
            <a:r>
              <a:rPr lang="fr-FR" err="1"/>
              <a:t>project</a:t>
            </a:r>
            <a:r>
              <a:rPr lang="fr-FR"/>
              <a:t> </a:t>
            </a:r>
            <a:r>
              <a:rPr lang="fr-FR" err="1"/>
              <a:t>should</a:t>
            </a:r>
            <a:r>
              <a:rPr lang="fr-FR"/>
              <a:t> check </a:t>
            </a:r>
            <a:r>
              <a:rPr lang="fr-FR" err="1"/>
              <a:t>that</a:t>
            </a:r>
            <a:r>
              <a:rPr lang="fr-FR"/>
              <a:t> the </a:t>
            </a:r>
            <a:r>
              <a:rPr lang="fr-FR" err="1"/>
              <a:t>Vendor</a:t>
            </a:r>
            <a:r>
              <a:rPr lang="fr-FR"/>
              <a:t> </a:t>
            </a:r>
            <a:r>
              <a:rPr lang="fr-FR" err="1"/>
              <a:t>applies</a:t>
            </a:r>
            <a:r>
              <a:rPr lang="fr-FR"/>
              <a:t> good </a:t>
            </a:r>
            <a:r>
              <a:rPr lang="fr-FR" err="1"/>
              <a:t>pratice</a:t>
            </a:r>
            <a:r>
              <a:rPr lang="fr-FR"/>
              <a:t> and </a:t>
            </a:r>
            <a:r>
              <a:rPr lang="fr-FR" err="1"/>
              <a:t>these</a:t>
            </a:r>
            <a:r>
              <a:rPr lang="fr-FR"/>
              <a:t> </a:t>
            </a:r>
            <a:r>
              <a:rPr lang="fr-FR" err="1"/>
              <a:t>pratice</a:t>
            </a:r>
            <a:r>
              <a:rPr lang="fr-FR"/>
              <a:t> are </a:t>
            </a:r>
            <a:r>
              <a:rPr lang="fr-FR" err="1"/>
              <a:t>applied</a:t>
            </a:r>
            <a:r>
              <a:rPr lang="fr-FR"/>
              <a:t> on the solution </a:t>
            </a:r>
            <a:r>
              <a:rPr lang="fr-FR" err="1"/>
              <a:t>itself</a:t>
            </a:r>
            <a:r>
              <a:rPr lang="fr-FR"/>
              <a:t> (</a:t>
            </a:r>
            <a:r>
              <a:rPr lang="fr-FR" err="1"/>
              <a:t>cf</a:t>
            </a:r>
            <a:r>
              <a:rPr lang="fr-FR"/>
              <a:t> </a:t>
            </a:r>
            <a:r>
              <a:rPr lang="fr-FR" err="1"/>
              <a:t>risk</a:t>
            </a:r>
            <a:r>
              <a:rPr lang="fr-FR"/>
              <a:t> </a:t>
            </a:r>
            <a:r>
              <a:rPr lang="fr-FR" err="1"/>
              <a:t>vendor</a:t>
            </a:r>
            <a:r>
              <a:rPr lang="fr-FR"/>
              <a:t> and  </a:t>
            </a:r>
            <a:r>
              <a:rPr lang="fr-FR" err="1"/>
              <a:t>security</a:t>
            </a:r>
            <a:r>
              <a:rPr lang="fr-FR"/>
              <a:t> </a:t>
            </a:r>
            <a:r>
              <a:rPr lang="fr-FR" err="1"/>
              <a:t>analysis</a:t>
            </a:r>
            <a:r>
              <a:rPr lang="fr-FR"/>
              <a:t> on the </a:t>
            </a:r>
            <a:r>
              <a:rPr lang="fr-FR" err="1"/>
              <a:t>supplier’s</a:t>
            </a:r>
            <a:r>
              <a:rPr lang="fr-FR"/>
              <a:t> </a:t>
            </a:r>
            <a:r>
              <a:rPr lang="fr-FR" err="1"/>
              <a:t>answer</a:t>
            </a:r>
            <a:r>
              <a:rPr lang="fr-FR"/>
              <a:t> to the SaaS </a:t>
            </a:r>
            <a:r>
              <a:rPr lang="fr-FR" err="1"/>
              <a:t>well</a:t>
            </a:r>
            <a:r>
              <a:rPr lang="fr-FR"/>
              <a:t> </a:t>
            </a:r>
            <a:r>
              <a:rPr lang="fr-FR" err="1"/>
              <a:t>architect</a:t>
            </a:r>
            <a:r>
              <a:rPr lang="fr-FR"/>
              <a:t> )</a:t>
            </a:r>
          </a:p>
          <a:p>
            <a:pPr lvl="1"/>
            <a:endParaRPr lang="fr-FR"/>
          </a:p>
        </p:txBody>
      </p:sp>
    </p:spTree>
    <p:extLst>
      <p:ext uri="{BB962C8B-B14F-4D97-AF65-F5344CB8AC3E}">
        <p14:creationId xmlns:p14="http://schemas.microsoft.com/office/powerpoint/2010/main" val="432866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a:t>
            </a:r>
            <a:r>
              <a:rPr lang="fr-FR" b="1" err="1"/>
              <a:t>project</a:t>
            </a:r>
            <a:r>
              <a:rPr lang="fr-FR" b="1"/>
              <a:t> </a:t>
            </a:r>
            <a:r>
              <a:rPr lang="fr-FR" b="1" err="1"/>
              <a:t>based</a:t>
            </a:r>
            <a:r>
              <a:rPr lang="fr-FR" b="1"/>
              <a:t> on SaaS </a:t>
            </a:r>
            <a:r>
              <a:rPr lang="fr-FR" b="1" err="1"/>
              <a:t>applicationn</a:t>
            </a:r>
            <a:r>
              <a:rPr lang="fr-FR" b="1"/>
              <a:t> :</a:t>
            </a:r>
          </a:p>
          <a:p>
            <a:pPr lvl="1"/>
            <a:r>
              <a:rPr lang="fr-FR"/>
              <a:t> A </a:t>
            </a:r>
            <a:r>
              <a:rPr lang="fr-FR" err="1"/>
              <a:t>detailed</a:t>
            </a:r>
            <a:r>
              <a:rPr lang="fr-FR"/>
              <a:t> RACI  matrix </a:t>
            </a:r>
            <a:r>
              <a:rPr lang="fr-FR" err="1"/>
              <a:t>is</a:t>
            </a:r>
            <a:r>
              <a:rPr lang="fr-FR"/>
              <a:t> essential  (</a:t>
            </a:r>
            <a:r>
              <a:rPr lang="fr-FR" err="1"/>
              <a:t>shared</a:t>
            </a:r>
            <a:r>
              <a:rPr lang="fr-FR"/>
              <a:t> model </a:t>
            </a:r>
            <a:r>
              <a:rPr lang="fr-FR" err="1"/>
              <a:t>responsabilities</a:t>
            </a:r>
            <a:r>
              <a:rPr lang="fr-FR"/>
              <a:t> </a:t>
            </a:r>
            <a:r>
              <a:rPr lang="fr-FR" err="1"/>
              <a:t>between</a:t>
            </a:r>
            <a:r>
              <a:rPr lang="fr-FR"/>
              <a:t> the supplier and the Customer ) </a:t>
            </a:r>
          </a:p>
          <a:p>
            <a:pPr lvl="1"/>
            <a:r>
              <a:rPr lang="fr-FR"/>
              <a:t>It </a:t>
            </a:r>
            <a:r>
              <a:rPr lang="fr-FR" err="1"/>
              <a:t>is</a:t>
            </a:r>
            <a:r>
              <a:rPr lang="fr-FR"/>
              <a:t> part of the </a:t>
            </a:r>
            <a:r>
              <a:rPr lang="fr-FR" err="1"/>
              <a:t>contract</a:t>
            </a:r>
            <a:r>
              <a:rPr lang="fr-FR"/>
              <a:t> </a:t>
            </a:r>
            <a:r>
              <a:rPr lang="fr-FR" err="1"/>
              <a:t>too</a:t>
            </a:r>
            <a:endParaRPr lang="en-GB"/>
          </a:p>
        </p:txBody>
      </p:sp>
    </p:spTree>
    <p:extLst>
      <p:ext uri="{BB962C8B-B14F-4D97-AF65-F5344CB8AC3E}">
        <p14:creationId xmlns:p14="http://schemas.microsoft.com/office/powerpoint/2010/main" val="8065352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a:t>
            </a:r>
            <a:r>
              <a:rPr lang="fr-FR" b="1" err="1"/>
              <a:t>project</a:t>
            </a:r>
            <a:r>
              <a:rPr lang="fr-FR" b="1"/>
              <a:t> </a:t>
            </a:r>
            <a:r>
              <a:rPr lang="fr-FR" b="1" err="1"/>
              <a:t>based</a:t>
            </a:r>
            <a:r>
              <a:rPr lang="fr-FR" b="1"/>
              <a:t> on a SaaS application :</a:t>
            </a:r>
          </a:p>
          <a:p>
            <a:pPr lvl="1"/>
            <a:r>
              <a:rPr lang="fr-FR"/>
              <a:t>the </a:t>
            </a:r>
            <a:r>
              <a:rPr lang="fr-FR" err="1"/>
              <a:t>project</a:t>
            </a:r>
            <a:r>
              <a:rPr lang="fr-FR"/>
              <a:t> </a:t>
            </a:r>
            <a:r>
              <a:rPr lang="fr-FR" err="1"/>
              <a:t>will</a:t>
            </a:r>
            <a:r>
              <a:rPr lang="fr-FR"/>
              <a:t> show the </a:t>
            </a:r>
            <a:r>
              <a:rPr lang="fr-FR" err="1"/>
              <a:t>methodology</a:t>
            </a:r>
            <a:r>
              <a:rPr lang="fr-FR"/>
              <a:t> </a:t>
            </a:r>
            <a:r>
              <a:rPr lang="fr-FR" err="1"/>
              <a:t>apply</a:t>
            </a:r>
            <a:r>
              <a:rPr lang="fr-FR"/>
              <a:t> to </a:t>
            </a:r>
            <a:r>
              <a:rPr lang="fr-FR" err="1"/>
              <a:t>deliver</a:t>
            </a:r>
            <a:r>
              <a:rPr lang="fr-FR"/>
              <a:t> </a:t>
            </a:r>
            <a:r>
              <a:rPr lang="fr-FR" err="1"/>
              <a:t>evolution</a:t>
            </a:r>
            <a:r>
              <a:rPr lang="fr-FR"/>
              <a:t> </a:t>
            </a:r>
          </a:p>
          <a:p>
            <a:pPr lvl="1"/>
            <a:r>
              <a:rPr lang="fr-FR" err="1"/>
              <a:t>Normally</a:t>
            </a:r>
            <a:r>
              <a:rPr lang="fr-FR"/>
              <a:t>, the supplier </a:t>
            </a:r>
            <a:r>
              <a:rPr lang="fr-FR" err="1"/>
              <a:t>shall</a:t>
            </a:r>
            <a:r>
              <a:rPr lang="fr-FR"/>
              <a:t>  have </a:t>
            </a:r>
            <a:r>
              <a:rPr lang="fr-FR" err="1"/>
              <a:t>its</a:t>
            </a:r>
            <a:r>
              <a:rPr lang="fr-FR"/>
              <a:t> CI/CD pipeline and </a:t>
            </a:r>
            <a:r>
              <a:rPr lang="fr-FR" err="1"/>
              <a:t>controls</a:t>
            </a:r>
            <a:r>
              <a:rPr lang="fr-FR"/>
              <a:t>  </a:t>
            </a:r>
            <a:r>
              <a:rPr lang="fr-FR">
                <a:sym typeface="Wingdings" panose="05000000000000000000" pitchFamily="2" charset="2"/>
              </a:rPr>
              <a:t> </a:t>
            </a:r>
            <a:r>
              <a:rPr lang="fr-FR" err="1">
                <a:sym typeface="Wingdings" panose="05000000000000000000" pitchFamily="2" charset="2"/>
              </a:rPr>
              <a:t>cf</a:t>
            </a:r>
            <a:r>
              <a:rPr lang="fr-FR">
                <a:sym typeface="Wingdings" panose="05000000000000000000" pitchFamily="2" charset="2"/>
              </a:rPr>
              <a:t> SLDC process.</a:t>
            </a:r>
            <a:r>
              <a:rPr lang="fr-FR"/>
              <a:t>.</a:t>
            </a:r>
            <a:endParaRPr lang="en-GB"/>
          </a:p>
        </p:txBody>
      </p:sp>
    </p:spTree>
    <p:extLst>
      <p:ext uri="{BB962C8B-B14F-4D97-AF65-F5344CB8AC3E}">
        <p14:creationId xmlns:p14="http://schemas.microsoft.com/office/powerpoint/2010/main" val="3270665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a:t>
            </a:r>
            <a:r>
              <a:rPr lang="fr-FR" b="1" err="1"/>
              <a:t>project</a:t>
            </a:r>
            <a:r>
              <a:rPr lang="fr-FR" b="1"/>
              <a:t> </a:t>
            </a:r>
            <a:r>
              <a:rPr lang="fr-FR" b="1" err="1"/>
              <a:t>based</a:t>
            </a:r>
            <a:r>
              <a:rPr lang="fr-FR" b="1"/>
              <a:t> on a SaaS application : </a:t>
            </a:r>
          </a:p>
          <a:p>
            <a:pPr lvl="1"/>
            <a:r>
              <a:rPr lang="fr-FR"/>
              <a:t>The </a:t>
            </a:r>
            <a:r>
              <a:rPr lang="fr-FR" err="1"/>
              <a:t>project</a:t>
            </a:r>
            <a:r>
              <a:rPr lang="fr-FR"/>
              <a:t> </a:t>
            </a:r>
            <a:r>
              <a:rPr lang="fr-FR" err="1"/>
              <a:t>should</a:t>
            </a:r>
            <a:r>
              <a:rPr lang="fr-FR"/>
              <a:t> </a:t>
            </a:r>
            <a:r>
              <a:rPr lang="fr-FR" err="1"/>
              <a:t>describe</a:t>
            </a:r>
            <a:r>
              <a:rPr lang="fr-FR"/>
              <a:t> the </a:t>
            </a:r>
            <a:r>
              <a:rPr lang="fr-FR" err="1"/>
              <a:t>principles</a:t>
            </a:r>
            <a:r>
              <a:rPr lang="fr-FR"/>
              <a:t> of model </a:t>
            </a:r>
            <a:r>
              <a:rPr lang="fr-FR" err="1"/>
              <a:t>pricing</a:t>
            </a:r>
            <a:r>
              <a:rPr lang="fr-FR"/>
              <a:t> and </a:t>
            </a:r>
            <a:r>
              <a:rPr lang="fr-FR" err="1"/>
              <a:t>enlight</a:t>
            </a:r>
            <a:r>
              <a:rPr lang="fr-FR"/>
              <a:t> the drivers for the </a:t>
            </a:r>
            <a:r>
              <a:rPr lang="fr-FR" err="1"/>
              <a:t>calculation</a:t>
            </a:r>
            <a:r>
              <a:rPr lang="fr-FR"/>
              <a:t>. </a:t>
            </a:r>
          </a:p>
          <a:p>
            <a:pPr lvl="1"/>
            <a:r>
              <a:rPr lang="fr-FR"/>
              <a:t>The </a:t>
            </a:r>
            <a:r>
              <a:rPr lang="fr-FR" err="1"/>
              <a:t>tracking</a:t>
            </a:r>
            <a:r>
              <a:rPr lang="fr-FR"/>
              <a:t> of the drivers and </a:t>
            </a:r>
            <a:r>
              <a:rPr lang="fr-FR" err="1"/>
              <a:t>events</a:t>
            </a:r>
            <a:r>
              <a:rPr lang="fr-FR"/>
              <a:t> </a:t>
            </a:r>
            <a:r>
              <a:rPr lang="fr-FR" err="1"/>
              <a:t>that</a:t>
            </a:r>
            <a:r>
              <a:rPr lang="fr-FR"/>
              <a:t>  </a:t>
            </a:r>
            <a:r>
              <a:rPr lang="fr-FR" err="1"/>
              <a:t>may</a:t>
            </a:r>
            <a:r>
              <a:rPr lang="fr-FR"/>
              <a:t> </a:t>
            </a:r>
            <a:r>
              <a:rPr lang="fr-FR" err="1"/>
              <a:t>conduct</a:t>
            </a:r>
            <a:r>
              <a:rPr lang="fr-FR"/>
              <a:t> to a </a:t>
            </a:r>
            <a:r>
              <a:rPr lang="fr-FR" err="1"/>
              <a:t>strong</a:t>
            </a:r>
            <a:r>
              <a:rPr lang="fr-FR"/>
              <a:t> </a:t>
            </a:r>
            <a:r>
              <a:rPr lang="fr-FR" err="1"/>
              <a:t>increase</a:t>
            </a:r>
            <a:r>
              <a:rPr lang="fr-FR"/>
              <a:t> </a:t>
            </a:r>
            <a:r>
              <a:rPr lang="fr-FR" err="1"/>
              <a:t>shall</a:t>
            </a:r>
            <a:r>
              <a:rPr lang="fr-FR"/>
              <a:t> </a:t>
            </a:r>
            <a:r>
              <a:rPr lang="fr-FR" err="1"/>
              <a:t>be</a:t>
            </a:r>
            <a:r>
              <a:rPr lang="fr-FR"/>
              <a:t> </a:t>
            </a:r>
            <a:r>
              <a:rPr lang="fr-FR" err="1"/>
              <a:t>governed</a:t>
            </a:r>
            <a:r>
              <a:rPr lang="fr-FR"/>
              <a:t> </a:t>
            </a:r>
            <a:r>
              <a:rPr lang="fr-FR" err="1"/>
              <a:t>during</a:t>
            </a:r>
            <a:r>
              <a:rPr lang="fr-FR"/>
              <a:t> all the life of the application </a:t>
            </a:r>
            <a:r>
              <a:rPr lang="fr-FR" err="1"/>
              <a:t>with</a:t>
            </a:r>
            <a:r>
              <a:rPr lang="fr-FR"/>
              <a:t> the supplier  (</a:t>
            </a:r>
            <a:r>
              <a:rPr lang="fr-FR" err="1"/>
              <a:t>risk</a:t>
            </a:r>
            <a:r>
              <a:rPr lang="fr-FR"/>
              <a:t> for an exit plan ). </a:t>
            </a:r>
          </a:p>
          <a:p>
            <a:pPr lvl="1"/>
            <a:endParaRPr lang="fr-FR"/>
          </a:p>
          <a:p>
            <a:pPr lvl="1"/>
            <a:endParaRPr lang="fr-FR"/>
          </a:p>
          <a:p>
            <a:endParaRPr lang="fr-FR"/>
          </a:p>
        </p:txBody>
      </p:sp>
    </p:spTree>
    <p:extLst>
      <p:ext uri="{BB962C8B-B14F-4D97-AF65-F5344CB8AC3E}">
        <p14:creationId xmlns:p14="http://schemas.microsoft.com/office/powerpoint/2010/main" val="26646258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indent="0" algn="l" rtl="0">
              <a:lnSpc>
                <a:spcPct val="100000"/>
              </a:lnSpc>
              <a:spcBef>
                <a:spcPts val="0"/>
              </a:spcBef>
              <a:spcAft>
                <a:spcPts val="0"/>
              </a:spcAft>
              <a:buClr>
                <a:srgbClr val="000000"/>
              </a:buClr>
              <a:buSzPts val="1100"/>
              <a:buFontTx/>
              <a:buNone/>
            </a:pPr>
            <a:r>
              <a:rPr lang="fr-FR" b="0" i="0">
                <a:effectLst/>
                <a:latin typeface="+mn-lt"/>
              </a:rPr>
              <a:t>#Cloud : Monitoring</a:t>
            </a:r>
          </a:p>
          <a:p>
            <a:pPr marL="0" marR="0" indent="0" algn="l" rtl="0">
              <a:lnSpc>
                <a:spcPct val="100000"/>
              </a:lnSpc>
              <a:spcBef>
                <a:spcPts val="0"/>
              </a:spcBef>
              <a:spcAft>
                <a:spcPts val="0"/>
              </a:spcAft>
              <a:buClr>
                <a:srgbClr val="000000"/>
              </a:buClr>
              <a:buSzPts val="1100"/>
              <a:buFontTx/>
              <a:buNone/>
            </a:pPr>
            <a:r>
              <a:rPr lang="fr-FR" b="0" i="0">
                <a:effectLst/>
                <a:latin typeface="+mn-lt"/>
              </a:rPr>
              <a:t>Product Team must </a:t>
            </a:r>
            <a:r>
              <a:rPr lang="fr-FR" b="0" i="0" err="1">
                <a:effectLst/>
                <a:latin typeface="+mn-lt"/>
              </a:rPr>
              <a:t>define</a:t>
            </a:r>
            <a:r>
              <a:rPr lang="fr-FR" b="0" i="0">
                <a:effectLst/>
                <a:latin typeface="+mn-lt"/>
              </a:rPr>
              <a:t> </a:t>
            </a:r>
            <a:r>
              <a:rPr lang="fr-FR" b="0" i="0" err="1">
                <a:effectLst/>
                <a:latin typeface="+mn-lt"/>
              </a:rPr>
              <a:t>what</a:t>
            </a:r>
            <a:r>
              <a:rPr lang="fr-FR" b="0" i="0">
                <a:effectLst/>
                <a:latin typeface="+mn-lt"/>
              </a:rPr>
              <a:t> are the </a:t>
            </a:r>
            <a:r>
              <a:rPr lang="fr-FR" b="0" i="0" err="1">
                <a:effectLst/>
                <a:latin typeface="+mn-lt"/>
              </a:rPr>
              <a:t>most</a:t>
            </a:r>
            <a:r>
              <a:rPr lang="fr-FR" b="0" i="0">
                <a:effectLst/>
                <a:latin typeface="+mn-lt"/>
              </a:rPr>
              <a:t> </a:t>
            </a:r>
            <a:r>
              <a:rPr lang="fr-FR" b="0" i="0" err="1">
                <a:effectLst/>
                <a:latin typeface="+mn-lt"/>
              </a:rPr>
              <a:t>critical</a:t>
            </a:r>
            <a:r>
              <a:rPr lang="fr-FR" b="0" i="0">
                <a:effectLst/>
                <a:latin typeface="+mn-lt"/>
              </a:rPr>
              <a:t> </a:t>
            </a:r>
            <a:r>
              <a:rPr lang="fr-FR" b="0" i="0" err="1">
                <a:effectLst/>
                <a:latin typeface="+mn-lt"/>
              </a:rPr>
              <a:t>metrics</a:t>
            </a:r>
            <a:r>
              <a:rPr lang="fr-FR" b="0" i="0">
                <a:effectLst/>
                <a:latin typeface="+mn-lt"/>
              </a:rPr>
              <a:t> to monitor, and the </a:t>
            </a:r>
            <a:r>
              <a:rPr lang="fr-FR" b="0" i="0" err="1">
                <a:effectLst/>
                <a:latin typeface="+mn-lt"/>
              </a:rPr>
              <a:t>alert</a:t>
            </a:r>
            <a:r>
              <a:rPr lang="fr-FR" b="0" i="0">
                <a:effectLst/>
                <a:latin typeface="+mn-lt"/>
              </a:rPr>
              <a:t> </a:t>
            </a:r>
            <a:r>
              <a:rPr lang="fr-FR" b="0" i="0" err="1">
                <a:effectLst/>
                <a:latin typeface="+mn-lt"/>
              </a:rPr>
              <a:t>threshold</a:t>
            </a:r>
            <a:r>
              <a:rPr lang="fr-FR" b="0" i="0">
                <a:effectLst/>
                <a:latin typeface="+mn-lt"/>
              </a:rPr>
              <a:t>. </a:t>
            </a:r>
            <a:r>
              <a:rPr lang="fr-FR" b="0" i="0" err="1">
                <a:effectLst/>
                <a:latin typeface="+mn-lt"/>
              </a:rPr>
              <a:t>Alert</a:t>
            </a:r>
            <a:r>
              <a:rPr lang="fr-FR" b="0" i="0">
                <a:effectLst/>
                <a:latin typeface="+mn-lt"/>
              </a:rPr>
              <a:t> can </a:t>
            </a:r>
            <a:r>
              <a:rPr lang="fr-FR" b="0" i="0" err="1">
                <a:effectLst/>
                <a:latin typeface="+mn-lt"/>
              </a:rPr>
              <a:t>be</a:t>
            </a:r>
            <a:r>
              <a:rPr lang="fr-FR" b="0" i="0">
                <a:effectLst/>
                <a:latin typeface="+mn-lt"/>
              </a:rPr>
              <a:t> </a:t>
            </a:r>
            <a:r>
              <a:rPr lang="fr-FR" b="0" i="0" err="1">
                <a:effectLst/>
                <a:latin typeface="+mn-lt"/>
              </a:rPr>
              <a:t>send</a:t>
            </a:r>
            <a:r>
              <a:rPr lang="fr-FR" b="0" i="0">
                <a:effectLst/>
                <a:latin typeface="+mn-lt"/>
              </a:rPr>
              <a:t> to the </a:t>
            </a:r>
            <a:r>
              <a:rPr lang="fr-FR" b="0" i="0" err="1">
                <a:effectLst/>
                <a:latin typeface="+mn-lt"/>
              </a:rPr>
              <a:t>product</a:t>
            </a:r>
            <a:r>
              <a:rPr lang="fr-FR" b="0" i="0">
                <a:effectLst/>
                <a:latin typeface="+mn-lt"/>
              </a:rPr>
              <a:t> team via, at least, email.</a:t>
            </a:r>
          </a:p>
          <a:p>
            <a:pPr marL="0" marR="0" indent="0" algn="l" rtl="0">
              <a:lnSpc>
                <a:spcPct val="100000"/>
              </a:lnSpc>
              <a:spcBef>
                <a:spcPts val="0"/>
              </a:spcBef>
              <a:spcAft>
                <a:spcPts val="0"/>
              </a:spcAft>
              <a:buClr>
                <a:srgbClr val="000000"/>
              </a:buClr>
              <a:buSzPts val="1100"/>
              <a:buFontTx/>
              <a:buNone/>
            </a:pPr>
            <a:endParaRPr lang="fr-FR" b="0" i="0">
              <a:effectLst/>
              <a:latin typeface="+mn-lt"/>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456035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indent="0">
              <a:buNone/>
            </a:pPr>
            <a:r>
              <a:rPr lang="fr-FR" sz="1100">
                <a:latin typeface="Encode Sans ExpandedMedium" pitchFamily="2" charset="0"/>
              </a:rPr>
              <a:t>#RPA</a:t>
            </a:r>
          </a:p>
          <a:p>
            <a:pPr marL="0" indent="0">
              <a:buNone/>
            </a:pPr>
            <a:r>
              <a:rPr lang="fr-FR" sz="1100" err="1">
                <a:latin typeface="Encode Sans ExpandedMedium" pitchFamily="2" charset="0"/>
              </a:rPr>
              <a:t>Remove</a:t>
            </a:r>
            <a:r>
              <a:rPr lang="fr-FR" sz="1100">
                <a:latin typeface="Encode Sans ExpandedMedium" pitchFamily="2" charset="0"/>
              </a:rPr>
              <a:t> the slide if RPA </a:t>
            </a:r>
            <a:r>
              <a:rPr lang="fr-FR" sz="1100" err="1">
                <a:latin typeface="Encode Sans ExpandedMedium" pitchFamily="2" charset="0"/>
              </a:rPr>
              <a:t>is</a:t>
            </a:r>
            <a:r>
              <a:rPr lang="fr-FR" sz="1100">
                <a:latin typeface="Encode Sans ExpandedMedium" pitchFamily="2" charset="0"/>
              </a:rPr>
              <a:t> not </a:t>
            </a:r>
            <a:r>
              <a:rPr lang="fr-FR" sz="1100" err="1">
                <a:latin typeface="Encode Sans ExpandedMedium" pitchFamily="2" charset="0"/>
              </a:rPr>
              <a:t>involved</a:t>
            </a:r>
            <a:endParaRPr lang="en-US" sz="1100">
              <a:latin typeface="Encode Sans ExpandedMedium" pitchFamily="2" charset="0"/>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48457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indent="0">
              <a:buNone/>
            </a:pPr>
            <a:r>
              <a:rPr lang="fr-FR" sz="1100">
                <a:latin typeface="Encode Sans ExpandedMedium" pitchFamily="2" charset="0"/>
              </a:rPr>
              <a:t>#LowCode</a:t>
            </a:r>
          </a:p>
          <a:p>
            <a:pPr marL="0" indent="0">
              <a:buNone/>
            </a:pPr>
            <a:r>
              <a:rPr lang="fr-FR" sz="1100" err="1">
                <a:latin typeface="Encode Sans ExpandedMedium" pitchFamily="2" charset="0"/>
              </a:rPr>
              <a:t>Remove</a:t>
            </a:r>
            <a:r>
              <a:rPr lang="fr-FR" sz="1100">
                <a:latin typeface="Encode Sans ExpandedMedium" pitchFamily="2" charset="0"/>
              </a:rPr>
              <a:t> or </a:t>
            </a:r>
            <a:r>
              <a:rPr lang="fr-FR" sz="1100" err="1">
                <a:latin typeface="Encode Sans ExpandedMedium" pitchFamily="2" charset="0"/>
              </a:rPr>
              <a:t>hide</a:t>
            </a:r>
            <a:r>
              <a:rPr lang="fr-FR" sz="1100">
                <a:latin typeface="Encode Sans ExpandedMedium" pitchFamily="2" charset="0"/>
              </a:rPr>
              <a:t> the slide if </a:t>
            </a:r>
            <a:r>
              <a:rPr lang="fr-FR" sz="1100" err="1">
                <a:latin typeface="Encode Sans ExpandedMedium" pitchFamily="2" charset="0"/>
              </a:rPr>
              <a:t>LowCode</a:t>
            </a:r>
            <a:r>
              <a:rPr lang="fr-FR" sz="1100">
                <a:latin typeface="Encode Sans ExpandedMedium" pitchFamily="2" charset="0"/>
              </a:rPr>
              <a:t> &amp; Citizen </a:t>
            </a:r>
            <a:r>
              <a:rPr lang="fr-FR" sz="1100" err="1">
                <a:latin typeface="Encode Sans ExpandedMedium" pitchFamily="2" charset="0"/>
              </a:rPr>
              <a:t>development</a:t>
            </a:r>
            <a:r>
              <a:rPr lang="fr-FR" sz="1100">
                <a:latin typeface="Encode Sans ExpandedMedium" pitchFamily="2" charset="0"/>
              </a:rPr>
              <a:t> </a:t>
            </a:r>
            <a:r>
              <a:rPr lang="fr-FR" sz="1100" err="1">
                <a:latin typeface="Encode Sans ExpandedMedium" pitchFamily="2" charset="0"/>
              </a:rPr>
              <a:t>is</a:t>
            </a:r>
            <a:r>
              <a:rPr lang="fr-FR" sz="1100">
                <a:latin typeface="Encode Sans ExpandedMedium" pitchFamily="2" charset="0"/>
              </a:rPr>
              <a:t> not </a:t>
            </a:r>
            <a:r>
              <a:rPr lang="fr-FR" sz="1100" err="1">
                <a:latin typeface="Encode Sans ExpandedMedium" pitchFamily="2" charset="0"/>
              </a:rPr>
              <a:t>necessary</a:t>
            </a:r>
            <a:r>
              <a:rPr lang="fr-FR" sz="1100">
                <a:latin typeface="Encode Sans ExpandedMedium" pitchFamily="2" charset="0"/>
              </a:rPr>
              <a:t>.</a:t>
            </a:r>
            <a:r>
              <a:rPr lang="en-US" sz="1100">
                <a:latin typeface="Encode Sans ExpandedMedium" pitchFamily="2" charset="0"/>
              </a:rPr>
              <a:t> </a:t>
            </a:r>
            <a:endParaRPr lang="fr-FR" sz="1100">
              <a:latin typeface="Encode Sans ExpandedMedium" pitchFamily="2" charset="0"/>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65804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9505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a:extLst>
            <a:ext uri="{FF2B5EF4-FFF2-40B4-BE49-F238E27FC236}">
              <a16:creationId xmlns:a16="http://schemas.microsoft.com/office/drawing/2014/main" id="{BD95C88C-EE78-57B2-71AE-24A28E558AFF}"/>
            </a:ext>
          </a:extLst>
        </p:cNvPr>
        <p:cNvGrpSpPr/>
        <p:nvPr/>
      </p:nvGrpSpPr>
      <p:grpSpPr>
        <a:xfrm>
          <a:off x="0" y="0"/>
          <a:ext cx="0" cy="0"/>
          <a:chOff x="0" y="0"/>
          <a:chExt cx="0" cy="0"/>
        </a:xfrm>
      </p:grpSpPr>
      <p:sp>
        <p:nvSpPr>
          <p:cNvPr id="1155" name="Google Shape;1155;p4:notes">
            <a:extLst>
              <a:ext uri="{FF2B5EF4-FFF2-40B4-BE49-F238E27FC236}">
                <a16:creationId xmlns:a16="http://schemas.microsoft.com/office/drawing/2014/main" id="{4CBBD9E3-F14B-AC21-ABA0-28DA07EEA4D5}"/>
              </a:ext>
            </a:extLst>
          </p:cNvPr>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a:t>#Costs</a:t>
            </a:r>
            <a:endParaRPr/>
          </a:p>
        </p:txBody>
      </p:sp>
      <p:sp>
        <p:nvSpPr>
          <p:cNvPr id="1156" name="Google Shape;1156;p4:notes">
            <a:extLst>
              <a:ext uri="{FF2B5EF4-FFF2-40B4-BE49-F238E27FC236}">
                <a16:creationId xmlns:a16="http://schemas.microsoft.com/office/drawing/2014/main" id="{8817F41B-799D-D97C-E058-4E7246F1F63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16445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a:t>For a </a:t>
            </a:r>
            <a:r>
              <a:rPr lang="fr-FR" b="1" err="1"/>
              <a:t>project</a:t>
            </a:r>
            <a:r>
              <a:rPr lang="fr-FR" b="1"/>
              <a:t> </a:t>
            </a:r>
            <a:r>
              <a:rPr lang="fr-FR" b="1" err="1"/>
              <a:t>based</a:t>
            </a:r>
            <a:r>
              <a:rPr lang="fr-FR" b="1"/>
              <a:t>  on a SaaS application : </a:t>
            </a:r>
          </a:p>
          <a:p>
            <a:pPr lvl="1"/>
            <a:r>
              <a:rPr lang="fr-FR" err="1"/>
              <a:t>add</a:t>
            </a:r>
            <a:r>
              <a:rPr lang="fr-FR"/>
              <a:t> the </a:t>
            </a:r>
            <a:r>
              <a:rPr lang="fr-FR" err="1"/>
              <a:t>link</a:t>
            </a:r>
            <a:r>
              <a:rPr lang="fr-FR"/>
              <a:t> to the </a:t>
            </a:r>
            <a:r>
              <a:rPr lang="fr-FR" err="1"/>
              <a:t>Cybersecurity</a:t>
            </a:r>
            <a:r>
              <a:rPr lang="fr-FR"/>
              <a:t> and security </a:t>
            </a:r>
            <a:r>
              <a:rPr lang="fr-FR" err="1"/>
              <a:t>assessment</a:t>
            </a:r>
            <a:r>
              <a:rPr lang="fr-FR"/>
              <a:t> + </a:t>
            </a:r>
            <a:r>
              <a:rPr lang="fr-FR" err="1"/>
              <a:t>Vendor</a:t>
            </a:r>
            <a:r>
              <a:rPr lang="fr-FR"/>
              <a:t> </a:t>
            </a:r>
            <a:r>
              <a:rPr lang="fr-FR" err="1"/>
              <a:t>assessment</a:t>
            </a:r>
            <a:r>
              <a:rPr lang="fr-FR"/>
              <a:t>  - Cyber </a:t>
            </a:r>
            <a:r>
              <a:rPr lang="fr-FR" err="1"/>
              <a:t>vadis</a:t>
            </a:r>
            <a:endParaRPr lang="fr-FR"/>
          </a:p>
          <a:p>
            <a:pPr lvl="1"/>
            <a:r>
              <a:rPr lang="fr-FR" b="1" err="1"/>
              <a:t>Precise</a:t>
            </a:r>
            <a:r>
              <a:rPr lang="fr-FR" b="1"/>
              <a:t> the </a:t>
            </a:r>
            <a:r>
              <a:rPr lang="fr-FR" b="1" err="1"/>
              <a:t>level</a:t>
            </a:r>
            <a:r>
              <a:rPr lang="fr-FR" b="1"/>
              <a:t> of Risk as </a:t>
            </a:r>
            <a:r>
              <a:rPr lang="fr-FR" b="1" err="1"/>
              <a:t>it</a:t>
            </a:r>
            <a:r>
              <a:rPr lang="fr-FR" b="1"/>
              <a:t> drives the </a:t>
            </a:r>
            <a:r>
              <a:rPr lang="fr-FR" b="1" err="1"/>
              <a:t>policy</a:t>
            </a:r>
            <a:r>
              <a:rPr lang="fr-FR" b="1"/>
              <a:t> </a:t>
            </a:r>
            <a:r>
              <a:rPr lang="fr-FR" b="1" err="1"/>
              <a:t>testing</a:t>
            </a:r>
            <a:r>
              <a:rPr lang="fr-FR" b="1"/>
              <a:t> for exit plan </a:t>
            </a:r>
            <a:r>
              <a:rPr lang="fr-FR" b="1" err="1"/>
              <a:t>during</a:t>
            </a:r>
            <a:r>
              <a:rPr lang="fr-FR" b="1"/>
              <a:t> </a:t>
            </a:r>
            <a:r>
              <a:rPr lang="fr-FR" b="1" err="1"/>
              <a:t>build</a:t>
            </a:r>
            <a:r>
              <a:rPr lang="fr-FR" b="1"/>
              <a:t> and run phase on a </a:t>
            </a:r>
            <a:r>
              <a:rPr lang="fr-FR" b="1" err="1"/>
              <a:t>regular</a:t>
            </a:r>
            <a:r>
              <a:rPr lang="fr-FR" b="1"/>
              <a:t> frequency</a:t>
            </a:r>
          </a:p>
          <a:p>
            <a:endParaRPr lang="en-GB"/>
          </a:p>
        </p:txBody>
      </p:sp>
    </p:spTree>
    <p:extLst>
      <p:ext uri="{BB962C8B-B14F-4D97-AF65-F5344CB8AC3E}">
        <p14:creationId xmlns:p14="http://schemas.microsoft.com/office/powerpoint/2010/main" val="13104920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C066-60CE-DC50-6D88-2B2CB7CFAC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AD88D50-4779-6B0F-93EE-441CED427F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898904E-0C51-1EE9-E6FF-FD4D0D369D5F}"/>
              </a:ext>
            </a:extLst>
          </p:cNvPr>
          <p:cNvSpPr>
            <a:spLocks noGrp="1"/>
          </p:cNvSpPr>
          <p:nvPr>
            <p:ph type="body" idx="1"/>
          </p:nvPr>
        </p:nvSpPr>
        <p:spPr/>
        <p:txBody>
          <a:bodyPr/>
          <a:lstStyle/>
          <a:p>
            <a:r>
              <a:rPr lang="fr-FR" b="1"/>
              <a:t>For  a </a:t>
            </a:r>
            <a:r>
              <a:rPr lang="fr-FR" b="1" err="1"/>
              <a:t>project</a:t>
            </a:r>
            <a:r>
              <a:rPr lang="fr-FR" b="1"/>
              <a:t> </a:t>
            </a:r>
            <a:r>
              <a:rPr lang="fr-FR" b="1" err="1"/>
              <a:t>based</a:t>
            </a:r>
            <a:r>
              <a:rPr lang="fr-FR" b="1"/>
              <a:t> on a SaaS solution, </a:t>
            </a:r>
          </a:p>
          <a:p>
            <a:pPr lvl="1"/>
            <a:r>
              <a:rPr lang="fr-FR"/>
              <a:t>The </a:t>
            </a:r>
            <a:r>
              <a:rPr lang="fr-FR" err="1"/>
              <a:t>project</a:t>
            </a:r>
            <a:r>
              <a:rPr lang="fr-FR"/>
              <a:t> </a:t>
            </a:r>
            <a:r>
              <a:rPr lang="fr-FR" err="1"/>
              <a:t>should</a:t>
            </a:r>
            <a:r>
              <a:rPr lang="fr-FR"/>
              <a:t> check </a:t>
            </a:r>
            <a:r>
              <a:rPr lang="fr-FR" err="1"/>
              <a:t>that</a:t>
            </a:r>
            <a:r>
              <a:rPr lang="fr-FR"/>
              <a:t> the </a:t>
            </a:r>
            <a:r>
              <a:rPr lang="fr-FR" err="1"/>
              <a:t>Vendor</a:t>
            </a:r>
            <a:r>
              <a:rPr lang="fr-FR"/>
              <a:t> </a:t>
            </a:r>
            <a:r>
              <a:rPr lang="fr-FR" err="1"/>
              <a:t>applies</a:t>
            </a:r>
            <a:r>
              <a:rPr lang="fr-FR"/>
              <a:t> good </a:t>
            </a:r>
            <a:r>
              <a:rPr lang="fr-FR" err="1"/>
              <a:t>pratice</a:t>
            </a:r>
            <a:r>
              <a:rPr lang="fr-FR"/>
              <a:t> and </a:t>
            </a:r>
            <a:r>
              <a:rPr lang="fr-FR" err="1"/>
              <a:t>these</a:t>
            </a:r>
            <a:r>
              <a:rPr lang="fr-FR"/>
              <a:t> </a:t>
            </a:r>
            <a:r>
              <a:rPr lang="fr-FR" err="1"/>
              <a:t>pratice</a:t>
            </a:r>
            <a:r>
              <a:rPr lang="fr-FR"/>
              <a:t> are </a:t>
            </a:r>
            <a:r>
              <a:rPr lang="fr-FR" err="1"/>
              <a:t>applied</a:t>
            </a:r>
            <a:r>
              <a:rPr lang="fr-FR"/>
              <a:t> on the solution </a:t>
            </a:r>
            <a:r>
              <a:rPr lang="fr-FR" err="1"/>
              <a:t>itself</a:t>
            </a:r>
            <a:r>
              <a:rPr lang="fr-FR"/>
              <a:t> (</a:t>
            </a:r>
            <a:r>
              <a:rPr lang="fr-FR" err="1"/>
              <a:t>cf</a:t>
            </a:r>
            <a:r>
              <a:rPr lang="fr-FR"/>
              <a:t> </a:t>
            </a:r>
            <a:r>
              <a:rPr lang="fr-FR" err="1"/>
              <a:t>risk</a:t>
            </a:r>
            <a:r>
              <a:rPr lang="fr-FR"/>
              <a:t> </a:t>
            </a:r>
            <a:r>
              <a:rPr lang="fr-FR" err="1"/>
              <a:t>vendor</a:t>
            </a:r>
            <a:r>
              <a:rPr lang="fr-FR"/>
              <a:t> and  </a:t>
            </a:r>
            <a:r>
              <a:rPr lang="fr-FR" err="1"/>
              <a:t>security</a:t>
            </a:r>
            <a:r>
              <a:rPr lang="fr-FR"/>
              <a:t> </a:t>
            </a:r>
            <a:r>
              <a:rPr lang="fr-FR" err="1"/>
              <a:t>analysis</a:t>
            </a:r>
            <a:r>
              <a:rPr lang="fr-FR"/>
              <a:t> on the </a:t>
            </a:r>
            <a:r>
              <a:rPr lang="fr-FR" err="1"/>
              <a:t>supplier’s</a:t>
            </a:r>
            <a:r>
              <a:rPr lang="fr-FR"/>
              <a:t> </a:t>
            </a:r>
            <a:r>
              <a:rPr lang="fr-FR" err="1"/>
              <a:t>answer</a:t>
            </a:r>
            <a:r>
              <a:rPr lang="fr-FR"/>
              <a:t> to the SaaS </a:t>
            </a:r>
            <a:r>
              <a:rPr lang="fr-FR" err="1"/>
              <a:t>well</a:t>
            </a:r>
            <a:r>
              <a:rPr lang="fr-FR"/>
              <a:t> </a:t>
            </a:r>
            <a:r>
              <a:rPr lang="fr-FR" err="1"/>
              <a:t>architect</a:t>
            </a:r>
            <a:r>
              <a:rPr lang="fr-FR"/>
              <a:t> )</a:t>
            </a:r>
          </a:p>
          <a:p>
            <a:pPr lvl="1"/>
            <a:endParaRPr lang="fr-FR"/>
          </a:p>
        </p:txBody>
      </p:sp>
    </p:spTree>
    <p:extLst>
      <p:ext uri="{BB962C8B-B14F-4D97-AF65-F5344CB8AC3E}">
        <p14:creationId xmlns:p14="http://schemas.microsoft.com/office/powerpoint/2010/main" val="2703753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a:extLst>
            <a:ext uri="{FF2B5EF4-FFF2-40B4-BE49-F238E27FC236}">
              <a16:creationId xmlns:a16="http://schemas.microsoft.com/office/drawing/2014/main" id="{8FF59C25-8E4E-49D0-49BB-7BEC15C25212}"/>
            </a:ext>
          </a:extLst>
        </p:cNvPr>
        <p:cNvGrpSpPr/>
        <p:nvPr/>
      </p:nvGrpSpPr>
      <p:grpSpPr>
        <a:xfrm>
          <a:off x="0" y="0"/>
          <a:ext cx="0" cy="0"/>
          <a:chOff x="0" y="0"/>
          <a:chExt cx="0" cy="0"/>
        </a:xfrm>
      </p:grpSpPr>
      <p:sp>
        <p:nvSpPr>
          <p:cNvPr id="1155" name="Google Shape;1155;p4:notes">
            <a:extLst>
              <a:ext uri="{FF2B5EF4-FFF2-40B4-BE49-F238E27FC236}">
                <a16:creationId xmlns:a16="http://schemas.microsoft.com/office/drawing/2014/main" id="{1DE883E7-0A94-E36B-7B54-9E6DD1795C35}"/>
              </a:ext>
            </a:extLst>
          </p:cNvPr>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indent="0">
              <a:buNone/>
            </a:pPr>
            <a:r>
              <a:rPr lang="fr-FR" sz="1100">
                <a:latin typeface="Encode Sans ExpandedMedium" pitchFamily="2" charset="0"/>
              </a:rPr>
              <a:t>#Risks</a:t>
            </a:r>
          </a:p>
          <a:p>
            <a:pPr marL="0" indent="0">
              <a:buNone/>
            </a:pPr>
            <a:r>
              <a:rPr lang="fr-FR" sz="1100">
                <a:latin typeface="Encode Sans ExpandedMedium" pitchFamily="2" charset="0"/>
              </a:rPr>
              <a:t>Risk of the </a:t>
            </a:r>
            <a:r>
              <a:rPr lang="fr-FR" sz="1100" err="1">
                <a:latin typeface="Encode Sans ExpandedMedium" pitchFamily="2" charset="0"/>
              </a:rPr>
              <a:t>current</a:t>
            </a:r>
            <a:r>
              <a:rPr lang="fr-FR" sz="1100">
                <a:latin typeface="Encode Sans ExpandedMedium" pitchFamily="2" charset="0"/>
              </a:rPr>
              <a:t> solution, not on the </a:t>
            </a:r>
            <a:r>
              <a:rPr lang="fr-FR" sz="1100" err="1">
                <a:latin typeface="Encode Sans ExpandedMedium" pitchFamily="2" charset="0"/>
              </a:rPr>
              <a:t>demand</a:t>
            </a:r>
            <a:r>
              <a:rPr lang="fr-FR" sz="1100">
                <a:latin typeface="Encode Sans ExpandedMedium" pitchFamily="2" charset="0"/>
              </a:rPr>
              <a:t> (to </a:t>
            </a:r>
            <a:r>
              <a:rPr lang="fr-FR" sz="1100" err="1">
                <a:latin typeface="Encode Sans ExpandedMedium" pitchFamily="2" charset="0"/>
              </a:rPr>
              <a:t>be</a:t>
            </a:r>
            <a:r>
              <a:rPr lang="fr-FR" sz="1100">
                <a:latin typeface="Encode Sans ExpandedMedium" pitchFamily="2" charset="0"/>
              </a:rPr>
              <a:t> </a:t>
            </a:r>
            <a:r>
              <a:rPr lang="fr-FR" sz="1100" err="1">
                <a:latin typeface="Encode Sans ExpandedMedium" pitchFamily="2" charset="0"/>
              </a:rPr>
              <a:t>managed</a:t>
            </a:r>
            <a:r>
              <a:rPr lang="fr-FR" sz="1100">
                <a:latin typeface="Encode Sans ExpandedMedium" pitchFamily="2" charset="0"/>
              </a:rPr>
              <a:t> in </a:t>
            </a:r>
            <a:r>
              <a:rPr lang="fr-FR" sz="1100" err="1">
                <a:latin typeface="Encode Sans ExpandedMedium" pitchFamily="2" charset="0"/>
              </a:rPr>
              <a:t>DigitalMe</a:t>
            </a:r>
            <a:r>
              <a:rPr lang="fr-FR" sz="1100">
                <a:latin typeface="Encode Sans ExpandedMedium" pitchFamily="2" charset="0"/>
              </a:rPr>
              <a:t>)</a:t>
            </a:r>
          </a:p>
          <a:p>
            <a:pPr marL="0" indent="0">
              <a:buNone/>
            </a:pPr>
            <a:r>
              <a:rPr lang="fr-FR" sz="1100" err="1">
                <a:latin typeface="Encode Sans ExpandedMedium" pitchFamily="2" charset="0"/>
              </a:rPr>
              <a:t>Examples</a:t>
            </a:r>
            <a:r>
              <a:rPr lang="fr-FR" sz="1100">
                <a:latin typeface="Encode Sans ExpandedMedium" pitchFamily="2" charset="0"/>
              </a:rPr>
              <a:t> : </a:t>
            </a:r>
            <a:r>
              <a:rPr lang="fr-FR" sz="1100" err="1">
                <a:latin typeface="Encode Sans ExpandedMedium" pitchFamily="2" charset="0"/>
              </a:rPr>
              <a:t>lack</a:t>
            </a:r>
            <a:r>
              <a:rPr lang="fr-FR" sz="1100">
                <a:latin typeface="Encode Sans ExpandedMedium" pitchFamily="2" charset="0"/>
              </a:rPr>
              <a:t> of training ; high </a:t>
            </a:r>
            <a:r>
              <a:rPr lang="fr-FR" sz="1100" err="1">
                <a:latin typeface="Encode Sans ExpandedMedium" pitchFamily="2" charset="0"/>
              </a:rPr>
              <a:t>latency</a:t>
            </a:r>
            <a:r>
              <a:rPr lang="fr-FR" sz="1100">
                <a:latin typeface="Encode Sans ExpandedMedium" pitchFamily="2" charset="0"/>
              </a:rPr>
              <a:t> ; …</a:t>
            </a:r>
          </a:p>
          <a:p>
            <a:pPr marL="0" indent="0">
              <a:buNone/>
            </a:pPr>
            <a:r>
              <a:rPr lang="fr-FR" sz="1100">
                <a:latin typeface="Encode Sans ExpandedMedium" pitchFamily="2" charset="0"/>
              </a:rPr>
              <a:t>Impact : 0 to 3 (from </a:t>
            </a:r>
            <a:r>
              <a:rPr lang="fr-FR" sz="1100" err="1">
                <a:latin typeface="Encode Sans ExpandedMedium" pitchFamily="2" charset="0"/>
              </a:rPr>
              <a:t>Negligible</a:t>
            </a:r>
            <a:r>
              <a:rPr lang="fr-FR" sz="1100">
                <a:latin typeface="Encode Sans ExpandedMedium" pitchFamily="2" charset="0"/>
              </a:rPr>
              <a:t> to </a:t>
            </a:r>
            <a:r>
              <a:rPr lang="fr-FR" sz="1100" err="1">
                <a:latin typeface="Encode Sans ExpandedMedium" pitchFamily="2" charset="0"/>
              </a:rPr>
              <a:t>Severe</a:t>
            </a:r>
            <a:r>
              <a:rPr lang="fr-FR" sz="1100">
                <a:latin typeface="Encode Sans ExpandedMedium" pitchFamily="2" charset="0"/>
              </a:rPr>
              <a:t>) ; </a:t>
            </a:r>
            <a:r>
              <a:rPr lang="fr-FR" sz="1100" err="1">
                <a:latin typeface="Encode Sans ExpandedMedium" pitchFamily="2" charset="0"/>
              </a:rPr>
              <a:t>likehood</a:t>
            </a:r>
            <a:r>
              <a:rPr lang="fr-FR" sz="1100">
                <a:latin typeface="Encode Sans ExpandedMedium" pitchFamily="2" charset="0"/>
              </a:rPr>
              <a:t> : 0 to 3 (from </a:t>
            </a:r>
            <a:r>
              <a:rPr lang="fr-FR" sz="1100" err="1">
                <a:latin typeface="Encode Sans ExpandedMedium" pitchFamily="2" charset="0"/>
              </a:rPr>
              <a:t>very</a:t>
            </a:r>
            <a:r>
              <a:rPr lang="fr-FR" sz="1100">
                <a:latin typeface="Encode Sans ExpandedMedium" pitchFamily="2" charset="0"/>
              </a:rPr>
              <a:t> </a:t>
            </a:r>
            <a:r>
              <a:rPr lang="fr-FR" sz="1100" err="1">
                <a:latin typeface="Encode Sans ExpandedMedium" pitchFamily="2" charset="0"/>
              </a:rPr>
              <a:t>unlikely</a:t>
            </a:r>
            <a:r>
              <a:rPr lang="fr-FR" sz="1100">
                <a:latin typeface="Encode Sans ExpandedMedium" pitchFamily="2" charset="0"/>
              </a:rPr>
              <a:t> to </a:t>
            </a:r>
            <a:r>
              <a:rPr lang="fr-FR" sz="1100" err="1">
                <a:latin typeface="Encode Sans ExpandedMedium" pitchFamily="2" charset="0"/>
              </a:rPr>
              <a:t>very</a:t>
            </a:r>
            <a:r>
              <a:rPr lang="fr-FR" sz="1100">
                <a:latin typeface="Encode Sans ExpandedMedium" pitchFamily="2" charset="0"/>
              </a:rPr>
              <a:t> </a:t>
            </a:r>
            <a:r>
              <a:rPr lang="fr-FR" sz="1100" err="1">
                <a:latin typeface="Encode Sans ExpandedMedium" pitchFamily="2" charset="0"/>
              </a:rPr>
              <a:t>likely</a:t>
            </a:r>
            <a:r>
              <a:rPr lang="fr-FR" sz="1100">
                <a:latin typeface="Encode Sans ExpandedMedium" pitchFamily="2" charset="0"/>
              </a:rPr>
              <a:t>)</a:t>
            </a:r>
            <a:endParaRPr lang="en-US" sz="1100">
              <a:latin typeface="Encode Sans ExpandedMedium" pitchFamily="2" charset="0"/>
            </a:endParaRPr>
          </a:p>
        </p:txBody>
      </p:sp>
      <p:sp>
        <p:nvSpPr>
          <p:cNvPr id="1156" name="Google Shape;1156;p4:notes">
            <a:extLst>
              <a:ext uri="{FF2B5EF4-FFF2-40B4-BE49-F238E27FC236}">
                <a16:creationId xmlns:a16="http://schemas.microsoft.com/office/drawing/2014/main" id="{A9038D79-41D2-EFCD-6EAA-7F4C050D49F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78012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311943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noProof="0">
              <a:solidFill>
                <a:srgbClr val="000000"/>
              </a:solidFill>
              <a:latin typeface="Arial"/>
              <a:cs typeface="Arial"/>
              <a:sym typeface="Arial"/>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52403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171450" marR="0" indent="-171450" algn="l" rtl="0">
              <a:lnSpc>
                <a:spcPct val="100000"/>
              </a:lnSpc>
              <a:spcBef>
                <a:spcPts val="0"/>
              </a:spcBef>
              <a:spcAft>
                <a:spcPts val="0"/>
              </a:spcAft>
              <a:buClr>
                <a:srgbClr val="000000"/>
              </a:buClr>
              <a:buSzPts val="1100"/>
              <a:buFont typeface="Arial"/>
              <a:buChar char="●"/>
            </a:pPr>
            <a:r>
              <a:rPr lang="en-US" sz="1100">
                <a:latin typeface="Encode Sans ExpandedMedium" pitchFamily="2" charset="0"/>
              </a:rPr>
              <a:t>The Technical Initial </a:t>
            </a:r>
            <a:r>
              <a:rPr lang="en-US" sz="1100" b="0" i="0" u="none" strike="noStrike" cap="none">
                <a:solidFill>
                  <a:srgbClr val="000000"/>
                </a:solidFill>
                <a:latin typeface="Arial"/>
                <a:cs typeface="Arial"/>
                <a:sym typeface="Arial"/>
              </a:rPr>
              <a:t>Gate is </a:t>
            </a:r>
            <a:r>
              <a:rPr lang="en-US" sz="1100" b="0" i="0" u="none" strike="noStrike" cap="none">
                <a:solidFill>
                  <a:srgbClr val="000000"/>
                </a:solidFill>
                <a:latin typeface="Arial"/>
                <a:cs typeface="Arial"/>
                <a:sym typeface="Arial"/>
                <a:hlinkClick r:id="rId3">
                  <a:extLst>
                    <a:ext uri="{A12FA001-AC4F-418D-AE19-62706E023703}">
                      <ahyp:hlinkClr xmlns:ahyp="http://schemas.microsoft.com/office/drawing/2018/hyperlinkcolor" val="tx"/>
                    </a:ext>
                  </a:extLst>
                </a:hlinkClick>
              </a:rPr>
              <a:t>mandatory</a:t>
            </a:r>
            <a:r>
              <a:rPr lang="en-US" sz="1100" b="0" i="0" u="none" strike="noStrike" cap="none">
                <a:solidFill>
                  <a:srgbClr val="000000"/>
                </a:solidFill>
                <a:latin typeface="Arial"/>
                <a:cs typeface="Arial"/>
                <a:sym typeface="Arial"/>
              </a:rPr>
              <a:t> before presenting the project to the CIO</a:t>
            </a:r>
          </a:p>
          <a:p>
            <a:pPr marL="171450" marR="0" indent="-171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cs typeface="Arial"/>
                <a:sym typeface="Arial"/>
              </a:rPr>
              <a:t>Any dispense (ex: small evolution </a:t>
            </a:r>
            <a:r>
              <a:rPr lang="en-US" sz="1100">
                <a:latin typeface="Encode Sans ExpandedMedium" pitchFamily="2" charset="0"/>
              </a:rPr>
              <a:t>with no impact on architecture) must be validated by the CTO team (</a:t>
            </a:r>
            <a:r>
              <a:rPr lang="en-US" sz="1100">
                <a:latin typeface="Encode Sans ExpandedMedium" pitchFamily="2" charset="0"/>
                <a:hlinkClick r:id="rId4">
                  <a:extLst>
                    <a:ext uri="{A12FA001-AC4F-418D-AE19-62706E023703}">
                      <ahyp:hlinkClr xmlns:ahyp="http://schemas.microsoft.com/office/drawing/2018/hyperlinkcolor" val="tx"/>
                    </a:ext>
                  </a:extLst>
                </a:hlinkClick>
              </a:rPr>
              <a:t>francoise.sportiche@stellantis.com</a:t>
            </a:r>
            <a:r>
              <a:rPr lang="en-US" sz="1100">
                <a:latin typeface="Encode Sans ExpandedMedium" pitchFamily="2" charset="0"/>
              </a:rPr>
              <a:t>)</a:t>
            </a: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02985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6408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28733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6" name="Google Shape;1156;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84111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E3236-26B7-0D48-E575-5BB7F5FE880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EC54B4D-A5A3-AE0E-CE01-DB3B296BE8B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64FCB62-1102-CC1B-EB7B-37E2EFACBB67}"/>
              </a:ext>
            </a:extLst>
          </p:cNvPr>
          <p:cNvSpPr>
            <a:spLocks noGrp="1"/>
          </p:cNvSpPr>
          <p:nvPr>
            <p:ph type="body" idx="1"/>
          </p:nvPr>
        </p:nvSpPr>
        <p:spPr/>
        <p:txBody>
          <a:bodyPr/>
          <a:lstStyle/>
          <a:p>
            <a:r>
              <a:rPr lang="fr-FR" b="1"/>
              <a:t>For a SaaS solution :</a:t>
            </a:r>
          </a:p>
          <a:p>
            <a:pPr lvl="1"/>
            <a:r>
              <a:rPr lang="fr-FR" err="1"/>
              <a:t>please</a:t>
            </a:r>
            <a:r>
              <a:rPr lang="fr-FR"/>
              <a:t> </a:t>
            </a:r>
            <a:r>
              <a:rPr lang="fr-FR" err="1"/>
              <a:t>refer</a:t>
            </a:r>
            <a:r>
              <a:rPr lang="fr-FR"/>
              <a:t> to the </a:t>
            </a:r>
            <a:r>
              <a:rPr lang="fr-FR" err="1"/>
              <a:t>inventory</a:t>
            </a:r>
            <a:r>
              <a:rPr lang="fr-FR"/>
              <a:t> (</a:t>
            </a:r>
            <a:r>
              <a:rPr lang="fr-FR" err="1"/>
              <a:t>SaaS_exit</a:t>
            </a:r>
            <a:r>
              <a:rPr lang="fr-FR"/>
              <a:t> plan _</a:t>
            </a:r>
            <a:r>
              <a:rPr lang="fr-FR" err="1"/>
              <a:t>framework</a:t>
            </a:r>
            <a:r>
              <a:rPr lang="fr-FR"/>
              <a:t>, helper) . The exit plan document </a:t>
            </a:r>
            <a:r>
              <a:rPr lang="fr-FR" err="1"/>
              <a:t>shoud</a:t>
            </a:r>
            <a:r>
              <a:rPr lang="fr-FR"/>
              <a:t> </a:t>
            </a:r>
            <a:r>
              <a:rPr lang="fr-FR" err="1"/>
              <a:t>fully</a:t>
            </a:r>
            <a:r>
              <a:rPr lang="fr-FR"/>
              <a:t> update for an exit plan </a:t>
            </a:r>
            <a:r>
              <a:rPr lang="fr-FR" err="1"/>
              <a:t>with</a:t>
            </a:r>
            <a:r>
              <a:rPr lang="fr-FR"/>
              <a:t> the </a:t>
            </a:r>
            <a:r>
              <a:rPr lang="fr-FR" err="1"/>
              <a:t>mediation</a:t>
            </a:r>
            <a:r>
              <a:rPr lang="fr-FR"/>
              <a:t> </a:t>
            </a:r>
            <a:r>
              <a:rPr lang="fr-FR" err="1"/>
              <a:t>features</a:t>
            </a:r>
            <a:r>
              <a:rPr lang="fr-FR"/>
              <a:t> </a:t>
            </a:r>
            <a:r>
              <a:rPr lang="fr-FR" err="1"/>
              <a:t>attached</a:t>
            </a:r>
            <a:r>
              <a:rPr lang="fr-FR"/>
              <a:t> to the flow for instance. </a:t>
            </a:r>
          </a:p>
          <a:p>
            <a:pPr lvl="1"/>
            <a:r>
              <a:rPr lang="fr-FR" err="1"/>
              <a:t>Please</a:t>
            </a:r>
            <a:r>
              <a:rPr lang="fr-FR"/>
              <a:t> if </a:t>
            </a:r>
            <a:r>
              <a:rPr lang="fr-FR" err="1"/>
              <a:t>any</a:t>
            </a:r>
            <a:r>
              <a:rPr lang="fr-FR"/>
              <a:t> </a:t>
            </a:r>
            <a:r>
              <a:rPr lang="fr-FR" err="1"/>
              <a:t>privatelink</a:t>
            </a:r>
            <a:r>
              <a:rPr lang="fr-FR"/>
              <a:t> </a:t>
            </a:r>
            <a:r>
              <a:rPr lang="fr-FR" err="1"/>
              <a:t>is</a:t>
            </a:r>
            <a:r>
              <a:rPr lang="fr-FR"/>
              <a:t> </a:t>
            </a:r>
            <a:r>
              <a:rPr lang="fr-FR" err="1"/>
              <a:t>required</a:t>
            </a:r>
            <a:r>
              <a:rPr lang="fr-FR"/>
              <a:t>, </a:t>
            </a:r>
            <a:r>
              <a:rPr lang="fr-FR" err="1"/>
              <a:t>explain</a:t>
            </a:r>
            <a:r>
              <a:rPr lang="fr-FR"/>
              <a:t> the business and </a:t>
            </a:r>
            <a:r>
              <a:rPr lang="fr-FR" err="1"/>
              <a:t>technical</a:t>
            </a:r>
            <a:r>
              <a:rPr lang="fr-FR"/>
              <a:t> </a:t>
            </a:r>
            <a:r>
              <a:rPr lang="fr-FR" err="1"/>
              <a:t>features</a:t>
            </a:r>
            <a:r>
              <a:rPr lang="fr-FR"/>
              <a:t> </a:t>
            </a:r>
            <a:r>
              <a:rPr lang="fr-FR" err="1"/>
              <a:t>implying</a:t>
            </a:r>
            <a:r>
              <a:rPr lang="fr-FR"/>
              <a:t> </a:t>
            </a:r>
            <a:r>
              <a:rPr lang="fr-FR" err="1"/>
              <a:t>that</a:t>
            </a:r>
            <a:r>
              <a:rPr lang="fr-FR"/>
              <a:t> </a:t>
            </a:r>
            <a:r>
              <a:rPr lang="fr-FR" err="1"/>
              <a:t>private</a:t>
            </a:r>
            <a:r>
              <a:rPr lang="fr-FR"/>
              <a:t> </a:t>
            </a:r>
            <a:r>
              <a:rPr lang="fr-FR" err="1"/>
              <a:t>link</a:t>
            </a:r>
            <a:r>
              <a:rPr lang="fr-FR"/>
              <a:t>:  </a:t>
            </a:r>
            <a:r>
              <a:rPr lang="fr-FR" err="1"/>
              <a:t>Any</a:t>
            </a:r>
            <a:r>
              <a:rPr lang="fr-FR"/>
              <a:t> </a:t>
            </a:r>
            <a:r>
              <a:rPr lang="fr-FR" err="1"/>
              <a:t>private</a:t>
            </a:r>
            <a:r>
              <a:rPr lang="fr-FR"/>
              <a:t> </a:t>
            </a:r>
            <a:r>
              <a:rPr lang="fr-FR" err="1"/>
              <a:t>link</a:t>
            </a:r>
            <a:r>
              <a:rPr lang="fr-FR"/>
              <a:t> </a:t>
            </a:r>
            <a:r>
              <a:rPr lang="fr-FR" err="1"/>
              <a:t>shall</a:t>
            </a:r>
            <a:r>
              <a:rPr lang="fr-FR"/>
              <a:t> </a:t>
            </a:r>
            <a:r>
              <a:rPr lang="fr-FR" err="1"/>
              <a:t>be</a:t>
            </a:r>
            <a:r>
              <a:rPr lang="fr-FR"/>
              <a:t> </a:t>
            </a:r>
            <a:r>
              <a:rPr lang="fr-FR" err="1"/>
              <a:t>justified</a:t>
            </a:r>
            <a:r>
              <a:rPr lang="fr-FR"/>
              <a:t> and </a:t>
            </a:r>
            <a:r>
              <a:rPr lang="fr-FR" err="1"/>
              <a:t>required</a:t>
            </a:r>
            <a:r>
              <a:rPr lang="fr-FR"/>
              <a:t> a validation on TCC. (as </a:t>
            </a:r>
            <a:r>
              <a:rPr lang="fr-FR" err="1"/>
              <a:t>it</a:t>
            </a:r>
            <a:r>
              <a:rPr lang="fr-FR"/>
              <a:t> </a:t>
            </a:r>
            <a:r>
              <a:rPr lang="fr-FR" err="1"/>
              <a:t>is</a:t>
            </a:r>
            <a:r>
              <a:rPr lang="fr-FR"/>
              <a:t> a « SaaS » anti pattern for </a:t>
            </a:r>
            <a:r>
              <a:rPr lang="fr-FR" err="1"/>
              <a:t>flexibbility</a:t>
            </a:r>
            <a:r>
              <a:rPr lang="fr-FR"/>
              <a:t> and </a:t>
            </a:r>
            <a:r>
              <a:rPr lang="fr-FR" err="1"/>
              <a:t>mobility</a:t>
            </a:r>
            <a:r>
              <a:rPr lang="fr-FR"/>
              <a:t>. </a:t>
            </a:r>
          </a:p>
          <a:p>
            <a:pPr lvl="2"/>
            <a:r>
              <a:rPr lang="fr-FR" err="1"/>
              <a:t>Present</a:t>
            </a:r>
            <a:r>
              <a:rPr lang="fr-FR"/>
              <a:t> the solution , </a:t>
            </a:r>
            <a:r>
              <a:rPr lang="fr-FR" err="1"/>
              <a:t>governance</a:t>
            </a:r>
            <a:r>
              <a:rPr lang="fr-FR"/>
              <a:t> and the </a:t>
            </a:r>
            <a:r>
              <a:rPr lang="fr-FR" err="1"/>
              <a:t>shared</a:t>
            </a:r>
            <a:r>
              <a:rPr lang="fr-FR"/>
              <a:t> model </a:t>
            </a:r>
            <a:r>
              <a:rPr lang="fr-FR" err="1"/>
              <a:t>responsabilities</a:t>
            </a:r>
            <a:r>
              <a:rPr lang="fr-FR"/>
              <a:t> </a:t>
            </a:r>
            <a:r>
              <a:rPr lang="fr-FR" err="1"/>
              <a:t>between</a:t>
            </a:r>
            <a:r>
              <a:rPr lang="fr-FR"/>
              <a:t> the </a:t>
            </a:r>
            <a:r>
              <a:rPr lang="fr-FR" err="1"/>
              <a:t>evolved</a:t>
            </a:r>
            <a:r>
              <a:rPr lang="fr-FR"/>
              <a:t> stakeholders (ICT agreement…)  </a:t>
            </a:r>
          </a:p>
        </p:txBody>
      </p:sp>
    </p:spTree>
    <p:extLst>
      <p:ext uri="{BB962C8B-B14F-4D97-AF65-F5344CB8AC3E}">
        <p14:creationId xmlns:p14="http://schemas.microsoft.com/office/powerpoint/2010/main" val="25947870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a:extLst>
            <a:ext uri="{FF2B5EF4-FFF2-40B4-BE49-F238E27FC236}">
              <a16:creationId xmlns:a16="http://schemas.microsoft.com/office/drawing/2014/main" id="{5F06FE34-C3DD-8DCB-F129-45ED3996AE8B}"/>
            </a:ext>
          </a:extLst>
        </p:cNvPr>
        <p:cNvGrpSpPr/>
        <p:nvPr/>
      </p:nvGrpSpPr>
      <p:grpSpPr>
        <a:xfrm>
          <a:off x="0" y="0"/>
          <a:ext cx="0" cy="0"/>
          <a:chOff x="0" y="0"/>
          <a:chExt cx="0" cy="0"/>
        </a:xfrm>
      </p:grpSpPr>
      <p:sp>
        <p:nvSpPr>
          <p:cNvPr id="1155" name="Google Shape;1155;p4:notes">
            <a:extLst>
              <a:ext uri="{FF2B5EF4-FFF2-40B4-BE49-F238E27FC236}">
                <a16:creationId xmlns:a16="http://schemas.microsoft.com/office/drawing/2014/main" id="{D28C20C4-683A-F537-869C-C68AB7C5AD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fr-FR"/>
              <a:t>#Architecture </a:t>
            </a:r>
            <a:r>
              <a:rPr lang="fr-FR" err="1"/>
              <a:t>Overview</a:t>
            </a:r>
            <a:r>
              <a:rPr lang="fr-FR"/>
              <a:t> Diagram – A </a:t>
            </a:r>
            <a:r>
              <a:rPr lang="fr-FR" err="1"/>
              <a:t>reflection</a:t>
            </a:r>
            <a:r>
              <a:rPr lang="fr-FR"/>
              <a:t> of information in Slide 9 as a </a:t>
            </a:r>
            <a:r>
              <a:rPr lang="fr-FR" err="1"/>
              <a:t>diagram</a:t>
            </a:r>
            <a:r>
              <a:rPr lang="fr-FR"/>
              <a:t> to </a:t>
            </a:r>
            <a:r>
              <a:rPr lang="fr-FR" err="1"/>
              <a:t>understand</a:t>
            </a:r>
            <a:r>
              <a:rPr lang="fr-FR"/>
              <a:t> the solution </a:t>
            </a:r>
            <a:r>
              <a:rPr lang="fr-FR" err="1"/>
              <a:t>easily</a:t>
            </a:r>
            <a:r>
              <a:rPr lang="fr-FR"/>
              <a:t>.</a:t>
            </a:r>
          </a:p>
        </p:txBody>
      </p:sp>
      <p:sp>
        <p:nvSpPr>
          <p:cNvPr id="1156" name="Google Shape;1156;p4:notes">
            <a:extLst>
              <a:ext uri="{FF2B5EF4-FFF2-40B4-BE49-F238E27FC236}">
                <a16:creationId xmlns:a16="http://schemas.microsoft.com/office/drawing/2014/main" id="{0601F0EA-D2F3-67A4-F5FB-C88AAA9944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958213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4:notes"/>
          <p:cNvSpPr txBox="1">
            <a:spLocks noGrp="1"/>
          </p:cNvSpPr>
          <p:nvPr>
            <p:ph type="body" idx="1"/>
          </p:nvPr>
        </p:nvSpPr>
        <p:spPr>
          <a:xfrm>
            <a:off x="688817" y="4759643"/>
            <a:ext cx="5510530" cy="4509135"/>
          </a:xfrm>
          <a:prstGeom prst="rect">
            <a:avLst/>
          </a:prstGeom>
        </p:spPr>
        <p:txBody>
          <a:bodyPr spcFirstLastPara="1" wrap="square" lIns="96600" tIns="96600" rIns="96600" bIns="966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a:solidFill>
                  <a:srgbClr val="002060"/>
                </a:solidFill>
                <a:latin typeface="+mn-lt"/>
              </a:rPr>
              <a:t>Macro Schedule (including key milestones): graphical representation of the high-level planning of the initiative. Add specific data milestone.</a:t>
            </a:r>
            <a:endParaRPr lang="en-US" sz="1100" b="0">
              <a:solidFill>
                <a:srgbClr val="002060"/>
              </a:solidFill>
              <a:latin typeface="+mn-lt"/>
              <a:ea typeface="+mn-lt"/>
              <a:cs typeface="+mn-lt"/>
            </a:endParaRPr>
          </a:p>
          <a:p>
            <a:pPr marL="0" indent="0">
              <a:buNone/>
            </a:pPr>
            <a:endParaRPr lang="fr-FR"/>
          </a:p>
        </p:txBody>
      </p:sp>
      <p:sp>
        <p:nvSpPr>
          <p:cNvPr id="1156" name="Google Shape;1156;p4: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4406814"/>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image1.jpeg"/>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4.png"/>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4.png"/>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4.png"/>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4.png"/>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4.png"/>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5.jpeg"/>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6.jpeg"/>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4.png"/>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4.png"/>
</Relationships>

</file>

<file path=ppt/slideLayouts/_rels/slideLayout13.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7.png"/>
  <Relationship Id="rId3" Type="http://schemas.openxmlformats.org/officeDocument/2006/relationships/image" Target="../media/image8.png"/>
  <Relationship Id="rId4" Type="http://schemas.openxmlformats.org/officeDocument/2006/relationships/image" Target="../media/image9.png"/>
</Relationships>

</file>

<file path=ppt/slideLayouts/_rels/slideLayout14.xml.rels><?xml version="1.0" encoding="UTF-8"?>

<Relationships xmlns="http://schemas.openxmlformats.org/package/2006/relationships">
  <Relationship Id="rId1" Type="http://schemas.openxmlformats.org/officeDocument/2006/relationships/slideMaster" Target="../slideMasters/slideMaster2.xml"/>
  <Relationship Id="rId2" Type="http://schemas.openxmlformats.org/officeDocument/2006/relationships/image" Target="../media/image4.png"/>
</Relationships>

</file>

<file path=ppt/slideLayouts/_rels/slideLayout15.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
  <Relationship Id="rId1" Type="http://schemas.openxmlformats.org/officeDocument/2006/relationships/slideMaster" Target="../slideMasters/slideMaster3.xml"/>
</Relationships>

</file>

<file path=ppt/slideLayouts/_rels/slideLayout17.xml.rels><?xml version="1.0" encoding="UTF-8"?>

<Relationships xmlns="http://schemas.openxmlformats.org/package/2006/relationships">
  <Relationship Id="rId1" Type="http://schemas.openxmlformats.org/officeDocument/2006/relationships/slideMaster" Target="../slideMasters/slideMaster3.xml"/>
  <Relationship Id="rId2" Type="http://schemas.openxmlformats.org/officeDocument/2006/relationships/image" Target="../media/image10.jpeg"/>
</Relationships>

</file>

<file path=ppt/slideLayouts/_rels/slideLayout18.xml.rels><?xml version="1.0" encoding="UTF-8"?>

<Relationships xmlns="http://schemas.openxmlformats.org/package/2006/relationships">
  <Relationship Id="rId1" Type="http://schemas.openxmlformats.org/officeDocument/2006/relationships/slideMaster" Target="../slideMasters/slideMaster3.xml"/>
  <Relationship Id="rId2" Type="http://schemas.openxmlformats.org/officeDocument/2006/relationships/image" Target="../media/image6.jpeg"/>
  <Relationship Id="rId3" Type="http://schemas.openxmlformats.org/officeDocument/2006/relationships/image" Target="../media/image2.png"/>
</Relationships>

</file>

<file path=ppt/slideLayouts/_rels/slideLayout19.xml.rels><?xml version="1.0" encoding="UTF-8"?>

<Relationships xmlns="http://schemas.openxmlformats.org/package/2006/relationships">
  <Relationship Id="rId1" Type="http://schemas.openxmlformats.org/officeDocument/2006/relationships/slideMaster" Target="../slideMasters/slideMaster3.xml"/>
  <Relationship Id="rId2" Type="http://schemas.openxmlformats.org/officeDocument/2006/relationships/image" Target="../media/image11.jpeg"/>
</Relationships>

</file>

<file path=ppt/slideLayouts/_rels/slideLayout20.xml.rels><?xml version="1.0" encoding="UTF-8"?>

<Relationships xmlns="http://schemas.openxmlformats.org/package/2006/relationships">
  <Relationship Id="rId1" Type="http://schemas.openxmlformats.org/officeDocument/2006/relationships/slideMaster" Target="../slideMasters/slideMaster3.xml"/>
  <Relationship Id="rId2" Type="http://schemas.openxmlformats.org/officeDocument/2006/relationships/image" Target="../media/image10.jpeg"/>
  <Relationship Id="rId3" Type="http://schemas.openxmlformats.org/officeDocument/2006/relationships/image" Target="../media/image2.png"/>
</Relationships>

</file>

<file path=ppt/slideLayouts/_rels/slideLayout21.xml.rels><?xml version="1.0" encoding="UTF-8"?>

<Relationships xmlns="http://schemas.openxmlformats.org/package/2006/relationships">
  <Relationship Id="rId1" Type="http://schemas.openxmlformats.org/officeDocument/2006/relationships/slideMaster" Target="../slideMasters/slideMaster3.xml"/>
</Relationships>

</file>

<file path=ppt/slideLayouts/_rels/slideLayout22.xml.rels><?xml version="1.0" encoding="UTF-8"?>

<Relationships xmlns="http://schemas.openxmlformats.org/package/2006/relationships">
  <Relationship Id="rId1" Type="http://schemas.openxmlformats.org/officeDocument/2006/relationships/slideMaster" Target="../slideMasters/slideMaster4.xml"/>
  <Relationship Id="rId2" Type="http://schemas.openxmlformats.org/officeDocument/2006/relationships/image" Target="../media/image10.jpeg"/>
  <Relationship Id="rId3" Type="http://schemas.openxmlformats.org/officeDocument/2006/relationships/image" Target="../media/image2.png"/>
</Relationships>

</file>

<file path=ppt/slideLayouts/_rels/slideLayout23.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24.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25.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26.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27.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28.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29.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30.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31.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32.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33.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34.xml.rels><?xml version="1.0" encoding="UTF-8"?>

<Relationships xmlns="http://schemas.openxmlformats.org/package/2006/relationships">
  <Relationship Id="rId1" Type="http://schemas.openxmlformats.org/officeDocument/2006/relationships/slideMaster" Target="../slideMasters/slideMaster4.xml"/>
</Relationships>

</file>

<file path=ppt/slideLayouts/_rels/slideLayout35.xml.rels><?xml version="1.0" encoding="UTF-8"?>

<Relationships xmlns="http://schemas.openxmlformats.org/package/2006/relationships">
  <Relationship Id="rId1" Type="http://schemas.openxmlformats.org/officeDocument/2006/relationships/slideMaster" Target="../slideMasters/slideMaster5.xml"/>
  <Relationship Id="rId2" Type="http://schemas.openxmlformats.org/officeDocument/2006/relationships/image" Target="../media/image13.jpeg"/>
</Relationships>

</file>

<file path=ppt/slideLayouts/_rels/slideLayout36.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37.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38.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39.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40.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41.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42.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43.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44.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45.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46.xml.rels><?xml version="1.0" encoding="UTF-8"?>

<Relationships xmlns="http://schemas.openxmlformats.org/package/2006/relationships">
  <Relationship Id="rId1" Type="http://schemas.openxmlformats.org/officeDocument/2006/relationships/slideMaster" Target="../slideMasters/slideMaster5.xml"/>
</Relationships>

</file>

<file path=ppt/slideLayouts/_rels/slideLayout47.xml.rels><?xml version="1.0" encoding="UTF-8"?>

<Relationships xmlns="http://schemas.openxmlformats.org/package/2006/relationships">
  <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userDrawn="1">
  <p:cSld name="TITLE">
    <p:bg>
      <p:bgPr>
        <a:blipFill dpi="0" rotWithShape="1">
          <a:blip r:embed="rId2">
            <a:lum/>
          </a:blip>
          <a:srcRect/>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sldNum" idx="12"/>
          </p:nvPr>
        </p:nvSpPr>
        <p:spPr>
          <a:xfrm>
            <a:off x="8527799" y="4922100"/>
            <a:ext cx="540000" cy="1620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700" b="0" i="0" u="none" strike="noStrike" cap="none">
                <a:solidFill>
                  <a:schemeClr val="lt1"/>
                </a:solidFill>
                <a:latin typeface="Encode Sans"/>
                <a:ea typeface="Encode Sans"/>
                <a:cs typeface="Encode Sans"/>
                <a:sym typeface="Encode Sans"/>
              </a:defRPr>
            </a:lvl1pPr>
            <a:lvl2pPr marL="0" lvl="1" indent="0" algn="r">
              <a:spcBef>
                <a:spcPts val="0"/>
              </a:spcBef>
              <a:buNone/>
              <a:defRPr sz="700" b="0" i="0" u="none" strike="noStrike" cap="none">
                <a:solidFill>
                  <a:schemeClr val="lt1"/>
                </a:solidFill>
                <a:latin typeface="Encode Sans"/>
                <a:ea typeface="Encode Sans"/>
                <a:cs typeface="Encode Sans"/>
                <a:sym typeface="Encode Sans"/>
              </a:defRPr>
            </a:lvl2pPr>
            <a:lvl3pPr marL="0" lvl="2" indent="0" algn="r">
              <a:spcBef>
                <a:spcPts val="0"/>
              </a:spcBef>
              <a:buNone/>
              <a:defRPr sz="700" b="0" i="0" u="none" strike="noStrike" cap="none">
                <a:solidFill>
                  <a:schemeClr val="lt1"/>
                </a:solidFill>
                <a:latin typeface="Encode Sans"/>
                <a:ea typeface="Encode Sans"/>
                <a:cs typeface="Encode Sans"/>
                <a:sym typeface="Encode Sans"/>
              </a:defRPr>
            </a:lvl3pPr>
            <a:lvl4pPr marL="0" lvl="3" indent="0" algn="r">
              <a:spcBef>
                <a:spcPts val="0"/>
              </a:spcBef>
              <a:buNone/>
              <a:defRPr sz="700" b="0" i="0" u="none" strike="noStrike" cap="none">
                <a:solidFill>
                  <a:schemeClr val="lt1"/>
                </a:solidFill>
                <a:latin typeface="Encode Sans"/>
                <a:ea typeface="Encode Sans"/>
                <a:cs typeface="Encode Sans"/>
                <a:sym typeface="Encode Sans"/>
              </a:defRPr>
            </a:lvl4pPr>
            <a:lvl5pPr marL="0" lvl="4" indent="0" algn="r">
              <a:spcBef>
                <a:spcPts val="0"/>
              </a:spcBef>
              <a:buNone/>
              <a:defRPr sz="700" b="0" i="0" u="none" strike="noStrike" cap="none">
                <a:solidFill>
                  <a:schemeClr val="lt1"/>
                </a:solidFill>
                <a:latin typeface="Encode Sans"/>
                <a:ea typeface="Encode Sans"/>
                <a:cs typeface="Encode Sans"/>
                <a:sym typeface="Encode Sans"/>
              </a:defRPr>
            </a:lvl5pPr>
            <a:lvl6pPr marL="0" lvl="5" indent="0" algn="r">
              <a:spcBef>
                <a:spcPts val="0"/>
              </a:spcBef>
              <a:buNone/>
              <a:defRPr sz="700" b="0" i="0" u="none" strike="noStrike" cap="none">
                <a:solidFill>
                  <a:schemeClr val="lt1"/>
                </a:solidFill>
                <a:latin typeface="Encode Sans"/>
                <a:ea typeface="Encode Sans"/>
                <a:cs typeface="Encode Sans"/>
                <a:sym typeface="Encode Sans"/>
              </a:defRPr>
            </a:lvl6pPr>
            <a:lvl7pPr marL="0" lvl="6" indent="0" algn="r">
              <a:spcBef>
                <a:spcPts val="0"/>
              </a:spcBef>
              <a:buNone/>
              <a:defRPr sz="700" b="0" i="0" u="none" strike="noStrike" cap="none">
                <a:solidFill>
                  <a:schemeClr val="lt1"/>
                </a:solidFill>
                <a:latin typeface="Encode Sans"/>
                <a:ea typeface="Encode Sans"/>
                <a:cs typeface="Encode Sans"/>
                <a:sym typeface="Encode Sans"/>
              </a:defRPr>
            </a:lvl7pPr>
            <a:lvl8pPr marL="0" lvl="7" indent="0" algn="r">
              <a:spcBef>
                <a:spcPts val="0"/>
              </a:spcBef>
              <a:buNone/>
              <a:defRPr sz="700" b="0" i="0" u="none" strike="noStrike" cap="none">
                <a:solidFill>
                  <a:schemeClr val="lt1"/>
                </a:solidFill>
                <a:latin typeface="Encode Sans"/>
                <a:ea typeface="Encode Sans"/>
                <a:cs typeface="Encode Sans"/>
                <a:sym typeface="Encode Sans"/>
              </a:defRPr>
            </a:lvl8pPr>
            <a:lvl9pPr marL="0" lvl="8" indent="0" algn="r">
              <a:spcBef>
                <a:spcPts val="0"/>
              </a:spcBef>
              <a:buNone/>
              <a:defRPr sz="700" b="0" i="0" u="none" strike="noStrike" cap="none">
                <a:solidFill>
                  <a:schemeClr val="lt1"/>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en"/>
              <a:t>‹N°›</a:t>
            </a:fld>
            <a:endParaRPr/>
          </a:p>
        </p:txBody>
      </p:sp>
      <p:sp>
        <p:nvSpPr>
          <p:cNvPr id="3" name="Titre 2">
            <a:extLst>
              <a:ext uri="{FF2B5EF4-FFF2-40B4-BE49-F238E27FC236}">
                <a16:creationId xmlns:a16="http://schemas.microsoft.com/office/drawing/2014/main" id="{B81A966A-FE6B-45C7-93D4-D0AED2DCBD91}"/>
              </a:ext>
            </a:extLst>
          </p:cNvPr>
          <p:cNvSpPr>
            <a:spLocks noGrp="1"/>
          </p:cNvSpPr>
          <p:nvPr>
            <p:ph type="title"/>
          </p:nvPr>
        </p:nvSpPr>
        <p:spPr/>
        <p:txBody>
          <a:bodyPr/>
          <a:lstStyle/>
          <a:p>
            <a:r>
              <a:rPr lang="fr-FR"/>
              <a:t>Modifiez le style du titre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userDrawn="1">
  <p:cSld name="CUSTOM">
    <p:spTree>
      <p:nvGrpSpPr>
        <p:cNvPr id="1" name="Shape 12"/>
        <p:cNvGrpSpPr/>
        <p:nvPr/>
      </p:nvGrpSpPr>
      <p:grpSpPr>
        <a:xfrm>
          <a:off x="0" y="0"/>
          <a:ext cx="0" cy="0"/>
          <a:chOff x="0" y="0"/>
          <a:chExt cx="0" cy="0"/>
        </a:xfrm>
      </p:grpSpPr>
      <p:sp>
        <p:nvSpPr>
          <p:cNvPr id="14" name="Google Shape;14;p3"/>
          <p:cNvSpPr txBox="1"/>
          <p:nvPr/>
        </p:nvSpPr>
        <p:spPr>
          <a:xfrm>
            <a:off x="865975" y="3679350"/>
            <a:ext cx="3072600" cy="4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rgbClr val="FFFFFF"/>
                </a:solidFill>
                <a:latin typeface="Encode Sans Expanded Light"/>
                <a:ea typeface="Encode Sans Expanded Light"/>
                <a:cs typeface="Encode Sans Expanded Light"/>
                <a:sym typeface="Encode Sans Expanded Light"/>
              </a:rPr>
              <a:t>YYYY/MM/DD</a:t>
            </a:r>
            <a:endParaRPr sz="1900">
              <a:solidFill>
                <a:srgbClr val="FFFFFF"/>
              </a:solidFill>
              <a:latin typeface="Encode Sans Expanded Light"/>
              <a:ea typeface="Encode Sans Expanded Light"/>
              <a:cs typeface="Encode Sans Expanded Light"/>
              <a:sym typeface="Encode Sans Expanded Light"/>
            </a:endParaRPr>
          </a:p>
        </p:txBody>
      </p:sp>
      <p:sp>
        <p:nvSpPr>
          <p:cNvPr id="15" name="Google Shape;15;p3"/>
          <p:cNvSpPr txBox="1"/>
          <p:nvPr/>
        </p:nvSpPr>
        <p:spPr>
          <a:xfrm>
            <a:off x="865975" y="4083750"/>
            <a:ext cx="7830000" cy="4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FFFF"/>
                </a:solidFill>
                <a:latin typeface="Encode Sans Expanded Light"/>
                <a:ea typeface="Encode Sans Expanded Light"/>
                <a:cs typeface="Encode Sans Expanded Light"/>
                <a:sym typeface="Encode Sans Expanded Light"/>
              </a:rPr>
              <a:t>Click to edit master subtitle edit</a:t>
            </a:r>
            <a:endParaRPr sz="1800">
              <a:solidFill>
                <a:srgbClr val="FFFFFF"/>
              </a:solidFill>
              <a:latin typeface="Encode Sans Expanded Light"/>
              <a:ea typeface="Encode Sans Expanded Light"/>
              <a:cs typeface="Encode Sans Expanded Light"/>
              <a:sym typeface="Encode Sans Expanded Light"/>
            </a:endParaRPr>
          </a:p>
        </p:txBody>
      </p:sp>
      <p:sp>
        <p:nvSpPr>
          <p:cNvPr id="16" name="Google Shape;16;p3"/>
          <p:cNvSpPr txBox="1">
            <a:spLocks noGrp="1"/>
          </p:cNvSpPr>
          <p:nvPr>
            <p:ph type="sldNum" idx="12"/>
          </p:nvPr>
        </p:nvSpPr>
        <p:spPr>
          <a:xfrm>
            <a:off x="8527799" y="4922100"/>
            <a:ext cx="540000" cy="1620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700" b="0" i="0" u="none" strike="noStrike" cap="none">
                <a:solidFill>
                  <a:schemeClr val="lt1"/>
                </a:solidFill>
                <a:latin typeface="Encode Sans"/>
                <a:ea typeface="Encode Sans"/>
                <a:cs typeface="Encode Sans"/>
                <a:sym typeface="Encode Sans"/>
              </a:defRPr>
            </a:lvl1pPr>
            <a:lvl2pPr marL="0" lvl="1" indent="0" algn="r" rtl="0">
              <a:spcBef>
                <a:spcPts val="0"/>
              </a:spcBef>
              <a:buNone/>
              <a:defRPr sz="700" b="0" i="0" u="none" strike="noStrike" cap="none">
                <a:solidFill>
                  <a:schemeClr val="lt1"/>
                </a:solidFill>
                <a:latin typeface="Encode Sans"/>
                <a:ea typeface="Encode Sans"/>
                <a:cs typeface="Encode Sans"/>
                <a:sym typeface="Encode Sans"/>
              </a:defRPr>
            </a:lvl2pPr>
            <a:lvl3pPr marL="0" lvl="2" indent="0" algn="r" rtl="0">
              <a:spcBef>
                <a:spcPts val="0"/>
              </a:spcBef>
              <a:buNone/>
              <a:defRPr sz="700" b="0" i="0" u="none" strike="noStrike" cap="none">
                <a:solidFill>
                  <a:schemeClr val="lt1"/>
                </a:solidFill>
                <a:latin typeface="Encode Sans"/>
                <a:ea typeface="Encode Sans"/>
                <a:cs typeface="Encode Sans"/>
                <a:sym typeface="Encode Sans"/>
              </a:defRPr>
            </a:lvl3pPr>
            <a:lvl4pPr marL="0" lvl="3" indent="0" algn="r" rtl="0">
              <a:spcBef>
                <a:spcPts val="0"/>
              </a:spcBef>
              <a:buNone/>
              <a:defRPr sz="700" b="0" i="0" u="none" strike="noStrike" cap="none">
                <a:solidFill>
                  <a:schemeClr val="lt1"/>
                </a:solidFill>
                <a:latin typeface="Encode Sans"/>
                <a:ea typeface="Encode Sans"/>
                <a:cs typeface="Encode Sans"/>
                <a:sym typeface="Encode Sans"/>
              </a:defRPr>
            </a:lvl4pPr>
            <a:lvl5pPr marL="0" lvl="4" indent="0" algn="r" rtl="0">
              <a:spcBef>
                <a:spcPts val="0"/>
              </a:spcBef>
              <a:buNone/>
              <a:defRPr sz="700" b="0" i="0" u="none" strike="noStrike" cap="none">
                <a:solidFill>
                  <a:schemeClr val="lt1"/>
                </a:solidFill>
                <a:latin typeface="Encode Sans"/>
                <a:ea typeface="Encode Sans"/>
                <a:cs typeface="Encode Sans"/>
                <a:sym typeface="Encode Sans"/>
              </a:defRPr>
            </a:lvl5pPr>
            <a:lvl6pPr marL="0" lvl="5" indent="0" algn="r" rtl="0">
              <a:spcBef>
                <a:spcPts val="0"/>
              </a:spcBef>
              <a:buNone/>
              <a:defRPr sz="700" b="0" i="0" u="none" strike="noStrike" cap="none">
                <a:solidFill>
                  <a:schemeClr val="lt1"/>
                </a:solidFill>
                <a:latin typeface="Encode Sans"/>
                <a:ea typeface="Encode Sans"/>
                <a:cs typeface="Encode Sans"/>
                <a:sym typeface="Encode Sans"/>
              </a:defRPr>
            </a:lvl6pPr>
            <a:lvl7pPr marL="0" lvl="6" indent="0" algn="r" rtl="0">
              <a:spcBef>
                <a:spcPts val="0"/>
              </a:spcBef>
              <a:buNone/>
              <a:defRPr sz="700" b="0" i="0" u="none" strike="noStrike" cap="none">
                <a:solidFill>
                  <a:schemeClr val="lt1"/>
                </a:solidFill>
                <a:latin typeface="Encode Sans"/>
                <a:ea typeface="Encode Sans"/>
                <a:cs typeface="Encode Sans"/>
                <a:sym typeface="Encode Sans"/>
              </a:defRPr>
            </a:lvl7pPr>
            <a:lvl8pPr marL="0" lvl="7" indent="0" algn="r" rtl="0">
              <a:spcBef>
                <a:spcPts val="0"/>
              </a:spcBef>
              <a:buNone/>
              <a:defRPr sz="700" b="0" i="0" u="none" strike="noStrike" cap="none">
                <a:solidFill>
                  <a:schemeClr val="lt1"/>
                </a:solidFill>
                <a:latin typeface="Encode Sans"/>
                <a:ea typeface="Encode Sans"/>
                <a:cs typeface="Encode Sans"/>
                <a:sym typeface="Encode Sans"/>
              </a:defRPr>
            </a:lvl8pPr>
            <a:lvl9pPr marL="0" lvl="8" indent="0" algn="r" rtl="0">
              <a:spcBef>
                <a:spcPts val="0"/>
              </a:spcBef>
              <a:buNone/>
              <a:defRPr sz="700" b="0" i="0" u="none" strike="noStrike" cap="none">
                <a:solidFill>
                  <a:schemeClr val="lt1"/>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en"/>
              <a:t>‹N°›</a:t>
            </a:fld>
            <a:endParaRPr/>
          </a:p>
        </p:txBody>
      </p:sp>
      <p:sp>
        <p:nvSpPr>
          <p:cNvPr id="2" name="Titre 1">
            <a:extLst>
              <a:ext uri="{FF2B5EF4-FFF2-40B4-BE49-F238E27FC236}">
                <a16:creationId xmlns:a16="http://schemas.microsoft.com/office/drawing/2014/main" id="{5BE6E781-23CD-4D3A-B8E8-19F8EAFB45BA}"/>
              </a:ext>
            </a:extLst>
          </p:cNvPr>
          <p:cNvSpPr>
            <a:spLocks noGrp="1"/>
          </p:cNvSpPr>
          <p:nvPr>
            <p:ph type="title"/>
          </p:nvPr>
        </p:nvSpPr>
        <p:spPr/>
        <p:txBody>
          <a:bodyPr/>
          <a:lstStyle/>
          <a:p>
            <a:r>
              <a:rPr lang="fr-FR"/>
              <a:t>Modifiez le style du titre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xt in 2 frames with 2 photos">
  <p:cSld name="Text in 2 frames with 2 photos">
    <p:spTree>
      <p:nvGrpSpPr>
        <p:cNvPr id="1" name="Shape 33"/>
        <p:cNvGrpSpPr/>
        <p:nvPr/>
      </p:nvGrpSpPr>
      <p:grpSpPr>
        <a:xfrm>
          <a:off x="0" y="0"/>
          <a:ext cx="0" cy="0"/>
          <a:chOff x="0" y="0"/>
          <a:chExt cx="0" cy="0"/>
        </a:xfrm>
      </p:grpSpPr>
      <p:sp>
        <p:nvSpPr>
          <p:cNvPr id="34" name="Google Shape;34;p5"/>
          <p:cNvSpPr txBox="1">
            <a:spLocks noGrp="1"/>
          </p:cNvSpPr>
          <p:nvPr>
            <p:ph type="body" idx="1"/>
          </p:nvPr>
        </p:nvSpPr>
        <p:spPr>
          <a:xfrm>
            <a:off x="443854" y="933350"/>
            <a:ext cx="4035300" cy="3735300"/>
          </a:xfrm>
          <a:prstGeom prst="rect">
            <a:avLst/>
          </a:prstGeom>
          <a:solidFill>
            <a:schemeClr val="dk2"/>
          </a:solidFill>
          <a:ln>
            <a:noFill/>
          </a:ln>
        </p:spPr>
        <p:txBody>
          <a:bodyPr spcFirstLastPara="1" wrap="square" lIns="270000" tIns="162000" rIns="270000" bIns="270000" anchor="t" anchorCtr="0">
            <a:noAutofit/>
          </a:bodyPr>
          <a:lstStyle>
            <a:lvl1pPr marL="457200" lvl="0" indent="-228600" algn="l">
              <a:lnSpc>
                <a:spcPct val="100000"/>
              </a:lnSpc>
              <a:spcBef>
                <a:spcPts val="0"/>
              </a:spcBef>
              <a:spcAft>
                <a:spcPts val="0"/>
              </a:spcAft>
              <a:buClr>
                <a:schemeClr val="lt1"/>
              </a:buClr>
              <a:buSzPts val="1400"/>
              <a:buNone/>
              <a:defRPr sz="1400">
                <a:solidFill>
                  <a:schemeClr val="lt1"/>
                </a:solidFill>
              </a:defRPr>
            </a:lvl1pPr>
            <a:lvl2pPr marL="914400" lvl="1" indent="-317500" algn="l">
              <a:lnSpc>
                <a:spcPct val="100000"/>
              </a:lnSpc>
              <a:spcBef>
                <a:spcPts val="500"/>
              </a:spcBef>
              <a:spcAft>
                <a:spcPts val="0"/>
              </a:spcAft>
              <a:buClr>
                <a:schemeClr val="lt1"/>
              </a:buClr>
              <a:buSzPts val="1400"/>
              <a:buChar char="•"/>
              <a:defRPr sz="1400">
                <a:solidFill>
                  <a:schemeClr val="lt1"/>
                </a:solidFill>
              </a:defRPr>
            </a:lvl2pPr>
            <a:lvl3pPr marL="1371600" lvl="2" indent="-228600" algn="l">
              <a:lnSpc>
                <a:spcPct val="100000"/>
              </a:lnSpc>
              <a:spcBef>
                <a:spcPts val="500"/>
              </a:spcBef>
              <a:spcAft>
                <a:spcPts val="0"/>
              </a:spcAft>
              <a:buClr>
                <a:schemeClr val="lt1"/>
              </a:buClr>
              <a:buSzPts val="1400"/>
              <a:buNone/>
              <a:defRPr sz="1100">
                <a:solidFill>
                  <a:schemeClr val="lt1"/>
                </a:solidFill>
              </a:defRPr>
            </a:lvl3pPr>
            <a:lvl4pPr marL="1828800" lvl="3" indent="-228600" algn="l">
              <a:lnSpc>
                <a:spcPct val="100000"/>
              </a:lnSpc>
              <a:spcBef>
                <a:spcPts val="300"/>
              </a:spcBef>
              <a:spcAft>
                <a:spcPts val="0"/>
              </a:spcAft>
              <a:buClr>
                <a:schemeClr val="lt1"/>
              </a:buClr>
              <a:buSzPts val="1000"/>
              <a:buNone/>
              <a:defRPr sz="1000">
                <a:solidFill>
                  <a:schemeClr val="lt1"/>
                </a:solidFill>
              </a:defRPr>
            </a:lvl4pPr>
            <a:lvl5pPr marL="2286000" lvl="4" indent="-292100" algn="l">
              <a:lnSpc>
                <a:spcPct val="100000"/>
              </a:lnSpc>
              <a:spcBef>
                <a:spcPts val="300"/>
              </a:spcBef>
              <a:spcAft>
                <a:spcPts val="0"/>
              </a:spcAft>
              <a:buClr>
                <a:schemeClr val="lt1"/>
              </a:buClr>
              <a:buSzPts val="1000"/>
              <a:buChar char="•"/>
              <a:defRPr sz="1000">
                <a:solidFill>
                  <a:schemeClr val="lt1"/>
                </a:solidFill>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35" name="Google Shape;35;p5"/>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sp>
        <p:nvSpPr>
          <p:cNvPr id="36" name="Google Shape;36;p5"/>
          <p:cNvSpPr txBox="1">
            <a:spLocks noGrp="1"/>
          </p:cNvSpPr>
          <p:nvPr>
            <p:ph type="body" idx="2"/>
          </p:nvPr>
        </p:nvSpPr>
        <p:spPr>
          <a:xfrm>
            <a:off x="4628250" y="933350"/>
            <a:ext cx="4035300" cy="3735300"/>
          </a:xfrm>
          <a:prstGeom prst="rect">
            <a:avLst/>
          </a:prstGeom>
          <a:solidFill>
            <a:schemeClr val="dk2"/>
          </a:solidFill>
          <a:ln>
            <a:noFill/>
          </a:ln>
        </p:spPr>
        <p:txBody>
          <a:bodyPr spcFirstLastPara="1" wrap="square" lIns="270000" tIns="162000" rIns="270000" bIns="270000" anchor="t" anchorCtr="0">
            <a:noAutofit/>
          </a:bodyPr>
          <a:lstStyle>
            <a:lvl1pPr marL="457200" lvl="0" indent="-228600" algn="l">
              <a:lnSpc>
                <a:spcPct val="100000"/>
              </a:lnSpc>
              <a:spcBef>
                <a:spcPts val="0"/>
              </a:spcBef>
              <a:spcAft>
                <a:spcPts val="0"/>
              </a:spcAft>
              <a:buClr>
                <a:schemeClr val="lt1"/>
              </a:buClr>
              <a:buSzPts val="1400"/>
              <a:buNone/>
              <a:defRPr sz="1400">
                <a:solidFill>
                  <a:schemeClr val="lt1"/>
                </a:solidFill>
              </a:defRPr>
            </a:lvl1pPr>
            <a:lvl2pPr marL="914400" lvl="1" indent="-317500" algn="l">
              <a:lnSpc>
                <a:spcPct val="100000"/>
              </a:lnSpc>
              <a:spcBef>
                <a:spcPts val="500"/>
              </a:spcBef>
              <a:spcAft>
                <a:spcPts val="0"/>
              </a:spcAft>
              <a:buClr>
                <a:schemeClr val="lt1"/>
              </a:buClr>
              <a:buSzPts val="1400"/>
              <a:buChar char="•"/>
              <a:defRPr sz="1400">
                <a:solidFill>
                  <a:schemeClr val="lt1"/>
                </a:solidFill>
              </a:defRPr>
            </a:lvl2pPr>
            <a:lvl3pPr marL="1371600" lvl="2" indent="-228600" algn="l">
              <a:lnSpc>
                <a:spcPct val="100000"/>
              </a:lnSpc>
              <a:spcBef>
                <a:spcPts val="500"/>
              </a:spcBef>
              <a:spcAft>
                <a:spcPts val="0"/>
              </a:spcAft>
              <a:buClr>
                <a:schemeClr val="lt1"/>
              </a:buClr>
              <a:buSzPts val="1400"/>
              <a:buNone/>
              <a:defRPr sz="1100">
                <a:solidFill>
                  <a:schemeClr val="lt1"/>
                </a:solidFill>
              </a:defRPr>
            </a:lvl3pPr>
            <a:lvl4pPr marL="1828800" lvl="3" indent="-228600" algn="l">
              <a:lnSpc>
                <a:spcPct val="100000"/>
              </a:lnSpc>
              <a:spcBef>
                <a:spcPts val="300"/>
              </a:spcBef>
              <a:spcAft>
                <a:spcPts val="0"/>
              </a:spcAft>
              <a:buClr>
                <a:schemeClr val="lt1"/>
              </a:buClr>
              <a:buSzPts val="1000"/>
              <a:buNone/>
              <a:defRPr sz="1000">
                <a:solidFill>
                  <a:schemeClr val="lt1"/>
                </a:solidFill>
              </a:defRPr>
            </a:lvl4pPr>
            <a:lvl5pPr marL="2286000" lvl="4" indent="-292100" algn="l">
              <a:lnSpc>
                <a:spcPct val="100000"/>
              </a:lnSpc>
              <a:spcBef>
                <a:spcPts val="300"/>
              </a:spcBef>
              <a:spcAft>
                <a:spcPts val="0"/>
              </a:spcAft>
              <a:buClr>
                <a:schemeClr val="lt1"/>
              </a:buClr>
              <a:buSzPts val="1000"/>
              <a:buChar char="•"/>
              <a:defRPr sz="1000">
                <a:solidFill>
                  <a:schemeClr val="lt1"/>
                </a:solidFill>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pic>
        <p:nvPicPr>
          <p:cNvPr id="37" name="Google Shape;37;p5"/>
          <p:cNvPicPr preferRelativeResize="0"/>
          <p:nvPr/>
        </p:nvPicPr>
        <p:blipFill rotWithShape="1">
          <a:blip r:embed="rId2">
            <a:alphaModFix/>
          </a:blip>
          <a:srcRect/>
          <a:stretch/>
        </p:blipFill>
        <p:spPr>
          <a:xfrm>
            <a:off x="0" y="334777"/>
            <a:ext cx="7258050" cy="257175"/>
          </a:xfrm>
          <a:prstGeom prst="rect">
            <a:avLst/>
          </a:prstGeom>
          <a:noFill/>
          <a:ln>
            <a:noFill/>
          </a:ln>
        </p:spPr>
      </p:pic>
      <p:sp>
        <p:nvSpPr>
          <p:cNvPr id="38" name="Google Shape;38;p5"/>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lvl1pPr lvl="0" algn="l">
              <a:lnSpc>
                <a:spcPct val="95000"/>
              </a:lnSpc>
              <a:spcBef>
                <a:spcPts val="0"/>
              </a:spcBef>
              <a:spcAft>
                <a:spcPts val="0"/>
              </a:spcAft>
              <a:buClr>
                <a:srgbClr val="FFFFFF"/>
              </a:buClr>
              <a:buSzPts val="1100"/>
              <a:buNone/>
              <a:defRPr sz="1100">
                <a:solidFill>
                  <a:srgbClr val="FFFFFF"/>
                </a:solidFill>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a:endParaRPr/>
          </a:p>
        </p:txBody>
      </p:sp>
      <p:sp>
        <p:nvSpPr>
          <p:cNvPr id="39" name="Google Shape;39;p5"/>
          <p:cNvSpPr txBox="1">
            <a:spLocks noGrp="1"/>
          </p:cNvSpPr>
          <p:nvPr>
            <p:ph type="title" idx="3"/>
          </p:nvPr>
        </p:nvSpPr>
        <p:spPr>
          <a:xfrm>
            <a:off x="402400" y="4867275"/>
            <a:ext cx="792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
        <p:nvSpPr>
          <p:cNvPr id="40" name="Google Shape;40;p5"/>
          <p:cNvSpPr txBox="1">
            <a:spLocks noGrp="1"/>
          </p:cNvSpPr>
          <p:nvPr>
            <p:ph type="title" idx="4"/>
          </p:nvPr>
        </p:nvSpPr>
        <p:spPr>
          <a:xfrm>
            <a:off x="1194400" y="4867275"/>
            <a:ext cx="3600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Tree>
    <p:extLst>
      <p:ext uri="{BB962C8B-B14F-4D97-AF65-F5344CB8AC3E}">
        <p14:creationId xmlns:p14="http://schemas.microsoft.com/office/powerpoint/2010/main" val="3089803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xt with 2 graphs">
  <p:cSld name="Text with 2 graphs">
    <p:spTree>
      <p:nvGrpSpPr>
        <p:cNvPr id="1" name="Shape 69"/>
        <p:cNvGrpSpPr/>
        <p:nvPr/>
      </p:nvGrpSpPr>
      <p:grpSpPr>
        <a:xfrm>
          <a:off x="0" y="0"/>
          <a:ext cx="0" cy="0"/>
          <a:chOff x="0" y="0"/>
          <a:chExt cx="0" cy="0"/>
        </a:xfrm>
      </p:grpSpPr>
      <p:sp>
        <p:nvSpPr>
          <p:cNvPr id="70" name="Google Shape;70;p9"/>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sp>
        <p:nvSpPr>
          <p:cNvPr id="71" name="Google Shape;71;p9"/>
          <p:cNvSpPr txBox="1">
            <a:spLocks noGrp="1"/>
          </p:cNvSpPr>
          <p:nvPr>
            <p:ph type="body" idx="1"/>
          </p:nvPr>
        </p:nvSpPr>
        <p:spPr>
          <a:xfrm>
            <a:off x="411900" y="933475"/>
            <a:ext cx="4144200" cy="12804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2"/>
              </a:buClr>
              <a:buSzPts val="1400"/>
              <a:buNone/>
              <a:defRPr sz="1400"/>
            </a:lvl1pPr>
            <a:lvl2pPr marL="914400" lvl="1" indent="-311150" algn="l">
              <a:lnSpc>
                <a:spcPct val="100000"/>
              </a:lnSpc>
              <a:spcBef>
                <a:spcPts val="500"/>
              </a:spcBef>
              <a:spcAft>
                <a:spcPts val="0"/>
              </a:spcAft>
              <a:buClr>
                <a:schemeClr val="dk2"/>
              </a:buClr>
              <a:buSzPts val="1300"/>
              <a:buChar char="•"/>
              <a:defRPr sz="1300"/>
            </a:lvl2pPr>
            <a:lvl3pPr marL="1371600" lvl="2" indent="-228600" algn="l">
              <a:lnSpc>
                <a:spcPct val="100000"/>
              </a:lnSpc>
              <a:spcBef>
                <a:spcPts val="500"/>
              </a:spcBef>
              <a:spcAft>
                <a:spcPts val="0"/>
              </a:spcAft>
              <a:buClr>
                <a:schemeClr val="dk2"/>
              </a:buClr>
              <a:buSzPts val="1400"/>
              <a:buNone/>
              <a:defRPr sz="1100"/>
            </a:lvl3pPr>
            <a:lvl4pPr marL="1828800" lvl="3" indent="-228600" algn="l">
              <a:lnSpc>
                <a:spcPct val="100000"/>
              </a:lnSpc>
              <a:spcBef>
                <a:spcPts val="300"/>
              </a:spcBef>
              <a:spcAft>
                <a:spcPts val="0"/>
              </a:spcAft>
              <a:buClr>
                <a:schemeClr val="dk2"/>
              </a:buClr>
              <a:buSzPts val="1000"/>
              <a:buNone/>
              <a:defRPr sz="1000"/>
            </a:lvl4pPr>
            <a:lvl5pPr marL="2286000" lvl="4" indent="-292100" algn="l">
              <a:lnSpc>
                <a:spcPct val="100000"/>
              </a:lnSpc>
              <a:spcBef>
                <a:spcPts val="300"/>
              </a:spcBef>
              <a:spcAft>
                <a:spcPts val="0"/>
              </a:spcAft>
              <a:buClr>
                <a:schemeClr val="dk2"/>
              </a:buClr>
              <a:buSzPts val="1000"/>
              <a:buChar char="•"/>
              <a:defRPr sz="1000"/>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72" name="Google Shape;72;p9"/>
          <p:cNvSpPr/>
          <p:nvPr/>
        </p:nvSpPr>
        <p:spPr>
          <a:xfrm>
            <a:off x="4630550" y="933475"/>
            <a:ext cx="4035300" cy="3735000"/>
          </a:xfrm>
          <a:prstGeom prst="rect">
            <a:avLst/>
          </a:prstGeom>
          <a:solidFill>
            <a:srgbClr val="E4E9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9"/>
          <p:cNvSpPr txBox="1">
            <a:spLocks noGrp="1"/>
          </p:cNvSpPr>
          <p:nvPr>
            <p:ph type="body" idx="2"/>
          </p:nvPr>
        </p:nvSpPr>
        <p:spPr>
          <a:xfrm>
            <a:off x="4630550" y="933475"/>
            <a:ext cx="4144200" cy="12804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2"/>
              </a:buClr>
              <a:buSzPts val="1400"/>
              <a:buNone/>
              <a:defRPr sz="1400"/>
            </a:lvl1pPr>
            <a:lvl2pPr marL="914400" lvl="1" indent="-311150" algn="l">
              <a:lnSpc>
                <a:spcPct val="100000"/>
              </a:lnSpc>
              <a:spcBef>
                <a:spcPts val="500"/>
              </a:spcBef>
              <a:spcAft>
                <a:spcPts val="0"/>
              </a:spcAft>
              <a:buClr>
                <a:schemeClr val="dk2"/>
              </a:buClr>
              <a:buSzPts val="1300"/>
              <a:buChar char="•"/>
              <a:defRPr sz="1300"/>
            </a:lvl2pPr>
            <a:lvl3pPr marL="1371600" lvl="2" indent="-228600" algn="l">
              <a:lnSpc>
                <a:spcPct val="100000"/>
              </a:lnSpc>
              <a:spcBef>
                <a:spcPts val="500"/>
              </a:spcBef>
              <a:spcAft>
                <a:spcPts val="0"/>
              </a:spcAft>
              <a:buClr>
                <a:schemeClr val="dk2"/>
              </a:buClr>
              <a:buSzPts val="1400"/>
              <a:buNone/>
              <a:defRPr sz="1100"/>
            </a:lvl3pPr>
            <a:lvl4pPr marL="1828800" lvl="3" indent="-228600" algn="l">
              <a:lnSpc>
                <a:spcPct val="100000"/>
              </a:lnSpc>
              <a:spcBef>
                <a:spcPts val="300"/>
              </a:spcBef>
              <a:spcAft>
                <a:spcPts val="0"/>
              </a:spcAft>
              <a:buClr>
                <a:schemeClr val="dk2"/>
              </a:buClr>
              <a:buSzPts val="1000"/>
              <a:buNone/>
              <a:defRPr sz="1000"/>
            </a:lvl4pPr>
            <a:lvl5pPr marL="2286000" lvl="4" indent="-292100" algn="l">
              <a:lnSpc>
                <a:spcPct val="100000"/>
              </a:lnSpc>
              <a:spcBef>
                <a:spcPts val="300"/>
              </a:spcBef>
              <a:spcAft>
                <a:spcPts val="0"/>
              </a:spcAft>
              <a:buClr>
                <a:schemeClr val="dk2"/>
              </a:buClr>
              <a:buSzPts val="1000"/>
              <a:buChar char="•"/>
              <a:defRPr sz="1000"/>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pic>
        <p:nvPicPr>
          <p:cNvPr id="74" name="Google Shape;74;p9"/>
          <p:cNvPicPr preferRelativeResize="0"/>
          <p:nvPr/>
        </p:nvPicPr>
        <p:blipFill rotWithShape="1">
          <a:blip r:embed="rId2">
            <a:alphaModFix/>
          </a:blip>
          <a:srcRect/>
          <a:stretch/>
        </p:blipFill>
        <p:spPr>
          <a:xfrm>
            <a:off x="0" y="334777"/>
            <a:ext cx="7258050" cy="257175"/>
          </a:xfrm>
          <a:prstGeom prst="rect">
            <a:avLst/>
          </a:prstGeom>
          <a:noFill/>
          <a:ln>
            <a:noFill/>
          </a:ln>
        </p:spPr>
      </p:pic>
      <p:sp>
        <p:nvSpPr>
          <p:cNvPr id="75" name="Google Shape;75;p9"/>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lvl1pPr lvl="0" algn="l">
              <a:lnSpc>
                <a:spcPct val="95000"/>
              </a:lnSpc>
              <a:spcBef>
                <a:spcPts val="0"/>
              </a:spcBef>
              <a:spcAft>
                <a:spcPts val="0"/>
              </a:spcAft>
              <a:buClr>
                <a:srgbClr val="FFFFFF"/>
              </a:buClr>
              <a:buSzPts val="1100"/>
              <a:buNone/>
              <a:defRPr sz="1100">
                <a:solidFill>
                  <a:srgbClr val="FFFFFF"/>
                </a:solidFill>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a:endParaRPr/>
          </a:p>
        </p:txBody>
      </p:sp>
      <p:sp>
        <p:nvSpPr>
          <p:cNvPr id="76" name="Google Shape;76;p9"/>
          <p:cNvSpPr txBox="1">
            <a:spLocks noGrp="1"/>
          </p:cNvSpPr>
          <p:nvPr>
            <p:ph type="title" idx="3"/>
          </p:nvPr>
        </p:nvSpPr>
        <p:spPr>
          <a:xfrm>
            <a:off x="402400" y="4867275"/>
            <a:ext cx="792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
        <p:nvSpPr>
          <p:cNvPr id="77" name="Google Shape;77;p9"/>
          <p:cNvSpPr txBox="1">
            <a:spLocks noGrp="1"/>
          </p:cNvSpPr>
          <p:nvPr>
            <p:ph type="title" idx="4"/>
          </p:nvPr>
        </p:nvSpPr>
        <p:spPr>
          <a:xfrm>
            <a:off x="1194400" y="4867275"/>
            <a:ext cx="3600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Tree>
    <p:extLst>
      <p:ext uri="{BB962C8B-B14F-4D97-AF65-F5344CB8AC3E}">
        <p14:creationId xmlns:p14="http://schemas.microsoft.com/office/powerpoint/2010/main" val="228329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xt with a graph and a frame ">
  <p:cSld name="Text with a graph and a frame ">
    <p:spTree>
      <p:nvGrpSpPr>
        <p:cNvPr id="1" name="Shape 78"/>
        <p:cNvGrpSpPr/>
        <p:nvPr/>
      </p:nvGrpSpPr>
      <p:grpSpPr>
        <a:xfrm>
          <a:off x="0" y="0"/>
          <a:ext cx="0" cy="0"/>
          <a:chOff x="0" y="0"/>
          <a:chExt cx="0" cy="0"/>
        </a:xfrm>
      </p:grpSpPr>
      <p:sp>
        <p:nvSpPr>
          <p:cNvPr id="79" name="Google Shape;79;p10"/>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sp>
        <p:nvSpPr>
          <p:cNvPr id="80" name="Google Shape;80;p10"/>
          <p:cNvSpPr>
            <a:spLocks noGrp="1"/>
          </p:cNvSpPr>
          <p:nvPr>
            <p:ph type="chart" idx="2"/>
          </p:nvPr>
        </p:nvSpPr>
        <p:spPr>
          <a:xfrm>
            <a:off x="402300" y="1968475"/>
            <a:ext cx="5536200" cy="2700000"/>
          </a:xfrm>
          <a:prstGeom prst="rect">
            <a:avLst/>
          </a:prstGeom>
          <a:noFill/>
          <a:ln>
            <a:noFill/>
          </a:ln>
        </p:spPr>
        <p:txBody>
          <a:bodyPr spcFirstLastPara="1" wrap="square" lIns="68575" tIns="34275" rIns="68575" bIns="34275" anchor="ctr" anchorCtr="0">
            <a:noAutofit/>
          </a:bodyPr>
          <a:lstStyle>
            <a:lvl1pPr marR="0" lvl="0" algn="ctr" rtl="0">
              <a:lnSpc>
                <a:spcPct val="105000"/>
              </a:lnSpc>
              <a:spcBef>
                <a:spcPts val="0"/>
              </a:spcBef>
              <a:spcAft>
                <a:spcPts val="0"/>
              </a:spcAft>
              <a:buClr>
                <a:schemeClr val="dk2"/>
              </a:buClr>
              <a:buSzPts val="900"/>
              <a:buFont typeface="Arial"/>
              <a:buNone/>
              <a:defRPr sz="900" b="0" i="0" u="none" strike="noStrike" cap="none">
                <a:solidFill>
                  <a:schemeClr val="dk2"/>
                </a:solidFill>
                <a:latin typeface="Encode Sans"/>
                <a:ea typeface="Encode Sans"/>
                <a:cs typeface="Encode Sans"/>
                <a:sym typeface="Encode Sans"/>
              </a:defRPr>
            </a:lvl1pPr>
            <a:lvl2pPr marR="0" lvl="1" algn="l" rtl="0">
              <a:lnSpc>
                <a:spcPct val="105000"/>
              </a:lnSpc>
              <a:spcBef>
                <a:spcPts val="500"/>
              </a:spcBef>
              <a:spcAft>
                <a:spcPts val="0"/>
              </a:spcAft>
              <a:buClr>
                <a:schemeClr val="dk2"/>
              </a:buClr>
              <a:buSzPts val="1200"/>
              <a:buFont typeface="Arial"/>
              <a:buChar char="•"/>
              <a:defRPr sz="1200" b="0" i="0" u="none" strike="noStrike" cap="none">
                <a:solidFill>
                  <a:schemeClr val="dk2"/>
                </a:solidFill>
                <a:latin typeface="Encode Sans"/>
                <a:ea typeface="Encode Sans"/>
                <a:cs typeface="Encode Sans"/>
                <a:sym typeface="Encode Sans"/>
              </a:defRPr>
            </a:lvl2pPr>
            <a:lvl3pPr marR="0" lvl="2" algn="l" rtl="0">
              <a:lnSpc>
                <a:spcPct val="105000"/>
              </a:lnSpc>
              <a:spcBef>
                <a:spcPts val="500"/>
              </a:spcBef>
              <a:spcAft>
                <a:spcPts val="0"/>
              </a:spcAft>
              <a:buClr>
                <a:schemeClr val="dk2"/>
              </a:buClr>
              <a:buSzPts val="1100"/>
              <a:buFont typeface="Encode Sans"/>
              <a:buNone/>
              <a:defRPr sz="900" b="0" i="0" u="none" strike="noStrike" cap="none">
                <a:solidFill>
                  <a:schemeClr val="dk2"/>
                </a:solidFill>
                <a:latin typeface="Encode Sans"/>
                <a:ea typeface="Encode Sans"/>
                <a:cs typeface="Encode Sans"/>
                <a:sym typeface="Encode Sans"/>
              </a:defRPr>
            </a:lvl3pPr>
            <a:lvl4pPr marR="0" lvl="3" algn="l" rtl="0">
              <a:lnSpc>
                <a:spcPct val="105000"/>
              </a:lnSpc>
              <a:spcBef>
                <a:spcPts val="300"/>
              </a:spcBef>
              <a:spcAft>
                <a:spcPts val="0"/>
              </a:spcAft>
              <a:buClr>
                <a:schemeClr val="dk2"/>
              </a:buClr>
              <a:buSzPts val="900"/>
              <a:buFont typeface="Encode Sans"/>
              <a:buNone/>
              <a:defRPr sz="900" b="1" i="0" u="none" strike="noStrike" cap="none">
                <a:solidFill>
                  <a:schemeClr val="dk2"/>
                </a:solidFill>
                <a:latin typeface="Encode Sans"/>
                <a:ea typeface="Encode Sans"/>
                <a:cs typeface="Encode Sans"/>
                <a:sym typeface="Encode Sans"/>
              </a:defRPr>
            </a:lvl4pPr>
            <a:lvl5pPr marR="0" lvl="4" algn="l" rtl="0">
              <a:lnSpc>
                <a:spcPct val="105000"/>
              </a:lnSpc>
              <a:spcBef>
                <a:spcPts val="300"/>
              </a:spcBef>
              <a:spcAft>
                <a:spcPts val="0"/>
              </a:spcAft>
              <a:buClr>
                <a:schemeClr val="dk2"/>
              </a:buClr>
              <a:buSzPts val="900"/>
              <a:buFont typeface="Arial"/>
              <a:buChar char="•"/>
              <a:defRPr sz="900" b="0" i="0" u="none" strike="noStrike" cap="none">
                <a:solidFill>
                  <a:schemeClr val="dk2"/>
                </a:solidFill>
                <a:latin typeface="Encode Sans"/>
                <a:ea typeface="Encode Sans"/>
                <a:cs typeface="Encode Sans"/>
                <a:sym typeface="Encode Sans"/>
              </a:defRPr>
            </a:lvl5pPr>
            <a:lvl6pPr marR="0" lvl="5" algn="l" rtl="0">
              <a:lnSpc>
                <a:spcPct val="90000"/>
              </a:lnSpc>
              <a:spcBef>
                <a:spcPts val="300"/>
              </a:spcBef>
              <a:spcAft>
                <a:spcPts val="0"/>
              </a:spcAft>
              <a:buClr>
                <a:schemeClr val="dk1"/>
              </a:buClr>
              <a:buSzPts val="1000"/>
              <a:buFont typeface="Arial"/>
              <a:buChar char="•"/>
              <a:defRPr sz="1000" b="0" i="0" u="none" strike="noStrike" cap="none">
                <a:solidFill>
                  <a:schemeClr val="dk1"/>
                </a:solidFill>
                <a:latin typeface="Encode Sans"/>
                <a:ea typeface="Encode Sans"/>
                <a:cs typeface="Encode Sans"/>
                <a:sym typeface="Encode Sans"/>
              </a:defRPr>
            </a:lvl6pPr>
            <a:lvl7pPr marR="0" lvl="6" algn="l" rtl="0">
              <a:lnSpc>
                <a:spcPct val="90000"/>
              </a:lnSpc>
              <a:spcBef>
                <a:spcPts val="300"/>
              </a:spcBef>
              <a:spcAft>
                <a:spcPts val="0"/>
              </a:spcAft>
              <a:buClr>
                <a:schemeClr val="dk1"/>
              </a:buClr>
              <a:buSzPts val="1000"/>
              <a:buFont typeface="Arial"/>
              <a:buChar char="•"/>
              <a:defRPr sz="1000" b="0" i="0" u="none" strike="noStrike" cap="none">
                <a:solidFill>
                  <a:schemeClr val="dk1"/>
                </a:solidFill>
                <a:latin typeface="Encode Sans"/>
                <a:ea typeface="Encode Sans"/>
                <a:cs typeface="Encode Sans"/>
                <a:sym typeface="Encode Sans"/>
              </a:defRPr>
            </a:lvl7pPr>
            <a:lvl8pPr marR="0" lvl="7" algn="l" rtl="0">
              <a:lnSpc>
                <a:spcPct val="90000"/>
              </a:lnSpc>
              <a:spcBef>
                <a:spcPts val="300"/>
              </a:spcBef>
              <a:spcAft>
                <a:spcPts val="0"/>
              </a:spcAft>
              <a:buClr>
                <a:schemeClr val="dk1"/>
              </a:buClr>
              <a:buSzPts val="1000"/>
              <a:buFont typeface="Arial"/>
              <a:buChar char="•"/>
              <a:defRPr sz="1000" b="0" i="0" u="none" strike="noStrike" cap="none">
                <a:solidFill>
                  <a:schemeClr val="dk1"/>
                </a:solidFill>
                <a:latin typeface="Encode Sans"/>
                <a:ea typeface="Encode Sans"/>
                <a:cs typeface="Encode Sans"/>
                <a:sym typeface="Encode Sans"/>
              </a:defRPr>
            </a:lvl8pPr>
            <a:lvl9pPr marR="0" lvl="8" algn="l" rtl="0">
              <a:lnSpc>
                <a:spcPct val="90000"/>
              </a:lnSpc>
              <a:spcBef>
                <a:spcPts val="300"/>
              </a:spcBef>
              <a:spcAft>
                <a:spcPts val="0"/>
              </a:spcAft>
              <a:buClr>
                <a:schemeClr val="dk1"/>
              </a:buClr>
              <a:buSzPts val="1000"/>
              <a:buFont typeface="Arial"/>
              <a:buChar char="•"/>
              <a:defRPr sz="1000" b="0" i="0" u="none" strike="noStrike" cap="none">
                <a:solidFill>
                  <a:schemeClr val="dk1"/>
                </a:solidFill>
                <a:latin typeface="Encode Sans"/>
                <a:ea typeface="Encode Sans"/>
                <a:cs typeface="Encode Sans"/>
                <a:sym typeface="Encode Sans"/>
              </a:defRPr>
            </a:lvl9pPr>
          </a:lstStyle>
          <a:p>
            <a:endParaRPr/>
          </a:p>
        </p:txBody>
      </p:sp>
      <p:sp>
        <p:nvSpPr>
          <p:cNvPr id="81" name="Google Shape;81;p10"/>
          <p:cNvSpPr txBox="1">
            <a:spLocks noGrp="1"/>
          </p:cNvSpPr>
          <p:nvPr>
            <p:ph type="body" idx="1"/>
          </p:nvPr>
        </p:nvSpPr>
        <p:spPr>
          <a:xfrm>
            <a:off x="402300" y="933350"/>
            <a:ext cx="5536200" cy="12804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2"/>
              </a:buClr>
              <a:buSzPts val="1800"/>
              <a:buNone/>
              <a:defRPr sz="1800"/>
            </a:lvl1pPr>
            <a:lvl2pPr marL="914400" lvl="1" indent="-342900" algn="l">
              <a:lnSpc>
                <a:spcPct val="100000"/>
              </a:lnSpc>
              <a:spcBef>
                <a:spcPts val="500"/>
              </a:spcBef>
              <a:spcAft>
                <a:spcPts val="0"/>
              </a:spcAft>
              <a:buClr>
                <a:schemeClr val="dk2"/>
              </a:buClr>
              <a:buSzPts val="1800"/>
              <a:buChar char="•"/>
              <a:defRPr sz="1800"/>
            </a:lvl2pPr>
            <a:lvl3pPr marL="1371600" lvl="2" indent="-228600" algn="l">
              <a:lnSpc>
                <a:spcPct val="100000"/>
              </a:lnSpc>
              <a:spcBef>
                <a:spcPts val="500"/>
              </a:spcBef>
              <a:spcAft>
                <a:spcPts val="0"/>
              </a:spcAft>
              <a:buClr>
                <a:schemeClr val="dk2"/>
              </a:buClr>
              <a:buSzPts val="1600"/>
              <a:buNone/>
              <a:defRPr sz="1400"/>
            </a:lvl3pPr>
            <a:lvl4pPr marL="1828800" lvl="3" indent="-228600" algn="l">
              <a:lnSpc>
                <a:spcPct val="100000"/>
              </a:lnSpc>
              <a:spcBef>
                <a:spcPts val="300"/>
              </a:spcBef>
              <a:spcAft>
                <a:spcPts val="0"/>
              </a:spcAft>
              <a:buClr>
                <a:schemeClr val="dk2"/>
              </a:buClr>
              <a:buSzPts val="1200"/>
              <a:buNone/>
              <a:defRPr sz="1200"/>
            </a:lvl4pPr>
            <a:lvl5pPr marL="2286000" lvl="4" indent="-304800" algn="l">
              <a:lnSpc>
                <a:spcPct val="100000"/>
              </a:lnSpc>
              <a:spcBef>
                <a:spcPts val="300"/>
              </a:spcBef>
              <a:spcAft>
                <a:spcPts val="0"/>
              </a:spcAft>
              <a:buClr>
                <a:schemeClr val="dk2"/>
              </a:buClr>
              <a:buSzPts val="1200"/>
              <a:buChar char="•"/>
              <a:defRPr sz="1200"/>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82" name="Google Shape;82;p10"/>
          <p:cNvSpPr txBox="1">
            <a:spLocks noGrp="1"/>
          </p:cNvSpPr>
          <p:nvPr>
            <p:ph type="body" idx="3"/>
          </p:nvPr>
        </p:nvSpPr>
        <p:spPr>
          <a:xfrm>
            <a:off x="6010500" y="933475"/>
            <a:ext cx="2764500" cy="3735000"/>
          </a:xfrm>
          <a:prstGeom prst="rect">
            <a:avLst/>
          </a:prstGeom>
          <a:solidFill>
            <a:schemeClr val="dk2"/>
          </a:solidFill>
          <a:ln>
            <a:noFill/>
          </a:ln>
        </p:spPr>
        <p:txBody>
          <a:bodyPr spcFirstLastPara="1" wrap="square" lIns="216000" tIns="216000" rIns="216000" bIns="216000" anchor="t" anchorCtr="0">
            <a:noAutofit/>
          </a:bodyPr>
          <a:lstStyle>
            <a:lvl1pPr marL="457200" lvl="0" indent="-228600" algn="l">
              <a:lnSpc>
                <a:spcPct val="100000"/>
              </a:lnSpc>
              <a:spcBef>
                <a:spcPts val="0"/>
              </a:spcBef>
              <a:spcAft>
                <a:spcPts val="0"/>
              </a:spcAft>
              <a:buClr>
                <a:schemeClr val="lt1"/>
              </a:buClr>
              <a:buSzPts val="1400"/>
              <a:buNone/>
              <a:defRPr sz="1400">
                <a:solidFill>
                  <a:schemeClr val="lt1"/>
                </a:solidFill>
              </a:defRPr>
            </a:lvl1pPr>
            <a:lvl2pPr marL="914400" lvl="1" indent="-317500" algn="l">
              <a:lnSpc>
                <a:spcPct val="100000"/>
              </a:lnSpc>
              <a:spcBef>
                <a:spcPts val="500"/>
              </a:spcBef>
              <a:spcAft>
                <a:spcPts val="0"/>
              </a:spcAft>
              <a:buClr>
                <a:schemeClr val="lt1"/>
              </a:buClr>
              <a:buSzPts val="1400"/>
              <a:buChar char="•"/>
              <a:defRPr sz="1400">
                <a:solidFill>
                  <a:schemeClr val="lt1"/>
                </a:solidFill>
              </a:defRPr>
            </a:lvl2pPr>
            <a:lvl3pPr marL="1371600" lvl="2" indent="-228600" algn="l">
              <a:lnSpc>
                <a:spcPct val="100000"/>
              </a:lnSpc>
              <a:spcBef>
                <a:spcPts val="500"/>
              </a:spcBef>
              <a:spcAft>
                <a:spcPts val="0"/>
              </a:spcAft>
              <a:buClr>
                <a:schemeClr val="lt1"/>
              </a:buClr>
              <a:buSzPts val="1400"/>
              <a:buNone/>
              <a:defRPr sz="1100">
                <a:solidFill>
                  <a:schemeClr val="lt1"/>
                </a:solidFill>
              </a:defRPr>
            </a:lvl3pPr>
            <a:lvl4pPr marL="1828800" lvl="3" indent="-228600" algn="l">
              <a:lnSpc>
                <a:spcPct val="100000"/>
              </a:lnSpc>
              <a:spcBef>
                <a:spcPts val="300"/>
              </a:spcBef>
              <a:spcAft>
                <a:spcPts val="0"/>
              </a:spcAft>
              <a:buClr>
                <a:schemeClr val="lt1"/>
              </a:buClr>
              <a:buSzPts val="1000"/>
              <a:buNone/>
              <a:defRPr sz="1000">
                <a:solidFill>
                  <a:schemeClr val="lt1"/>
                </a:solidFill>
              </a:defRPr>
            </a:lvl4pPr>
            <a:lvl5pPr marL="2286000" lvl="4" indent="-292100" algn="l">
              <a:lnSpc>
                <a:spcPct val="100000"/>
              </a:lnSpc>
              <a:spcBef>
                <a:spcPts val="300"/>
              </a:spcBef>
              <a:spcAft>
                <a:spcPts val="0"/>
              </a:spcAft>
              <a:buClr>
                <a:schemeClr val="lt1"/>
              </a:buClr>
              <a:buSzPts val="1000"/>
              <a:buChar char="•"/>
              <a:defRPr sz="1000">
                <a:solidFill>
                  <a:schemeClr val="lt1"/>
                </a:solidFill>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pic>
        <p:nvPicPr>
          <p:cNvPr id="83" name="Google Shape;83;p10"/>
          <p:cNvPicPr preferRelativeResize="0"/>
          <p:nvPr/>
        </p:nvPicPr>
        <p:blipFill rotWithShape="1">
          <a:blip r:embed="rId2">
            <a:alphaModFix/>
          </a:blip>
          <a:srcRect/>
          <a:stretch/>
        </p:blipFill>
        <p:spPr>
          <a:xfrm>
            <a:off x="0" y="334777"/>
            <a:ext cx="7258050" cy="257175"/>
          </a:xfrm>
          <a:prstGeom prst="rect">
            <a:avLst/>
          </a:prstGeom>
          <a:noFill/>
          <a:ln>
            <a:noFill/>
          </a:ln>
        </p:spPr>
      </p:pic>
      <p:sp>
        <p:nvSpPr>
          <p:cNvPr id="84" name="Google Shape;84;p10"/>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lvl1pPr lvl="0" algn="l">
              <a:lnSpc>
                <a:spcPct val="95000"/>
              </a:lnSpc>
              <a:spcBef>
                <a:spcPts val="0"/>
              </a:spcBef>
              <a:spcAft>
                <a:spcPts val="0"/>
              </a:spcAft>
              <a:buClr>
                <a:srgbClr val="FFFFFF"/>
              </a:buClr>
              <a:buSzPts val="1100"/>
              <a:buNone/>
              <a:defRPr sz="1100">
                <a:solidFill>
                  <a:srgbClr val="FFFFFF"/>
                </a:solidFill>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a:endParaRPr/>
          </a:p>
        </p:txBody>
      </p:sp>
      <p:sp>
        <p:nvSpPr>
          <p:cNvPr id="85" name="Google Shape;85;p10"/>
          <p:cNvSpPr txBox="1">
            <a:spLocks noGrp="1"/>
          </p:cNvSpPr>
          <p:nvPr>
            <p:ph type="title" idx="4"/>
          </p:nvPr>
        </p:nvSpPr>
        <p:spPr>
          <a:xfrm>
            <a:off x="402400" y="4867275"/>
            <a:ext cx="792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
        <p:nvSpPr>
          <p:cNvPr id="86" name="Google Shape;86;p10"/>
          <p:cNvSpPr txBox="1">
            <a:spLocks noGrp="1"/>
          </p:cNvSpPr>
          <p:nvPr>
            <p:ph type="title" idx="5"/>
          </p:nvPr>
        </p:nvSpPr>
        <p:spPr>
          <a:xfrm>
            <a:off x="1194400" y="4867275"/>
            <a:ext cx="3600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Tree>
    <p:extLst>
      <p:ext uri="{BB962C8B-B14F-4D97-AF65-F5344CB8AC3E}">
        <p14:creationId xmlns:p14="http://schemas.microsoft.com/office/powerpoint/2010/main" val="471001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raph with 2 texts in 2 frames">
  <p:cSld name="Graph with 2 texts in 2 frames">
    <p:spTree>
      <p:nvGrpSpPr>
        <p:cNvPr id="1" name="Shape 87"/>
        <p:cNvGrpSpPr/>
        <p:nvPr/>
      </p:nvGrpSpPr>
      <p:grpSpPr>
        <a:xfrm>
          <a:off x="0" y="0"/>
          <a:ext cx="0" cy="0"/>
          <a:chOff x="0" y="0"/>
          <a:chExt cx="0" cy="0"/>
        </a:xfrm>
      </p:grpSpPr>
      <p:sp>
        <p:nvSpPr>
          <p:cNvPr id="88" name="Google Shape;88;p11"/>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sp>
        <p:nvSpPr>
          <p:cNvPr id="89" name="Google Shape;89;p11"/>
          <p:cNvSpPr txBox="1">
            <a:spLocks noGrp="1"/>
          </p:cNvSpPr>
          <p:nvPr>
            <p:ph type="body" idx="1"/>
          </p:nvPr>
        </p:nvSpPr>
        <p:spPr>
          <a:xfrm>
            <a:off x="4628250" y="933475"/>
            <a:ext cx="4146600" cy="1725600"/>
          </a:xfrm>
          <a:prstGeom prst="rect">
            <a:avLst/>
          </a:prstGeom>
          <a:solidFill>
            <a:schemeClr val="dk2"/>
          </a:solidFill>
          <a:ln>
            <a:noFill/>
          </a:ln>
        </p:spPr>
        <p:txBody>
          <a:bodyPr spcFirstLastPara="1" wrap="square" lIns="189000" tIns="189000" rIns="189000" bIns="189000" anchor="t" anchorCtr="0">
            <a:noAutofit/>
          </a:bodyPr>
          <a:lstStyle>
            <a:lvl1pPr marL="457200" lvl="0" indent="-228600" algn="l">
              <a:lnSpc>
                <a:spcPct val="100000"/>
              </a:lnSpc>
              <a:spcBef>
                <a:spcPts val="0"/>
              </a:spcBef>
              <a:spcAft>
                <a:spcPts val="0"/>
              </a:spcAft>
              <a:buClr>
                <a:schemeClr val="lt1"/>
              </a:buClr>
              <a:buSzPts val="1400"/>
              <a:buNone/>
              <a:defRPr sz="1400">
                <a:solidFill>
                  <a:schemeClr val="lt1"/>
                </a:solidFill>
              </a:defRPr>
            </a:lvl1pPr>
            <a:lvl2pPr marL="914400" lvl="1" indent="-317500" algn="l">
              <a:lnSpc>
                <a:spcPct val="100000"/>
              </a:lnSpc>
              <a:spcBef>
                <a:spcPts val="500"/>
              </a:spcBef>
              <a:spcAft>
                <a:spcPts val="0"/>
              </a:spcAft>
              <a:buClr>
                <a:schemeClr val="lt1"/>
              </a:buClr>
              <a:buSzPts val="1400"/>
              <a:buChar char="•"/>
              <a:defRPr sz="1400">
                <a:solidFill>
                  <a:schemeClr val="lt1"/>
                </a:solidFill>
              </a:defRPr>
            </a:lvl2pPr>
            <a:lvl3pPr marL="1371600" lvl="2" indent="-228600" algn="l">
              <a:lnSpc>
                <a:spcPct val="100000"/>
              </a:lnSpc>
              <a:spcBef>
                <a:spcPts val="500"/>
              </a:spcBef>
              <a:spcAft>
                <a:spcPts val="0"/>
              </a:spcAft>
              <a:buClr>
                <a:schemeClr val="lt1"/>
              </a:buClr>
              <a:buSzPts val="1400"/>
              <a:buNone/>
              <a:defRPr sz="1400">
                <a:solidFill>
                  <a:schemeClr val="lt1"/>
                </a:solidFill>
              </a:defRPr>
            </a:lvl3pPr>
            <a:lvl4pPr marL="1828800" lvl="3" indent="-228600" algn="l">
              <a:lnSpc>
                <a:spcPct val="100000"/>
              </a:lnSpc>
              <a:spcBef>
                <a:spcPts val="300"/>
              </a:spcBef>
              <a:spcAft>
                <a:spcPts val="0"/>
              </a:spcAft>
              <a:buClr>
                <a:schemeClr val="lt1"/>
              </a:buClr>
              <a:buSzPts val="1400"/>
              <a:buNone/>
              <a:defRPr sz="1400">
                <a:solidFill>
                  <a:schemeClr val="lt1"/>
                </a:solidFill>
              </a:defRPr>
            </a:lvl4pPr>
            <a:lvl5pPr marL="2286000" lvl="4" indent="-317500" algn="l">
              <a:lnSpc>
                <a:spcPct val="100000"/>
              </a:lnSpc>
              <a:spcBef>
                <a:spcPts val="300"/>
              </a:spcBef>
              <a:spcAft>
                <a:spcPts val="0"/>
              </a:spcAft>
              <a:buClr>
                <a:schemeClr val="lt1"/>
              </a:buClr>
              <a:buSzPts val="1400"/>
              <a:buChar char="•"/>
              <a:defRPr sz="1400">
                <a:solidFill>
                  <a:schemeClr val="lt1"/>
                </a:solidFill>
              </a:defRPr>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a:endParaRPr/>
          </a:p>
        </p:txBody>
      </p:sp>
      <p:sp>
        <p:nvSpPr>
          <p:cNvPr id="90" name="Google Shape;90;p11"/>
          <p:cNvSpPr txBox="1">
            <a:spLocks noGrp="1"/>
          </p:cNvSpPr>
          <p:nvPr>
            <p:ph type="body" idx="2"/>
          </p:nvPr>
        </p:nvSpPr>
        <p:spPr>
          <a:xfrm>
            <a:off x="4628125" y="2866775"/>
            <a:ext cx="4146600" cy="1725600"/>
          </a:xfrm>
          <a:prstGeom prst="rect">
            <a:avLst/>
          </a:prstGeom>
          <a:solidFill>
            <a:schemeClr val="dk2"/>
          </a:solidFill>
          <a:ln>
            <a:noFill/>
          </a:ln>
        </p:spPr>
        <p:txBody>
          <a:bodyPr spcFirstLastPara="1" wrap="square" lIns="189000" tIns="189000" rIns="189000" bIns="189000" anchor="t" anchorCtr="0">
            <a:noAutofit/>
          </a:bodyPr>
          <a:lstStyle>
            <a:lvl1pPr marL="457200" lvl="0" indent="-228600" algn="l">
              <a:lnSpc>
                <a:spcPct val="100000"/>
              </a:lnSpc>
              <a:spcBef>
                <a:spcPts val="0"/>
              </a:spcBef>
              <a:spcAft>
                <a:spcPts val="0"/>
              </a:spcAft>
              <a:buClr>
                <a:schemeClr val="lt1"/>
              </a:buClr>
              <a:buSzPts val="1400"/>
              <a:buNone/>
              <a:defRPr sz="1400">
                <a:solidFill>
                  <a:schemeClr val="lt1"/>
                </a:solidFill>
              </a:defRPr>
            </a:lvl1pPr>
            <a:lvl2pPr marL="914400" lvl="1" indent="-317500" algn="l">
              <a:lnSpc>
                <a:spcPct val="100000"/>
              </a:lnSpc>
              <a:spcBef>
                <a:spcPts val="500"/>
              </a:spcBef>
              <a:spcAft>
                <a:spcPts val="0"/>
              </a:spcAft>
              <a:buClr>
                <a:schemeClr val="lt1"/>
              </a:buClr>
              <a:buSzPts val="1400"/>
              <a:buChar char="•"/>
              <a:defRPr sz="1400">
                <a:solidFill>
                  <a:schemeClr val="lt1"/>
                </a:solidFill>
              </a:defRPr>
            </a:lvl2pPr>
            <a:lvl3pPr marL="1371600" lvl="2" indent="-228600" algn="l">
              <a:lnSpc>
                <a:spcPct val="100000"/>
              </a:lnSpc>
              <a:spcBef>
                <a:spcPts val="500"/>
              </a:spcBef>
              <a:spcAft>
                <a:spcPts val="0"/>
              </a:spcAft>
              <a:buClr>
                <a:schemeClr val="lt1"/>
              </a:buClr>
              <a:buSzPts val="1400"/>
              <a:buNone/>
              <a:defRPr sz="1400">
                <a:solidFill>
                  <a:schemeClr val="lt1"/>
                </a:solidFill>
              </a:defRPr>
            </a:lvl3pPr>
            <a:lvl4pPr marL="1828800" lvl="3" indent="-228600" algn="l">
              <a:lnSpc>
                <a:spcPct val="100000"/>
              </a:lnSpc>
              <a:spcBef>
                <a:spcPts val="300"/>
              </a:spcBef>
              <a:spcAft>
                <a:spcPts val="0"/>
              </a:spcAft>
              <a:buClr>
                <a:schemeClr val="lt1"/>
              </a:buClr>
              <a:buSzPts val="1400"/>
              <a:buNone/>
              <a:defRPr sz="1400">
                <a:solidFill>
                  <a:schemeClr val="lt1"/>
                </a:solidFill>
              </a:defRPr>
            </a:lvl4pPr>
            <a:lvl5pPr marL="2286000" lvl="4" indent="-317500" algn="l">
              <a:lnSpc>
                <a:spcPct val="100000"/>
              </a:lnSpc>
              <a:spcBef>
                <a:spcPts val="300"/>
              </a:spcBef>
              <a:spcAft>
                <a:spcPts val="0"/>
              </a:spcAft>
              <a:buClr>
                <a:schemeClr val="lt1"/>
              </a:buClr>
              <a:buSzPts val="1400"/>
              <a:buChar char="•"/>
              <a:defRPr sz="1400">
                <a:solidFill>
                  <a:schemeClr val="lt1"/>
                </a:solidFill>
              </a:defRPr>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a:endParaRPr/>
          </a:p>
        </p:txBody>
      </p:sp>
      <p:pic>
        <p:nvPicPr>
          <p:cNvPr id="91" name="Google Shape;91;p11"/>
          <p:cNvPicPr preferRelativeResize="0"/>
          <p:nvPr/>
        </p:nvPicPr>
        <p:blipFill rotWithShape="1">
          <a:blip r:embed="rId2">
            <a:alphaModFix/>
          </a:blip>
          <a:srcRect/>
          <a:stretch/>
        </p:blipFill>
        <p:spPr>
          <a:xfrm>
            <a:off x="0" y="334777"/>
            <a:ext cx="7258050" cy="257175"/>
          </a:xfrm>
          <a:prstGeom prst="rect">
            <a:avLst/>
          </a:prstGeom>
          <a:noFill/>
          <a:ln>
            <a:noFill/>
          </a:ln>
        </p:spPr>
      </p:pic>
      <p:sp>
        <p:nvSpPr>
          <p:cNvPr id="92" name="Google Shape;92;p11"/>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lvl1pPr lvl="0" algn="l">
              <a:lnSpc>
                <a:spcPct val="95000"/>
              </a:lnSpc>
              <a:spcBef>
                <a:spcPts val="0"/>
              </a:spcBef>
              <a:spcAft>
                <a:spcPts val="0"/>
              </a:spcAft>
              <a:buClr>
                <a:srgbClr val="FFFFFF"/>
              </a:buClr>
              <a:buSzPts val="1100"/>
              <a:buNone/>
              <a:defRPr sz="1100">
                <a:solidFill>
                  <a:srgbClr val="FFFFFF"/>
                </a:solidFill>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a:endParaRPr/>
          </a:p>
        </p:txBody>
      </p:sp>
      <p:sp>
        <p:nvSpPr>
          <p:cNvPr id="93" name="Google Shape;93;p11"/>
          <p:cNvSpPr txBox="1">
            <a:spLocks noGrp="1"/>
          </p:cNvSpPr>
          <p:nvPr>
            <p:ph type="title" idx="3"/>
          </p:nvPr>
        </p:nvSpPr>
        <p:spPr>
          <a:xfrm>
            <a:off x="402400" y="4867275"/>
            <a:ext cx="792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
        <p:nvSpPr>
          <p:cNvPr id="94" name="Google Shape;94;p11"/>
          <p:cNvSpPr txBox="1">
            <a:spLocks noGrp="1"/>
          </p:cNvSpPr>
          <p:nvPr>
            <p:ph type="title" idx="4"/>
          </p:nvPr>
        </p:nvSpPr>
        <p:spPr>
          <a:xfrm>
            <a:off x="1194400" y="4867275"/>
            <a:ext cx="3600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Tree>
    <p:extLst>
      <p:ext uri="{BB962C8B-B14F-4D97-AF65-F5344CB8AC3E}">
        <p14:creationId xmlns:p14="http://schemas.microsoft.com/office/powerpoint/2010/main" val="375359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xt in 2 columns with a frame">
  <p:cSld name="Text in 2 columns with a frame">
    <p:spTree>
      <p:nvGrpSpPr>
        <p:cNvPr id="1" name="Shape 108"/>
        <p:cNvGrpSpPr/>
        <p:nvPr/>
      </p:nvGrpSpPr>
      <p:grpSpPr>
        <a:xfrm>
          <a:off x="0" y="0"/>
          <a:ext cx="0" cy="0"/>
          <a:chOff x="0" y="0"/>
          <a:chExt cx="0" cy="0"/>
        </a:xfrm>
      </p:grpSpPr>
      <p:sp>
        <p:nvSpPr>
          <p:cNvPr id="109" name="Google Shape;109;p13"/>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sp>
        <p:nvSpPr>
          <p:cNvPr id="110" name="Google Shape;110;p13"/>
          <p:cNvSpPr txBox="1">
            <a:spLocks noGrp="1"/>
          </p:cNvSpPr>
          <p:nvPr>
            <p:ph type="body" idx="1"/>
          </p:nvPr>
        </p:nvSpPr>
        <p:spPr>
          <a:xfrm>
            <a:off x="402300" y="933150"/>
            <a:ext cx="5536200" cy="9720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2"/>
              </a:buClr>
              <a:buSzPts val="1800"/>
              <a:buNone/>
              <a:defRPr sz="1800"/>
            </a:lvl1pPr>
            <a:lvl2pPr marL="914400" lvl="1" indent="-228600" algn="l">
              <a:lnSpc>
                <a:spcPct val="100000"/>
              </a:lnSpc>
              <a:spcBef>
                <a:spcPts val="500"/>
              </a:spcBef>
              <a:spcAft>
                <a:spcPts val="0"/>
              </a:spcAft>
              <a:buClr>
                <a:schemeClr val="dk2"/>
              </a:buClr>
              <a:buSzPts val="1800"/>
              <a:buNone/>
              <a:defRPr sz="1800"/>
            </a:lvl2pPr>
            <a:lvl3pPr marL="1371600" lvl="2" indent="-228600" algn="l">
              <a:lnSpc>
                <a:spcPct val="100000"/>
              </a:lnSpc>
              <a:spcBef>
                <a:spcPts val="500"/>
              </a:spcBef>
              <a:spcAft>
                <a:spcPts val="0"/>
              </a:spcAft>
              <a:buClr>
                <a:schemeClr val="dk2"/>
              </a:buClr>
              <a:buSzPts val="1600"/>
              <a:buNone/>
              <a:defRPr sz="1400"/>
            </a:lvl3pPr>
            <a:lvl4pPr marL="1828800" lvl="3" indent="-228600" algn="l">
              <a:lnSpc>
                <a:spcPct val="100000"/>
              </a:lnSpc>
              <a:spcBef>
                <a:spcPts val="300"/>
              </a:spcBef>
              <a:spcAft>
                <a:spcPts val="0"/>
              </a:spcAft>
              <a:buClr>
                <a:schemeClr val="dk2"/>
              </a:buClr>
              <a:buSzPts val="1200"/>
              <a:buNone/>
              <a:defRPr sz="1200"/>
            </a:lvl4pPr>
            <a:lvl5pPr marL="2286000" lvl="4" indent="-304800" algn="l">
              <a:lnSpc>
                <a:spcPct val="100000"/>
              </a:lnSpc>
              <a:spcBef>
                <a:spcPts val="300"/>
              </a:spcBef>
              <a:spcAft>
                <a:spcPts val="0"/>
              </a:spcAft>
              <a:buClr>
                <a:schemeClr val="dk2"/>
              </a:buClr>
              <a:buSzPts val="1200"/>
              <a:buChar char="•"/>
              <a:defRPr sz="1200"/>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11" name="Google Shape;111;p13"/>
          <p:cNvSpPr txBox="1">
            <a:spLocks noGrp="1"/>
          </p:cNvSpPr>
          <p:nvPr>
            <p:ph type="body" idx="2"/>
          </p:nvPr>
        </p:nvSpPr>
        <p:spPr>
          <a:xfrm>
            <a:off x="402300" y="2018125"/>
            <a:ext cx="2771700" cy="26502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2"/>
              </a:buClr>
              <a:buSzPts val="1400"/>
              <a:buNone/>
              <a:defRPr sz="1400"/>
            </a:lvl1pPr>
            <a:lvl2pPr marL="914400" lvl="1" indent="-317500" algn="l">
              <a:lnSpc>
                <a:spcPct val="100000"/>
              </a:lnSpc>
              <a:spcBef>
                <a:spcPts val="500"/>
              </a:spcBef>
              <a:spcAft>
                <a:spcPts val="0"/>
              </a:spcAft>
              <a:buClr>
                <a:schemeClr val="dk2"/>
              </a:buClr>
              <a:buSzPts val="1400"/>
              <a:buChar char="•"/>
              <a:defRPr sz="1400"/>
            </a:lvl2pPr>
            <a:lvl3pPr marL="1371600" lvl="2" indent="-228600" algn="l">
              <a:lnSpc>
                <a:spcPct val="100000"/>
              </a:lnSpc>
              <a:spcBef>
                <a:spcPts val="500"/>
              </a:spcBef>
              <a:spcAft>
                <a:spcPts val="0"/>
              </a:spcAft>
              <a:buClr>
                <a:schemeClr val="dk2"/>
              </a:buClr>
              <a:buSzPts val="1400"/>
              <a:buNone/>
              <a:defRPr sz="1100"/>
            </a:lvl3pPr>
            <a:lvl4pPr marL="1828800" lvl="3" indent="-228600" algn="l">
              <a:lnSpc>
                <a:spcPct val="100000"/>
              </a:lnSpc>
              <a:spcBef>
                <a:spcPts val="300"/>
              </a:spcBef>
              <a:spcAft>
                <a:spcPts val="0"/>
              </a:spcAft>
              <a:buClr>
                <a:schemeClr val="dk2"/>
              </a:buClr>
              <a:buSzPts val="1000"/>
              <a:buNone/>
              <a:defRPr sz="1000"/>
            </a:lvl4pPr>
            <a:lvl5pPr marL="2286000" lvl="4" indent="-292100" algn="l">
              <a:lnSpc>
                <a:spcPct val="100000"/>
              </a:lnSpc>
              <a:spcBef>
                <a:spcPts val="300"/>
              </a:spcBef>
              <a:spcAft>
                <a:spcPts val="0"/>
              </a:spcAft>
              <a:buClr>
                <a:schemeClr val="dk2"/>
              </a:buClr>
              <a:buSzPts val="1000"/>
              <a:buChar char="•"/>
              <a:defRPr sz="1000"/>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12" name="Google Shape;112;p13"/>
          <p:cNvSpPr txBox="1">
            <a:spLocks noGrp="1"/>
          </p:cNvSpPr>
          <p:nvPr>
            <p:ph type="body" idx="3"/>
          </p:nvPr>
        </p:nvSpPr>
        <p:spPr>
          <a:xfrm>
            <a:off x="3244525" y="2018125"/>
            <a:ext cx="2694000" cy="26502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2"/>
              </a:buClr>
              <a:buSzPts val="1400"/>
              <a:buNone/>
              <a:defRPr sz="1400"/>
            </a:lvl1pPr>
            <a:lvl2pPr marL="914400" lvl="1" indent="-317500" algn="l">
              <a:lnSpc>
                <a:spcPct val="100000"/>
              </a:lnSpc>
              <a:spcBef>
                <a:spcPts val="500"/>
              </a:spcBef>
              <a:spcAft>
                <a:spcPts val="0"/>
              </a:spcAft>
              <a:buClr>
                <a:schemeClr val="dk2"/>
              </a:buClr>
              <a:buSzPts val="1400"/>
              <a:buChar char="•"/>
              <a:defRPr sz="1400"/>
            </a:lvl2pPr>
            <a:lvl3pPr marL="1371600" lvl="2" indent="-228600" algn="l">
              <a:lnSpc>
                <a:spcPct val="100000"/>
              </a:lnSpc>
              <a:spcBef>
                <a:spcPts val="500"/>
              </a:spcBef>
              <a:spcAft>
                <a:spcPts val="0"/>
              </a:spcAft>
              <a:buClr>
                <a:schemeClr val="dk2"/>
              </a:buClr>
              <a:buSzPts val="1400"/>
              <a:buNone/>
              <a:defRPr sz="1100"/>
            </a:lvl3pPr>
            <a:lvl4pPr marL="1828800" lvl="3" indent="-228600" algn="l">
              <a:lnSpc>
                <a:spcPct val="100000"/>
              </a:lnSpc>
              <a:spcBef>
                <a:spcPts val="300"/>
              </a:spcBef>
              <a:spcAft>
                <a:spcPts val="0"/>
              </a:spcAft>
              <a:buClr>
                <a:schemeClr val="dk2"/>
              </a:buClr>
              <a:buSzPts val="1000"/>
              <a:buNone/>
              <a:defRPr sz="1000"/>
            </a:lvl4pPr>
            <a:lvl5pPr marL="2286000" lvl="4" indent="-292100" algn="l">
              <a:lnSpc>
                <a:spcPct val="100000"/>
              </a:lnSpc>
              <a:spcBef>
                <a:spcPts val="300"/>
              </a:spcBef>
              <a:spcAft>
                <a:spcPts val="0"/>
              </a:spcAft>
              <a:buClr>
                <a:schemeClr val="dk2"/>
              </a:buClr>
              <a:buSzPts val="1000"/>
              <a:buChar char="•"/>
              <a:defRPr sz="1000"/>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13" name="Google Shape;113;p13"/>
          <p:cNvSpPr txBox="1">
            <a:spLocks noGrp="1"/>
          </p:cNvSpPr>
          <p:nvPr>
            <p:ph type="body" idx="4"/>
          </p:nvPr>
        </p:nvSpPr>
        <p:spPr>
          <a:xfrm>
            <a:off x="6010500" y="933150"/>
            <a:ext cx="2670600" cy="3735300"/>
          </a:xfrm>
          <a:prstGeom prst="rect">
            <a:avLst/>
          </a:prstGeom>
          <a:solidFill>
            <a:schemeClr val="dk2"/>
          </a:solidFill>
          <a:ln>
            <a:noFill/>
          </a:ln>
        </p:spPr>
        <p:txBody>
          <a:bodyPr spcFirstLastPara="1" wrap="square" lIns="216000" tIns="216000" rIns="216000" bIns="216000" anchor="t" anchorCtr="0">
            <a:noAutofit/>
          </a:bodyPr>
          <a:lstStyle>
            <a:lvl1pPr marL="457200" lvl="0" indent="-228600" algn="l">
              <a:lnSpc>
                <a:spcPct val="100000"/>
              </a:lnSpc>
              <a:spcBef>
                <a:spcPts val="0"/>
              </a:spcBef>
              <a:spcAft>
                <a:spcPts val="0"/>
              </a:spcAft>
              <a:buClr>
                <a:schemeClr val="lt1"/>
              </a:buClr>
              <a:buSzPts val="1400"/>
              <a:buNone/>
              <a:defRPr sz="1400">
                <a:solidFill>
                  <a:schemeClr val="lt1"/>
                </a:solidFill>
              </a:defRPr>
            </a:lvl1pPr>
            <a:lvl2pPr marL="914400" lvl="1" indent="-317500" algn="l">
              <a:lnSpc>
                <a:spcPct val="100000"/>
              </a:lnSpc>
              <a:spcBef>
                <a:spcPts val="500"/>
              </a:spcBef>
              <a:spcAft>
                <a:spcPts val="0"/>
              </a:spcAft>
              <a:buClr>
                <a:schemeClr val="lt1"/>
              </a:buClr>
              <a:buSzPts val="1400"/>
              <a:buChar char="•"/>
              <a:defRPr sz="1400">
                <a:solidFill>
                  <a:schemeClr val="lt1"/>
                </a:solidFill>
              </a:defRPr>
            </a:lvl2pPr>
            <a:lvl3pPr marL="1371600" lvl="2" indent="-228600" algn="l">
              <a:lnSpc>
                <a:spcPct val="100000"/>
              </a:lnSpc>
              <a:spcBef>
                <a:spcPts val="500"/>
              </a:spcBef>
              <a:spcAft>
                <a:spcPts val="0"/>
              </a:spcAft>
              <a:buClr>
                <a:schemeClr val="lt1"/>
              </a:buClr>
              <a:buSzPts val="1400"/>
              <a:buNone/>
              <a:defRPr sz="1100">
                <a:solidFill>
                  <a:schemeClr val="lt1"/>
                </a:solidFill>
              </a:defRPr>
            </a:lvl3pPr>
            <a:lvl4pPr marL="1828800" lvl="3" indent="-228600" algn="l">
              <a:lnSpc>
                <a:spcPct val="100000"/>
              </a:lnSpc>
              <a:spcBef>
                <a:spcPts val="300"/>
              </a:spcBef>
              <a:spcAft>
                <a:spcPts val="0"/>
              </a:spcAft>
              <a:buClr>
                <a:schemeClr val="lt1"/>
              </a:buClr>
              <a:buSzPts val="1000"/>
              <a:buNone/>
              <a:defRPr sz="1000">
                <a:solidFill>
                  <a:schemeClr val="lt1"/>
                </a:solidFill>
              </a:defRPr>
            </a:lvl4pPr>
            <a:lvl5pPr marL="2286000" lvl="4" indent="-292100" algn="l">
              <a:lnSpc>
                <a:spcPct val="100000"/>
              </a:lnSpc>
              <a:spcBef>
                <a:spcPts val="300"/>
              </a:spcBef>
              <a:spcAft>
                <a:spcPts val="0"/>
              </a:spcAft>
              <a:buClr>
                <a:schemeClr val="lt1"/>
              </a:buClr>
              <a:buSzPts val="1000"/>
              <a:buChar char="•"/>
              <a:defRPr sz="1000">
                <a:solidFill>
                  <a:schemeClr val="lt1"/>
                </a:solidFill>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pic>
        <p:nvPicPr>
          <p:cNvPr id="114" name="Google Shape;114;p13"/>
          <p:cNvPicPr preferRelativeResize="0"/>
          <p:nvPr/>
        </p:nvPicPr>
        <p:blipFill rotWithShape="1">
          <a:blip r:embed="rId2">
            <a:alphaModFix/>
          </a:blip>
          <a:srcRect/>
          <a:stretch/>
        </p:blipFill>
        <p:spPr>
          <a:xfrm>
            <a:off x="0" y="334777"/>
            <a:ext cx="7258050" cy="257175"/>
          </a:xfrm>
          <a:prstGeom prst="rect">
            <a:avLst/>
          </a:prstGeom>
          <a:noFill/>
          <a:ln>
            <a:noFill/>
          </a:ln>
        </p:spPr>
      </p:pic>
      <p:sp>
        <p:nvSpPr>
          <p:cNvPr id="115" name="Google Shape;115;p13"/>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lvl1pPr lvl="0" algn="l">
              <a:lnSpc>
                <a:spcPct val="95000"/>
              </a:lnSpc>
              <a:spcBef>
                <a:spcPts val="0"/>
              </a:spcBef>
              <a:spcAft>
                <a:spcPts val="0"/>
              </a:spcAft>
              <a:buClr>
                <a:srgbClr val="FFFFFF"/>
              </a:buClr>
              <a:buSzPts val="1100"/>
              <a:buNone/>
              <a:defRPr sz="1100">
                <a:solidFill>
                  <a:srgbClr val="FFFFFF"/>
                </a:solidFill>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a:endParaRPr/>
          </a:p>
        </p:txBody>
      </p:sp>
      <p:sp>
        <p:nvSpPr>
          <p:cNvPr id="116" name="Google Shape;116;p13"/>
          <p:cNvSpPr txBox="1">
            <a:spLocks noGrp="1"/>
          </p:cNvSpPr>
          <p:nvPr>
            <p:ph type="title" idx="5"/>
          </p:nvPr>
        </p:nvSpPr>
        <p:spPr>
          <a:xfrm>
            <a:off x="402400" y="4867275"/>
            <a:ext cx="792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
        <p:nvSpPr>
          <p:cNvPr id="117" name="Google Shape;117;p13"/>
          <p:cNvSpPr txBox="1">
            <a:spLocks noGrp="1"/>
          </p:cNvSpPr>
          <p:nvPr>
            <p:ph type="title" idx="6"/>
          </p:nvPr>
        </p:nvSpPr>
        <p:spPr>
          <a:xfrm>
            <a:off x="1194400" y="4867275"/>
            <a:ext cx="3600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Tree>
    <p:extLst>
      <p:ext uri="{BB962C8B-B14F-4D97-AF65-F5344CB8AC3E}">
        <p14:creationId xmlns:p14="http://schemas.microsoft.com/office/powerpoint/2010/main" val="3845724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act">
  <p:cSld name="Contact">
    <p:bg>
      <p:bgPr>
        <a:blipFill>
          <a:blip r:embed="rId2">
            <a:alphaModFix/>
          </a:blip>
          <a:stretch>
            <a:fillRect/>
          </a:stretch>
        </a:blipFill>
        <a:effectLst/>
      </p:bgPr>
    </p:bg>
    <p:spTree>
      <p:nvGrpSpPr>
        <p:cNvPr id="1" name="Shape 118"/>
        <p:cNvGrpSpPr/>
        <p:nvPr/>
      </p:nvGrpSpPr>
      <p:grpSpPr>
        <a:xfrm>
          <a:off x="0" y="0"/>
          <a:ext cx="0" cy="0"/>
          <a:chOff x="0" y="0"/>
          <a:chExt cx="0" cy="0"/>
        </a:xfrm>
      </p:grpSpPr>
      <p:sp>
        <p:nvSpPr>
          <p:cNvPr id="119" name="Google Shape;119;p14"/>
          <p:cNvSpPr txBox="1">
            <a:spLocks noGrp="1"/>
          </p:cNvSpPr>
          <p:nvPr>
            <p:ph type="title"/>
          </p:nvPr>
        </p:nvSpPr>
        <p:spPr>
          <a:xfrm>
            <a:off x="879626" y="2371700"/>
            <a:ext cx="3676500" cy="13500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Clr>
                <a:schemeClr val="lt1"/>
              </a:buClr>
              <a:buSzPts val="2500"/>
              <a:buFont typeface="Encode Sans Expanded"/>
              <a:buNone/>
              <a:defRPr sz="2500" b="0">
                <a:solidFill>
                  <a:schemeClr val="lt1"/>
                </a:solidFill>
                <a:latin typeface="Encode Sans Expanded Expanded"/>
                <a:ea typeface="Encode Sans Expanded Expanded"/>
                <a:cs typeface="Encode Sans Expanded Expanded"/>
                <a:sym typeface="Encode Sans Expanded"/>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120" name="Google Shape;120;p14"/>
          <p:cNvSpPr txBox="1">
            <a:spLocks noGrp="1"/>
          </p:cNvSpPr>
          <p:nvPr>
            <p:ph type="body" idx="1"/>
          </p:nvPr>
        </p:nvSpPr>
        <p:spPr>
          <a:xfrm>
            <a:off x="879616" y="3771644"/>
            <a:ext cx="3240000" cy="9720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lt1"/>
              </a:buClr>
              <a:buSzPts val="750"/>
              <a:buNone/>
              <a:defRPr sz="750">
                <a:solidFill>
                  <a:schemeClr val="lt1"/>
                </a:solidFill>
              </a:defRPr>
            </a:lvl1pPr>
            <a:lvl2pPr marL="914400" lvl="1" indent="-228600" algn="l">
              <a:lnSpc>
                <a:spcPct val="100000"/>
              </a:lnSpc>
              <a:spcBef>
                <a:spcPts val="0"/>
              </a:spcBef>
              <a:spcAft>
                <a:spcPts val="0"/>
              </a:spcAft>
              <a:buClr>
                <a:schemeClr val="lt1"/>
              </a:buClr>
              <a:buSzPts val="750"/>
              <a:buNone/>
              <a:defRPr sz="750">
                <a:solidFill>
                  <a:schemeClr val="lt1"/>
                </a:solidFill>
              </a:defRPr>
            </a:lvl2pPr>
            <a:lvl3pPr marL="1371600" lvl="2" indent="-228600" algn="l">
              <a:lnSpc>
                <a:spcPct val="100000"/>
              </a:lnSpc>
              <a:spcBef>
                <a:spcPts val="500"/>
              </a:spcBef>
              <a:spcAft>
                <a:spcPts val="0"/>
              </a:spcAft>
              <a:buClr>
                <a:schemeClr val="lt1"/>
              </a:buClr>
              <a:buSzPts val="750"/>
              <a:buNone/>
              <a:defRPr sz="750">
                <a:solidFill>
                  <a:schemeClr val="lt1"/>
                </a:solidFill>
              </a:defRPr>
            </a:lvl3pPr>
            <a:lvl4pPr marL="1828800" lvl="3" indent="-228600" algn="l">
              <a:lnSpc>
                <a:spcPct val="100000"/>
              </a:lnSpc>
              <a:spcBef>
                <a:spcPts val="300"/>
              </a:spcBef>
              <a:spcAft>
                <a:spcPts val="0"/>
              </a:spcAft>
              <a:buClr>
                <a:schemeClr val="lt1"/>
              </a:buClr>
              <a:buSzPts val="750"/>
              <a:buNone/>
              <a:defRPr sz="750">
                <a:solidFill>
                  <a:schemeClr val="lt1"/>
                </a:solidFill>
              </a:defRPr>
            </a:lvl4pPr>
            <a:lvl5pPr marL="2286000" lvl="4" indent="-276225" algn="l">
              <a:lnSpc>
                <a:spcPct val="100000"/>
              </a:lnSpc>
              <a:spcBef>
                <a:spcPts val="300"/>
              </a:spcBef>
              <a:spcAft>
                <a:spcPts val="0"/>
              </a:spcAft>
              <a:buClr>
                <a:schemeClr val="lt1"/>
              </a:buClr>
              <a:buSzPts val="750"/>
              <a:buChar char="•"/>
              <a:defRPr sz="750">
                <a:solidFill>
                  <a:schemeClr val="lt1"/>
                </a:solidFill>
              </a:defRPr>
            </a:lvl5pPr>
            <a:lvl6pPr marL="2743200" lvl="5" indent="-276225" algn="l">
              <a:lnSpc>
                <a:spcPct val="100000"/>
              </a:lnSpc>
              <a:spcBef>
                <a:spcPts val="300"/>
              </a:spcBef>
              <a:spcAft>
                <a:spcPts val="0"/>
              </a:spcAft>
              <a:buClr>
                <a:schemeClr val="dk1"/>
              </a:buClr>
              <a:buSzPts val="750"/>
              <a:buChar char="•"/>
              <a:defRPr sz="750"/>
            </a:lvl6pPr>
            <a:lvl7pPr marL="3200400" lvl="6" indent="-276225" algn="l">
              <a:lnSpc>
                <a:spcPct val="100000"/>
              </a:lnSpc>
              <a:spcBef>
                <a:spcPts val="300"/>
              </a:spcBef>
              <a:spcAft>
                <a:spcPts val="0"/>
              </a:spcAft>
              <a:buClr>
                <a:schemeClr val="dk1"/>
              </a:buClr>
              <a:buSzPts val="750"/>
              <a:buChar char="•"/>
              <a:defRPr sz="750"/>
            </a:lvl7pPr>
            <a:lvl8pPr marL="3657600" lvl="7" indent="-276225" algn="l">
              <a:lnSpc>
                <a:spcPct val="100000"/>
              </a:lnSpc>
              <a:spcBef>
                <a:spcPts val="300"/>
              </a:spcBef>
              <a:spcAft>
                <a:spcPts val="0"/>
              </a:spcAft>
              <a:buClr>
                <a:schemeClr val="dk1"/>
              </a:buClr>
              <a:buSzPts val="750"/>
              <a:buChar char="•"/>
              <a:defRPr sz="750"/>
            </a:lvl8pPr>
            <a:lvl9pPr marL="4114800" lvl="8" indent="-276225" algn="l">
              <a:lnSpc>
                <a:spcPct val="100000"/>
              </a:lnSpc>
              <a:spcBef>
                <a:spcPts val="300"/>
              </a:spcBef>
              <a:spcAft>
                <a:spcPts val="0"/>
              </a:spcAft>
              <a:buClr>
                <a:schemeClr val="dk1"/>
              </a:buClr>
              <a:buSzPts val="750"/>
              <a:buChar char="•"/>
              <a:defRPr sz="750"/>
            </a:lvl9pPr>
          </a:lstStyle>
          <a:p>
            <a:endParaRPr/>
          </a:p>
        </p:txBody>
      </p:sp>
      <p:sp>
        <p:nvSpPr>
          <p:cNvPr id="121" name="Google Shape;121;p14"/>
          <p:cNvSpPr txBox="1">
            <a:spLocks noGrp="1"/>
          </p:cNvSpPr>
          <p:nvPr>
            <p:ph type="sldNum" idx="12"/>
          </p:nvPr>
        </p:nvSpPr>
        <p:spPr>
          <a:xfrm>
            <a:off x="8556784" y="4749851"/>
            <a:ext cx="548700" cy="393600"/>
          </a:xfrm>
          <a:prstGeom prst="rect">
            <a:avLst/>
          </a:prstGeom>
          <a:noFill/>
          <a:ln>
            <a:noFill/>
          </a:ln>
        </p:spPr>
        <p:txBody>
          <a:bodyPr spcFirstLastPara="1" wrap="square" lIns="68575" tIns="34275" rIns="68575" bIns="3427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spTree>
    <p:extLst>
      <p:ext uri="{BB962C8B-B14F-4D97-AF65-F5344CB8AC3E}">
        <p14:creationId xmlns:p14="http://schemas.microsoft.com/office/powerpoint/2010/main" val="354104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ver with photo 1">
  <p:cSld name="Cover with photo 1">
    <p:bg>
      <p:bgPr>
        <a:blipFill>
          <a:blip r:embed="rId2">
            <a:alphaModFix/>
          </a:blip>
          <a:stretch>
            <a:fillRect/>
          </a:stretch>
        </a:blipFill>
        <a:effectLst/>
      </p:bgPr>
    </p:bg>
    <p:spTree>
      <p:nvGrpSpPr>
        <p:cNvPr id="1" name="Shape 122"/>
        <p:cNvGrpSpPr/>
        <p:nvPr/>
      </p:nvGrpSpPr>
      <p:grpSpPr>
        <a:xfrm>
          <a:off x="0" y="0"/>
          <a:ext cx="0" cy="0"/>
          <a:chOff x="0" y="0"/>
          <a:chExt cx="0" cy="0"/>
        </a:xfrm>
      </p:grpSpPr>
      <p:sp>
        <p:nvSpPr>
          <p:cNvPr id="123" name="Google Shape;123;p15"/>
          <p:cNvSpPr txBox="1">
            <a:spLocks noGrp="1"/>
          </p:cNvSpPr>
          <p:nvPr>
            <p:ph type="sldNum" idx="12"/>
          </p:nvPr>
        </p:nvSpPr>
        <p:spPr>
          <a:xfrm>
            <a:off x="8527799" y="4922100"/>
            <a:ext cx="540000" cy="16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FFFFFF"/>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sp>
        <p:nvSpPr>
          <p:cNvPr id="124" name="Google Shape;124;p15"/>
          <p:cNvSpPr txBox="1">
            <a:spLocks noGrp="1"/>
          </p:cNvSpPr>
          <p:nvPr>
            <p:ph type="title"/>
          </p:nvPr>
        </p:nvSpPr>
        <p:spPr>
          <a:xfrm>
            <a:off x="845103" y="1207768"/>
            <a:ext cx="7830000" cy="1080000"/>
          </a:xfrm>
          <a:prstGeom prst="rect">
            <a:avLst/>
          </a:prstGeom>
          <a:noFill/>
          <a:ln>
            <a:noFill/>
          </a:ln>
        </p:spPr>
        <p:txBody>
          <a:bodyPr spcFirstLastPara="1" wrap="square" lIns="68575" tIns="34275" rIns="68575" bIns="34275" anchor="t" anchorCtr="0">
            <a:noAutofit/>
          </a:bodyPr>
          <a:lstStyle>
            <a:lvl1pPr marR="0" lvl="0" algn="l">
              <a:lnSpc>
                <a:spcPct val="95000"/>
              </a:lnSpc>
              <a:spcBef>
                <a:spcPts val="0"/>
              </a:spcBef>
              <a:spcAft>
                <a:spcPts val="0"/>
              </a:spcAft>
              <a:buClr>
                <a:schemeClr val="lt1"/>
              </a:buClr>
              <a:buSzPts val="3500"/>
              <a:buFont typeface="Encode Sans Expanded"/>
              <a:buNone/>
              <a:defRPr sz="3500" b="0" i="0" u="none" strike="noStrike" cap="none">
                <a:solidFill>
                  <a:schemeClr val="lt1"/>
                </a:solidFill>
                <a:latin typeface="Encode Sans Expanded Expanded"/>
                <a:ea typeface="Encode Sans Expanded Expanded"/>
                <a:cs typeface="Encode Sans Expanded Expanded"/>
                <a:sym typeface="Encode Sans Expanded"/>
              </a:defRPr>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125" name="Google Shape;125;p15"/>
          <p:cNvSpPr txBox="1">
            <a:spLocks noGrp="1"/>
          </p:cNvSpPr>
          <p:nvPr>
            <p:ph type="title" idx="2"/>
          </p:nvPr>
        </p:nvSpPr>
        <p:spPr>
          <a:xfrm>
            <a:off x="76200" y="4922100"/>
            <a:ext cx="3060000" cy="162000"/>
          </a:xfrm>
          <a:prstGeom prst="rect">
            <a:avLst/>
          </a:prstGeom>
          <a:noFill/>
          <a:ln>
            <a:noFill/>
          </a:ln>
        </p:spPr>
        <p:txBody>
          <a:bodyPr spcFirstLastPara="1" wrap="square" lIns="68575" tIns="34275" rIns="68575" bIns="34275" anchor="t" anchorCtr="0">
            <a:noAutofit/>
          </a:bodyPr>
          <a:lstStyle>
            <a:lvl1pPr marR="0" lvl="0" algn="l">
              <a:lnSpc>
                <a:spcPct val="95000"/>
              </a:lnSpc>
              <a:spcBef>
                <a:spcPts val="0"/>
              </a:spcBef>
              <a:spcAft>
                <a:spcPts val="0"/>
              </a:spcAft>
              <a:buClr>
                <a:srgbClr val="FFFFFF"/>
              </a:buClr>
              <a:buSzPts val="800"/>
              <a:buNone/>
              <a:defRPr sz="800" i="0" u="none" strike="noStrike" cap="none">
                <a:solidFill>
                  <a:srgbClr val="FFFFFF"/>
                </a:solidFill>
              </a:defRPr>
            </a:lvl1pPr>
            <a:lvl2pPr lvl="1" algn="l">
              <a:lnSpc>
                <a:spcPct val="100000"/>
              </a:lnSpc>
              <a:spcBef>
                <a:spcPts val="0"/>
              </a:spcBef>
              <a:spcAft>
                <a:spcPts val="0"/>
              </a:spcAft>
              <a:buClr>
                <a:srgbClr val="FFFFFF"/>
              </a:buClr>
              <a:buSzPts val="800"/>
              <a:buNone/>
              <a:defRPr sz="800">
                <a:solidFill>
                  <a:srgbClr val="FFFFFF"/>
                </a:solidFill>
              </a:defRPr>
            </a:lvl2pPr>
            <a:lvl3pPr lvl="2" algn="l">
              <a:lnSpc>
                <a:spcPct val="100000"/>
              </a:lnSpc>
              <a:spcBef>
                <a:spcPts val="0"/>
              </a:spcBef>
              <a:spcAft>
                <a:spcPts val="0"/>
              </a:spcAft>
              <a:buClr>
                <a:srgbClr val="FFFFFF"/>
              </a:buClr>
              <a:buSzPts val="800"/>
              <a:buNone/>
              <a:defRPr sz="800">
                <a:solidFill>
                  <a:srgbClr val="FFFFFF"/>
                </a:solidFill>
              </a:defRPr>
            </a:lvl3pPr>
            <a:lvl4pPr lvl="3" algn="l">
              <a:lnSpc>
                <a:spcPct val="100000"/>
              </a:lnSpc>
              <a:spcBef>
                <a:spcPts val="0"/>
              </a:spcBef>
              <a:spcAft>
                <a:spcPts val="0"/>
              </a:spcAft>
              <a:buClr>
                <a:srgbClr val="FFFFFF"/>
              </a:buClr>
              <a:buSzPts val="800"/>
              <a:buNone/>
              <a:defRPr sz="800">
                <a:solidFill>
                  <a:srgbClr val="FFFFFF"/>
                </a:solidFill>
              </a:defRPr>
            </a:lvl4pPr>
            <a:lvl5pPr lvl="4" algn="l">
              <a:lnSpc>
                <a:spcPct val="100000"/>
              </a:lnSpc>
              <a:spcBef>
                <a:spcPts val="0"/>
              </a:spcBef>
              <a:spcAft>
                <a:spcPts val="0"/>
              </a:spcAft>
              <a:buClr>
                <a:srgbClr val="FFFFFF"/>
              </a:buClr>
              <a:buSzPts val="800"/>
              <a:buNone/>
              <a:defRPr sz="800">
                <a:solidFill>
                  <a:srgbClr val="FFFFFF"/>
                </a:solidFill>
              </a:defRPr>
            </a:lvl5pPr>
            <a:lvl6pPr lvl="5" algn="l">
              <a:lnSpc>
                <a:spcPct val="100000"/>
              </a:lnSpc>
              <a:spcBef>
                <a:spcPts val="0"/>
              </a:spcBef>
              <a:spcAft>
                <a:spcPts val="0"/>
              </a:spcAft>
              <a:buClr>
                <a:srgbClr val="FFFFFF"/>
              </a:buClr>
              <a:buSzPts val="800"/>
              <a:buNone/>
              <a:defRPr sz="800">
                <a:solidFill>
                  <a:srgbClr val="FFFFFF"/>
                </a:solidFill>
              </a:defRPr>
            </a:lvl6pPr>
            <a:lvl7pPr lvl="6" algn="l">
              <a:lnSpc>
                <a:spcPct val="100000"/>
              </a:lnSpc>
              <a:spcBef>
                <a:spcPts val="0"/>
              </a:spcBef>
              <a:spcAft>
                <a:spcPts val="0"/>
              </a:spcAft>
              <a:buClr>
                <a:srgbClr val="FFFFFF"/>
              </a:buClr>
              <a:buSzPts val="800"/>
              <a:buNone/>
              <a:defRPr sz="800">
                <a:solidFill>
                  <a:srgbClr val="FFFFFF"/>
                </a:solidFill>
              </a:defRPr>
            </a:lvl7pPr>
            <a:lvl8pPr lvl="7" algn="l">
              <a:lnSpc>
                <a:spcPct val="100000"/>
              </a:lnSpc>
              <a:spcBef>
                <a:spcPts val="0"/>
              </a:spcBef>
              <a:spcAft>
                <a:spcPts val="0"/>
              </a:spcAft>
              <a:buClr>
                <a:srgbClr val="FFFFFF"/>
              </a:buClr>
              <a:buSzPts val="800"/>
              <a:buNone/>
              <a:defRPr sz="800">
                <a:solidFill>
                  <a:srgbClr val="FFFFFF"/>
                </a:solidFill>
              </a:defRPr>
            </a:lvl8pPr>
            <a:lvl9pPr lvl="8" algn="l">
              <a:lnSpc>
                <a:spcPct val="100000"/>
              </a:lnSpc>
              <a:spcBef>
                <a:spcPts val="0"/>
              </a:spcBef>
              <a:spcAft>
                <a:spcPts val="0"/>
              </a:spcAft>
              <a:buClr>
                <a:srgbClr val="FFFFFF"/>
              </a:buClr>
              <a:buSzPts val="800"/>
              <a:buNone/>
              <a:defRPr sz="800">
                <a:solidFill>
                  <a:srgbClr val="FFFFFF"/>
                </a:solidFill>
              </a:defRPr>
            </a:lvl9pPr>
          </a:lstStyle>
          <a:p>
            <a:endParaRPr/>
          </a:p>
        </p:txBody>
      </p:sp>
      <p:sp>
        <p:nvSpPr>
          <p:cNvPr id="126" name="Google Shape;126;p15"/>
          <p:cNvSpPr txBox="1">
            <a:spLocks noGrp="1"/>
          </p:cNvSpPr>
          <p:nvPr>
            <p:ph type="title" idx="3"/>
          </p:nvPr>
        </p:nvSpPr>
        <p:spPr>
          <a:xfrm>
            <a:off x="845100" y="4236375"/>
            <a:ext cx="4737600" cy="522300"/>
          </a:xfrm>
          <a:prstGeom prst="rect">
            <a:avLst/>
          </a:prstGeom>
          <a:noFill/>
          <a:ln>
            <a:noFill/>
          </a:ln>
        </p:spPr>
        <p:txBody>
          <a:bodyPr spcFirstLastPara="1" wrap="square" lIns="68575" tIns="34275" rIns="68575" bIns="34275" anchor="t" anchorCtr="0">
            <a:noAutofit/>
          </a:bodyPr>
          <a:lstStyle>
            <a:lvl1pPr marR="0" lvl="0" algn="l">
              <a:lnSpc>
                <a:spcPct val="95000"/>
              </a:lnSpc>
              <a:spcBef>
                <a:spcPts val="0"/>
              </a:spcBef>
              <a:spcAft>
                <a:spcPts val="0"/>
              </a:spcAft>
              <a:buClr>
                <a:srgbClr val="FFFFFF"/>
              </a:buClr>
              <a:buSzPts val="1900"/>
              <a:buNone/>
              <a:defRPr sz="1900" i="0" u="none" strike="noStrike" cap="none">
                <a:solidFill>
                  <a:srgbClr val="FFFFFF"/>
                </a:solidFill>
              </a:defRPr>
            </a:lvl1pPr>
            <a:lvl2pPr lvl="1" algn="l">
              <a:lnSpc>
                <a:spcPct val="100000"/>
              </a:lnSpc>
              <a:spcBef>
                <a:spcPts val="0"/>
              </a:spcBef>
              <a:spcAft>
                <a:spcPts val="0"/>
              </a:spcAft>
              <a:buClr>
                <a:srgbClr val="FFFFFF"/>
              </a:buClr>
              <a:buSzPts val="1900"/>
              <a:buNone/>
              <a:defRPr sz="1900">
                <a:solidFill>
                  <a:srgbClr val="FFFFFF"/>
                </a:solidFill>
              </a:defRPr>
            </a:lvl2pPr>
            <a:lvl3pPr lvl="2" algn="l">
              <a:lnSpc>
                <a:spcPct val="100000"/>
              </a:lnSpc>
              <a:spcBef>
                <a:spcPts val="0"/>
              </a:spcBef>
              <a:spcAft>
                <a:spcPts val="0"/>
              </a:spcAft>
              <a:buClr>
                <a:srgbClr val="FFFFFF"/>
              </a:buClr>
              <a:buSzPts val="1900"/>
              <a:buNone/>
              <a:defRPr sz="1900">
                <a:solidFill>
                  <a:srgbClr val="FFFFFF"/>
                </a:solidFill>
              </a:defRPr>
            </a:lvl3pPr>
            <a:lvl4pPr lvl="3" algn="l">
              <a:lnSpc>
                <a:spcPct val="100000"/>
              </a:lnSpc>
              <a:spcBef>
                <a:spcPts val="0"/>
              </a:spcBef>
              <a:spcAft>
                <a:spcPts val="0"/>
              </a:spcAft>
              <a:buClr>
                <a:srgbClr val="FFFFFF"/>
              </a:buClr>
              <a:buSzPts val="1900"/>
              <a:buNone/>
              <a:defRPr sz="1900">
                <a:solidFill>
                  <a:srgbClr val="FFFFFF"/>
                </a:solidFill>
              </a:defRPr>
            </a:lvl4pPr>
            <a:lvl5pPr lvl="4" algn="l">
              <a:lnSpc>
                <a:spcPct val="100000"/>
              </a:lnSpc>
              <a:spcBef>
                <a:spcPts val="0"/>
              </a:spcBef>
              <a:spcAft>
                <a:spcPts val="0"/>
              </a:spcAft>
              <a:buClr>
                <a:srgbClr val="FFFFFF"/>
              </a:buClr>
              <a:buSzPts val="1900"/>
              <a:buNone/>
              <a:defRPr sz="1900">
                <a:solidFill>
                  <a:srgbClr val="FFFFFF"/>
                </a:solidFill>
              </a:defRPr>
            </a:lvl5pPr>
            <a:lvl6pPr lvl="5" algn="l">
              <a:lnSpc>
                <a:spcPct val="100000"/>
              </a:lnSpc>
              <a:spcBef>
                <a:spcPts val="0"/>
              </a:spcBef>
              <a:spcAft>
                <a:spcPts val="0"/>
              </a:spcAft>
              <a:buClr>
                <a:srgbClr val="FFFFFF"/>
              </a:buClr>
              <a:buSzPts val="1900"/>
              <a:buNone/>
              <a:defRPr sz="1900">
                <a:solidFill>
                  <a:srgbClr val="FFFFFF"/>
                </a:solidFill>
              </a:defRPr>
            </a:lvl6pPr>
            <a:lvl7pPr lvl="6" algn="l">
              <a:lnSpc>
                <a:spcPct val="100000"/>
              </a:lnSpc>
              <a:spcBef>
                <a:spcPts val="0"/>
              </a:spcBef>
              <a:spcAft>
                <a:spcPts val="0"/>
              </a:spcAft>
              <a:buClr>
                <a:srgbClr val="FFFFFF"/>
              </a:buClr>
              <a:buSzPts val="1900"/>
              <a:buNone/>
              <a:defRPr sz="1900">
                <a:solidFill>
                  <a:srgbClr val="FFFFFF"/>
                </a:solidFill>
              </a:defRPr>
            </a:lvl7pPr>
            <a:lvl8pPr lvl="7" algn="l">
              <a:lnSpc>
                <a:spcPct val="100000"/>
              </a:lnSpc>
              <a:spcBef>
                <a:spcPts val="0"/>
              </a:spcBef>
              <a:spcAft>
                <a:spcPts val="0"/>
              </a:spcAft>
              <a:buClr>
                <a:srgbClr val="FFFFFF"/>
              </a:buClr>
              <a:buSzPts val="1900"/>
              <a:buNone/>
              <a:defRPr sz="1900">
                <a:solidFill>
                  <a:srgbClr val="FFFFFF"/>
                </a:solidFill>
              </a:defRPr>
            </a:lvl8pPr>
            <a:lvl9pPr lvl="8" algn="l">
              <a:lnSpc>
                <a:spcPct val="100000"/>
              </a:lnSpc>
              <a:spcBef>
                <a:spcPts val="0"/>
              </a:spcBef>
              <a:spcAft>
                <a:spcPts val="0"/>
              </a:spcAft>
              <a:buClr>
                <a:srgbClr val="FFFFFF"/>
              </a:buClr>
              <a:buSzPts val="1900"/>
              <a:buNone/>
              <a:defRPr sz="1900">
                <a:solidFill>
                  <a:srgbClr val="FFFFFF"/>
                </a:solidFill>
              </a:defRPr>
            </a:lvl9pPr>
          </a:lstStyle>
          <a:p>
            <a:endParaRPr/>
          </a:p>
        </p:txBody>
      </p:sp>
    </p:spTree>
    <p:extLst>
      <p:ext uri="{BB962C8B-B14F-4D97-AF65-F5344CB8AC3E}">
        <p14:creationId xmlns:p14="http://schemas.microsoft.com/office/powerpoint/2010/main" val="2240443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 columns with a photo">
  <p:cSld name="2 columns with a photo">
    <p:spTree>
      <p:nvGrpSpPr>
        <p:cNvPr id="1" name="Shape 127"/>
        <p:cNvGrpSpPr/>
        <p:nvPr/>
      </p:nvGrpSpPr>
      <p:grpSpPr>
        <a:xfrm>
          <a:off x="0" y="0"/>
          <a:ext cx="0" cy="0"/>
          <a:chOff x="0" y="0"/>
          <a:chExt cx="0" cy="0"/>
        </a:xfrm>
      </p:grpSpPr>
      <p:sp>
        <p:nvSpPr>
          <p:cNvPr id="128" name="Google Shape;128;p16"/>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
        <p:nvSpPr>
          <p:cNvPr id="129" name="Google Shape;129;p16"/>
          <p:cNvSpPr>
            <a:spLocks noGrp="1"/>
          </p:cNvSpPr>
          <p:nvPr>
            <p:ph type="pic" idx="2"/>
          </p:nvPr>
        </p:nvSpPr>
        <p:spPr>
          <a:xfrm>
            <a:off x="402350" y="2603475"/>
            <a:ext cx="8372700" cy="2065200"/>
          </a:xfrm>
          <a:prstGeom prst="rect">
            <a:avLst/>
          </a:prstGeom>
          <a:noFill/>
          <a:ln>
            <a:noFill/>
          </a:ln>
        </p:spPr>
      </p:sp>
      <p:sp>
        <p:nvSpPr>
          <p:cNvPr id="130" name="Google Shape;130;p16"/>
          <p:cNvSpPr txBox="1">
            <a:spLocks noGrp="1"/>
          </p:cNvSpPr>
          <p:nvPr>
            <p:ph type="body" idx="1"/>
          </p:nvPr>
        </p:nvSpPr>
        <p:spPr>
          <a:xfrm>
            <a:off x="402350" y="933150"/>
            <a:ext cx="4153800" cy="13770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2"/>
              </a:buClr>
              <a:buSzPts val="1200"/>
              <a:buNone/>
              <a:defRPr sz="1200"/>
            </a:lvl1pPr>
            <a:lvl2pPr marL="914400" lvl="1" indent="-317500" algn="l">
              <a:lnSpc>
                <a:spcPct val="100000"/>
              </a:lnSpc>
              <a:spcBef>
                <a:spcPts val="500"/>
              </a:spcBef>
              <a:spcAft>
                <a:spcPts val="0"/>
              </a:spcAft>
              <a:buClr>
                <a:schemeClr val="dk2"/>
              </a:buClr>
              <a:buSzPts val="1400"/>
              <a:buChar char="•"/>
              <a:defRPr sz="1200"/>
            </a:lvl2pPr>
            <a:lvl3pPr marL="1371600" lvl="2" indent="-228600" algn="l">
              <a:lnSpc>
                <a:spcPct val="100000"/>
              </a:lnSpc>
              <a:spcBef>
                <a:spcPts val="500"/>
              </a:spcBef>
              <a:spcAft>
                <a:spcPts val="0"/>
              </a:spcAft>
              <a:buClr>
                <a:schemeClr val="dk2"/>
              </a:buClr>
              <a:buSzPts val="1600"/>
              <a:buNone/>
              <a:defRPr sz="900"/>
            </a:lvl3pPr>
            <a:lvl4pPr marL="1828800" lvl="3" indent="-228600" algn="l">
              <a:lnSpc>
                <a:spcPct val="100000"/>
              </a:lnSpc>
              <a:spcBef>
                <a:spcPts val="300"/>
              </a:spcBef>
              <a:spcAft>
                <a:spcPts val="0"/>
              </a:spcAft>
              <a:buClr>
                <a:schemeClr val="dk2"/>
              </a:buClr>
              <a:buSzPts val="1400"/>
              <a:buNone/>
              <a:defRPr sz="900"/>
            </a:lvl4pPr>
            <a:lvl5pPr marL="2286000" lvl="4" indent="-317500" algn="l">
              <a:lnSpc>
                <a:spcPct val="100000"/>
              </a:lnSpc>
              <a:spcBef>
                <a:spcPts val="300"/>
              </a:spcBef>
              <a:spcAft>
                <a:spcPts val="0"/>
              </a:spcAft>
              <a:buClr>
                <a:schemeClr val="dk2"/>
              </a:buClr>
              <a:buSzPts val="1400"/>
              <a:buChar char="•"/>
              <a:defRPr sz="900"/>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pic>
        <p:nvPicPr>
          <p:cNvPr id="131" name="Google Shape;131;p16"/>
          <p:cNvPicPr preferRelativeResize="0"/>
          <p:nvPr/>
        </p:nvPicPr>
        <p:blipFill rotWithShape="1">
          <a:blip r:embed="rId2">
            <a:alphaModFix/>
          </a:blip>
          <a:srcRect/>
          <a:stretch/>
        </p:blipFill>
        <p:spPr>
          <a:xfrm>
            <a:off x="0" y="334777"/>
            <a:ext cx="7258050" cy="257175"/>
          </a:xfrm>
          <a:prstGeom prst="rect">
            <a:avLst/>
          </a:prstGeom>
          <a:noFill/>
          <a:ln>
            <a:noFill/>
          </a:ln>
        </p:spPr>
      </p:pic>
      <p:sp>
        <p:nvSpPr>
          <p:cNvPr id="132" name="Google Shape;132;p16"/>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FFFFFF"/>
              </a:buClr>
              <a:buSzPts val="1100"/>
              <a:buNone/>
              <a:defRPr sz="1100">
                <a:solidFill>
                  <a:srgbClr val="FFFFFF"/>
                </a:solidFill>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a:endParaRPr/>
          </a:p>
        </p:txBody>
      </p:sp>
      <p:sp>
        <p:nvSpPr>
          <p:cNvPr id="133" name="Google Shape;133;p16"/>
          <p:cNvSpPr txBox="1">
            <a:spLocks noGrp="1"/>
          </p:cNvSpPr>
          <p:nvPr>
            <p:ph type="body" idx="3"/>
          </p:nvPr>
        </p:nvSpPr>
        <p:spPr>
          <a:xfrm>
            <a:off x="4628250" y="933150"/>
            <a:ext cx="4153800" cy="1377000"/>
          </a:xfrm>
          <a:prstGeom prst="rect">
            <a:avLst/>
          </a:prstGeom>
          <a:noFill/>
          <a:ln>
            <a:noFill/>
          </a:ln>
        </p:spPr>
        <p:txBody>
          <a:bodyPr spcFirstLastPara="1" wrap="square" lIns="68575" tIns="34275" rIns="68575" bIns="34275" anchor="t" anchorCtr="0">
            <a:noAutofit/>
          </a:bodyPr>
          <a:lstStyle>
            <a:lvl1pPr marL="457200" lvl="0" indent="-228600" algn="l">
              <a:lnSpc>
                <a:spcPct val="100000"/>
              </a:lnSpc>
              <a:spcBef>
                <a:spcPts val="0"/>
              </a:spcBef>
              <a:spcAft>
                <a:spcPts val="0"/>
              </a:spcAft>
              <a:buClr>
                <a:schemeClr val="dk2"/>
              </a:buClr>
              <a:buSzPts val="1200"/>
              <a:buNone/>
              <a:defRPr sz="1200"/>
            </a:lvl1pPr>
            <a:lvl2pPr marL="914400" lvl="1" indent="-317500" algn="l">
              <a:lnSpc>
                <a:spcPct val="100000"/>
              </a:lnSpc>
              <a:spcBef>
                <a:spcPts val="500"/>
              </a:spcBef>
              <a:spcAft>
                <a:spcPts val="0"/>
              </a:spcAft>
              <a:buClr>
                <a:schemeClr val="dk2"/>
              </a:buClr>
              <a:buSzPts val="1400"/>
              <a:buChar char="•"/>
              <a:defRPr sz="1200"/>
            </a:lvl2pPr>
            <a:lvl3pPr marL="1371600" lvl="2" indent="-228600" algn="l">
              <a:lnSpc>
                <a:spcPct val="100000"/>
              </a:lnSpc>
              <a:spcBef>
                <a:spcPts val="500"/>
              </a:spcBef>
              <a:spcAft>
                <a:spcPts val="0"/>
              </a:spcAft>
              <a:buClr>
                <a:schemeClr val="dk2"/>
              </a:buClr>
              <a:buSzPts val="1600"/>
              <a:buNone/>
              <a:defRPr sz="900"/>
            </a:lvl3pPr>
            <a:lvl4pPr marL="1828800" lvl="3" indent="-228600" algn="l">
              <a:lnSpc>
                <a:spcPct val="100000"/>
              </a:lnSpc>
              <a:spcBef>
                <a:spcPts val="300"/>
              </a:spcBef>
              <a:spcAft>
                <a:spcPts val="0"/>
              </a:spcAft>
              <a:buClr>
                <a:schemeClr val="dk2"/>
              </a:buClr>
              <a:buSzPts val="1400"/>
              <a:buNone/>
              <a:defRPr sz="900"/>
            </a:lvl4pPr>
            <a:lvl5pPr marL="2286000" lvl="4" indent="-317500" algn="l">
              <a:lnSpc>
                <a:spcPct val="100000"/>
              </a:lnSpc>
              <a:spcBef>
                <a:spcPts val="300"/>
              </a:spcBef>
              <a:spcAft>
                <a:spcPts val="0"/>
              </a:spcAft>
              <a:buClr>
                <a:schemeClr val="dk2"/>
              </a:buClr>
              <a:buSzPts val="1400"/>
              <a:buChar char="•"/>
              <a:defRPr sz="900"/>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34" name="Google Shape;134;p16"/>
          <p:cNvSpPr txBox="1">
            <a:spLocks noGrp="1"/>
          </p:cNvSpPr>
          <p:nvPr>
            <p:ph type="title" idx="4"/>
          </p:nvPr>
        </p:nvSpPr>
        <p:spPr>
          <a:xfrm>
            <a:off x="402400" y="4867275"/>
            <a:ext cx="792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
        <p:nvSpPr>
          <p:cNvPr id="135" name="Google Shape;135;p16"/>
          <p:cNvSpPr txBox="1">
            <a:spLocks noGrp="1"/>
          </p:cNvSpPr>
          <p:nvPr>
            <p:ph type="title" idx="5"/>
          </p:nvPr>
        </p:nvSpPr>
        <p:spPr>
          <a:xfrm>
            <a:off x="1194400" y="4867275"/>
            <a:ext cx="3600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Tree>
    <p:extLst>
      <p:ext uri="{BB962C8B-B14F-4D97-AF65-F5344CB8AC3E}">
        <p14:creationId xmlns:p14="http://schemas.microsoft.com/office/powerpoint/2010/main" val="2042689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1968300"/>
            <a:ext cx="8100000" cy="27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2" y="337388"/>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68" indent="0">
              <a:buNone/>
              <a:defRPr sz="1125" b="1"/>
            </a:lvl2pPr>
            <a:lvl3pPr marL="514337" indent="0">
              <a:buNone/>
              <a:defRPr sz="1013" b="1"/>
            </a:lvl3pPr>
            <a:lvl4pPr marL="771506" indent="0">
              <a:buNone/>
              <a:defRPr sz="900" b="1"/>
            </a:lvl4pPr>
            <a:lvl5pPr marL="1028675" indent="0">
              <a:buNone/>
              <a:defRPr sz="900" b="1"/>
            </a:lvl5pPr>
            <a:lvl6pPr marL="1285843" indent="0">
              <a:buNone/>
              <a:defRPr sz="900" b="1"/>
            </a:lvl6pPr>
            <a:lvl7pPr marL="1543012" indent="0">
              <a:buNone/>
              <a:defRPr sz="900" b="1"/>
            </a:lvl7pPr>
            <a:lvl8pPr marL="1800180" indent="0">
              <a:buNone/>
              <a:defRPr sz="900" b="1"/>
            </a:lvl8pPr>
            <a:lvl9pPr marL="2057348" indent="0">
              <a:buNone/>
              <a:defRPr sz="900" b="1"/>
            </a:lvl9pPr>
          </a:lstStyle>
          <a:p>
            <a:pPr lvl="0"/>
            <a:r>
              <a:rPr lang="en-US" noProof="0"/>
              <a:t>Click to edit master text styles</a:t>
            </a:r>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402300" y="1151316"/>
            <a:ext cx="8100000" cy="648000"/>
          </a:xfrm>
        </p:spPr>
        <p:txBody>
          <a:bodyPr/>
          <a:lstStyle/>
          <a:p>
            <a:r>
              <a:rPr lang="en-US" noProof="0"/>
              <a:t>Click to edit Master title style</a:t>
            </a:r>
          </a:p>
        </p:txBody>
      </p:sp>
      <p:sp>
        <p:nvSpPr>
          <p:cNvPr id="2" name="Espace réservé de la date 3">
            <a:extLst>
              <a:ext uri="{FF2B5EF4-FFF2-40B4-BE49-F238E27FC236}">
                <a16:creationId xmlns:a16="http://schemas.microsoft.com/office/drawing/2014/main" id="{398E20C3-52FC-4765-040E-3145FE215356}"/>
              </a:ext>
            </a:extLst>
          </p:cNvPr>
          <p:cNvSpPr>
            <a:spLocks noGrp="1"/>
          </p:cNvSpPr>
          <p:nvPr>
            <p:ph type="dt" sz="half" idx="15"/>
          </p:nvPr>
        </p:nvSpPr>
        <p:spPr>
          <a:xfrm>
            <a:off x="409575" y="4867276"/>
            <a:ext cx="792000" cy="162000"/>
          </a:xfrm>
        </p:spPr>
        <p:txBody>
          <a:bodyPr/>
          <a:lstStyle/>
          <a:p>
            <a:r>
              <a:rPr lang="fr-FR" noProof="0"/>
              <a:t>2024</a:t>
            </a:r>
            <a:endParaRPr lang="en-US" b="0" noProof="0"/>
          </a:p>
        </p:txBody>
      </p:sp>
      <p:sp>
        <p:nvSpPr>
          <p:cNvPr id="3" name="Espace réservé du pied de page 4">
            <a:extLst>
              <a:ext uri="{FF2B5EF4-FFF2-40B4-BE49-F238E27FC236}">
                <a16:creationId xmlns:a16="http://schemas.microsoft.com/office/drawing/2014/main" id="{DCDAB7EF-B0A9-0F18-9AEC-AC30001DB5F7}"/>
              </a:ext>
            </a:extLst>
          </p:cNvPr>
          <p:cNvSpPr>
            <a:spLocks noGrp="1"/>
          </p:cNvSpPr>
          <p:nvPr>
            <p:ph type="ftr" sz="quarter" idx="16"/>
          </p:nvPr>
        </p:nvSpPr>
        <p:spPr>
          <a:xfrm>
            <a:off x="1117280" y="4867276"/>
            <a:ext cx="3600000" cy="162000"/>
          </a:xfrm>
        </p:spPr>
        <p:txBody>
          <a:bodyPr/>
          <a:lstStyle/>
          <a:p>
            <a:r>
              <a:rPr lang="en-US" noProof="0"/>
              <a:t>ICT – </a:t>
            </a:r>
            <a:r>
              <a:rPr lang="en-US"/>
              <a:t>D</a:t>
            </a:r>
            <a:r>
              <a:rPr lang="en-US" noProof="0" err="1"/>
              <a:t>esign</a:t>
            </a:r>
            <a:r>
              <a:rPr lang="en-US" noProof="0"/>
              <a:t> authority &amp; Architecture</a:t>
            </a:r>
            <a:endParaRPr lang="en-US" b="0" noProof="0"/>
          </a:p>
        </p:txBody>
      </p:sp>
    </p:spTree>
    <p:extLst>
      <p:ext uri="{BB962C8B-B14F-4D97-AF65-F5344CB8AC3E}">
        <p14:creationId xmlns:p14="http://schemas.microsoft.com/office/powerpoint/2010/main" val="3224039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hoto with highlighting text">
  <p:cSld name="Photo with highlighting text">
    <p:spTree>
      <p:nvGrpSpPr>
        <p:cNvPr id="1" name="Shape 61"/>
        <p:cNvGrpSpPr/>
        <p:nvPr/>
      </p:nvGrpSpPr>
      <p:grpSpPr>
        <a:xfrm>
          <a:off x="0" y="0"/>
          <a:ext cx="0" cy="0"/>
          <a:chOff x="0" y="0"/>
          <a:chExt cx="0" cy="0"/>
        </a:xfrm>
      </p:grpSpPr>
      <p:sp>
        <p:nvSpPr>
          <p:cNvPr id="62" name="Google Shape;62;p8"/>
          <p:cNvSpPr txBox="1">
            <a:spLocks noGrp="1"/>
          </p:cNvSpPr>
          <p:nvPr>
            <p:ph type="title"/>
          </p:nvPr>
        </p:nvSpPr>
        <p:spPr>
          <a:xfrm>
            <a:off x="4556325" y="933350"/>
            <a:ext cx="4107300" cy="3735300"/>
          </a:xfrm>
          <a:prstGeom prst="rect">
            <a:avLst/>
          </a:prstGeom>
          <a:solidFill>
            <a:schemeClr val="dk2"/>
          </a:solidFill>
          <a:ln>
            <a:noFill/>
          </a:ln>
        </p:spPr>
        <p:txBody>
          <a:bodyPr spcFirstLastPara="1" wrap="square" lIns="486000" tIns="270000" rIns="270000" bIns="270000" anchor="ctr" anchorCtr="0">
            <a:noAutofit/>
          </a:bodyPr>
          <a:lstStyle>
            <a:lvl1pPr lvl="0" algn="l">
              <a:lnSpc>
                <a:spcPct val="100000"/>
              </a:lnSpc>
              <a:spcBef>
                <a:spcPts val="0"/>
              </a:spcBef>
              <a:spcAft>
                <a:spcPts val="0"/>
              </a:spcAft>
              <a:buClr>
                <a:schemeClr val="lt1"/>
              </a:buClr>
              <a:buSzPts val="1800"/>
              <a:buFont typeface="Encode Sans"/>
              <a:buNone/>
              <a:defRPr sz="1800">
                <a:solidFill>
                  <a:schemeClr val="lt1"/>
                </a:solidFill>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a:p>
        </p:txBody>
      </p:sp>
      <p:sp>
        <p:nvSpPr>
          <p:cNvPr id="63" name="Google Shape;63;p8"/>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pic>
        <p:nvPicPr>
          <p:cNvPr id="64" name="Google Shape;64;p8"/>
          <p:cNvPicPr preferRelativeResize="0"/>
          <p:nvPr/>
        </p:nvPicPr>
        <p:blipFill rotWithShape="1">
          <a:blip r:embed="rId2">
            <a:alphaModFix/>
          </a:blip>
          <a:srcRect/>
          <a:stretch/>
        </p:blipFill>
        <p:spPr>
          <a:xfrm>
            <a:off x="0" y="334777"/>
            <a:ext cx="7258050" cy="257175"/>
          </a:xfrm>
          <a:prstGeom prst="rect">
            <a:avLst/>
          </a:prstGeom>
          <a:noFill/>
          <a:ln>
            <a:noFill/>
          </a:ln>
        </p:spPr>
      </p:pic>
      <p:sp>
        <p:nvSpPr>
          <p:cNvPr id="65" name="Google Shape;65;p8"/>
          <p:cNvSpPr txBox="1">
            <a:spLocks noGrp="1"/>
          </p:cNvSpPr>
          <p:nvPr>
            <p:ph type="title" idx="2"/>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FFFFFF"/>
              </a:buClr>
              <a:buSzPts val="1100"/>
              <a:buNone/>
              <a:defRPr sz="1100">
                <a:solidFill>
                  <a:srgbClr val="FFFFFF"/>
                </a:solidFill>
              </a:defRPr>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a:endParaRPr/>
          </a:p>
        </p:txBody>
      </p:sp>
      <p:sp>
        <p:nvSpPr>
          <p:cNvPr id="66" name="Google Shape;66;p8"/>
          <p:cNvSpPr txBox="1">
            <a:spLocks noGrp="1"/>
          </p:cNvSpPr>
          <p:nvPr>
            <p:ph type="title" idx="3"/>
          </p:nvPr>
        </p:nvSpPr>
        <p:spPr>
          <a:xfrm>
            <a:off x="402400" y="4867275"/>
            <a:ext cx="792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
        <p:nvSpPr>
          <p:cNvPr id="67" name="Google Shape;67;p8"/>
          <p:cNvSpPr txBox="1">
            <a:spLocks noGrp="1"/>
          </p:cNvSpPr>
          <p:nvPr>
            <p:ph type="title" idx="4"/>
          </p:nvPr>
        </p:nvSpPr>
        <p:spPr>
          <a:xfrm>
            <a:off x="1194400" y="4867275"/>
            <a:ext cx="3600000" cy="1620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Clr>
                <a:srgbClr val="000000"/>
              </a:buClr>
              <a:buSzPts val="700"/>
              <a:buNone/>
              <a:defRPr sz="700">
                <a:solidFill>
                  <a:srgbClr val="000000"/>
                </a:solidFill>
              </a:defRPr>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a:endParaRPr/>
          </a:p>
        </p:txBody>
      </p:sp>
    </p:spTree>
    <p:extLst>
      <p:ext uri="{BB962C8B-B14F-4D97-AF65-F5344CB8AC3E}">
        <p14:creationId xmlns:p14="http://schemas.microsoft.com/office/powerpoint/2010/main" val="934505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 columns with a photo">
  <p:cSld name="1_2 columns with a photo">
    <p:spTree>
      <p:nvGrpSpPr>
        <p:cNvPr id="1" name="Shape 123"/>
        <p:cNvGrpSpPr/>
        <p:nvPr/>
      </p:nvGrpSpPr>
      <p:grpSpPr>
        <a:xfrm>
          <a:off x="0" y="0"/>
          <a:ext cx="0" cy="0"/>
          <a:chOff x="0" y="0"/>
          <a:chExt cx="0" cy="0"/>
        </a:xfrm>
      </p:grpSpPr>
      <p:sp>
        <p:nvSpPr>
          <p:cNvPr id="124" name="Google Shape;124;p32"/>
          <p:cNvSpPr/>
          <p:nvPr/>
        </p:nvSpPr>
        <p:spPr>
          <a:xfrm>
            <a:off x="-5531" y="5067089"/>
            <a:ext cx="9144000" cy="84600"/>
          </a:xfrm>
          <a:prstGeom prst="rect">
            <a:avLst/>
          </a:prstGeom>
          <a:gradFill>
            <a:gsLst>
              <a:gs pos="0">
                <a:schemeClr val="dk2"/>
              </a:gs>
              <a:gs pos="100000">
                <a:schemeClr val="accent3"/>
              </a:gs>
            </a:gsLst>
            <a:lin ang="0" scaled="0"/>
          </a:gradFill>
          <a:ln>
            <a:noFill/>
          </a:ln>
        </p:spPr>
        <p:txBody>
          <a:bodyPr spcFirstLastPara="1" wrap="square" lIns="68569" tIns="68569" rIns="68569" bIns="68569" anchor="ctr" anchorCtr="0">
            <a:noAutofit/>
          </a:bodyPr>
          <a:lstStyle/>
          <a:p>
            <a:pPr marL="0" lvl="0" indent="0" algn="l" rtl="0">
              <a:spcBef>
                <a:spcPts val="0"/>
              </a:spcBef>
              <a:spcAft>
                <a:spcPts val="0"/>
              </a:spcAft>
              <a:buNone/>
            </a:pPr>
            <a:endParaRPr sz="1050"/>
          </a:p>
        </p:txBody>
      </p:sp>
      <p:pic>
        <p:nvPicPr>
          <p:cNvPr id="125" name="Google Shape;125;p32"/>
          <p:cNvPicPr preferRelativeResize="0"/>
          <p:nvPr/>
        </p:nvPicPr>
        <p:blipFill rotWithShape="1">
          <a:blip r:embed="rId2">
            <a:alphaModFix/>
          </a:blip>
          <a:srcRect l="32102"/>
          <a:stretch/>
        </p:blipFill>
        <p:spPr>
          <a:xfrm>
            <a:off x="8561676" y="4776948"/>
            <a:ext cx="115107" cy="149306"/>
          </a:xfrm>
          <a:prstGeom prst="rect">
            <a:avLst/>
          </a:prstGeom>
          <a:noFill/>
          <a:ln>
            <a:noFill/>
          </a:ln>
        </p:spPr>
      </p:pic>
      <p:pic>
        <p:nvPicPr>
          <p:cNvPr id="126" name="Google Shape;126;p32"/>
          <p:cNvPicPr preferRelativeResize="0"/>
          <p:nvPr/>
        </p:nvPicPr>
        <p:blipFill>
          <a:blip r:embed="rId3">
            <a:alphaModFix/>
          </a:blip>
          <a:stretch>
            <a:fillRect/>
          </a:stretch>
        </p:blipFill>
        <p:spPr>
          <a:xfrm>
            <a:off x="7471726" y="4742533"/>
            <a:ext cx="1030117" cy="218135"/>
          </a:xfrm>
          <a:prstGeom prst="rect">
            <a:avLst/>
          </a:prstGeom>
          <a:noFill/>
          <a:ln>
            <a:noFill/>
          </a:ln>
        </p:spPr>
      </p:pic>
      <p:pic>
        <p:nvPicPr>
          <p:cNvPr id="127" name="Google Shape;127;p32"/>
          <p:cNvPicPr preferRelativeResize="0"/>
          <p:nvPr/>
        </p:nvPicPr>
        <p:blipFill>
          <a:blip r:embed="rId4">
            <a:alphaModFix/>
          </a:blip>
          <a:stretch>
            <a:fillRect/>
          </a:stretch>
        </p:blipFill>
        <p:spPr>
          <a:xfrm>
            <a:off x="8753356" y="4736999"/>
            <a:ext cx="211301" cy="218134"/>
          </a:xfrm>
          <a:prstGeom prst="rect">
            <a:avLst/>
          </a:prstGeom>
          <a:noFill/>
          <a:ln>
            <a:noFill/>
          </a:ln>
        </p:spPr>
      </p:pic>
      <p:sp>
        <p:nvSpPr>
          <p:cNvPr id="128" name="Google Shape;128;p32"/>
          <p:cNvSpPr txBox="1"/>
          <p:nvPr/>
        </p:nvSpPr>
        <p:spPr>
          <a:xfrm>
            <a:off x="272781" y="61124"/>
            <a:ext cx="6624675" cy="445050"/>
          </a:xfrm>
          <a:prstGeom prst="rect">
            <a:avLst/>
          </a:prstGeom>
          <a:noFill/>
          <a:ln>
            <a:noFill/>
          </a:ln>
        </p:spPr>
        <p:txBody>
          <a:bodyPr spcFirstLastPara="1" wrap="square" lIns="68569" tIns="68569" rIns="68569" bIns="68569" anchor="t" anchorCtr="0">
            <a:normAutofit/>
          </a:bodyPr>
          <a:lstStyle/>
          <a:p>
            <a:pPr marL="0" lvl="0" indent="0" algn="l" rtl="0">
              <a:spcBef>
                <a:spcPts val="0"/>
              </a:spcBef>
              <a:spcAft>
                <a:spcPts val="0"/>
              </a:spcAft>
              <a:buNone/>
            </a:pPr>
            <a:endParaRPr sz="1200" b="1">
              <a:solidFill>
                <a:srgbClr val="0A143B"/>
              </a:solidFill>
              <a:latin typeface="Encode Sans"/>
              <a:ea typeface="Encode Sans"/>
              <a:cs typeface="Encode Sans"/>
              <a:sym typeface="Encode Sans"/>
            </a:endParaRPr>
          </a:p>
        </p:txBody>
      </p:sp>
      <p:sp>
        <p:nvSpPr>
          <p:cNvPr id="129" name="Google Shape;129;p32"/>
          <p:cNvSpPr/>
          <p:nvPr/>
        </p:nvSpPr>
        <p:spPr>
          <a:xfrm>
            <a:off x="352925" y="-5626"/>
            <a:ext cx="585450" cy="49500"/>
          </a:xfrm>
          <a:prstGeom prst="roundRect">
            <a:avLst>
              <a:gd name="adj" fmla="val 50000"/>
            </a:avLst>
          </a:prstGeom>
          <a:solidFill>
            <a:schemeClr val="accent3"/>
          </a:solidFill>
          <a:ln>
            <a:noFill/>
          </a:ln>
        </p:spPr>
        <p:txBody>
          <a:bodyPr spcFirstLastPara="1" wrap="square" lIns="68569" tIns="68569" rIns="68569" bIns="68569" anchor="ctr" anchorCtr="0">
            <a:noAutofit/>
          </a:bodyPr>
          <a:lstStyle/>
          <a:p>
            <a:pPr marL="0" lvl="0" indent="0" algn="l" rtl="0">
              <a:spcBef>
                <a:spcPts val="0"/>
              </a:spcBef>
              <a:spcAft>
                <a:spcPts val="0"/>
              </a:spcAft>
              <a:buNone/>
            </a:pPr>
            <a:endParaRPr sz="1050"/>
          </a:p>
        </p:txBody>
      </p:sp>
      <p:sp>
        <p:nvSpPr>
          <p:cNvPr id="130" name="Google Shape;130;p32"/>
          <p:cNvSpPr txBox="1">
            <a:spLocks noGrp="1"/>
          </p:cNvSpPr>
          <p:nvPr>
            <p:ph type="title"/>
          </p:nvPr>
        </p:nvSpPr>
        <p:spPr>
          <a:xfrm>
            <a:off x="272775" y="111994"/>
            <a:ext cx="8781300" cy="733275"/>
          </a:xfrm>
          <a:prstGeom prst="rect">
            <a:avLst/>
          </a:prstGeom>
        </p:spPr>
        <p:txBody>
          <a:bodyPr spcFirstLastPara="1" wrap="square" lIns="91425" tIns="45700" rIns="91425" bIns="45700" anchor="t" anchorCtr="0">
            <a:noAutofit/>
          </a:bodyPr>
          <a:lstStyle>
            <a:lvl1pPr lvl="0">
              <a:spcBef>
                <a:spcPts val="0"/>
              </a:spcBef>
              <a:spcAft>
                <a:spcPts val="0"/>
              </a:spcAft>
              <a:buSzPts val="2200"/>
              <a:buNone/>
              <a:defRPr sz="135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lang="pt-BR"/>
          </a:p>
        </p:txBody>
      </p:sp>
    </p:spTree>
    <p:extLst>
      <p:ext uri="{BB962C8B-B14F-4D97-AF65-F5344CB8AC3E}">
        <p14:creationId xmlns:p14="http://schemas.microsoft.com/office/powerpoint/2010/main" val="151756069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ext">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1968300"/>
            <a:ext cx="8100000" cy="27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402300" y="1151316"/>
            <a:ext cx="8100000" cy="648000"/>
          </a:xfrm>
        </p:spPr>
        <p:txBody>
          <a:bodyPr/>
          <a:lstStyle/>
          <a:p>
            <a:r>
              <a:rPr lang="en-US" noProof="0"/>
              <a:t>Click to edit Master title style</a:t>
            </a:r>
          </a:p>
        </p:txBody>
      </p:sp>
      <p:sp>
        <p:nvSpPr>
          <p:cNvPr id="2" name="Espace réservé de la date 3">
            <a:extLst>
              <a:ext uri="{FF2B5EF4-FFF2-40B4-BE49-F238E27FC236}">
                <a16:creationId xmlns:a16="http://schemas.microsoft.com/office/drawing/2014/main" id="{398E20C3-52FC-4765-040E-3145FE215356}"/>
              </a:ext>
            </a:extLst>
          </p:cNvPr>
          <p:cNvSpPr>
            <a:spLocks noGrp="1"/>
          </p:cNvSpPr>
          <p:nvPr>
            <p:ph type="dt" sz="half" idx="15"/>
          </p:nvPr>
        </p:nvSpPr>
        <p:spPr>
          <a:xfrm>
            <a:off x="409575" y="4867276"/>
            <a:ext cx="792000" cy="162000"/>
          </a:xfrm>
        </p:spPr>
        <p:txBody>
          <a:bodyPr/>
          <a:lstStyle/>
          <a:p>
            <a:r>
              <a:rPr lang="fr-FR" noProof="0"/>
              <a:t>2024</a:t>
            </a:r>
            <a:endParaRPr lang="en-US" b="0" noProof="0"/>
          </a:p>
        </p:txBody>
      </p:sp>
      <p:sp>
        <p:nvSpPr>
          <p:cNvPr id="3" name="Espace réservé du pied de page 4">
            <a:extLst>
              <a:ext uri="{FF2B5EF4-FFF2-40B4-BE49-F238E27FC236}">
                <a16:creationId xmlns:a16="http://schemas.microsoft.com/office/drawing/2014/main" id="{DCDAB7EF-B0A9-0F18-9AEC-AC30001DB5F7}"/>
              </a:ext>
            </a:extLst>
          </p:cNvPr>
          <p:cNvSpPr>
            <a:spLocks noGrp="1"/>
          </p:cNvSpPr>
          <p:nvPr>
            <p:ph type="ftr" sz="quarter" idx="16"/>
          </p:nvPr>
        </p:nvSpPr>
        <p:spPr>
          <a:xfrm>
            <a:off x="1117280" y="4867276"/>
            <a:ext cx="3600000" cy="162000"/>
          </a:xfrm>
        </p:spPr>
        <p:txBody>
          <a:bodyPr/>
          <a:lstStyle/>
          <a:p>
            <a:r>
              <a:rPr lang="en-US" noProof="0"/>
              <a:t>ICT – </a:t>
            </a:r>
            <a:r>
              <a:rPr lang="en-US"/>
              <a:t>D</a:t>
            </a:r>
            <a:r>
              <a:rPr lang="en-US" noProof="0" err="1"/>
              <a:t>esign</a:t>
            </a:r>
            <a:r>
              <a:rPr lang="en-US" noProof="0"/>
              <a:t> authority &amp; Architecture</a:t>
            </a:r>
            <a:endParaRPr lang="en-US" b="0" noProof="0"/>
          </a:p>
        </p:txBody>
      </p:sp>
      <p:pic>
        <p:nvPicPr>
          <p:cNvPr id="6" name="Google Shape;64;p8">
            <a:extLst>
              <a:ext uri="{FF2B5EF4-FFF2-40B4-BE49-F238E27FC236}">
                <a16:creationId xmlns:a16="http://schemas.microsoft.com/office/drawing/2014/main" id="{A8D543B7-42EF-8BCA-E527-0F20A39CAA93}"/>
              </a:ext>
            </a:extLst>
          </p:cNvPr>
          <p:cNvPicPr preferRelativeResize="0"/>
          <p:nvPr userDrawn="1"/>
        </p:nvPicPr>
        <p:blipFill rotWithShape="1">
          <a:blip r:embed="rId2">
            <a:alphaModFix/>
          </a:blip>
          <a:srcRect/>
          <a:stretch/>
        </p:blipFill>
        <p:spPr>
          <a:xfrm>
            <a:off x="0" y="334777"/>
            <a:ext cx="7258050" cy="257175"/>
          </a:xfrm>
          <a:prstGeom prst="rect">
            <a:avLst/>
          </a:prstGeom>
          <a:noFill/>
          <a:ln>
            <a:noFill/>
          </a:ln>
        </p:spPr>
      </p:pic>
    </p:spTree>
    <p:extLst>
      <p:ext uri="{BB962C8B-B14F-4D97-AF65-F5344CB8AC3E}">
        <p14:creationId xmlns:p14="http://schemas.microsoft.com/office/powerpoint/2010/main" val="31724742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5" name="Espace réservé du texte 2"/>
          <p:cNvSpPr>
            <a:spLocks noGrp="1"/>
          </p:cNvSpPr>
          <p:nvPr>
            <p:ph idx="1" hasCustomPrompt="1"/>
          </p:nvPr>
        </p:nvSpPr>
        <p:spPr>
          <a:xfrm>
            <a:off x="296863" y="771550"/>
            <a:ext cx="8523609" cy="3960439"/>
          </a:xfrm>
          <a:prstGeom prst="rect">
            <a:avLst/>
          </a:prstGeom>
        </p:spPr>
        <p:txBody>
          <a:bodyPr vert="horz" lIns="91440" tIns="45720" rIns="91440" bIns="45720" rtlCol="0">
            <a:normAutofit/>
          </a:bodyPr>
          <a:lstStyle>
            <a:lvl1pPr>
              <a:defRPr sz="1600"/>
            </a:lvl1pPr>
            <a:lvl2pPr marL="631825" indent="-260350">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defRPr lang="en-GB" sz="1100" kern="1200" dirty="0" smtClean="0">
                <a:solidFill>
                  <a:srgbClr val="ACA39A"/>
                </a:solidFill>
                <a:latin typeface="Arial" panose="020B0604020202020204" pitchFamily="34" charset="0"/>
                <a:ea typeface="+mn-ea"/>
                <a:cs typeface="Arial" panose="020B0604020202020204" pitchFamily="34" charset="0"/>
              </a:defRPr>
            </a:lvl4pPr>
          </a:lstStyle>
          <a:p>
            <a:pPr lvl="0"/>
            <a:r>
              <a:rPr lang="en-US" noProof="0"/>
              <a:t>Edit text styles in mask</a:t>
            </a:r>
          </a:p>
          <a:p>
            <a:pPr marL="631825" lvl="1" indent="-260350" algn="l" defTabSz="914400" rtl="0" eaLnBrk="1" latinLnBrk="0" hangingPunct="1">
              <a:spcBef>
                <a:spcPts val="0"/>
              </a:spcBef>
              <a:spcAft>
                <a:spcPts val="600"/>
              </a:spcAft>
              <a:buClr>
                <a:srgbClr val="29385E"/>
              </a:buClr>
              <a:buSzPct val="120000"/>
              <a:buFont typeface="Arial" panose="020B0604020202020204" pitchFamily="34" charset="0"/>
              <a:buChar char="•"/>
            </a:pPr>
            <a:r>
              <a:rPr lang="en-US" noProof="0"/>
              <a:t>Second level</a:t>
            </a:r>
          </a:p>
          <a:p>
            <a:pPr marL="892175" lvl="2" indent="-260350" algn="l" defTabSz="914400" rtl="0" eaLnBrk="1" latinLnBrk="0" hangingPunct="1">
              <a:spcBef>
                <a:spcPts val="0"/>
              </a:spcBef>
              <a:spcAft>
                <a:spcPts val="600"/>
              </a:spcAft>
              <a:buClr>
                <a:srgbClr val="83786F"/>
              </a:buClr>
              <a:buFont typeface="Arial" panose="020B0604020202020204" pitchFamily="34" charset="0"/>
              <a:buChar char="-"/>
            </a:pPr>
            <a:r>
              <a:rPr lang="en-US" noProof="0"/>
              <a:t>Third level</a:t>
            </a:r>
          </a:p>
          <a:p>
            <a:pPr marL="1600200" marR="0" lvl="3" indent="-228600" algn="l" defTabSz="914400" rtl="0" eaLnBrk="1" fontAlgn="auto" latinLnBrk="0" hangingPunct="1">
              <a:lnSpc>
                <a:spcPct val="100000"/>
              </a:lnSpc>
              <a:spcBef>
                <a:spcPct val="20000"/>
              </a:spcBef>
              <a:spcAft>
                <a:spcPts val="600"/>
              </a:spcAft>
              <a:buClr>
                <a:srgbClr val="83786F"/>
              </a:buClr>
              <a:buSzTx/>
              <a:buFont typeface="Arial" panose="020B0604020202020204" pitchFamily="34" charset="0"/>
              <a:buChar char="•"/>
              <a:tabLst/>
              <a:defRPr/>
            </a:pPr>
            <a:r>
              <a:rPr lang="en-US"/>
              <a:t>Fourth level</a:t>
            </a:r>
          </a:p>
          <a:p>
            <a:pPr lvl="2"/>
            <a:endParaRPr lang="en-US" noProof="0"/>
          </a:p>
        </p:txBody>
      </p:sp>
      <p:sp>
        <p:nvSpPr>
          <p:cNvPr id="2" name="Titre 1"/>
          <p:cNvSpPr>
            <a:spLocks noGrp="1"/>
          </p:cNvSpPr>
          <p:nvPr>
            <p:ph type="title" hasCustomPrompt="1"/>
          </p:nvPr>
        </p:nvSpPr>
        <p:spPr>
          <a:xfrm>
            <a:off x="327476" y="163054"/>
            <a:ext cx="6908820" cy="442930"/>
          </a:xfrm>
        </p:spPr>
        <p:txBody>
          <a:bodyPr/>
          <a:lstStyle>
            <a:lvl1pPr>
              <a:defRPr/>
            </a:lvl1pPr>
          </a:lstStyle>
          <a:p>
            <a:r>
              <a:rPr lang="en-US"/>
              <a:t>Title of the chapter</a:t>
            </a:r>
          </a:p>
        </p:txBody>
      </p:sp>
    </p:spTree>
    <p:extLst>
      <p:ext uri="{BB962C8B-B14F-4D97-AF65-F5344CB8AC3E}">
        <p14:creationId xmlns:p14="http://schemas.microsoft.com/office/powerpoint/2010/main" val="1052293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865978" y="1574649"/>
            <a:ext cx="7560000" cy="2430000"/>
          </a:xfrm>
        </p:spPr>
        <p:txBody>
          <a:bodyPr anchor="t"/>
          <a:lstStyle>
            <a:lvl1pPr algn="l">
              <a:lnSpc>
                <a:spcPct val="90000"/>
              </a:lnSpc>
              <a:defRPr sz="3525">
                <a:solidFill>
                  <a:schemeClr val="bg1"/>
                </a:solidFill>
                <a:latin typeface="+mn-lt"/>
              </a:defRPr>
            </a:lvl1pPr>
          </a:lstStyle>
          <a:p>
            <a:r>
              <a:rPr lang="en-US" noProof="0"/>
              <a:t>Click to edit Master title style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hasCustomPrompt="1"/>
          </p:nvPr>
        </p:nvSpPr>
        <p:spPr>
          <a:xfrm>
            <a:off x="865978" y="4453362"/>
            <a:ext cx="7560000" cy="270000"/>
          </a:xfrm>
        </p:spPr>
        <p:txBody>
          <a:bodyPr anchor="t"/>
          <a:lstStyle>
            <a:lvl1pPr marL="0" indent="0" algn="l">
              <a:lnSpc>
                <a:spcPct val="90000"/>
              </a:lnSpc>
              <a:spcBef>
                <a:spcPts val="0"/>
              </a:spcBef>
              <a:buNone/>
              <a:defRPr sz="1350">
                <a:solidFill>
                  <a:schemeClr val="bg1"/>
                </a:solidFill>
                <a:latin typeface="+mn-lt"/>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noProof="0"/>
              <a:t>Click to edit master subtitle style</a:t>
            </a:r>
          </a:p>
        </p:txBody>
      </p:sp>
      <p:sp>
        <p:nvSpPr>
          <p:cNvPr id="14" name="Espace réservé de la date 13">
            <a:extLst>
              <a:ext uri="{FF2B5EF4-FFF2-40B4-BE49-F238E27FC236}">
                <a16:creationId xmlns:a16="http://schemas.microsoft.com/office/drawing/2014/main" id="{300CADA1-D253-4F6F-88CF-D8727A69C674}"/>
              </a:ext>
            </a:extLst>
          </p:cNvPr>
          <p:cNvSpPr>
            <a:spLocks noGrp="1"/>
          </p:cNvSpPr>
          <p:nvPr>
            <p:ph type="dt" sz="half" idx="10"/>
          </p:nvPr>
        </p:nvSpPr>
        <p:spPr>
          <a:xfrm>
            <a:off x="865978" y="4069155"/>
            <a:ext cx="2160000" cy="351000"/>
          </a:xfrm>
        </p:spPr>
        <p:txBody>
          <a:bodyPr anchor="t"/>
          <a:lstStyle>
            <a:lvl1pPr algn="l">
              <a:defRPr lang="fr-FR" sz="1875" b="0" kern="1200" cap="all" baseline="0" dirty="0" smtClean="0">
                <a:solidFill>
                  <a:schemeClr val="bg1"/>
                </a:solidFill>
                <a:latin typeface="+mn-lt"/>
                <a:ea typeface="+mn-ea"/>
                <a:cs typeface="+mn-cs"/>
              </a:defRPr>
            </a:lvl1pPr>
          </a:lstStyle>
          <a:p>
            <a:endParaRPr lang="fr-FR"/>
          </a:p>
        </p:txBody>
      </p:sp>
      <p:sp>
        <p:nvSpPr>
          <p:cNvPr id="15" name="Espace réservé du pied de page 14">
            <a:extLst>
              <a:ext uri="{FF2B5EF4-FFF2-40B4-BE49-F238E27FC236}">
                <a16:creationId xmlns:a16="http://schemas.microsoft.com/office/drawing/2014/main" id="{220B2E6D-A47C-49EF-BD1D-CD4E8D91A525}"/>
              </a:ext>
            </a:extLst>
          </p:cNvPr>
          <p:cNvSpPr>
            <a:spLocks noGrp="1"/>
          </p:cNvSpPr>
          <p:nvPr>
            <p:ph type="ftr" sz="quarter" idx="11"/>
          </p:nvPr>
        </p:nvSpPr>
        <p:spPr/>
        <p:txBody>
          <a:bodyPr/>
          <a:lstStyle>
            <a:lvl1pPr>
              <a:defRPr>
                <a:solidFill>
                  <a:schemeClr val="bg1"/>
                </a:solidFill>
                <a:latin typeface="+mn-lt"/>
              </a:defRPr>
            </a:lvl1pPr>
          </a:lstStyle>
          <a:p>
            <a:endParaRPr lang="fr-FR"/>
          </a:p>
        </p:txBody>
      </p:sp>
      <p:sp>
        <p:nvSpPr>
          <p:cNvPr id="16" name="Espace réservé du numéro de diapositive 15">
            <a:extLst>
              <a:ext uri="{FF2B5EF4-FFF2-40B4-BE49-F238E27FC236}">
                <a16:creationId xmlns:a16="http://schemas.microsoft.com/office/drawing/2014/main" id="{51BEB788-E3EA-4C0F-B6FF-45518A2C529D}"/>
              </a:ext>
            </a:extLst>
          </p:cNvPr>
          <p:cNvSpPr>
            <a:spLocks noGrp="1"/>
          </p:cNvSpPr>
          <p:nvPr>
            <p:ph type="sldNum" sz="quarter" idx="12"/>
          </p:nvPr>
        </p:nvSpPr>
        <p:spPr/>
        <p:txBody>
          <a:bodyPr/>
          <a:lstStyle>
            <a:lvl1pPr>
              <a:defRPr>
                <a:solidFill>
                  <a:schemeClr val="bg1"/>
                </a:solidFill>
                <a:latin typeface="+mn-lt"/>
              </a:defRPr>
            </a:lvl1pPr>
          </a:lstStyle>
          <a:p>
            <a:pPr marL="0" lvl="0" indent="0" algn="r" rtl="0">
              <a:spcBef>
                <a:spcPts val="0"/>
              </a:spcBef>
              <a:spcAft>
                <a:spcPts val="0"/>
              </a:spcAft>
              <a:buNone/>
            </a:pPr>
            <a:fld id="{00000000-1234-1234-1234-123412341234}" type="slidenum">
              <a:rPr lang="it-IT" smtClean="0"/>
              <a:t>‹N°›</a:t>
            </a:fld>
            <a:endParaRPr lang="it-IT"/>
          </a:p>
        </p:txBody>
      </p:sp>
    </p:spTree>
    <p:extLst>
      <p:ext uri="{BB962C8B-B14F-4D97-AF65-F5344CB8AC3E}">
        <p14:creationId xmlns:p14="http://schemas.microsoft.com/office/powerpoint/2010/main" val="140710614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Recommandation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A21623-60EA-4CE6-87A1-45097200BB6B}"/>
              </a:ext>
            </a:extLst>
          </p:cNvPr>
          <p:cNvSpPr>
            <a:spLocks noGrp="1"/>
          </p:cNvSpPr>
          <p:nvPr>
            <p:ph type="title" hasCustomPrompt="1"/>
          </p:nvPr>
        </p:nvSpPr>
        <p:spPr>
          <a:xfrm>
            <a:off x="865978" y="1549643"/>
            <a:ext cx="7830000" cy="1080000"/>
          </a:xfrm>
        </p:spPr>
        <p:txBody>
          <a:bodyPr/>
          <a:lstStyle>
            <a:lvl1pPr>
              <a:defRPr>
                <a:solidFill>
                  <a:schemeClr val="bg1"/>
                </a:solidFill>
                <a:latin typeface="+mn-lt"/>
              </a:defRPr>
            </a:lvl1pPr>
          </a:lstStyle>
          <a:p>
            <a:r>
              <a:rPr lang="en-US" noProof="0"/>
              <a:t>Click to edit Master title style</a:t>
            </a:r>
          </a:p>
        </p:txBody>
      </p:sp>
      <p:sp>
        <p:nvSpPr>
          <p:cNvPr id="5" name="Espace réservé du texte 4">
            <a:extLst>
              <a:ext uri="{FF2B5EF4-FFF2-40B4-BE49-F238E27FC236}">
                <a16:creationId xmlns:a16="http://schemas.microsoft.com/office/drawing/2014/main" id="{6B7ED2FD-D4F2-4FCF-B2BC-8B40DC49DFDC}"/>
              </a:ext>
            </a:extLst>
          </p:cNvPr>
          <p:cNvSpPr>
            <a:spLocks noGrp="1"/>
          </p:cNvSpPr>
          <p:nvPr>
            <p:ph type="body" sz="quarter" idx="18" hasCustomPrompt="1"/>
          </p:nvPr>
        </p:nvSpPr>
        <p:spPr>
          <a:xfrm>
            <a:off x="865584" y="2281500"/>
            <a:ext cx="7830000" cy="2200275"/>
          </a:xfrm>
        </p:spPr>
        <p:txBody>
          <a:bodyPr/>
          <a:lstStyle>
            <a:lvl1pPr>
              <a:defRPr>
                <a:solidFill>
                  <a:schemeClr val="bg1"/>
                </a:solidFill>
                <a:latin typeface="+mn-lt"/>
              </a:defRPr>
            </a:lvl1pPr>
            <a:lvl2pPr marL="162000" indent="-162000">
              <a:defRPr>
                <a:solidFill>
                  <a:schemeClr val="bg1"/>
                </a:solidFill>
                <a:latin typeface="+mn-lt"/>
              </a:defRPr>
            </a:lvl2pPr>
            <a:lvl3pPr>
              <a:defRPr b="0">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2907598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ver with photo">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4" name="Espace réservé pour une image  33">
            <a:extLst>
              <a:ext uri="{FF2B5EF4-FFF2-40B4-BE49-F238E27FC236}">
                <a16:creationId xmlns:a16="http://schemas.microsoft.com/office/drawing/2014/main" id="{370C295F-F87C-4224-8CC1-055740470C15}"/>
              </a:ext>
            </a:extLst>
          </p:cNvPr>
          <p:cNvSpPr>
            <a:spLocks noGrp="1"/>
          </p:cNvSpPr>
          <p:nvPr>
            <p:ph type="pic" idx="14" hasCustomPrompt="1"/>
          </p:nvPr>
        </p:nvSpPr>
        <p:spPr>
          <a:xfrm>
            <a:off x="2" y="2569369"/>
            <a:ext cx="9143999" cy="2574130"/>
          </a:xfrm>
          <a:prstGeom prst="rect">
            <a:avLst/>
          </a:prstGeom>
          <a:noFill/>
          <a:ln w="3175">
            <a:noFill/>
          </a:ln>
        </p:spPr>
        <p:txBody>
          <a:bodyPr wrap="square" anchor="ctr">
            <a:noAutofit/>
          </a:bodyPr>
          <a:lstStyle>
            <a:lvl1pPr marL="0" indent="0" algn="ctr">
              <a:buNone/>
              <a:defRPr sz="900" b="0" cap="none" baseline="0">
                <a:solidFill>
                  <a:schemeClr val="tx2"/>
                </a:solidFill>
                <a:latin typeface="+mj-lt"/>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845094" y="1362056"/>
            <a:ext cx="7830000" cy="945000"/>
          </a:xfrm>
        </p:spPr>
        <p:txBody>
          <a:bodyPr anchor="t"/>
          <a:lstStyle>
            <a:lvl1pPr algn="l">
              <a:lnSpc>
                <a:spcPct val="90000"/>
              </a:lnSpc>
              <a:defRPr sz="2850">
                <a:solidFill>
                  <a:schemeClr val="bg1"/>
                </a:solidFill>
                <a:latin typeface="+mn-lt"/>
              </a:defRPr>
            </a:lvl1pPr>
          </a:lstStyle>
          <a:p>
            <a:r>
              <a:rPr lang="en-US" noProof="0"/>
              <a:t>Click to edit Master title style</a:t>
            </a:r>
          </a:p>
        </p:txBody>
      </p:sp>
      <p:sp>
        <p:nvSpPr>
          <p:cNvPr id="12" name="Espace réservé de la date 11">
            <a:extLst>
              <a:ext uri="{FF2B5EF4-FFF2-40B4-BE49-F238E27FC236}">
                <a16:creationId xmlns:a16="http://schemas.microsoft.com/office/drawing/2014/main" id="{59764E17-B98C-4383-8370-2690754AADC9}"/>
              </a:ext>
            </a:extLst>
          </p:cNvPr>
          <p:cNvSpPr>
            <a:spLocks noGrp="1"/>
          </p:cNvSpPr>
          <p:nvPr>
            <p:ph type="dt" sz="half" idx="15"/>
          </p:nvPr>
        </p:nvSpPr>
        <p:spPr>
          <a:xfrm>
            <a:off x="859382" y="4351671"/>
            <a:ext cx="2160000" cy="351000"/>
          </a:xfrm>
        </p:spPr>
        <p:txBody>
          <a:bodyPr anchor="t"/>
          <a:lstStyle>
            <a:lvl1pPr>
              <a:defRPr lang="fr-FR" sz="1875" b="0" kern="1200" cap="all" baseline="0" noProof="0" dirty="0" smtClean="0">
                <a:solidFill>
                  <a:schemeClr val="bg1"/>
                </a:solidFill>
                <a:latin typeface="+mj-lt"/>
                <a:ea typeface="+mn-ea"/>
                <a:cs typeface="+mn-cs"/>
              </a:defRPr>
            </a:lvl1pPr>
          </a:lstStyle>
          <a:p>
            <a:endParaRPr lang="fr-FR"/>
          </a:p>
        </p:txBody>
      </p:sp>
      <p:sp>
        <p:nvSpPr>
          <p:cNvPr id="13" name="Espace réservé du pied de page 12">
            <a:extLst>
              <a:ext uri="{FF2B5EF4-FFF2-40B4-BE49-F238E27FC236}">
                <a16:creationId xmlns:a16="http://schemas.microsoft.com/office/drawing/2014/main" id="{E74E8C3D-024A-4ED6-AA2A-C1034A8F4A17}"/>
              </a:ext>
            </a:extLst>
          </p:cNvPr>
          <p:cNvSpPr>
            <a:spLocks noGrp="1"/>
          </p:cNvSpPr>
          <p:nvPr>
            <p:ph type="ftr" sz="quarter" idx="16"/>
          </p:nvPr>
        </p:nvSpPr>
        <p:spPr>
          <a:xfrm>
            <a:off x="76201" y="4922100"/>
            <a:ext cx="3060000" cy="162000"/>
          </a:xfrm>
        </p:spPr>
        <p:txBody>
          <a:bodyPr/>
          <a:lstStyle>
            <a:lvl1pPr>
              <a:defRPr>
                <a:solidFill>
                  <a:schemeClr val="bg1"/>
                </a:solidFill>
                <a:latin typeface="+mn-lt"/>
              </a:defRPr>
            </a:lvl1pPr>
          </a:lstStyle>
          <a:p>
            <a:endParaRPr lang="fr-FR"/>
          </a:p>
        </p:txBody>
      </p:sp>
      <p:sp>
        <p:nvSpPr>
          <p:cNvPr id="14" name="Espace réservé du numéro de diapositive 13">
            <a:extLst>
              <a:ext uri="{FF2B5EF4-FFF2-40B4-BE49-F238E27FC236}">
                <a16:creationId xmlns:a16="http://schemas.microsoft.com/office/drawing/2014/main" id="{26DEE05B-3704-4A91-B3BE-6D9306C267B4}"/>
              </a:ext>
            </a:extLst>
          </p:cNvPr>
          <p:cNvSpPr>
            <a:spLocks noGrp="1"/>
          </p:cNvSpPr>
          <p:nvPr>
            <p:ph type="sldNum" sz="quarter" idx="17"/>
          </p:nvPr>
        </p:nvSpPr>
        <p:spPr>
          <a:xfrm>
            <a:off x="8527799" y="4922100"/>
            <a:ext cx="540000" cy="162000"/>
          </a:xfrm>
        </p:spPr>
        <p:txBody>
          <a:bodyPr/>
          <a:lstStyle>
            <a:lvl1pPr>
              <a:defRPr>
                <a:solidFill>
                  <a:schemeClr val="bg1"/>
                </a:solidFill>
                <a:latin typeface="+mn-lt"/>
              </a:defRPr>
            </a:lvl1pPr>
          </a:lstStyle>
          <a:p>
            <a:pPr marL="0" lvl="0" indent="0" algn="r" rtl="0">
              <a:spcBef>
                <a:spcPts val="0"/>
              </a:spcBef>
              <a:spcAft>
                <a:spcPts val="0"/>
              </a:spcAft>
              <a:buNone/>
            </a:pPr>
            <a:fld id="{00000000-1234-1234-1234-123412341234}" type="slidenum">
              <a:rPr lang="it-IT" smtClean="0"/>
              <a:t>‹N°›</a:t>
            </a:fld>
            <a:endParaRPr lang="it-IT"/>
          </a:p>
        </p:txBody>
      </p:sp>
      <p:sp>
        <p:nvSpPr>
          <p:cNvPr id="42" name="Espace réservé du texte 41">
            <a:extLst>
              <a:ext uri="{FF2B5EF4-FFF2-40B4-BE49-F238E27FC236}">
                <a16:creationId xmlns:a16="http://schemas.microsoft.com/office/drawing/2014/main" id="{8E7EA58A-C319-4F80-9E54-D658719F8C76}"/>
              </a:ext>
            </a:extLst>
          </p:cNvPr>
          <p:cNvSpPr>
            <a:spLocks noGrp="1"/>
          </p:cNvSpPr>
          <p:nvPr>
            <p:ph type="body" sz="quarter" idx="18" hasCustomPrompt="1"/>
          </p:nvPr>
        </p:nvSpPr>
        <p:spPr>
          <a:xfrm>
            <a:off x="3953589" y="2343991"/>
            <a:ext cx="1297068" cy="247813"/>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
        <p:nvSpPr>
          <p:cNvPr id="3" name="Rectangle 2">
            <a:extLst>
              <a:ext uri="{FF2B5EF4-FFF2-40B4-BE49-F238E27FC236}">
                <a16:creationId xmlns:a16="http://schemas.microsoft.com/office/drawing/2014/main" id="{85C5ADB8-1D95-4438-B070-65BC574134F3}"/>
              </a:ext>
            </a:extLst>
          </p:cNvPr>
          <p:cNvSpPr/>
          <p:nvPr/>
        </p:nvSpPr>
        <p:spPr>
          <a:xfrm>
            <a:off x="2687217" y="258925"/>
            <a:ext cx="3876869" cy="945000"/>
          </a:xfrm>
          <a:prstGeom prst="rect">
            <a:avLst/>
          </a:prstGeom>
          <a:solidFill>
            <a:srgbClr val="034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50"/>
          </a:p>
        </p:txBody>
      </p:sp>
      <p:pic>
        <p:nvPicPr>
          <p:cNvPr id="5" name="Image 4">
            <a:extLst>
              <a:ext uri="{FF2B5EF4-FFF2-40B4-BE49-F238E27FC236}">
                <a16:creationId xmlns:a16="http://schemas.microsoft.com/office/drawing/2014/main" id="{E10AEE77-D4FC-4531-AF7D-3FF1780BF599}"/>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3748765" y="172090"/>
            <a:ext cx="1646471" cy="677204"/>
          </a:xfrm>
          <a:prstGeom prst="rect">
            <a:avLst/>
          </a:prstGeom>
        </p:spPr>
      </p:pic>
    </p:spTree>
    <p:extLst>
      <p:ext uri="{BB962C8B-B14F-4D97-AF65-F5344CB8AC3E}">
        <p14:creationId xmlns:p14="http://schemas.microsoft.com/office/powerpoint/2010/main" val="2933471271"/>
      </p:ext>
    </p:extLst>
  </p:cSld>
  <p:clrMapOvr>
    <a:masterClrMapping/>
  </p:clrMapOvr>
  <p:hf sldNum="0" hdr="0" ft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ntroduction">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8FD1CB-5C99-41C9-BA86-BB740E814EC3}"/>
              </a:ext>
            </a:extLst>
          </p:cNvPr>
          <p:cNvSpPr>
            <a:spLocks noGrp="1"/>
          </p:cNvSpPr>
          <p:nvPr>
            <p:ph type="title" hasCustomPrompt="1"/>
          </p:nvPr>
        </p:nvSpPr>
        <p:spPr>
          <a:xfrm>
            <a:off x="865978" y="1549642"/>
            <a:ext cx="7830000" cy="2700000"/>
          </a:xfrm>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92127713"/>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ac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01D72-D317-48EB-8946-13EE8EFCE25B}"/>
              </a:ext>
            </a:extLst>
          </p:cNvPr>
          <p:cNvSpPr>
            <a:spLocks noGrp="1"/>
          </p:cNvSpPr>
          <p:nvPr>
            <p:ph type="title" hasCustomPrompt="1"/>
          </p:nvPr>
        </p:nvSpPr>
        <p:spPr>
          <a:xfrm>
            <a:off x="879617" y="2228833"/>
            <a:ext cx="4050000" cy="1350000"/>
          </a:xfrm>
        </p:spPr>
        <p:txBody>
          <a:bodyPr anchor="b"/>
          <a:lstStyle>
            <a:lvl1pPr>
              <a:defRPr sz="2550" b="0">
                <a:solidFill>
                  <a:schemeClr val="bg1"/>
                </a:solidFill>
                <a:latin typeface="+mn-lt"/>
              </a:defRPr>
            </a:lvl1pPr>
          </a:lstStyle>
          <a:p>
            <a:r>
              <a:rPr lang="en-US" noProof="0"/>
              <a:t>Click to edit Master title style</a:t>
            </a:r>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879617" y="3628769"/>
            <a:ext cx="4050000" cy="972000"/>
          </a:xfrm>
        </p:spPr>
        <p:txBody>
          <a:bodyPr/>
          <a:lstStyle>
            <a:lvl1pPr>
              <a:defRPr sz="900">
                <a:solidFill>
                  <a:schemeClr val="bg1"/>
                </a:solidFill>
                <a:latin typeface="+mj-lt"/>
              </a:defRPr>
            </a:lvl1pPr>
            <a:lvl2pPr marL="0" indent="0">
              <a:spcBef>
                <a:spcPts val="0"/>
              </a:spcBef>
              <a:buNone/>
              <a:defRPr sz="900">
                <a:solidFill>
                  <a:schemeClr val="bg1"/>
                </a:solidFill>
              </a:defRPr>
            </a:lvl2pPr>
            <a:lvl3pPr>
              <a:defRPr sz="900">
                <a:solidFill>
                  <a:schemeClr val="bg1"/>
                </a:solidFill>
              </a:defRPr>
            </a:lvl3pPr>
            <a:lvl4pPr>
              <a:defRPr sz="900">
                <a:solidFill>
                  <a:schemeClr val="bg1"/>
                </a:solidFill>
              </a:defRPr>
            </a:lvl4pPr>
            <a:lvl5pPr>
              <a:defRPr sz="9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5" name="Image 4">
            <a:extLst>
              <a:ext uri="{FF2B5EF4-FFF2-40B4-BE49-F238E27FC236}">
                <a16:creationId xmlns:a16="http://schemas.microsoft.com/office/drawing/2014/main" id="{81C36159-8C86-4BF8-BA5B-A19C071BF353}"/>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3748765" y="172090"/>
            <a:ext cx="1646471" cy="677204"/>
          </a:xfrm>
          <a:prstGeom prst="rect">
            <a:avLst/>
          </a:prstGeom>
        </p:spPr>
      </p:pic>
    </p:spTree>
    <p:extLst>
      <p:ext uri="{BB962C8B-B14F-4D97-AF65-F5344CB8AC3E}">
        <p14:creationId xmlns:p14="http://schemas.microsoft.com/office/powerpoint/2010/main" val="112823169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ver">
  <p:cSld name="1_Cover">
    <p:spTree>
      <p:nvGrpSpPr>
        <p:cNvPr id="1" name="Shape 133"/>
        <p:cNvGrpSpPr/>
        <p:nvPr/>
      </p:nvGrpSpPr>
      <p:grpSpPr>
        <a:xfrm>
          <a:off x="0" y="0"/>
          <a:ext cx="0" cy="0"/>
          <a:chOff x="0" y="0"/>
          <a:chExt cx="0" cy="0"/>
        </a:xfrm>
      </p:grpSpPr>
      <p:sp>
        <p:nvSpPr>
          <p:cNvPr id="134" name="Google Shape;134;p17"/>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lvl="0"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SzPts val="700"/>
              <a:buNone/>
              <a:defRPr sz="7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extLst>
      <p:ext uri="{BB962C8B-B14F-4D97-AF65-F5344CB8AC3E}">
        <p14:creationId xmlns:p14="http://schemas.microsoft.com/office/powerpoint/2010/main" val="30118543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hapt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848917" y="1568174"/>
            <a:ext cx="7830000" cy="1161000"/>
          </a:xfrm>
        </p:spPr>
        <p:txBody>
          <a:bodyPr anchor="b"/>
          <a:lstStyle>
            <a:lvl1pPr>
              <a:defRPr sz="3750" b="0">
                <a:solidFill>
                  <a:schemeClr val="bg1"/>
                </a:solidFill>
                <a:latin typeface="+mn-lt"/>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848917" y="2782014"/>
            <a:ext cx="7830000" cy="594000"/>
          </a:xfrm>
        </p:spPr>
        <p:txBody>
          <a:bodyPr/>
          <a:lstStyle>
            <a:lvl1pPr>
              <a:defRPr sz="2175" b="0">
                <a:solidFill>
                  <a:schemeClr val="bg1"/>
                </a:solidFill>
                <a:latin typeface="+mn-lt"/>
              </a:defRPr>
            </a:lvl1pPr>
            <a:lvl2pPr>
              <a:defRPr sz="1875">
                <a:latin typeface="Encode Sans ExpandedLight" pitchFamily="2" charset="0"/>
              </a:defRPr>
            </a:lvl2pPr>
            <a:lvl3pPr>
              <a:defRPr sz="1875">
                <a:latin typeface="Encode Sans ExpandedLight" pitchFamily="2" charset="0"/>
              </a:defRPr>
            </a:lvl3pPr>
            <a:lvl4pPr>
              <a:defRPr sz="1875">
                <a:latin typeface="Encode Sans ExpandedLight" pitchFamily="2" charset="0"/>
              </a:defRPr>
            </a:lvl4pPr>
            <a:lvl5pPr>
              <a:defRPr sz="1875">
                <a:latin typeface="Encode Sans ExpandedLight" pitchFamily="2" charset="0"/>
              </a:defRPr>
            </a:lvl5pPr>
          </a:lstStyle>
          <a:p>
            <a:pPr lvl="0"/>
            <a:r>
              <a:rPr lang="en-US" noProof="0"/>
              <a:t>Click to edit master subtitle style</a:t>
            </a:r>
          </a:p>
        </p:txBody>
      </p:sp>
      <p:pic>
        <p:nvPicPr>
          <p:cNvPr id="5" name="Image 4">
            <a:extLst>
              <a:ext uri="{FF2B5EF4-FFF2-40B4-BE49-F238E27FC236}">
                <a16:creationId xmlns:a16="http://schemas.microsoft.com/office/drawing/2014/main" id="{DAF78E78-2461-472D-B769-5791333B9267}"/>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3748765" y="172090"/>
            <a:ext cx="1646471" cy="677204"/>
          </a:xfrm>
          <a:prstGeom prst="rect">
            <a:avLst/>
          </a:prstGeom>
        </p:spPr>
      </p:pic>
    </p:spTree>
    <p:extLst>
      <p:ext uri="{BB962C8B-B14F-4D97-AF65-F5344CB8AC3E}">
        <p14:creationId xmlns:p14="http://schemas.microsoft.com/office/powerpoint/2010/main" val="22732969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columns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42" y="1080689"/>
            <a:ext cx="4104000" cy="1377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4697104" y="1080689"/>
            <a:ext cx="4104000" cy="1377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482204" y="2569369"/>
            <a:ext cx="8179596" cy="2187457"/>
          </a:xfrm>
          <a:prstGeom prst="rect">
            <a:avLst/>
          </a:prstGeom>
          <a:noFill/>
          <a:ln w="3175">
            <a:noFill/>
          </a:ln>
        </p:spPr>
        <p:txBody>
          <a:bodyPr wrap="square" anchor="ctr">
            <a:noAutofit/>
          </a:bodyPr>
          <a:lstStyle>
            <a:lvl1pPr marL="0" indent="0" algn="ctr">
              <a:buNone/>
              <a:defRPr sz="900" b="0" cap="none" baseline="0">
                <a:solidFill>
                  <a:schemeClr val="tx2"/>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Tree>
    <p:extLst>
      <p:ext uri="{BB962C8B-B14F-4D97-AF65-F5344CB8AC3E}">
        <p14:creationId xmlns:p14="http://schemas.microsoft.com/office/powerpoint/2010/main" val="370642153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1968300"/>
            <a:ext cx="8100000" cy="27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402300" y="1151316"/>
            <a:ext cx="8100000" cy="648000"/>
          </a:xfrm>
        </p:spPr>
        <p:txBody>
          <a:bodyPr/>
          <a:lstStyle/>
          <a:p>
            <a:r>
              <a:rPr lang="en-US" noProof="0"/>
              <a:t>Click to edit Master title style</a:t>
            </a:r>
          </a:p>
        </p:txBody>
      </p:sp>
    </p:spTree>
    <p:extLst>
      <p:ext uri="{BB962C8B-B14F-4D97-AF65-F5344CB8AC3E}">
        <p14:creationId xmlns:p14="http://schemas.microsoft.com/office/powerpoint/2010/main" val="4242763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2195709"/>
            <a:ext cx="3996000" cy="2430000"/>
          </a:xfrm>
        </p:spPr>
        <p:txBody>
          <a:bodyPr/>
          <a:lstStyle>
            <a:lvl1pPr>
              <a:defRPr sz="1425"/>
            </a:lvl1pPr>
            <a:lvl2pPr>
              <a:defRPr sz="142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402300" y="1226324"/>
            <a:ext cx="3996000" cy="918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4572000" y="846307"/>
            <a:ext cx="4124528" cy="3779402"/>
          </a:xfrm>
          <a:prstGeom prst="rect">
            <a:avLst/>
          </a:prstGeom>
          <a:noFill/>
          <a:ln w="3175">
            <a:noFill/>
          </a:ln>
        </p:spPr>
        <p:txBody>
          <a:bodyPr wrap="square" anchor="ctr">
            <a:noAutofit/>
          </a:bodyPr>
          <a:lstStyle>
            <a:lvl1pPr marL="0" indent="0" algn="ctr">
              <a:buNone/>
              <a:defRPr sz="900" b="0" cap="none" baseline="0">
                <a:solidFill>
                  <a:schemeClr val="tx2"/>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Tree>
    <p:extLst>
      <p:ext uri="{BB962C8B-B14F-4D97-AF65-F5344CB8AC3E}">
        <p14:creationId xmlns:p14="http://schemas.microsoft.com/office/powerpoint/2010/main" val="8170742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white with a photo">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4572000" y="846307"/>
            <a:ext cx="4124528" cy="3779402"/>
          </a:xfrm>
          <a:prstGeom prst="rect">
            <a:avLst/>
          </a:prstGeom>
          <a:noFill/>
          <a:ln w="3175">
            <a:noFill/>
          </a:ln>
        </p:spPr>
        <p:txBody>
          <a:bodyPr wrap="square" anchor="ctr">
            <a:noAutofit/>
          </a:bodyPr>
          <a:lstStyle>
            <a:lvl1pPr marL="0" indent="0" algn="ctr">
              <a:buNone/>
              <a:defRPr sz="900" b="0" cap="none" baseline="0">
                <a:solidFill>
                  <a:schemeClr val="tx2"/>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482917" y="846307"/>
            <a:ext cx="4089083" cy="37794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684402" y="2195709"/>
            <a:ext cx="3699000" cy="2160000"/>
          </a:xfrm>
        </p:spPr>
        <p:txBody>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4106862" y="2644347"/>
            <a:ext cx="1125649" cy="215062"/>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1053134486"/>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hoto with highlighting text">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482918" y="846307"/>
            <a:ext cx="4090500" cy="3779402"/>
          </a:xfrm>
          <a:prstGeom prst="rect">
            <a:avLst/>
          </a:prstGeom>
          <a:noFill/>
          <a:ln w="3175">
            <a:noFill/>
          </a:ln>
        </p:spPr>
        <p:txBody>
          <a:bodyPr wrap="square" anchor="ctr">
            <a:noAutofit/>
          </a:bodyPr>
          <a:lstStyle>
            <a:lvl1pPr marL="0" indent="0" algn="ctr">
              <a:buNone/>
              <a:defRPr sz="900" b="0" cap="none" baseline="0">
                <a:solidFill>
                  <a:schemeClr val="tx2"/>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
        <p:nvSpPr>
          <p:cNvPr id="15" name="Titre 14">
            <a:extLst>
              <a:ext uri="{FF2B5EF4-FFF2-40B4-BE49-F238E27FC236}">
                <a16:creationId xmlns:a16="http://schemas.microsoft.com/office/drawing/2014/main" id="{135F8181-64D0-4B6F-93D7-8C10D48D5CD1}"/>
              </a:ext>
            </a:extLst>
          </p:cNvPr>
          <p:cNvSpPr>
            <a:spLocks noGrp="1"/>
          </p:cNvSpPr>
          <p:nvPr>
            <p:ph type="title" hasCustomPrompt="1"/>
          </p:nvPr>
        </p:nvSpPr>
        <p:spPr>
          <a:xfrm>
            <a:off x="4571100" y="846307"/>
            <a:ext cx="4125600" cy="3779402"/>
          </a:xfrm>
          <a:custGeom>
            <a:avLst/>
            <a:gdLst>
              <a:gd name="connsiteX0" fmla="*/ 0 w 5500800"/>
              <a:gd name="connsiteY0" fmla="*/ 0 h 5039202"/>
              <a:gd name="connsiteX1" fmla="*/ 5500800 w 5500800"/>
              <a:gd name="connsiteY1" fmla="*/ 0 h 5039202"/>
              <a:gd name="connsiteX2" fmla="*/ 5500800 w 5500800"/>
              <a:gd name="connsiteY2" fmla="*/ 5039202 h 5039202"/>
              <a:gd name="connsiteX3" fmla="*/ 0 w 550080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500800" h="5039202">
                <a:moveTo>
                  <a:pt x="0" y="0"/>
                </a:moveTo>
                <a:lnTo>
                  <a:pt x="5500800" y="0"/>
                </a:lnTo>
                <a:lnTo>
                  <a:pt x="5500800" y="5039202"/>
                </a:lnTo>
                <a:lnTo>
                  <a:pt x="0" y="5039202"/>
                </a:lnTo>
                <a:close/>
              </a:path>
            </a:pathLst>
          </a:custGeom>
          <a:solidFill>
            <a:schemeClr val="tx2"/>
          </a:solidFill>
        </p:spPr>
        <p:txBody>
          <a:bodyPr wrap="square" lIns="648000" tIns="360000" rIns="360000" bIns="360000" anchor="ctr">
            <a:noAutofit/>
          </a:bodyPr>
          <a:lstStyle>
            <a:lvl1pPr>
              <a:defRPr sz="1800">
                <a:solidFill>
                  <a:schemeClr val="bg1"/>
                </a:solidFill>
              </a:defRPr>
            </a:lvl1pPr>
          </a:lstStyle>
          <a:p>
            <a:r>
              <a:rPr lang="en-US" noProof="0"/>
              <a:t>Click to edit Master title style</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4106862" y="2644347"/>
            <a:ext cx="1125649" cy="215062"/>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4071029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in 2 frames with 2 photos">
    <p:spTree>
      <p:nvGrpSpPr>
        <p:cNvPr id="1" name=""/>
        <p:cNvGrpSpPr/>
        <p:nvPr/>
      </p:nvGrpSpPr>
      <p:grpSpPr>
        <a:xfrm>
          <a:off x="0" y="0"/>
          <a:ext cx="0" cy="0"/>
          <a:chOff x="0" y="0"/>
          <a:chExt cx="0" cy="0"/>
        </a:xfrm>
      </p:grpSpPr>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482917" y="846306"/>
            <a:ext cx="3969068" cy="37794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597652" y="2128838"/>
            <a:ext cx="3739601" cy="2370205"/>
          </a:xfrm>
          <a:prstGeom prst="rect">
            <a:avLst/>
          </a:prstGeom>
          <a:noFill/>
          <a:ln w="3175">
            <a:noFill/>
          </a:ln>
        </p:spPr>
        <p:txBody>
          <a:bodyPr wrap="square" anchor="ctr">
            <a:noAutofit/>
          </a:bodyPr>
          <a:lstStyle>
            <a:lvl1pPr marL="0" indent="0" algn="ctr">
              <a:buNone/>
              <a:defRPr sz="900" b="0" cap="none" baseline="0">
                <a:solidFill>
                  <a:schemeClr val="bg1"/>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4692016" y="846306"/>
            <a:ext cx="3969068" cy="37794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4806751" y="2128838"/>
            <a:ext cx="3739601" cy="2370205"/>
          </a:xfrm>
          <a:prstGeom prst="rect">
            <a:avLst/>
          </a:prstGeom>
          <a:noFill/>
          <a:ln w="3175">
            <a:noFill/>
          </a:ln>
        </p:spPr>
        <p:txBody>
          <a:bodyPr wrap="square" anchor="ctr">
            <a:noAutofit/>
          </a:bodyPr>
          <a:lstStyle>
            <a:lvl1pPr marL="0" indent="0" algn="ctr">
              <a:buNone/>
              <a:defRPr sz="900" b="0" cap="none" baseline="0">
                <a:solidFill>
                  <a:schemeClr val="bg1"/>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Tree>
    <p:extLst>
      <p:ext uri="{BB962C8B-B14F-4D97-AF65-F5344CB8AC3E}">
        <p14:creationId xmlns:p14="http://schemas.microsoft.com/office/powerpoint/2010/main" val="388830957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with 2 graphs">
    <p:spTree>
      <p:nvGrpSpPr>
        <p:cNvPr id="1" name=""/>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4594740" y="846305"/>
            <a:ext cx="4096924" cy="3942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425"/>
            </a:lvl1pPr>
            <a:lvl2pPr>
              <a:defRPr sz="127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402300" y="1917617"/>
            <a:ext cx="3807000" cy="2727000"/>
          </a:xfrm>
          <a:noFill/>
        </p:spPr>
        <p:txBody>
          <a:bodyPr anchor="ctr"/>
          <a:lstStyle>
            <a:lvl1pPr algn="ctr">
              <a:defRPr sz="900" b="0"/>
            </a:lvl1pPr>
          </a:lstStyle>
          <a:p>
            <a:r>
              <a:rPr lang="en-US" noProof="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4741071" y="1917617"/>
            <a:ext cx="3807000" cy="2727000"/>
          </a:xfrm>
          <a:noFill/>
        </p:spPr>
        <p:txBody>
          <a:bodyPr anchor="ctr"/>
          <a:lstStyle>
            <a:lvl1pPr algn="ctr">
              <a:defRPr sz="9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978550"/>
            <a:ext cx="3807000" cy="1280369"/>
          </a:xfrm>
        </p:spPr>
        <p:txBody>
          <a:bodyPr/>
          <a:lstStyle>
            <a:lvl1pPr>
              <a:defRPr sz="1425"/>
            </a:lvl1pPr>
            <a:lvl2pPr>
              <a:defRPr sz="127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3971030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with a graph">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402300" y="1917617"/>
            <a:ext cx="8289363" cy="2808000"/>
          </a:xfrm>
          <a:noFill/>
        </p:spPr>
        <p:txBody>
          <a:bodyPr anchor="ctr"/>
          <a:lstStyle>
            <a:lvl1pPr algn="ctr">
              <a:defRPr sz="9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1002870"/>
            <a:ext cx="8289363" cy="1280369"/>
          </a:xfrm>
        </p:spPr>
        <p:txBody>
          <a:bodyPr/>
          <a:lstStyle>
            <a:lvl1pPr>
              <a:defRPr sz="1800"/>
            </a:lvl1pPr>
            <a:lvl2pPr>
              <a:defRPr sz="1800"/>
            </a:lvl2pPr>
            <a:lvl3pPr>
              <a:defRPr sz="135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44443590"/>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ext with a graph and a frame ">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402301" y="1917616"/>
            <a:ext cx="5264999" cy="2700104"/>
          </a:xfrm>
          <a:noFill/>
        </p:spPr>
        <p:txBody>
          <a:bodyPr anchor="ctr"/>
          <a:lstStyle>
            <a:lvl1pPr algn="ctr">
              <a:defRPr sz="9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299" y="1002870"/>
            <a:ext cx="5265000" cy="1280369"/>
          </a:xfrm>
        </p:spPr>
        <p:txBody>
          <a:bodyPr/>
          <a:lstStyle>
            <a:lvl1pPr>
              <a:defRPr sz="1800"/>
            </a:lvl1pPr>
            <a:lvl2pPr>
              <a:defRPr sz="1800"/>
            </a:lvl2pPr>
            <a:lvl3pPr>
              <a:defRPr sz="135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5938431" y="966051"/>
            <a:ext cx="2742654" cy="3651670"/>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96833420"/>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aph with 2 texts in 2 frames">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402301" y="1002870"/>
            <a:ext cx="4050000" cy="3614851"/>
          </a:xfrm>
          <a:noFill/>
        </p:spPr>
        <p:txBody>
          <a:bodyPr anchor="ctr"/>
          <a:lstStyle>
            <a:lvl1pPr algn="ctr">
              <a:defRPr sz="900" b="0"/>
            </a:lvl1pPr>
          </a:lstStyle>
          <a:p>
            <a:r>
              <a:rPr lang="en-US" noProof="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4572546" y="966051"/>
            <a:ext cx="4102824" cy="1725715"/>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4572546" y="2892006"/>
            <a:ext cx="4102824" cy="1725715"/>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2511624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with highlighting numbers">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1002870"/>
            <a:ext cx="8289363" cy="1280369"/>
          </a:xfrm>
        </p:spPr>
        <p:txBody>
          <a:bodyPr/>
          <a:lstStyle>
            <a:lvl1pPr>
              <a:defRPr sz="1800"/>
            </a:lvl1pPr>
            <a:lvl2pPr>
              <a:defRPr sz="1800"/>
            </a:lvl2pPr>
            <a:lvl3pPr>
              <a:defRPr sz="135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482667" y="2267314"/>
            <a:ext cx="2538000" cy="513000"/>
          </a:xfrm>
          <a:solidFill>
            <a:schemeClr val="tx2"/>
          </a:solidFill>
        </p:spPr>
        <p:txBody>
          <a:bodyPr anchor="ctr"/>
          <a:lstStyle>
            <a:lvl1pPr algn="ctr">
              <a:defRPr sz="3000">
                <a:solidFill>
                  <a:schemeClr val="bg1"/>
                </a:solidFill>
                <a:latin typeface="+mj-lt"/>
              </a:defRPr>
            </a:lvl1pPr>
            <a:lvl2pPr>
              <a:defRPr sz="1800"/>
            </a:lvl2pPr>
            <a:lvl3pPr>
              <a:defRPr sz="1350"/>
            </a:lvl3pPr>
            <a:lvl4pPr>
              <a:defRPr sz="1200"/>
            </a:lvl4pPr>
            <a:lvl5pPr>
              <a:defRPr sz="1200"/>
            </a:lvl5pPr>
          </a:lstStyle>
          <a:p>
            <a:pPr lvl="0"/>
            <a:r>
              <a:rPr lang="en-US" noProof="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402299" y="2976329"/>
            <a:ext cx="2618368" cy="1755000"/>
          </a:xfrm>
        </p:spPr>
        <p:txBody>
          <a:bodyPr/>
          <a:lstStyle>
            <a:lvl1pPr>
              <a:defRPr sz="1200"/>
            </a:lvl1pPr>
            <a:lvl2pPr>
              <a:defRPr sz="1200"/>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E5E4DDE7-B2AD-4D6E-B1F1-1AA14E6F518C}"/>
              </a:ext>
            </a:extLst>
          </p:cNvPr>
          <p:cNvSpPr>
            <a:spLocks noGrp="1"/>
          </p:cNvSpPr>
          <p:nvPr>
            <p:ph type="body" sz="quarter" idx="20" hasCustomPrompt="1"/>
          </p:nvPr>
        </p:nvSpPr>
        <p:spPr>
          <a:xfrm rot="10800000">
            <a:off x="1340505" y="2756861"/>
            <a:ext cx="822325" cy="15711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3306830" y="2267314"/>
            <a:ext cx="2538000" cy="513000"/>
          </a:xfrm>
          <a:solidFill>
            <a:schemeClr val="tx2"/>
          </a:solidFill>
        </p:spPr>
        <p:txBody>
          <a:bodyPr anchor="ctr"/>
          <a:lstStyle>
            <a:lvl1pPr algn="ctr">
              <a:defRPr sz="3000">
                <a:solidFill>
                  <a:schemeClr val="bg1"/>
                </a:solidFill>
                <a:latin typeface="+mj-lt"/>
              </a:defRPr>
            </a:lvl1pPr>
            <a:lvl2pPr>
              <a:defRPr sz="1800"/>
            </a:lvl2pPr>
            <a:lvl3pPr>
              <a:defRPr sz="1350"/>
            </a:lvl3pPr>
            <a:lvl4pPr>
              <a:defRPr sz="1200"/>
            </a:lvl4pPr>
            <a:lvl5pPr>
              <a:defRPr sz="12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3226461" y="2976329"/>
            <a:ext cx="2618368" cy="1755000"/>
          </a:xfrm>
        </p:spPr>
        <p:txBody>
          <a:bodyPr/>
          <a:lstStyle>
            <a:lvl1pPr>
              <a:defRPr sz="1200"/>
            </a:lvl1pPr>
            <a:lvl2pPr>
              <a:defRPr sz="1200"/>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2">
            <a:extLst>
              <a:ext uri="{FF2B5EF4-FFF2-40B4-BE49-F238E27FC236}">
                <a16:creationId xmlns:a16="http://schemas.microsoft.com/office/drawing/2014/main" id="{EFF27A7E-9171-4670-8D42-A17E0C0B08AC}"/>
              </a:ext>
            </a:extLst>
          </p:cNvPr>
          <p:cNvSpPr>
            <a:spLocks noGrp="1"/>
          </p:cNvSpPr>
          <p:nvPr>
            <p:ph type="body" sz="quarter" idx="23" hasCustomPrompt="1"/>
          </p:nvPr>
        </p:nvSpPr>
        <p:spPr>
          <a:xfrm rot="10800000">
            <a:off x="4164668" y="2756861"/>
            <a:ext cx="822325" cy="15711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6130992" y="2267314"/>
            <a:ext cx="2538000" cy="513000"/>
          </a:xfrm>
          <a:solidFill>
            <a:schemeClr val="tx2"/>
          </a:solidFill>
        </p:spPr>
        <p:txBody>
          <a:bodyPr anchor="ctr"/>
          <a:lstStyle>
            <a:lvl1pPr algn="ctr">
              <a:defRPr sz="3000">
                <a:solidFill>
                  <a:schemeClr val="bg1"/>
                </a:solidFill>
                <a:latin typeface="+mj-lt"/>
              </a:defRPr>
            </a:lvl1pPr>
            <a:lvl2pPr>
              <a:defRPr sz="1800"/>
            </a:lvl2pPr>
            <a:lvl3pPr>
              <a:defRPr sz="1350"/>
            </a:lvl3pPr>
            <a:lvl4pPr>
              <a:defRPr sz="1200"/>
            </a:lvl4pPr>
            <a:lvl5pPr>
              <a:defRPr sz="12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6050624" y="2976329"/>
            <a:ext cx="2618368" cy="1755000"/>
          </a:xfrm>
        </p:spPr>
        <p:txBody>
          <a:bodyPr/>
          <a:lstStyle>
            <a:lvl1pPr>
              <a:defRPr sz="1200"/>
            </a:lvl1pPr>
            <a:lvl2pPr>
              <a:defRPr sz="1200"/>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Espace réservé du texte 12">
            <a:extLst>
              <a:ext uri="{FF2B5EF4-FFF2-40B4-BE49-F238E27FC236}">
                <a16:creationId xmlns:a16="http://schemas.microsoft.com/office/drawing/2014/main" id="{A1E2C166-5791-40DB-903C-66BC65C0DDAD}"/>
              </a:ext>
            </a:extLst>
          </p:cNvPr>
          <p:cNvSpPr>
            <a:spLocks noGrp="1"/>
          </p:cNvSpPr>
          <p:nvPr>
            <p:ph type="body" sz="quarter" idx="26" hasCustomPrompt="1"/>
          </p:nvPr>
        </p:nvSpPr>
        <p:spPr>
          <a:xfrm rot="10800000">
            <a:off x="6988830" y="2756861"/>
            <a:ext cx="822325" cy="15711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4016862385"/>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in 2 columns with a frame">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1" y="1002869"/>
            <a:ext cx="5345357" cy="972000"/>
          </a:xfrm>
        </p:spPr>
        <p:txBody>
          <a:bodyPr/>
          <a:lstStyle>
            <a:lvl1pPr>
              <a:defRPr sz="1800"/>
            </a:lvl1pPr>
            <a:lvl2pPr>
              <a:buNone/>
              <a:defRPr sz="1800"/>
            </a:lvl2pPr>
            <a:lvl3pPr>
              <a:defRPr sz="1350"/>
            </a:lvl3pPr>
            <a:lvl4pPr>
              <a:defRPr sz="1200"/>
            </a:lvl4pPr>
            <a:lvl5pPr>
              <a:defRPr sz="12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402300" y="2018136"/>
            <a:ext cx="2646000" cy="2537536"/>
          </a:xfrm>
        </p:spPr>
        <p:txBody>
          <a:bodyPr/>
          <a:lstStyle>
            <a:lvl1pPr>
              <a:defRPr sz="1425"/>
            </a:lvl1pPr>
            <a:lvl2pPr>
              <a:defRPr sz="142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3101657" y="2018136"/>
            <a:ext cx="2646000" cy="2537536"/>
          </a:xfrm>
        </p:spPr>
        <p:txBody>
          <a:bodyPr/>
          <a:lstStyle>
            <a:lvl1pPr>
              <a:defRPr sz="1425"/>
            </a:lvl1pPr>
            <a:lvl2pPr>
              <a:defRPr sz="142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5938431" y="966051"/>
            <a:ext cx="2742654" cy="3651670"/>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27592103"/>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hapt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848917" y="1568174"/>
            <a:ext cx="7830000" cy="1161000"/>
          </a:xfrm>
        </p:spPr>
        <p:txBody>
          <a:bodyPr anchor="b"/>
          <a:lstStyle>
            <a:lvl1pPr>
              <a:defRPr sz="3750" b="0">
                <a:solidFill>
                  <a:schemeClr val="bg1"/>
                </a:solidFill>
                <a:latin typeface="+mn-lt"/>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848917" y="2782014"/>
            <a:ext cx="7830000" cy="594000"/>
          </a:xfrm>
        </p:spPr>
        <p:txBody>
          <a:bodyPr/>
          <a:lstStyle>
            <a:lvl1pPr>
              <a:defRPr sz="2175" b="0">
                <a:solidFill>
                  <a:schemeClr val="bg1"/>
                </a:solidFill>
                <a:latin typeface="+mn-lt"/>
              </a:defRPr>
            </a:lvl1pPr>
            <a:lvl2pPr>
              <a:defRPr sz="1875">
                <a:latin typeface="Encode Sans ExpandedLight" pitchFamily="2" charset="0"/>
              </a:defRPr>
            </a:lvl2pPr>
            <a:lvl3pPr>
              <a:defRPr sz="1875">
                <a:latin typeface="Encode Sans ExpandedLight" pitchFamily="2" charset="0"/>
              </a:defRPr>
            </a:lvl3pPr>
            <a:lvl4pPr>
              <a:defRPr sz="1875">
                <a:latin typeface="Encode Sans ExpandedLight" pitchFamily="2" charset="0"/>
              </a:defRPr>
            </a:lvl4pPr>
            <a:lvl5pPr>
              <a:defRPr sz="1875">
                <a:latin typeface="Encode Sans ExpandedLight" pitchFamily="2" charset="0"/>
              </a:defRPr>
            </a:lvl5pPr>
          </a:lstStyle>
          <a:p>
            <a:pPr lvl="0"/>
            <a:r>
              <a:rPr lang="en-US" noProof="0"/>
              <a:t>Click to edit master subtitle style</a:t>
            </a:r>
          </a:p>
        </p:txBody>
      </p:sp>
    </p:spTree>
    <p:extLst>
      <p:ext uri="{BB962C8B-B14F-4D97-AF65-F5344CB8AC3E}">
        <p14:creationId xmlns:p14="http://schemas.microsoft.com/office/powerpoint/2010/main" val="1807355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 columns with a photo">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D95ABC65-7545-4D76-A9D5-7E791F4A6E1B}"/>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0" name="Espace réservé du texte 9">
            <a:extLst>
              <a:ext uri="{FF2B5EF4-FFF2-40B4-BE49-F238E27FC236}">
                <a16:creationId xmlns:a16="http://schemas.microsoft.com/office/drawing/2014/main" id="{909BBE65-6381-42AD-B178-9D33A02F4DAD}"/>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42" y="1080689"/>
            <a:ext cx="4104000" cy="1377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4697104" y="1080689"/>
            <a:ext cx="4104000" cy="1377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482204" y="2569369"/>
            <a:ext cx="8179596" cy="2187457"/>
          </a:xfrm>
          <a:prstGeom prst="rect">
            <a:avLst/>
          </a:prstGeom>
          <a:noFill/>
          <a:ln w="3175">
            <a:noFill/>
          </a:ln>
        </p:spPr>
        <p:txBody>
          <a:bodyPr wrap="square" anchor="ctr">
            <a:noAutofit/>
          </a:bodyPr>
          <a:lstStyle>
            <a:lvl1pPr marL="0" indent="0" algn="ctr">
              <a:buNone/>
              <a:defRPr sz="900" b="0" cap="none" baseline="0">
                <a:solidFill>
                  <a:schemeClr val="tx2"/>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Tree>
    <p:extLst>
      <p:ext uri="{BB962C8B-B14F-4D97-AF65-F5344CB8AC3E}">
        <p14:creationId xmlns:p14="http://schemas.microsoft.com/office/powerpoint/2010/main" val="237867301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8B5B3371-D86E-4697-92CD-5B21ECF77AC1}"/>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2" name="Espace réservé du texte 11">
            <a:extLst>
              <a:ext uri="{FF2B5EF4-FFF2-40B4-BE49-F238E27FC236}">
                <a16:creationId xmlns:a16="http://schemas.microsoft.com/office/drawing/2014/main" id="{74BDBFD0-F6E2-49A9-91D4-C8811F988A20}"/>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1968300"/>
            <a:ext cx="8100000" cy="27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402300" y="1151316"/>
            <a:ext cx="8100000" cy="648000"/>
          </a:xfrm>
        </p:spPr>
        <p:txBody>
          <a:bodyPr/>
          <a:lstStyle/>
          <a:p>
            <a:r>
              <a:rPr lang="en-US" noProof="0"/>
              <a:t>Click to edit Master title style</a:t>
            </a:r>
          </a:p>
        </p:txBody>
      </p:sp>
    </p:spTree>
    <p:extLst>
      <p:ext uri="{BB962C8B-B14F-4D97-AF65-F5344CB8AC3E}">
        <p14:creationId xmlns:p14="http://schemas.microsoft.com/office/powerpoint/2010/main" val="476579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with a photo">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BB7BB60E-9AFC-494F-94F5-DEA56540C7F1}"/>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3" name="Espace réservé du texte 12">
            <a:extLst>
              <a:ext uri="{FF2B5EF4-FFF2-40B4-BE49-F238E27FC236}">
                <a16:creationId xmlns:a16="http://schemas.microsoft.com/office/drawing/2014/main" id="{7896F76F-E7C8-4E2B-B39D-B9DA17725CED}"/>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2195709"/>
            <a:ext cx="3996000" cy="2430000"/>
          </a:xfrm>
        </p:spPr>
        <p:txBody>
          <a:bodyPr/>
          <a:lstStyle>
            <a:lvl1pPr>
              <a:defRPr sz="1425"/>
            </a:lvl1pPr>
            <a:lvl2pPr>
              <a:defRPr sz="142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402300" y="1226324"/>
            <a:ext cx="3996000" cy="918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4572000" y="846307"/>
            <a:ext cx="4124528" cy="3779402"/>
          </a:xfrm>
          <a:prstGeom prst="rect">
            <a:avLst/>
          </a:prstGeom>
          <a:noFill/>
          <a:ln w="3175">
            <a:noFill/>
          </a:ln>
        </p:spPr>
        <p:txBody>
          <a:bodyPr wrap="square" anchor="ctr">
            <a:noAutofit/>
          </a:bodyPr>
          <a:lstStyle>
            <a:lvl1pPr marL="0" indent="0" algn="ctr">
              <a:buNone/>
              <a:defRPr sz="900" b="0" cap="none" baseline="0">
                <a:solidFill>
                  <a:schemeClr val="tx2"/>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Tree>
    <p:extLst>
      <p:ext uri="{BB962C8B-B14F-4D97-AF65-F5344CB8AC3E}">
        <p14:creationId xmlns:p14="http://schemas.microsoft.com/office/powerpoint/2010/main" val="35666869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white with a photo">
    <p:spTree>
      <p:nvGrpSpPr>
        <p:cNvPr id="1" name=""/>
        <p:cNvGrpSpPr/>
        <p:nvPr/>
      </p:nvGrpSpPr>
      <p:grpSpPr>
        <a:xfrm>
          <a:off x="0" y="0"/>
          <a:ext cx="0" cy="0"/>
          <a:chOff x="0" y="0"/>
          <a:chExt cx="0" cy="0"/>
        </a:xfrm>
      </p:grpSpPr>
      <p:sp>
        <p:nvSpPr>
          <p:cNvPr id="10" name="Espace réservé du texte 16">
            <a:extLst>
              <a:ext uri="{FF2B5EF4-FFF2-40B4-BE49-F238E27FC236}">
                <a16:creationId xmlns:a16="http://schemas.microsoft.com/office/drawing/2014/main" id="{02693427-0064-4C20-BB8A-3162AB9CD16F}"/>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5" name="Espace réservé du texte 14">
            <a:extLst>
              <a:ext uri="{FF2B5EF4-FFF2-40B4-BE49-F238E27FC236}">
                <a16:creationId xmlns:a16="http://schemas.microsoft.com/office/drawing/2014/main" id="{A234AADB-645B-4C3C-BFE7-89D1937EB422}"/>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4572000" y="846307"/>
            <a:ext cx="4124528" cy="3779402"/>
          </a:xfrm>
          <a:prstGeom prst="rect">
            <a:avLst/>
          </a:prstGeom>
          <a:noFill/>
          <a:ln w="3175">
            <a:noFill/>
          </a:ln>
        </p:spPr>
        <p:txBody>
          <a:bodyPr wrap="square" anchor="ctr">
            <a:noAutofit/>
          </a:bodyPr>
          <a:lstStyle>
            <a:lvl1pPr marL="0" indent="0" algn="ctr">
              <a:buNone/>
              <a:defRPr sz="900" b="0" cap="none" baseline="0">
                <a:solidFill>
                  <a:schemeClr val="tx2"/>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482917" y="846307"/>
            <a:ext cx="4089083" cy="37794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684402" y="2195709"/>
            <a:ext cx="3699000" cy="2160000"/>
          </a:xfrm>
        </p:spPr>
        <p:txBody>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4106862" y="2644347"/>
            <a:ext cx="1125649" cy="215062"/>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367181799"/>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hoto with highlighting text">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F581A243-5732-484F-875D-AE7E17E76B5D}"/>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0" name="Espace réservé du texte 9">
            <a:extLst>
              <a:ext uri="{FF2B5EF4-FFF2-40B4-BE49-F238E27FC236}">
                <a16:creationId xmlns:a16="http://schemas.microsoft.com/office/drawing/2014/main" id="{FF92FB9F-55B8-45CD-A54D-ADF6B8758742}"/>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482918" y="846307"/>
            <a:ext cx="4090500" cy="3779402"/>
          </a:xfrm>
          <a:prstGeom prst="rect">
            <a:avLst/>
          </a:prstGeom>
          <a:noFill/>
          <a:ln w="3175">
            <a:noFill/>
          </a:ln>
        </p:spPr>
        <p:txBody>
          <a:bodyPr wrap="square" anchor="ctr">
            <a:noAutofit/>
          </a:bodyPr>
          <a:lstStyle>
            <a:lvl1pPr marL="0" indent="0" algn="ctr">
              <a:buNone/>
              <a:defRPr sz="900" b="0" cap="none" baseline="0">
                <a:solidFill>
                  <a:schemeClr val="tx2"/>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
        <p:nvSpPr>
          <p:cNvPr id="15" name="Titre 14">
            <a:extLst>
              <a:ext uri="{FF2B5EF4-FFF2-40B4-BE49-F238E27FC236}">
                <a16:creationId xmlns:a16="http://schemas.microsoft.com/office/drawing/2014/main" id="{135F8181-64D0-4B6F-93D7-8C10D48D5CD1}"/>
              </a:ext>
            </a:extLst>
          </p:cNvPr>
          <p:cNvSpPr>
            <a:spLocks noGrp="1"/>
          </p:cNvSpPr>
          <p:nvPr>
            <p:ph type="title" hasCustomPrompt="1"/>
          </p:nvPr>
        </p:nvSpPr>
        <p:spPr>
          <a:xfrm>
            <a:off x="4571100" y="846307"/>
            <a:ext cx="4125600" cy="3779402"/>
          </a:xfrm>
          <a:custGeom>
            <a:avLst/>
            <a:gdLst>
              <a:gd name="connsiteX0" fmla="*/ 0 w 5500800"/>
              <a:gd name="connsiteY0" fmla="*/ 0 h 5039202"/>
              <a:gd name="connsiteX1" fmla="*/ 5500800 w 5500800"/>
              <a:gd name="connsiteY1" fmla="*/ 0 h 5039202"/>
              <a:gd name="connsiteX2" fmla="*/ 5500800 w 5500800"/>
              <a:gd name="connsiteY2" fmla="*/ 5039202 h 5039202"/>
              <a:gd name="connsiteX3" fmla="*/ 0 w 550080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500800" h="5039202">
                <a:moveTo>
                  <a:pt x="0" y="0"/>
                </a:moveTo>
                <a:lnTo>
                  <a:pt x="5500800" y="0"/>
                </a:lnTo>
                <a:lnTo>
                  <a:pt x="5500800" y="5039202"/>
                </a:lnTo>
                <a:lnTo>
                  <a:pt x="0" y="5039202"/>
                </a:lnTo>
                <a:close/>
              </a:path>
            </a:pathLst>
          </a:custGeom>
          <a:solidFill>
            <a:schemeClr val="tx2"/>
          </a:solidFill>
        </p:spPr>
        <p:txBody>
          <a:bodyPr wrap="square" lIns="648000" tIns="360000" rIns="360000" bIns="360000" anchor="ctr">
            <a:noAutofit/>
          </a:bodyPr>
          <a:lstStyle>
            <a:lvl1pPr>
              <a:defRPr sz="1800">
                <a:solidFill>
                  <a:schemeClr val="bg1"/>
                </a:solidFill>
              </a:defRPr>
            </a:lvl1pPr>
          </a:lstStyle>
          <a:p>
            <a:r>
              <a:rPr lang="en-US" noProof="0"/>
              <a:t>Click to edit Master title style</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4106862" y="2644347"/>
            <a:ext cx="1125649" cy="215062"/>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29521865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ext in 2 frames with 2 photos">
    <p:spTree>
      <p:nvGrpSpPr>
        <p:cNvPr id="1" name=""/>
        <p:cNvGrpSpPr/>
        <p:nvPr/>
      </p:nvGrpSpPr>
      <p:grpSpPr>
        <a:xfrm>
          <a:off x="0" y="0"/>
          <a:ext cx="0" cy="0"/>
          <a:chOff x="0" y="0"/>
          <a:chExt cx="0" cy="0"/>
        </a:xfrm>
      </p:grpSpPr>
      <p:sp>
        <p:nvSpPr>
          <p:cNvPr id="11" name="Espace réservé du texte 16">
            <a:extLst>
              <a:ext uri="{FF2B5EF4-FFF2-40B4-BE49-F238E27FC236}">
                <a16:creationId xmlns:a16="http://schemas.microsoft.com/office/drawing/2014/main" id="{3FF29340-6353-4919-B09B-763E71D84A23}"/>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2" name="Espace réservé du texte 11">
            <a:extLst>
              <a:ext uri="{FF2B5EF4-FFF2-40B4-BE49-F238E27FC236}">
                <a16:creationId xmlns:a16="http://schemas.microsoft.com/office/drawing/2014/main" id="{349215C8-FED4-4FF6-8778-0DB432A4C6B0}"/>
              </a:ext>
            </a:extLst>
          </p:cNvPr>
          <p:cNvSpPr>
            <a:spLocks noGrp="1"/>
          </p:cNvSpPr>
          <p:nvPr>
            <p:ph type="body" sz="quarter" idx="20"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482917" y="846306"/>
            <a:ext cx="3969068" cy="37794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accent2"/>
          </a:solidFill>
        </p:spPr>
        <p:txBody>
          <a:bodyPr wrap="square" lIns="360000" tIns="216000" rIns="360000" bIns="360000">
            <a:noAutofit/>
          </a:bodyPr>
          <a:lstStyle>
            <a:lvl1pPr>
              <a:defRPr sz="1425">
                <a:solidFill>
                  <a:schemeClr val="bg1"/>
                </a:solidFill>
              </a:defRPr>
            </a:lvl1pPr>
            <a:lvl2pPr>
              <a:buClr>
                <a:schemeClr val="accent1"/>
              </a:buClr>
              <a:defRPr sz="1425">
                <a:solidFill>
                  <a:schemeClr val="bg1"/>
                </a:solidFill>
              </a:defRPr>
            </a:lvl2pPr>
            <a:lvl3pPr>
              <a:defRPr sz="1050">
                <a:solidFill>
                  <a:schemeClr val="bg1"/>
                </a:solidFill>
              </a:defRPr>
            </a:lvl3pPr>
            <a:lvl4pPr>
              <a:buClr>
                <a:schemeClr val="accent1"/>
              </a:buClr>
              <a:defRPr sz="1050">
                <a:solidFill>
                  <a:schemeClr val="bg1"/>
                </a:solidFill>
              </a:defRPr>
            </a:lvl4pPr>
            <a:lvl5pPr>
              <a:buClr>
                <a:schemeClr val="accent1"/>
              </a:buCl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597652" y="2128838"/>
            <a:ext cx="3739601" cy="2370205"/>
          </a:xfrm>
          <a:prstGeom prst="rect">
            <a:avLst/>
          </a:prstGeom>
          <a:noFill/>
          <a:ln w="3175">
            <a:noFill/>
          </a:ln>
        </p:spPr>
        <p:txBody>
          <a:bodyPr wrap="square" anchor="ctr">
            <a:noAutofit/>
          </a:bodyPr>
          <a:lstStyle>
            <a:lvl1pPr marL="0" indent="0" algn="ctr">
              <a:buNone/>
              <a:defRPr sz="900" b="0" cap="none" baseline="0">
                <a:solidFill>
                  <a:schemeClr val="bg1"/>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4692016" y="846306"/>
            <a:ext cx="3969068" cy="37794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4806751" y="2128838"/>
            <a:ext cx="3739601" cy="2370205"/>
          </a:xfrm>
          <a:prstGeom prst="rect">
            <a:avLst/>
          </a:prstGeom>
          <a:noFill/>
          <a:ln w="3175">
            <a:noFill/>
          </a:ln>
        </p:spPr>
        <p:txBody>
          <a:bodyPr wrap="square" anchor="ctr">
            <a:noAutofit/>
          </a:bodyPr>
          <a:lstStyle>
            <a:lvl1pPr marL="0" indent="0" algn="ctr">
              <a:buNone/>
              <a:defRPr sz="900" b="0" cap="none" baseline="0">
                <a:solidFill>
                  <a:schemeClr val="bg1"/>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noProof="0"/>
              <a:t>Photo</a:t>
            </a:r>
          </a:p>
        </p:txBody>
      </p:sp>
    </p:spTree>
    <p:extLst>
      <p:ext uri="{BB962C8B-B14F-4D97-AF65-F5344CB8AC3E}">
        <p14:creationId xmlns:p14="http://schemas.microsoft.com/office/powerpoint/2010/main" val="3748781599"/>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xt with 2 graphs">
    <p:spTree>
      <p:nvGrpSpPr>
        <p:cNvPr id="1" name=""/>
        <p:cNvGrpSpPr/>
        <p:nvPr/>
      </p:nvGrpSpPr>
      <p:grpSpPr>
        <a:xfrm>
          <a:off x="0" y="0"/>
          <a:ext cx="0" cy="0"/>
          <a:chOff x="0" y="0"/>
          <a:chExt cx="0" cy="0"/>
        </a:xfrm>
      </p:grpSpPr>
      <p:sp>
        <p:nvSpPr>
          <p:cNvPr id="10" name="Espace réservé du texte 16">
            <a:extLst>
              <a:ext uri="{FF2B5EF4-FFF2-40B4-BE49-F238E27FC236}">
                <a16:creationId xmlns:a16="http://schemas.microsoft.com/office/drawing/2014/main" id="{BECA0681-26F7-47F5-AD97-B4C87FB6BFE8}"/>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2" name="Espace réservé du texte 11">
            <a:extLst>
              <a:ext uri="{FF2B5EF4-FFF2-40B4-BE49-F238E27FC236}">
                <a16:creationId xmlns:a16="http://schemas.microsoft.com/office/drawing/2014/main" id="{FE785CE9-2C61-492B-B8BE-C47336DFBABC}"/>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4594740" y="846305"/>
            <a:ext cx="4096924" cy="3942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425"/>
            </a:lvl1pPr>
            <a:lvl2pPr>
              <a:defRPr sz="127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402300" y="1917617"/>
            <a:ext cx="3807000" cy="2727000"/>
          </a:xfrm>
          <a:noFill/>
        </p:spPr>
        <p:txBody>
          <a:bodyPr anchor="ctr"/>
          <a:lstStyle>
            <a:lvl1pPr algn="ctr">
              <a:defRPr sz="900" b="0"/>
            </a:lvl1pPr>
          </a:lstStyle>
          <a:p>
            <a:r>
              <a:rPr lang="en-US" noProof="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4741071" y="1917617"/>
            <a:ext cx="3807000" cy="2727000"/>
          </a:xfrm>
          <a:noFill/>
        </p:spPr>
        <p:txBody>
          <a:bodyPr anchor="ctr"/>
          <a:lstStyle>
            <a:lvl1pPr algn="ctr">
              <a:defRPr sz="9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978550"/>
            <a:ext cx="3807000" cy="1280369"/>
          </a:xfrm>
        </p:spPr>
        <p:txBody>
          <a:bodyPr/>
          <a:lstStyle>
            <a:lvl1pPr>
              <a:defRPr sz="1425"/>
            </a:lvl1pPr>
            <a:lvl2pPr>
              <a:defRPr sz="127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5210422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ext with a graph">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11A7119E-AD18-48FE-93BD-D50643CE15F6}"/>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0" name="Espace réservé du texte 9">
            <a:extLst>
              <a:ext uri="{FF2B5EF4-FFF2-40B4-BE49-F238E27FC236}">
                <a16:creationId xmlns:a16="http://schemas.microsoft.com/office/drawing/2014/main" id="{384B39AC-5021-4815-9D57-75DA1F853123}"/>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402300" y="1917617"/>
            <a:ext cx="8289363" cy="2808000"/>
          </a:xfrm>
          <a:noFill/>
        </p:spPr>
        <p:txBody>
          <a:bodyPr anchor="ctr"/>
          <a:lstStyle>
            <a:lvl1pPr algn="ctr">
              <a:defRPr sz="9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1002870"/>
            <a:ext cx="8289363" cy="1280369"/>
          </a:xfrm>
        </p:spPr>
        <p:txBody>
          <a:bodyPr/>
          <a:lstStyle>
            <a:lvl1pPr>
              <a:defRPr sz="1800"/>
            </a:lvl1pPr>
            <a:lvl2pPr>
              <a:defRPr sz="1800"/>
            </a:lvl2pPr>
            <a:lvl3pPr>
              <a:defRPr sz="135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12090025"/>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ext with a graph and a frame ">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C72A938C-CF83-4364-AB76-81C54CE4AC2B}"/>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0" name="Espace réservé du texte 9">
            <a:extLst>
              <a:ext uri="{FF2B5EF4-FFF2-40B4-BE49-F238E27FC236}">
                <a16:creationId xmlns:a16="http://schemas.microsoft.com/office/drawing/2014/main" id="{8377B65B-2247-484E-86D1-6557F54EB576}"/>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402301" y="1917616"/>
            <a:ext cx="5264999" cy="2700104"/>
          </a:xfrm>
          <a:noFill/>
        </p:spPr>
        <p:txBody>
          <a:bodyPr anchor="ctr"/>
          <a:lstStyle>
            <a:lvl1pPr algn="ctr">
              <a:defRPr sz="9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299" y="1002870"/>
            <a:ext cx="5265000" cy="1280369"/>
          </a:xfrm>
        </p:spPr>
        <p:txBody>
          <a:bodyPr/>
          <a:lstStyle>
            <a:lvl1pPr>
              <a:defRPr sz="1800"/>
            </a:lvl1pPr>
            <a:lvl2pPr>
              <a:defRPr sz="1800"/>
            </a:lvl2pPr>
            <a:lvl3pPr>
              <a:defRPr sz="135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5938431" y="966051"/>
            <a:ext cx="2742654" cy="3651670"/>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78016593"/>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Graph with 2 texts in 2 frames">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16FBFFE1-F2E2-408B-B0F4-E23BEA279EA8}"/>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0" name="Espace réservé du texte 9">
            <a:extLst>
              <a:ext uri="{FF2B5EF4-FFF2-40B4-BE49-F238E27FC236}">
                <a16:creationId xmlns:a16="http://schemas.microsoft.com/office/drawing/2014/main" id="{B80A0589-BF71-48F1-8E32-A6A7AB0BD87B}"/>
              </a:ext>
            </a:extLst>
          </p:cNvPr>
          <p:cNvSpPr>
            <a:spLocks noGrp="1"/>
          </p:cNvSpPr>
          <p:nvPr>
            <p:ph type="body" sz="quarter" idx="19"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402301" y="1002870"/>
            <a:ext cx="4050000" cy="3614851"/>
          </a:xfrm>
          <a:noFill/>
        </p:spPr>
        <p:txBody>
          <a:bodyPr anchor="ctr"/>
          <a:lstStyle>
            <a:lvl1pPr algn="ctr">
              <a:defRPr sz="900" b="0"/>
            </a:lvl1pPr>
          </a:lstStyle>
          <a:p>
            <a:r>
              <a:rPr lang="en-US" noProof="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4572546" y="966051"/>
            <a:ext cx="4102824" cy="1725715"/>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accent2"/>
          </a:solidFill>
        </p:spPr>
        <p:txBody>
          <a:bodyPr wrap="square" lIns="252000" tIns="252000" rIns="252000" bIns="252000">
            <a:noAutofit/>
          </a:bodyPr>
          <a:lstStyle>
            <a:lvl1pPr>
              <a:defRPr sz="1425">
                <a:solidFill>
                  <a:schemeClr val="bg1"/>
                </a:solidFill>
              </a:defRPr>
            </a:lvl1pPr>
            <a:lvl2pPr>
              <a:buClr>
                <a:schemeClr val="accent1"/>
              </a:buClr>
              <a:defRPr sz="1425">
                <a:solidFill>
                  <a:schemeClr val="bg1"/>
                </a:solidFill>
              </a:defRPr>
            </a:lvl2pPr>
            <a:lvl3pPr>
              <a:defRPr sz="1050">
                <a:solidFill>
                  <a:schemeClr val="bg1"/>
                </a:solidFill>
              </a:defRPr>
            </a:lvl3pPr>
            <a:lvl4pPr>
              <a:defRPr sz="1050">
                <a:solidFill>
                  <a:schemeClr val="bg1"/>
                </a:solidFill>
              </a:defRPr>
            </a:lvl4pPr>
            <a:lvl5pPr>
              <a:buClr>
                <a:schemeClr val="accent1"/>
              </a:buCl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4572546" y="2892006"/>
            <a:ext cx="4102824" cy="1725715"/>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47358462"/>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xt with highlighting numbers">
    <p:spTree>
      <p:nvGrpSpPr>
        <p:cNvPr id="1" name=""/>
        <p:cNvGrpSpPr/>
        <p:nvPr/>
      </p:nvGrpSpPr>
      <p:grpSpPr>
        <a:xfrm>
          <a:off x="0" y="0"/>
          <a:ext cx="0" cy="0"/>
          <a:chOff x="0" y="0"/>
          <a:chExt cx="0" cy="0"/>
        </a:xfrm>
      </p:grpSpPr>
      <p:sp>
        <p:nvSpPr>
          <p:cNvPr id="20" name="Espace réservé du texte 16">
            <a:extLst>
              <a:ext uri="{FF2B5EF4-FFF2-40B4-BE49-F238E27FC236}">
                <a16:creationId xmlns:a16="http://schemas.microsoft.com/office/drawing/2014/main" id="{2A92F09F-D317-42E3-B74C-7A0237243BAF}"/>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22" name="Espace réservé du texte 21">
            <a:extLst>
              <a:ext uri="{FF2B5EF4-FFF2-40B4-BE49-F238E27FC236}">
                <a16:creationId xmlns:a16="http://schemas.microsoft.com/office/drawing/2014/main" id="{BA74A572-1DCD-45C6-A512-5352EE257EA5}"/>
              </a:ext>
            </a:extLst>
          </p:cNvPr>
          <p:cNvSpPr>
            <a:spLocks noGrp="1"/>
          </p:cNvSpPr>
          <p:nvPr>
            <p:ph type="body" sz="quarter" idx="27"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0" y="1002870"/>
            <a:ext cx="8289363" cy="1280369"/>
          </a:xfrm>
        </p:spPr>
        <p:txBody>
          <a:bodyPr/>
          <a:lstStyle>
            <a:lvl1pPr>
              <a:defRPr sz="1800"/>
            </a:lvl1pPr>
            <a:lvl2pPr>
              <a:defRPr sz="1800"/>
            </a:lvl2pPr>
            <a:lvl3pPr>
              <a:defRPr sz="135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482667" y="2267314"/>
            <a:ext cx="2538000" cy="513000"/>
          </a:xfrm>
          <a:solidFill>
            <a:schemeClr val="accent2"/>
          </a:solidFill>
        </p:spPr>
        <p:txBody>
          <a:bodyPr anchor="ctr"/>
          <a:lstStyle>
            <a:lvl1pPr algn="ctr">
              <a:defRPr sz="3000">
                <a:solidFill>
                  <a:schemeClr val="bg1"/>
                </a:solidFill>
                <a:latin typeface="+mj-lt"/>
              </a:defRPr>
            </a:lvl1pPr>
            <a:lvl2pPr>
              <a:defRPr sz="1800"/>
            </a:lvl2pPr>
            <a:lvl3pPr>
              <a:defRPr sz="1350"/>
            </a:lvl3pPr>
            <a:lvl4pPr>
              <a:defRPr sz="1200"/>
            </a:lvl4pPr>
            <a:lvl5pPr>
              <a:defRPr sz="1200"/>
            </a:lvl5pPr>
          </a:lstStyle>
          <a:p>
            <a:pPr lvl="0"/>
            <a:r>
              <a:rPr lang="en-US" noProof="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402299" y="2976329"/>
            <a:ext cx="2618368" cy="1755000"/>
          </a:xfrm>
        </p:spPr>
        <p:txBody>
          <a:bodyPr/>
          <a:lstStyle>
            <a:lvl1pPr>
              <a:defRPr sz="1200"/>
            </a:lvl1pPr>
            <a:lvl2pPr>
              <a:defRPr sz="1200"/>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E5E4DDE7-B2AD-4D6E-B1F1-1AA14E6F518C}"/>
              </a:ext>
            </a:extLst>
          </p:cNvPr>
          <p:cNvSpPr>
            <a:spLocks noGrp="1"/>
          </p:cNvSpPr>
          <p:nvPr>
            <p:ph type="body" sz="quarter" idx="20" hasCustomPrompt="1"/>
          </p:nvPr>
        </p:nvSpPr>
        <p:spPr>
          <a:xfrm rot="10800000">
            <a:off x="1340505" y="2756861"/>
            <a:ext cx="822325" cy="15711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accent2">
              <a:lumMod val="40000"/>
              <a:lumOff val="60000"/>
            </a:schemeClr>
          </a:solidFill>
          <a:ln w="3175">
            <a:noFill/>
          </a:ln>
        </p:spPr>
        <p:txBody>
          <a:bodyPr wrap="square">
            <a:noAutofit/>
          </a:bodyPr>
          <a:lstStyle/>
          <a:p>
            <a:pPr lvl="0"/>
            <a:r>
              <a:rPr lang="en-US" noProof="0"/>
              <a:t> </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3306830" y="2267314"/>
            <a:ext cx="2538000" cy="513000"/>
          </a:xfrm>
          <a:solidFill>
            <a:schemeClr val="accent3"/>
          </a:solidFill>
        </p:spPr>
        <p:txBody>
          <a:bodyPr anchor="ctr"/>
          <a:lstStyle>
            <a:lvl1pPr algn="ctr">
              <a:defRPr sz="3000">
                <a:solidFill>
                  <a:schemeClr val="bg1"/>
                </a:solidFill>
                <a:latin typeface="+mj-lt"/>
              </a:defRPr>
            </a:lvl1pPr>
            <a:lvl2pPr>
              <a:defRPr sz="1800"/>
            </a:lvl2pPr>
            <a:lvl3pPr>
              <a:defRPr sz="1350"/>
            </a:lvl3pPr>
            <a:lvl4pPr>
              <a:defRPr sz="1200"/>
            </a:lvl4pPr>
            <a:lvl5pPr>
              <a:defRPr sz="12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3226461" y="2976329"/>
            <a:ext cx="2618368" cy="1755000"/>
          </a:xfrm>
        </p:spPr>
        <p:txBody>
          <a:bodyPr/>
          <a:lstStyle>
            <a:lvl1pPr>
              <a:defRPr sz="1200"/>
            </a:lvl1pPr>
            <a:lvl2pPr>
              <a:buClr>
                <a:schemeClr val="accent3"/>
              </a:buClr>
              <a:defRPr sz="1200"/>
            </a:lvl2pPr>
            <a:lvl3pPr>
              <a:defRPr sz="1050"/>
            </a:lvl3pPr>
            <a:lvl4pPr>
              <a:defRPr sz="1050"/>
            </a:lvl4pPr>
            <a:lvl5pPr>
              <a:buClr>
                <a:schemeClr val="accent3"/>
              </a:buCl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2">
            <a:extLst>
              <a:ext uri="{FF2B5EF4-FFF2-40B4-BE49-F238E27FC236}">
                <a16:creationId xmlns:a16="http://schemas.microsoft.com/office/drawing/2014/main" id="{EFF27A7E-9171-4670-8D42-A17E0C0B08AC}"/>
              </a:ext>
            </a:extLst>
          </p:cNvPr>
          <p:cNvSpPr>
            <a:spLocks noGrp="1"/>
          </p:cNvSpPr>
          <p:nvPr>
            <p:ph type="body" sz="quarter" idx="23" hasCustomPrompt="1"/>
          </p:nvPr>
        </p:nvSpPr>
        <p:spPr>
          <a:xfrm rot="10800000">
            <a:off x="4164668" y="2756861"/>
            <a:ext cx="822325" cy="15711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accent3">
              <a:lumMod val="40000"/>
              <a:lumOff val="60000"/>
            </a:schemeClr>
          </a:solidFill>
          <a:ln w="3175">
            <a:noFill/>
          </a:ln>
        </p:spPr>
        <p:txBody>
          <a:bodyPr wrap="square">
            <a:noAutofit/>
          </a:bodyPr>
          <a:lstStyle/>
          <a:p>
            <a:pPr lvl="0"/>
            <a:r>
              <a:rPr lang="en-US" noProof="0"/>
              <a:t> </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6130992" y="2267314"/>
            <a:ext cx="2538000" cy="513000"/>
          </a:xfrm>
          <a:solidFill>
            <a:schemeClr val="accent4"/>
          </a:solidFill>
        </p:spPr>
        <p:txBody>
          <a:bodyPr anchor="ctr"/>
          <a:lstStyle>
            <a:lvl1pPr algn="ctr">
              <a:defRPr sz="3000">
                <a:solidFill>
                  <a:schemeClr val="bg1"/>
                </a:solidFill>
                <a:latin typeface="+mj-lt"/>
              </a:defRPr>
            </a:lvl1pPr>
            <a:lvl2pPr>
              <a:defRPr sz="1800"/>
            </a:lvl2pPr>
            <a:lvl3pPr>
              <a:defRPr sz="1350"/>
            </a:lvl3pPr>
            <a:lvl4pPr>
              <a:defRPr sz="1200"/>
            </a:lvl4pPr>
            <a:lvl5pPr>
              <a:defRPr sz="12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6050624" y="2976329"/>
            <a:ext cx="2618368" cy="1755000"/>
          </a:xfrm>
        </p:spPr>
        <p:txBody>
          <a:bodyPr/>
          <a:lstStyle>
            <a:lvl1pPr>
              <a:defRPr sz="1200"/>
            </a:lvl1pPr>
            <a:lvl2pPr>
              <a:buClr>
                <a:schemeClr val="accent4"/>
              </a:buClr>
              <a:defRPr sz="1200"/>
            </a:lvl2pPr>
            <a:lvl3pPr>
              <a:defRPr sz="1050"/>
            </a:lvl3pPr>
            <a:lvl4pPr>
              <a:defRPr sz="1050"/>
            </a:lvl4pPr>
            <a:lvl5pPr>
              <a:buClr>
                <a:schemeClr val="accent4"/>
              </a:buCl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Espace réservé du texte 12">
            <a:extLst>
              <a:ext uri="{FF2B5EF4-FFF2-40B4-BE49-F238E27FC236}">
                <a16:creationId xmlns:a16="http://schemas.microsoft.com/office/drawing/2014/main" id="{A1E2C166-5791-40DB-903C-66BC65C0DDAD}"/>
              </a:ext>
            </a:extLst>
          </p:cNvPr>
          <p:cNvSpPr>
            <a:spLocks noGrp="1"/>
          </p:cNvSpPr>
          <p:nvPr>
            <p:ph type="body" sz="quarter" idx="26" hasCustomPrompt="1"/>
          </p:nvPr>
        </p:nvSpPr>
        <p:spPr>
          <a:xfrm rot="10800000">
            <a:off x="6988830" y="2756861"/>
            <a:ext cx="822325" cy="15711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accent4">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1837542290"/>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xt in 2 columns with a frame">
    <p:spTree>
      <p:nvGrpSpPr>
        <p:cNvPr id="1" name=""/>
        <p:cNvGrpSpPr/>
        <p:nvPr/>
      </p:nvGrpSpPr>
      <p:grpSpPr>
        <a:xfrm>
          <a:off x="0" y="0"/>
          <a:ext cx="0" cy="0"/>
          <a:chOff x="0" y="0"/>
          <a:chExt cx="0" cy="0"/>
        </a:xfrm>
      </p:grpSpPr>
      <p:sp>
        <p:nvSpPr>
          <p:cNvPr id="10" name="Espace réservé du texte 16">
            <a:extLst>
              <a:ext uri="{FF2B5EF4-FFF2-40B4-BE49-F238E27FC236}">
                <a16:creationId xmlns:a16="http://schemas.microsoft.com/office/drawing/2014/main" id="{1A32803F-C0DA-48E6-897D-09C236F3DEFA}"/>
              </a:ext>
            </a:extLst>
          </p:cNvPr>
          <p:cNvSpPr>
            <a:spLocks noGrp="1"/>
          </p:cNvSpPr>
          <p:nvPr>
            <p:ph type="body" idx="1" hasCustomPrompt="1"/>
          </p:nvPr>
        </p:nvSpPr>
        <p:spPr>
          <a:xfrm>
            <a:off x="1" y="337387"/>
            <a:ext cx="7262446" cy="251973"/>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990000" tIns="0" rIns="360000" bIns="0" anchor="ctr">
            <a:noAutofit/>
          </a:bodyPr>
          <a:lstStyle>
            <a:lvl1pPr marL="0" indent="0">
              <a:lnSpc>
                <a:spcPct val="100000"/>
              </a:lnSpc>
              <a:buNone/>
              <a:defRPr sz="1125" b="0" cap="all" baseline="0">
                <a:solidFill>
                  <a:schemeClr val="bg1"/>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noProof="0"/>
              <a:t>Click to edit master text styles</a:t>
            </a:r>
          </a:p>
        </p:txBody>
      </p:sp>
      <p:sp>
        <p:nvSpPr>
          <p:cNvPr id="12" name="Espace réservé du texte 11">
            <a:extLst>
              <a:ext uri="{FF2B5EF4-FFF2-40B4-BE49-F238E27FC236}">
                <a16:creationId xmlns:a16="http://schemas.microsoft.com/office/drawing/2014/main" id="{8268E3EA-58D2-4683-99EA-36E0C836CAF4}"/>
              </a:ext>
            </a:extLst>
          </p:cNvPr>
          <p:cNvSpPr>
            <a:spLocks noGrp="1"/>
          </p:cNvSpPr>
          <p:nvPr>
            <p:ph type="body" sz="quarter" idx="21" hasCustomPrompt="1"/>
          </p:nvPr>
        </p:nvSpPr>
        <p:spPr>
          <a:xfrm>
            <a:off x="1" y="337387"/>
            <a:ext cx="559286" cy="251100"/>
          </a:xfrm>
          <a:custGeom>
            <a:avLst/>
            <a:gdLst>
              <a:gd name="connsiteX0" fmla="*/ 673459 w 745715"/>
              <a:gd name="connsiteY0" fmla="*/ 237600 h 334800"/>
              <a:gd name="connsiteX1" fmla="*/ 695317 w 745715"/>
              <a:gd name="connsiteY1" fmla="*/ 259715 h 334800"/>
              <a:gd name="connsiteX2" fmla="*/ 673459 w 745715"/>
              <a:gd name="connsiteY2" fmla="*/ 281829 h 334800"/>
              <a:gd name="connsiteX3" fmla="*/ 651601 w 745715"/>
              <a:gd name="connsiteY3" fmla="*/ 259715 h 334800"/>
              <a:gd name="connsiteX4" fmla="*/ 673459 w 745715"/>
              <a:gd name="connsiteY4" fmla="*/ 237600 h 334800"/>
              <a:gd name="connsiteX5" fmla="*/ 731572 w 745715"/>
              <a:gd name="connsiteY5" fmla="*/ 200572 h 334800"/>
              <a:gd name="connsiteX6" fmla="*/ 745715 w 745715"/>
              <a:gd name="connsiteY6" fmla="*/ 214715 h 334800"/>
              <a:gd name="connsiteX7" fmla="*/ 731572 w 745715"/>
              <a:gd name="connsiteY7" fmla="*/ 228857 h 334800"/>
              <a:gd name="connsiteX8" fmla="*/ 717429 w 745715"/>
              <a:gd name="connsiteY8" fmla="*/ 214715 h 334800"/>
              <a:gd name="connsiteX9" fmla="*/ 731572 w 745715"/>
              <a:gd name="connsiteY9" fmla="*/ 200572 h 334800"/>
              <a:gd name="connsiteX10" fmla="*/ 673459 w 745715"/>
              <a:gd name="connsiteY10" fmla="*/ 142971 h 334800"/>
              <a:gd name="connsiteX11" fmla="*/ 695317 w 745715"/>
              <a:gd name="connsiteY11" fmla="*/ 165086 h 334800"/>
              <a:gd name="connsiteX12" fmla="*/ 673459 w 745715"/>
              <a:gd name="connsiteY12" fmla="*/ 187200 h 334800"/>
              <a:gd name="connsiteX13" fmla="*/ 651601 w 745715"/>
              <a:gd name="connsiteY13" fmla="*/ 165086 h 334800"/>
              <a:gd name="connsiteX14" fmla="*/ 673459 w 745715"/>
              <a:gd name="connsiteY14" fmla="*/ 142971 h 334800"/>
              <a:gd name="connsiteX15" fmla="*/ 731572 w 745715"/>
              <a:gd name="connsiteY15" fmla="*/ 102343 h 334800"/>
              <a:gd name="connsiteX16" fmla="*/ 745715 w 745715"/>
              <a:gd name="connsiteY16" fmla="*/ 116486 h 334800"/>
              <a:gd name="connsiteX17" fmla="*/ 731572 w 745715"/>
              <a:gd name="connsiteY17" fmla="*/ 130629 h 334800"/>
              <a:gd name="connsiteX18" fmla="*/ 717429 w 745715"/>
              <a:gd name="connsiteY18" fmla="*/ 116486 h 334800"/>
              <a:gd name="connsiteX19" fmla="*/ 731572 w 745715"/>
              <a:gd name="connsiteY19" fmla="*/ 102343 h 334800"/>
              <a:gd name="connsiteX20" fmla="*/ 673459 w 745715"/>
              <a:gd name="connsiteY20" fmla="*/ 47828 h 334800"/>
              <a:gd name="connsiteX21" fmla="*/ 695317 w 745715"/>
              <a:gd name="connsiteY21" fmla="*/ 69943 h 334800"/>
              <a:gd name="connsiteX22" fmla="*/ 673459 w 745715"/>
              <a:gd name="connsiteY22" fmla="*/ 92057 h 334800"/>
              <a:gd name="connsiteX23" fmla="*/ 651601 w 745715"/>
              <a:gd name="connsiteY23" fmla="*/ 69943 h 334800"/>
              <a:gd name="connsiteX24" fmla="*/ 673459 w 745715"/>
              <a:gd name="connsiteY24" fmla="*/ 47828 h 334800"/>
              <a:gd name="connsiteX25" fmla="*/ 0 w 745715"/>
              <a:gd name="connsiteY25" fmla="*/ 0 h 334800"/>
              <a:gd name="connsiteX26" fmla="*/ 603580 w 745715"/>
              <a:gd name="connsiteY26" fmla="*/ 0 h 334800"/>
              <a:gd name="connsiteX27" fmla="*/ 604804 w 745715"/>
              <a:gd name="connsiteY27" fmla="*/ 0 h 334800"/>
              <a:gd name="connsiteX28" fmla="*/ 630514 w 745715"/>
              <a:gd name="connsiteY28" fmla="*/ 25848 h 334800"/>
              <a:gd name="connsiteX29" fmla="*/ 604804 w 745715"/>
              <a:gd name="connsiteY29" fmla="*/ 51697 h 334800"/>
              <a:gd name="connsiteX30" fmla="*/ 603580 w 745715"/>
              <a:gd name="connsiteY30" fmla="*/ 51697 h 334800"/>
              <a:gd name="connsiteX31" fmla="*/ 583991 w 745715"/>
              <a:gd name="connsiteY31" fmla="*/ 72622 h 334800"/>
              <a:gd name="connsiteX32" fmla="*/ 603580 w 745715"/>
              <a:gd name="connsiteY32" fmla="*/ 93547 h 334800"/>
              <a:gd name="connsiteX33" fmla="*/ 603580 w 745715"/>
              <a:gd name="connsiteY33" fmla="*/ 94778 h 334800"/>
              <a:gd name="connsiteX34" fmla="*/ 604804 w 745715"/>
              <a:gd name="connsiteY34" fmla="*/ 94778 h 334800"/>
              <a:gd name="connsiteX35" fmla="*/ 630514 w 745715"/>
              <a:gd name="connsiteY35" fmla="*/ 120627 h 334800"/>
              <a:gd name="connsiteX36" fmla="*/ 606028 w 745715"/>
              <a:gd name="connsiteY36" fmla="*/ 146475 h 334800"/>
              <a:gd name="connsiteX37" fmla="*/ 604804 w 745715"/>
              <a:gd name="connsiteY37" fmla="*/ 146475 h 334800"/>
              <a:gd name="connsiteX38" fmla="*/ 603580 w 745715"/>
              <a:gd name="connsiteY38" fmla="*/ 146475 h 334800"/>
              <a:gd name="connsiteX39" fmla="*/ 583991 w 745715"/>
              <a:gd name="connsiteY39" fmla="*/ 167400 h 334800"/>
              <a:gd name="connsiteX40" fmla="*/ 603580 w 745715"/>
              <a:gd name="connsiteY40" fmla="*/ 188325 h 334800"/>
              <a:gd name="connsiteX41" fmla="*/ 604804 w 745715"/>
              <a:gd name="connsiteY41" fmla="*/ 188325 h 334800"/>
              <a:gd name="connsiteX42" fmla="*/ 630514 w 745715"/>
              <a:gd name="connsiteY42" fmla="*/ 214173 h 334800"/>
              <a:gd name="connsiteX43" fmla="*/ 604804 w 745715"/>
              <a:gd name="connsiteY43" fmla="*/ 241253 h 334800"/>
              <a:gd name="connsiteX44" fmla="*/ 603580 w 745715"/>
              <a:gd name="connsiteY44" fmla="*/ 240022 h 334800"/>
              <a:gd name="connsiteX45" fmla="*/ 603580 w 745715"/>
              <a:gd name="connsiteY45" fmla="*/ 241253 h 334800"/>
              <a:gd name="connsiteX46" fmla="*/ 583991 w 745715"/>
              <a:gd name="connsiteY46" fmla="*/ 262178 h 334800"/>
              <a:gd name="connsiteX47" fmla="*/ 603580 w 745715"/>
              <a:gd name="connsiteY47" fmla="*/ 283103 h 334800"/>
              <a:gd name="connsiteX48" fmla="*/ 604804 w 745715"/>
              <a:gd name="connsiteY48" fmla="*/ 283103 h 334800"/>
              <a:gd name="connsiteX49" fmla="*/ 630514 w 745715"/>
              <a:gd name="connsiteY49" fmla="*/ 308952 h 334800"/>
              <a:gd name="connsiteX50" fmla="*/ 604804 w 745715"/>
              <a:gd name="connsiteY50" fmla="*/ 334800 h 334800"/>
              <a:gd name="connsiteX51" fmla="*/ 603580 w 745715"/>
              <a:gd name="connsiteY51" fmla="*/ 334800 h 334800"/>
              <a:gd name="connsiteX52" fmla="*/ 0 w 745715"/>
              <a:gd name="connsiteY52" fmla="*/ 334800 h 334800"/>
              <a:gd name="connsiteX53" fmla="*/ 0 w 745715"/>
              <a:gd name="connsiteY53" fmla="*/ 0 h 3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745715" h="334800">
                <a:moveTo>
                  <a:pt x="673459" y="237600"/>
                </a:moveTo>
                <a:cubicBezTo>
                  <a:pt x="685530" y="237600"/>
                  <a:pt x="695317" y="247501"/>
                  <a:pt x="695317" y="259715"/>
                </a:cubicBezTo>
                <a:cubicBezTo>
                  <a:pt x="695317" y="271928"/>
                  <a:pt x="685530" y="281829"/>
                  <a:pt x="673459" y="281829"/>
                </a:cubicBezTo>
                <a:cubicBezTo>
                  <a:pt x="661388" y="281829"/>
                  <a:pt x="651601" y="271928"/>
                  <a:pt x="651601" y="259715"/>
                </a:cubicBezTo>
                <a:cubicBezTo>
                  <a:pt x="651601" y="247501"/>
                  <a:pt x="661388" y="237600"/>
                  <a:pt x="673459" y="237600"/>
                </a:cubicBezTo>
                <a:close/>
                <a:moveTo>
                  <a:pt x="731572" y="200572"/>
                </a:moveTo>
                <a:cubicBezTo>
                  <a:pt x="739383" y="200572"/>
                  <a:pt x="745715" y="206904"/>
                  <a:pt x="745715" y="214715"/>
                </a:cubicBezTo>
                <a:cubicBezTo>
                  <a:pt x="745715" y="222526"/>
                  <a:pt x="739383" y="228857"/>
                  <a:pt x="731572" y="228857"/>
                </a:cubicBezTo>
                <a:cubicBezTo>
                  <a:pt x="723761" y="228857"/>
                  <a:pt x="717429" y="222526"/>
                  <a:pt x="717429" y="214715"/>
                </a:cubicBezTo>
                <a:cubicBezTo>
                  <a:pt x="717429" y="206904"/>
                  <a:pt x="723761" y="200572"/>
                  <a:pt x="731572" y="200572"/>
                </a:cubicBezTo>
                <a:close/>
                <a:moveTo>
                  <a:pt x="673459" y="142971"/>
                </a:moveTo>
                <a:cubicBezTo>
                  <a:pt x="685530" y="142971"/>
                  <a:pt x="695317" y="152872"/>
                  <a:pt x="695317" y="165086"/>
                </a:cubicBezTo>
                <a:cubicBezTo>
                  <a:pt x="695317" y="177299"/>
                  <a:pt x="685530" y="187200"/>
                  <a:pt x="673459" y="187200"/>
                </a:cubicBezTo>
                <a:cubicBezTo>
                  <a:pt x="661388" y="187200"/>
                  <a:pt x="651601" y="177299"/>
                  <a:pt x="651601" y="165086"/>
                </a:cubicBezTo>
                <a:cubicBezTo>
                  <a:pt x="651601" y="152872"/>
                  <a:pt x="661388" y="142971"/>
                  <a:pt x="673459" y="142971"/>
                </a:cubicBezTo>
                <a:close/>
                <a:moveTo>
                  <a:pt x="731572" y="102343"/>
                </a:moveTo>
                <a:cubicBezTo>
                  <a:pt x="739383" y="102343"/>
                  <a:pt x="745715" y="108675"/>
                  <a:pt x="745715" y="116486"/>
                </a:cubicBezTo>
                <a:cubicBezTo>
                  <a:pt x="745715" y="124297"/>
                  <a:pt x="739383" y="130629"/>
                  <a:pt x="731572" y="130629"/>
                </a:cubicBezTo>
                <a:cubicBezTo>
                  <a:pt x="723761" y="130629"/>
                  <a:pt x="717429" y="124297"/>
                  <a:pt x="717429" y="116486"/>
                </a:cubicBezTo>
                <a:cubicBezTo>
                  <a:pt x="717429" y="108675"/>
                  <a:pt x="723761" y="102343"/>
                  <a:pt x="731572" y="102343"/>
                </a:cubicBezTo>
                <a:close/>
                <a:moveTo>
                  <a:pt x="673459" y="47828"/>
                </a:moveTo>
                <a:cubicBezTo>
                  <a:pt x="685530" y="47828"/>
                  <a:pt x="695317" y="57729"/>
                  <a:pt x="695317" y="69943"/>
                </a:cubicBezTo>
                <a:cubicBezTo>
                  <a:pt x="695317" y="82156"/>
                  <a:pt x="685530" y="92057"/>
                  <a:pt x="673459" y="92057"/>
                </a:cubicBezTo>
                <a:cubicBezTo>
                  <a:pt x="661388" y="92057"/>
                  <a:pt x="651601" y="82156"/>
                  <a:pt x="651601" y="69943"/>
                </a:cubicBezTo>
                <a:cubicBezTo>
                  <a:pt x="651601" y="57729"/>
                  <a:pt x="661388" y="47828"/>
                  <a:pt x="673459" y="47828"/>
                </a:cubicBezTo>
                <a:close/>
                <a:moveTo>
                  <a:pt x="0" y="0"/>
                </a:moveTo>
                <a:cubicBezTo>
                  <a:pt x="0" y="0"/>
                  <a:pt x="0" y="0"/>
                  <a:pt x="603580" y="0"/>
                </a:cubicBezTo>
                <a:cubicBezTo>
                  <a:pt x="603580" y="0"/>
                  <a:pt x="603580" y="0"/>
                  <a:pt x="604804" y="0"/>
                </a:cubicBezTo>
                <a:cubicBezTo>
                  <a:pt x="619495" y="0"/>
                  <a:pt x="630514" y="11078"/>
                  <a:pt x="630514" y="25848"/>
                </a:cubicBezTo>
                <a:cubicBezTo>
                  <a:pt x="630514" y="40619"/>
                  <a:pt x="619495" y="51697"/>
                  <a:pt x="604804" y="51697"/>
                </a:cubicBezTo>
                <a:cubicBezTo>
                  <a:pt x="604804" y="51697"/>
                  <a:pt x="603580" y="51697"/>
                  <a:pt x="603580" y="51697"/>
                </a:cubicBezTo>
                <a:cubicBezTo>
                  <a:pt x="592561" y="52928"/>
                  <a:pt x="583991" y="61544"/>
                  <a:pt x="583991" y="72622"/>
                </a:cubicBezTo>
                <a:cubicBezTo>
                  <a:pt x="583991" y="84931"/>
                  <a:pt x="592561" y="93547"/>
                  <a:pt x="603580" y="93547"/>
                </a:cubicBezTo>
                <a:cubicBezTo>
                  <a:pt x="603580" y="93547"/>
                  <a:pt x="603580" y="93547"/>
                  <a:pt x="603580" y="94778"/>
                </a:cubicBezTo>
                <a:cubicBezTo>
                  <a:pt x="603580" y="94778"/>
                  <a:pt x="604804" y="94778"/>
                  <a:pt x="604804" y="94778"/>
                </a:cubicBezTo>
                <a:cubicBezTo>
                  <a:pt x="619495" y="94778"/>
                  <a:pt x="630514" y="105856"/>
                  <a:pt x="630514" y="120627"/>
                </a:cubicBezTo>
                <a:cubicBezTo>
                  <a:pt x="630514" y="134166"/>
                  <a:pt x="619495" y="145245"/>
                  <a:pt x="606028" y="146475"/>
                </a:cubicBezTo>
                <a:cubicBezTo>
                  <a:pt x="606028" y="146475"/>
                  <a:pt x="604804" y="146475"/>
                  <a:pt x="604804" y="146475"/>
                </a:cubicBezTo>
                <a:cubicBezTo>
                  <a:pt x="604804" y="146475"/>
                  <a:pt x="603580" y="146475"/>
                  <a:pt x="603580" y="146475"/>
                </a:cubicBezTo>
                <a:cubicBezTo>
                  <a:pt x="592561" y="146475"/>
                  <a:pt x="583991" y="156322"/>
                  <a:pt x="583991" y="167400"/>
                </a:cubicBezTo>
                <a:cubicBezTo>
                  <a:pt x="583991" y="178478"/>
                  <a:pt x="592561" y="187095"/>
                  <a:pt x="603580" y="188325"/>
                </a:cubicBezTo>
                <a:cubicBezTo>
                  <a:pt x="603580" y="188325"/>
                  <a:pt x="604804" y="188325"/>
                  <a:pt x="604804" y="188325"/>
                </a:cubicBezTo>
                <a:cubicBezTo>
                  <a:pt x="619495" y="188325"/>
                  <a:pt x="630514" y="200633"/>
                  <a:pt x="630514" y="214173"/>
                </a:cubicBezTo>
                <a:cubicBezTo>
                  <a:pt x="630514" y="228945"/>
                  <a:pt x="619495" y="241253"/>
                  <a:pt x="604804" y="241253"/>
                </a:cubicBezTo>
                <a:cubicBezTo>
                  <a:pt x="604804" y="241253"/>
                  <a:pt x="603580" y="240022"/>
                  <a:pt x="603580" y="240022"/>
                </a:cubicBezTo>
                <a:cubicBezTo>
                  <a:pt x="603580" y="240022"/>
                  <a:pt x="603580" y="240022"/>
                  <a:pt x="603580" y="241253"/>
                </a:cubicBezTo>
                <a:cubicBezTo>
                  <a:pt x="592561" y="241253"/>
                  <a:pt x="583991" y="251100"/>
                  <a:pt x="583991" y="262178"/>
                </a:cubicBezTo>
                <a:cubicBezTo>
                  <a:pt x="583991" y="273256"/>
                  <a:pt x="592561" y="281872"/>
                  <a:pt x="603580" y="283103"/>
                </a:cubicBezTo>
                <a:cubicBezTo>
                  <a:pt x="603580" y="283103"/>
                  <a:pt x="604804" y="283103"/>
                  <a:pt x="604804" y="283103"/>
                </a:cubicBezTo>
                <a:cubicBezTo>
                  <a:pt x="619495" y="283103"/>
                  <a:pt x="630514" y="294181"/>
                  <a:pt x="630514" y="308952"/>
                </a:cubicBezTo>
                <a:cubicBezTo>
                  <a:pt x="630514" y="323722"/>
                  <a:pt x="619495" y="334800"/>
                  <a:pt x="604804" y="334800"/>
                </a:cubicBezTo>
                <a:cubicBezTo>
                  <a:pt x="604804" y="334800"/>
                  <a:pt x="604804" y="334800"/>
                  <a:pt x="603580" y="334800"/>
                </a:cubicBezTo>
                <a:cubicBezTo>
                  <a:pt x="603580" y="334800"/>
                  <a:pt x="603580" y="334800"/>
                  <a:pt x="0" y="334800"/>
                </a:cubicBezTo>
                <a:cubicBezTo>
                  <a:pt x="0" y="334800"/>
                  <a:pt x="0" y="334800"/>
                  <a:pt x="0" y="0"/>
                </a:cubicBezTo>
                <a:close/>
              </a:path>
            </a:pathLst>
          </a:custGeom>
          <a:solidFill>
            <a:schemeClr val="accent2"/>
          </a:solidFill>
        </p:spPr>
        <p:txBody>
          <a:bodyPr wrap="square">
            <a:noAutofit/>
          </a:bodyPr>
          <a:lstStyle>
            <a:lvl1pPr>
              <a:defRPr/>
            </a:lvl1pPr>
          </a:lstStyle>
          <a:p>
            <a:pPr lvl="0"/>
            <a:r>
              <a:rPr lang="en-US" noProof="0"/>
              <a:t> </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‹N°›</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402301" y="1002869"/>
            <a:ext cx="5345357" cy="972000"/>
          </a:xfrm>
        </p:spPr>
        <p:txBody>
          <a:bodyPr/>
          <a:lstStyle>
            <a:lvl1pPr>
              <a:defRPr sz="1800"/>
            </a:lvl1pPr>
            <a:lvl2pPr>
              <a:buNone/>
              <a:defRPr sz="1800"/>
            </a:lvl2pPr>
            <a:lvl3pPr>
              <a:defRPr sz="1350"/>
            </a:lvl3pPr>
            <a:lvl4pPr>
              <a:defRPr sz="1200"/>
            </a:lvl4pPr>
            <a:lvl5pPr>
              <a:defRPr sz="12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402300" y="2018136"/>
            <a:ext cx="2646000" cy="2537536"/>
          </a:xfrm>
        </p:spPr>
        <p:txBody>
          <a:bodyPr/>
          <a:lstStyle>
            <a:lvl1pPr>
              <a:defRPr sz="1425"/>
            </a:lvl1pPr>
            <a:lvl2pPr>
              <a:defRPr sz="142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3101657" y="2018136"/>
            <a:ext cx="2646000" cy="2537536"/>
          </a:xfrm>
        </p:spPr>
        <p:txBody>
          <a:bodyPr/>
          <a:lstStyle>
            <a:lvl1pPr>
              <a:defRPr sz="1425"/>
            </a:lvl1pPr>
            <a:lvl2pPr>
              <a:defRPr sz="1425"/>
            </a:lvl2pPr>
            <a:lvl3pPr>
              <a:defRPr sz="1050"/>
            </a:lvl3pPr>
            <a:lvl4pPr>
              <a:defRPr sz="1050"/>
            </a:lvl4pPr>
            <a:lvl5pPr>
              <a:defRPr sz="105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5938431" y="966051"/>
            <a:ext cx="2742654" cy="3651670"/>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425">
                <a:solidFill>
                  <a:schemeClr val="bg1"/>
                </a:solidFill>
              </a:defRPr>
            </a:lvl1pPr>
            <a:lvl2pPr>
              <a:defRPr sz="1425">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75878959"/>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Masters/_rels/slideMaster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theme" Target="../theme/theme1.xml"/>
  <Relationship Id="rId4" Type="http://schemas.openxmlformats.org/officeDocument/2006/relationships/image" Target="../media/image1.jpeg"/>
  <Relationship Id="rId5" Type="http://schemas.openxmlformats.org/officeDocument/2006/relationships/image" Target="../media/image2.png"/>
</Relationships>

</file>

<file path=ppt/slideMasters/_rels/slideMaster2.xml.rels><?xml version="1.0" encoding="UTF-8"?>

<Relationships xmlns="http://schemas.openxmlformats.org/package/2006/relationships">
  <Relationship Id="rId1" Type="http://schemas.openxmlformats.org/officeDocument/2006/relationships/slideLayout" Target="../slideLayouts/slideLayout3.xml"/>
  <Relationship Id="rId10" Type="http://schemas.openxmlformats.org/officeDocument/2006/relationships/slideLayout" Target="../slideLayouts/slideLayout12.xml"/>
  <Relationship Id="rId11" Type="http://schemas.openxmlformats.org/officeDocument/2006/relationships/slideLayout" Target="../slideLayouts/slideLayout13.xml"/>
  <Relationship Id="rId12" Type="http://schemas.openxmlformats.org/officeDocument/2006/relationships/slideLayout" Target="../slideLayouts/slideLayout14.xml"/>
  <Relationship Id="rId13" Type="http://schemas.openxmlformats.org/officeDocument/2006/relationships/slideLayout" Target="../slideLayouts/slideLayout15.xml"/>
  <Relationship Id="rId14" Type="http://schemas.openxmlformats.org/officeDocument/2006/relationships/theme" Target="../theme/theme2.xml"/>
  <Relationship Id="rId15" Type="http://schemas.openxmlformats.org/officeDocument/2006/relationships/image" Target="../media/image3.png"/>
  <Relationship Id="rId2" Type="http://schemas.openxmlformats.org/officeDocument/2006/relationships/slideLayout" Target="../slideLayouts/slideLayout4.xml"/>
  <Relationship Id="rId3" Type="http://schemas.openxmlformats.org/officeDocument/2006/relationships/slideLayout" Target="../slideLayouts/slideLayout5.xml"/>
  <Relationship Id="rId4" Type="http://schemas.openxmlformats.org/officeDocument/2006/relationships/slideLayout" Target="../slideLayouts/slideLayout6.xml"/>
  <Relationship Id="rId5" Type="http://schemas.openxmlformats.org/officeDocument/2006/relationships/slideLayout" Target="../slideLayouts/slideLayout7.xml"/>
  <Relationship Id="rId6" Type="http://schemas.openxmlformats.org/officeDocument/2006/relationships/slideLayout" Target="../slideLayouts/slideLayout8.xml"/>
  <Relationship Id="rId7" Type="http://schemas.openxmlformats.org/officeDocument/2006/relationships/slideLayout" Target="../slideLayouts/slideLayout9.xml"/>
  <Relationship Id="rId8" Type="http://schemas.openxmlformats.org/officeDocument/2006/relationships/slideLayout" Target="../slideLayouts/slideLayout10.xml"/>
  <Relationship Id="rId9" Type="http://schemas.openxmlformats.org/officeDocument/2006/relationships/slideLayout" Target="../slideLayouts/slideLayout11.xml"/>
</Relationships>

</file>

<file path=ppt/slideMasters/_rels/slideMaster3.xml.rels><?xml version="1.0" encoding="UTF-8"?>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slideLayout" Target="../slideLayouts/slideLayout17.xml"/>
  <Relationship Id="rId3" Type="http://schemas.openxmlformats.org/officeDocument/2006/relationships/slideLayout" Target="../slideLayouts/slideLayout18.xml"/>
  <Relationship Id="rId4" Type="http://schemas.openxmlformats.org/officeDocument/2006/relationships/slideLayout" Target="../slideLayouts/slideLayout19.xml"/>
  <Relationship Id="rId5" Type="http://schemas.openxmlformats.org/officeDocument/2006/relationships/slideLayout" Target="../slideLayouts/slideLayout20.xml"/>
  <Relationship Id="rId6" Type="http://schemas.openxmlformats.org/officeDocument/2006/relationships/slideLayout" Target="../slideLayouts/slideLayout21.xml"/>
  <Relationship Id="rId7" Type="http://schemas.openxmlformats.org/officeDocument/2006/relationships/theme" Target="../theme/theme3.xml"/>
  <Relationship Id="rId8" Type="http://schemas.openxmlformats.org/officeDocument/2006/relationships/image" Target="../media/image10.jpeg"/>
  <Relationship Id="rId9" Type="http://schemas.openxmlformats.org/officeDocument/2006/relationships/image" Target="../media/image2.png"/>
</Relationships>

</file>

<file path=ppt/slideMasters/_rels/slideMaster4.xml.rels><?xml version="1.0" encoding="UTF-8"?>

<Relationships xmlns="http://schemas.openxmlformats.org/package/2006/relationships">
  <Relationship Id="rId1" Type="http://schemas.openxmlformats.org/officeDocument/2006/relationships/slideLayout" Target="../slideLayouts/slideLayout22.xml"/>
  <Relationship Id="rId10" Type="http://schemas.openxmlformats.org/officeDocument/2006/relationships/slideLayout" Target="../slideLayouts/slideLayout31.xml"/>
  <Relationship Id="rId11" Type="http://schemas.openxmlformats.org/officeDocument/2006/relationships/slideLayout" Target="../slideLayouts/slideLayout32.xml"/>
  <Relationship Id="rId12" Type="http://schemas.openxmlformats.org/officeDocument/2006/relationships/slideLayout" Target="../slideLayouts/slideLayout33.xml"/>
  <Relationship Id="rId13" Type="http://schemas.openxmlformats.org/officeDocument/2006/relationships/slideLayout" Target="../slideLayouts/slideLayout34.xml"/>
  <Relationship Id="rId14" Type="http://schemas.openxmlformats.org/officeDocument/2006/relationships/theme" Target="../theme/theme4.xml"/>
  <Relationship Id="rId15" Type="http://schemas.openxmlformats.org/officeDocument/2006/relationships/image" Target="../media/image12.png"/>
  <Relationship Id="rId2" Type="http://schemas.openxmlformats.org/officeDocument/2006/relationships/slideLayout" Target="../slideLayouts/slideLayout23.xml"/>
  <Relationship Id="rId3" Type="http://schemas.openxmlformats.org/officeDocument/2006/relationships/slideLayout" Target="../slideLayouts/slideLayout24.xml"/>
  <Relationship Id="rId4" Type="http://schemas.openxmlformats.org/officeDocument/2006/relationships/slideLayout" Target="../slideLayouts/slideLayout25.xml"/>
  <Relationship Id="rId5" Type="http://schemas.openxmlformats.org/officeDocument/2006/relationships/slideLayout" Target="../slideLayouts/slideLayout26.xml"/>
  <Relationship Id="rId6" Type="http://schemas.openxmlformats.org/officeDocument/2006/relationships/slideLayout" Target="../slideLayouts/slideLayout27.xml"/>
  <Relationship Id="rId7" Type="http://schemas.openxmlformats.org/officeDocument/2006/relationships/slideLayout" Target="../slideLayouts/slideLayout28.xml"/>
  <Relationship Id="rId8" Type="http://schemas.openxmlformats.org/officeDocument/2006/relationships/slideLayout" Target="../slideLayouts/slideLayout29.xml"/>
  <Relationship Id="rId9" Type="http://schemas.openxmlformats.org/officeDocument/2006/relationships/slideLayout" Target="../slideLayouts/slideLayout30.xml"/>
</Relationships>

</file>

<file path=ppt/slideMasters/_rels/slideMaster5.xml.rels><?xml version="1.0" encoding="UTF-8"?>

<Relationships xmlns="http://schemas.openxmlformats.org/package/2006/relationships">
  <Relationship Id="rId1" Type="http://schemas.openxmlformats.org/officeDocument/2006/relationships/slideLayout" Target="../slideLayouts/slideLayout35.xml"/>
  <Relationship Id="rId10" Type="http://schemas.openxmlformats.org/officeDocument/2006/relationships/slideLayout" Target="../slideLayouts/slideLayout44.xml"/>
  <Relationship Id="rId11" Type="http://schemas.openxmlformats.org/officeDocument/2006/relationships/slideLayout" Target="../slideLayouts/slideLayout45.xml"/>
  <Relationship Id="rId12" Type="http://schemas.openxmlformats.org/officeDocument/2006/relationships/slideLayout" Target="../slideLayouts/slideLayout46.xml"/>
  <Relationship Id="rId13" Type="http://schemas.openxmlformats.org/officeDocument/2006/relationships/slideLayout" Target="../slideLayouts/slideLayout47.xml"/>
  <Relationship Id="rId14" Type="http://schemas.openxmlformats.org/officeDocument/2006/relationships/theme" Target="../theme/theme5.xml"/>
  <Relationship Id="rId15" Type="http://schemas.openxmlformats.org/officeDocument/2006/relationships/image" Target="../media/image3.png"/>
  <Relationship Id="rId2" Type="http://schemas.openxmlformats.org/officeDocument/2006/relationships/slideLayout" Target="../slideLayouts/slideLayout36.xml"/>
  <Relationship Id="rId3" Type="http://schemas.openxmlformats.org/officeDocument/2006/relationships/slideLayout" Target="../slideLayouts/slideLayout37.xml"/>
  <Relationship Id="rId4" Type="http://schemas.openxmlformats.org/officeDocument/2006/relationships/slideLayout" Target="../slideLayouts/slideLayout38.xml"/>
  <Relationship Id="rId5" Type="http://schemas.openxmlformats.org/officeDocument/2006/relationships/slideLayout" Target="../slideLayouts/slideLayout39.xml"/>
  <Relationship Id="rId6" Type="http://schemas.openxmlformats.org/officeDocument/2006/relationships/slideLayout" Target="../slideLayouts/slideLayout40.xml"/>
  <Relationship Id="rId7" Type="http://schemas.openxmlformats.org/officeDocument/2006/relationships/slideLayout" Target="../slideLayouts/slideLayout41.xml"/>
  <Relationship Id="rId8" Type="http://schemas.openxmlformats.org/officeDocument/2006/relationships/slideLayout" Target="../slideLayouts/slideLayout42.xml"/>
  <Relationship Id="rId9" Type="http://schemas.openxmlformats.org/officeDocument/2006/relationships/slideLayout" Target="../slideLayouts/slideLayout43.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65978" y="1549643"/>
            <a:ext cx="7830000" cy="1080000"/>
          </a:xfrm>
          <a:prstGeom prst="rect">
            <a:avLst/>
          </a:prstGeom>
          <a:noFill/>
          <a:ln>
            <a:noFill/>
          </a:ln>
        </p:spPr>
        <p:txBody>
          <a:bodyPr spcFirstLastPara="1" wrap="square" lIns="68575" tIns="34275" rIns="68575" bIns="34275" anchor="t" anchorCtr="0">
            <a:noAutofit/>
          </a:bodyPr>
          <a:lstStyle>
            <a:lvl1pPr marR="0" lvl="0" algn="l" rtl="0">
              <a:lnSpc>
                <a:spcPct val="95000"/>
              </a:lnSpc>
              <a:spcBef>
                <a:spcPts val="0"/>
              </a:spcBef>
              <a:spcAft>
                <a:spcPts val="0"/>
              </a:spcAft>
              <a:buClr>
                <a:schemeClr val="lt1"/>
              </a:buClr>
              <a:buSzPts val="3500"/>
              <a:buFont typeface="Encode Sans Expanded Light"/>
              <a:buNone/>
              <a:defRPr sz="3500" i="0" u="none" strike="noStrike" cap="none">
                <a:solidFill>
                  <a:schemeClr val="lt1"/>
                </a:solidFill>
                <a:latin typeface="Encode Sans Expanded Light"/>
                <a:ea typeface="Encode Sans Expanded Light"/>
                <a:cs typeface="Encode Sans Expanded Light"/>
                <a:sym typeface="Encode Sans Expanded Light"/>
              </a:defRPr>
            </a:lvl1pPr>
            <a:lvl2pPr lvl="1" rtl="0">
              <a:spcBef>
                <a:spcPts val="0"/>
              </a:spcBef>
              <a:spcAft>
                <a:spcPts val="0"/>
              </a:spcAft>
              <a:buSzPts val="3500"/>
              <a:buFont typeface="Encode Sans Expanded Light"/>
              <a:buNone/>
              <a:defRPr sz="3500">
                <a:latin typeface="Encode Sans Expanded Light"/>
                <a:ea typeface="Encode Sans Expanded Light"/>
                <a:cs typeface="Encode Sans Expanded Light"/>
                <a:sym typeface="Encode Sans Expanded Light"/>
              </a:defRPr>
            </a:lvl2pPr>
            <a:lvl3pPr lvl="2" rtl="0">
              <a:spcBef>
                <a:spcPts val="0"/>
              </a:spcBef>
              <a:spcAft>
                <a:spcPts val="0"/>
              </a:spcAft>
              <a:buSzPts val="3500"/>
              <a:buFont typeface="Encode Sans Expanded Light"/>
              <a:buNone/>
              <a:defRPr sz="3500">
                <a:latin typeface="Encode Sans Expanded Light"/>
                <a:ea typeface="Encode Sans Expanded Light"/>
                <a:cs typeface="Encode Sans Expanded Light"/>
                <a:sym typeface="Encode Sans Expanded Light"/>
              </a:defRPr>
            </a:lvl3pPr>
            <a:lvl4pPr lvl="3" rtl="0">
              <a:spcBef>
                <a:spcPts val="0"/>
              </a:spcBef>
              <a:spcAft>
                <a:spcPts val="0"/>
              </a:spcAft>
              <a:buSzPts val="3500"/>
              <a:buFont typeface="Encode Sans Expanded Light"/>
              <a:buNone/>
              <a:defRPr sz="3500">
                <a:latin typeface="Encode Sans Expanded Light"/>
                <a:ea typeface="Encode Sans Expanded Light"/>
                <a:cs typeface="Encode Sans Expanded Light"/>
                <a:sym typeface="Encode Sans Expanded Light"/>
              </a:defRPr>
            </a:lvl4pPr>
            <a:lvl5pPr lvl="4" rtl="0">
              <a:spcBef>
                <a:spcPts val="0"/>
              </a:spcBef>
              <a:spcAft>
                <a:spcPts val="0"/>
              </a:spcAft>
              <a:buSzPts val="3500"/>
              <a:buFont typeface="Encode Sans Expanded Light"/>
              <a:buNone/>
              <a:defRPr sz="3500">
                <a:latin typeface="Encode Sans Expanded Light"/>
                <a:ea typeface="Encode Sans Expanded Light"/>
                <a:cs typeface="Encode Sans Expanded Light"/>
                <a:sym typeface="Encode Sans Expanded Light"/>
              </a:defRPr>
            </a:lvl5pPr>
            <a:lvl6pPr lvl="5" rtl="0">
              <a:spcBef>
                <a:spcPts val="0"/>
              </a:spcBef>
              <a:spcAft>
                <a:spcPts val="0"/>
              </a:spcAft>
              <a:buSzPts val="3500"/>
              <a:buFont typeface="Encode Sans Expanded Light"/>
              <a:buNone/>
              <a:defRPr sz="3500">
                <a:latin typeface="Encode Sans Expanded Light"/>
                <a:ea typeface="Encode Sans Expanded Light"/>
                <a:cs typeface="Encode Sans Expanded Light"/>
                <a:sym typeface="Encode Sans Expanded Light"/>
              </a:defRPr>
            </a:lvl6pPr>
            <a:lvl7pPr lvl="6" rtl="0">
              <a:spcBef>
                <a:spcPts val="0"/>
              </a:spcBef>
              <a:spcAft>
                <a:spcPts val="0"/>
              </a:spcAft>
              <a:buSzPts val="3500"/>
              <a:buFont typeface="Encode Sans Expanded Light"/>
              <a:buNone/>
              <a:defRPr sz="3500">
                <a:latin typeface="Encode Sans Expanded Light"/>
                <a:ea typeface="Encode Sans Expanded Light"/>
                <a:cs typeface="Encode Sans Expanded Light"/>
                <a:sym typeface="Encode Sans Expanded Light"/>
              </a:defRPr>
            </a:lvl7pPr>
            <a:lvl8pPr lvl="7" rtl="0">
              <a:spcBef>
                <a:spcPts val="0"/>
              </a:spcBef>
              <a:spcAft>
                <a:spcPts val="0"/>
              </a:spcAft>
              <a:buSzPts val="3500"/>
              <a:buFont typeface="Encode Sans Expanded Light"/>
              <a:buNone/>
              <a:defRPr sz="3500">
                <a:latin typeface="Encode Sans Expanded Light"/>
                <a:ea typeface="Encode Sans Expanded Light"/>
                <a:cs typeface="Encode Sans Expanded Light"/>
                <a:sym typeface="Encode Sans Expanded Light"/>
              </a:defRPr>
            </a:lvl8pPr>
            <a:lvl9pPr lvl="8" rtl="0">
              <a:spcBef>
                <a:spcPts val="0"/>
              </a:spcBef>
              <a:spcAft>
                <a:spcPts val="0"/>
              </a:spcAft>
              <a:buSzPts val="3500"/>
              <a:buFont typeface="Encode Sans Expanded Light"/>
              <a:buNone/>
              <a:defRPr sz="3500">
                <a:latin typeface="Encode Sans Expanded Light"/>
                <a:ea typeface="Encode Sans Expanded Light"/>
                <a:cs typeface="Encode Sans Expanded Light"/>
                <a:sym typeface="Encode Sans Expanded Light"/>
              </a:defRPr>
            </a:lvl9pPr>
          </a:lstStyle>
          <a:p>
            <a:endParaRPr/>
          </a:p>
        </p:txBody>
      </p:sp>
      <p:sp>
        <p:nvSpPr>
          <p:cNvPr id="7" name="Google Shape;7;p1"/>
          <p:cNvSpPr txBox="1">
            <a:spLocks noGrp="1"/>
          </p:cNvSpPr>
          <p:nvPr>
            <p:ph type="body" idx="1"/>
          </p:nvPr>
        </p:nvSpPr>
        <p:spPr>
          <a:xfrm>
            <a:off x="865978" y="2629661"/>
            <a:ext cx="7830000" cy="1809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5000"/>
              </a:lnSpc>
              <a:spcBef>
                <a:spcPts val="0"/>
              </a:spcBef>
              <a:spcAft>
                <a:spcPts val="0"/>
              </a:spcAft>
              <a:buClr>
                <a:schemeClr val="lt1"/>
              </a:buClr>
              <a:buSzPts val="1900"/>
              <a:buFont typeface="Encode Sans Expanded Light"/>
              <a:buNone/>
              <a:defRPr sz="1900" i="0" u="none" strike="noStrike" cap="none">
                <a:solidFill>
                  <a:schemeClr val="lt1"/>
                </a:solidFill>
                <a:latin typeface="Encode Sans Expanded Light"/>
                <a:ea typeface="Encode Sans Expanded Light"/>
                <a:cs typeface="Encode Sans Expanded Light"/>
                <a:sym typeface="Encode Sans Expanded Light"/>
              </a:defRPr>
            </a:lvl1pPr>
            <a:lvl2pPr marL="914400" marR="0" lvl="1" indent="-349250" algn="l" rtl="0">
              <a:lnSpc>
                <a:spcPct val="105000"/>
              </a:lnSpc>
              <a:spcBef>
                <a:spcPts val="0"/>
              </a:spcBef>
              <a:spcAft>
                <a:spcPts val="0"/>
              </a:spcAft>
              <a:buClr>
                <a:schemeClr val="lt1"/>
              </a:buClr>
              <a:buSzPts val="1900"/>
              <a:buFont typeface="Encode Sans Expanded Light"/>
              <a:buChar char="•"/>
              <a:defRPr sz="1900" i="0" u="none" strike="noStrike" cap="none">
                <a:solidFill>
                  <a:schemeClr val="lt1"/>
                </a:solidFill>
                <a:latin typeface="Encode Sans Expanded Light"/>
                <a:ea typeface="Encode Sans Expanded Light"/>
                <a:cs typeface="Encode Sans Expanded Light"/>
                <a:sym typeface="Encode Sans Expanded Light"/>
              </a:defRPr>
            </a:lvl2pPr>
            <a:lvl3pPr marL="1371600" marR="0" lvl="2" indent="-228600" algn="l" rtl="0">
              <a:lnSpc>
                <a:spcPct val="105000"/>
              </a:lnSpc>
              <a:spcBef>
                <a:spcPts val="0"/>
              </a:spcBef>
              <a:spcAft>
                <a:spcPts val="0"/>
              </a:spcAft>
              <a:buClr>
                <a:schemeClr val="lt1"/>
              </a:buClr>
              <a:buSzPts val="1900"/>
              <a:buFont typeface="Encode Sans Expanded Light"/>
              <a:buNone/>
              <a:defRPr sz="1900" i="0" u="none" strike="noStrike" cap="none">
                <a:solidFill>
                  <a:schemeClr val="lt1"/>
                </a:solidFill>
                <a:latin typeface="Encode Sans Expanded Light"/>
                <a:ea typeface="Encode Sans Expanded Light"/>
                <a:cs typeface="Encode Sans Expanded Light"/>
                <a:sym typeface="Encode Sans Expanded Light"/>
              </a:defRPr>
            </a:lvl3pPr>
            <a:lvl4pPr marL="1828800" marR="0" lvl="3" indent="-349250" algn="l" rtl="0">
              <a:lnSpc>
                <a:spcPct val="105000"/>
              </a:lnSpc>
              <a:spcBef>
                <a:spcPts val="0"/>
              </a:spcBef>
              <a:spcAft>
                <a:spcPts val="0"/>
              </a:spcAft>
              <a:buClr>
                <a:schemeClr val="lt1"/>
              </a:buClr>
              <a:buSzPts val="1900"/>
              <a:buFont typeface="Encode Sans Expanded Light"/>
              <a:buChar char="•"/>
              <a:defRPr sz="1900" i="0" u="none" strike="noStrike" cap="none">
                <a:solidFill>
                  <a:schemeClr val="lt1"/>
                </a:solidFill>
                <a:latin typeface="Encode Sans Expanded Light"/>
                <a:ea typeface="Encode Sans Expanded Light"/>
                <a:cs typeface="Encode Sans Expanded Light"/>
                <a:sym typeface="Encode Sans Expanded Light"/>
              </a:defRPr>
            </a:lvl4pPr>
            <a:lvl5pPr marL="2286000" marR="0" lvl="4" indent="-228600" algn="l" rtl="0">
              <a:lnSpc>
                <a:spcPct val="105000"/>
              </a:lnSpc>
              <a:spcBef>
                <a:spcPts val="0"/>
              </a:spcBef>
              <a:spcAft>
                <a:spcPts val="0"/>
              </a:spcAft>
              <a:buClr>
                <a:schemeClr val="lt1"/>
              </a:buClr>
              <a:buSzPts val="1900"/>
              <a:buFont typeface="Encode Sans Expanded Light"/>
              <a:buNone/>
              <a:defRPr sz="1900" i="0" u="none" strike="noStrike" cap="none">
                <a:solidFill>
                  <a:schemeClr val="lt1"/>
                </a:solidFill>
                <a:latin typeface="Encode Sans Expanded Light"/>
                <a:ea typeface="Encode Sans Expanded Light"/>
                <a:cs typeface="Encode Sans Expanded Light"/>
                <a:sym typeface="Encode Sans Expanded Light"/>
              </a:defRPr>
            </a:lvl5pPr>
            <a:lvl6pPr marL="2743200" marR="0" lvl="5" indent="-349250" algn="l" rtl="0">
              <a:lnSpc>
                <a:spcPct val="90000"/>
              </a:lnSpc>
              <a:spcBef>
                <a:spcPts val="300"/>
              </a:spcBef>
              <a:spcAft>
                <a:spcPts val="0"/>
              </a:spcAft>
              <a:buClr>
                <a:srgbClr val="FFFFFF"/>
              </a:buClr>
              <a:buSzPts val="1900"/>
              <a:buFont typeface="Encode Sans Expanded Light"/>
              <a:buChar char="•"/>
              <a:defRPr sz="1900" i="0" u="none" strike="noStrike" cap="none">
                <a:solidFill>
                  <a:srgbClr val="FFFFFF"/>
                </a:solidFill>
                <a:latin typeface="Encode Sans Expanded Light"/>
                <a:ea typeface="Encode Sans Expanded Light"/>
                <a:cs typeface="Encode Sans Expanded Light"/>
                <a:sym typeface="Encode Sans Expanded Light"/>
              </a:defRPr>
            </a:lvl6pPr>
            <a:lvl7pPr marL="3200400" marR="0" lvl="6" indent="-349250" algn="l" rtl="0">
              <a:lnSpc>
                <a:spcPct val="90000"/>
              </a:lnSpc>
              <a:spcBef>
                <a:spcPts val="300"/>
              </a:spcBef>
              <a:spcAft>
                <a:spcPts val="0"/>
              </a:spcAft>
              <a:buClr>
                <a:srgbClr val="FFFFFF"/>
              </a:buClr>
              <a:buSzPts val="1900"/>
              <a:buFont typeface="Encode Sans Expanded Light"/>
              <a:buChar char="•"/>
              <a:defRPr sz="1900" i="0" u="none" strike="noStrike" cap="none">
                <a:solidFill>
                  <a:srgbClr val="FFFFFF"/>
                </a:solidFill>
                <a:latin typeface="Encode Sans Expanded Light"/>
                <a:ea typeface="Encode Sans Expanded Light"/>
                <a:cs typeface="Encode Sans Expanded Light"/>
                <a:sym typeface="Encode Sans Expanded Light"/>
              </a:defRPr>
            </a:lvl7pPr>
            <a:lvl8pPr marL="3657600" marR="0" lvl="7" indent="-349250" algn="l" rtl="0">
              <a:lnSpc>
                <a:spcPct val="90000"/>
              </a:lnSpc>
              <a:spcBef>
                <a:spcPts val="300"/>
              </a:spcBef>
              <a:spcAft>
                <a:spcPts val="0"/>
              </a:spcAft>
              <a:buClr>
                <a:srgbClr val="FFFFFF"/>
              </a:buClr>
              <a:buSzPts val="1900"/>
              <a:buFont typeface="Encode Sans Expanded Light"/>
              <a:buChar char="•"/>
              <a:defRPr sz="1900" i="0" u="none" strike="noStrike" cap="none">
                <a:solidFill>
                  <a:srgbClr val="FFFFFF"/>
                </a:solidFill>
                <a:latin typeface="Encode Sans Expanded Light"/>
                <a:ea typeface="Encode Sans Expanded Light"/>
                <a:cs typeface="Encode Sans Expanded Light"/>
                <a:sym typeface="Encode Sans Expanded Light"/>
              </a:defRPr>
            </a:lvl8pPr>
            <a:lvl9pPr marL="4114800" marR="0" lvl="8" indent="-349250" algn="l" rtl="0">
              <a:lnSpc>
                <a:spcPct val="90000"/>
              </a:lnSpc>
              <a:spcBef>
                <a:spcPts val="300"/>
              </a:spcBef>
              <a:spcAft>
                <a:spcPts val="0"/>
              </a:spcAft>
              <a:buClr>
                <a:srgbClr val="FFFFFF"/>
              </a:buClr>
              <a:buSzPts val="1900"/>
              <a:buFont typeface="Encode Sans Expanded Light"/>
              <a:buChar char="•"/>
              <a:defRPr sz="1900" i="0" u="none" strike="noStrike" cap="none">
                <a:solidFill>
                  <a:srgbClr val="FFFFFF"/>
                </a:solidFill>
                <a:latin typeface="Encode Sans Expanded Light"/>
                <a:ea typeface="Encode Sans Expanded Light"/>
                <a:cs typeface="Encode Sans Expanded Light"/>
                <a:sym typeface="Encode Sans Expanded Light"/>
              </a:defRPr>
            </a:lvl9pPr>
          </a:lstStyle>
          <a:p>
            <a:endParaRPr/>
          </a:p>
        </p:txBody>
      </p:sp>
      <p:pic>
        <p:nvPicPr>
          <p:cNvPr id="3" name="Image 2">
            <a:extLst>
              <a:ext uri="{FF2B5EF4-FFF2-40B4-BE49-F238E27FC236}">
                <a16:creationId xmlns:a16="http://schemas.microsoft.com/office/drawing/2014/main" id="{971B5A38-49E8-B051-43E4-3949B3A9C04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748765" y="172090"/>
            <a:ext cx="1646471" cy="677204"/>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8800" y="1151325"/>
            <a:ext cx="8366100" cy="648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chemeClr val="dk2"/>
              </a:buClr>
              <a:buSzPts val="2600"/>
              <a:buFont typeface="Encode Sans"/>
              <a:buNone/>
              <a:defRPr sz="2600" b="1" i="0" u="none" strike="noStrike" cap="none">
                <a:solidFill>
                  <a:schemeClr val="dk2"/>
                </a:solidFill>
                <a:latin typeface="Encode Sans"/>
                <a:ea typeface="Encode Sans"/>
                <a:cs typeface="Encode Sans"/>
                <a:sym typeface="Encode Sans"/>
              </a:defRPr>
            </a:lvl1pPr>
            <a:lvl2pPr marR="0" lvl="1" algn="l" rtl="0">
              <a:lnSpc>
                <a:spcPct val="100000"/>
              </a:lnSpc>
              <a:spcBef>
                <a:spcPts val="0"/>
              </a:spcBef>
              <a:spcAft>
                <a:spcPts val="0"/>
              </a:spcAft>
              <a:buClr>
                <a:srgbClr val="000000"/>
              </a:buClr>
              <a:buSzPts val="2600"/>
              <a:buFont typeface="Arial"/>
              <a:buNone/>
              <a:defRPr sz="2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600"/>
              <a:buFont typeface="Arial"/>
              <a:buNone/>
              <a:defRPr sz="2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600"/>
              <a:buFont typeface="Arial"/>
              <a:buNone/>
              <a:defRPr sz="2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600"/>
              <a:buFont typeface="Arial"/>
              <a:buNone/>
              <a:defRPr sz="2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600"/>
              <a:buFont typeface="Arial"/>
              <a:buNone/>
              <a:defRPr sz="2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600"/>
              <a:buFont typeface="Arial"/>
              <a:buNone/>
              <a:defRPr sz="2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600"/>
              <a:buFont typeface="Arial"/>
              <a:buNone/>
              <a:defRPr sz="2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600"/>
              <a:buFont typeface="Arial"/>
              <a:buNone/>
              <a:defRPr sz="26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08800" y="1968575"/>
            <a:ext cx="8366100" cy="2700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0"/>
              </a:spcBef>
              <a:spcAft>
                <a:spcPts val="0"/>
              </a:spcAft>
              <a:buClr>
                <a:schemeClr val="dk2"/>
              </a:buClr>
              <a:buSzPts val="1600"/>
              <a:buFont typeface="Arial"/>
              <a:buNone/>
              <a:defRPr sz="1600" b="1" i="0" u="none" strike="noStrike" cap="none">
                <a:solidFill>
                  <a:schemeClr val="dk2"/>
                </a:solidFill>
                <a:latin typeface="Encode Sans"/>
                <a:ea typeface="Encode Sans"/>
                <a:cs typeface="Encode Sans"/>
                <a:sym typeface="Encode Sans"/>
              </a:defRPr>
            </a:lvl1pPr>
            <a:lvl2pPr marL="914400" marR="0" lvl="1" indent="-330200" algn="l" rtl="0">
              <a:lnSpc>
                <a:spcPct val="100000"/>
              </a:lnSpc>
              <a:spcBef>
                <a:spcPts val="500"/>
              </a:spcBef>
              <a:spcAft>
                <a:spcPts val="0"/>
              </a:spcAft>
              <a:buClr>
                <a:schemeClr val="dk2"/>
              </a:buClr>
              <a:buSzPts val="1600"/>
              <a:buFont typeface="Arial"/>
              <a:buChar char="•"/>
              <a:defRPr sz="1600" b="0" i="0" u="none" strike="noStrike" cap="none">
                <a:solidFill>
                  <a:schemeClr val="dk2"/>
                </a:solidFill>
                <a:latin typeface="Encode Sans"/>
                <a:ea typeface="Encode Sans"/>
                <a:cs typeface="Encode Sans"/>
                <a:sym typeface="Encode Sans"/>
              </a:defRPr>
            </a:lvl2pPr>
            <a:lvl3pPr marL="1371600" marR="0" lvl="2" indent="-228600" algn="l" rtl="0">
              <a:lnSpc>
                <a:spcPct val="100000"/>
              </a:lnSpc>
              <a:spcBef>
                <a:spcPts val="500"/>
              </a:spcBef>
              <a:spcAft>
                <a:spcPts val="0"/>
              </a:spcAft>
              <a:buClr>
                <a:schemeClr val="dk2"/>
              </a:buClr>
              <a:buSzPts val="1400"/>
              <a:buFont typeface="Encode Sans"/>
              <a:buNone/>
              <a:defRPr sz="1200" b="0" i="0" u="none" strike="noStrike" cap="none">
                <a:solidFill>
                  <a:schemeClr val="dk2"/>
                </a:solidFill>
                <a:latin typeface="Encode Sans"/>
                <a:ea typeface="Encode Sans"/>
                <a:cs typeface="Encode Sans"/>
                <a:sym typeface="Encode Sans"/>
              </a:defRPr>
            </a:lvl3pPr>
            <a:lvl4pPr marL="1828800" marR="0" lvl="3" indent="-228600" algn="l" rtl="0">
              <a:lnSpc>
                <a:spcPct val="100000"/>
              </a:lnSpc>
              <a:spcBef>
                <a:spcPts val="300"/>
              </a:spcBef>
              <a:spcAft>
                <a:spcPts val="0"/>
              </a:spcAft>
              <a:buClr>
                <a:schemeClr val="dk2"/>
              </a:buClr>
              <a:buSzPts val="1200"/>
              <a:buFont typeface="Encode Sans"/>
              <a:buNone/>
              <a:defRPr sz="1200" b="1" i="0" u="none" strike="noStrike" cap="none">
                <a:solidFill>
                  <a:schemeClr val="dk2"/>
                </a:solidFill>
                <a:latin typeface="Encode Sans"/>
                <a:ea typeface="Encode Sans"/>
                <a:cs typeface="Encode Sans"/>
                <a:sym typeface="Encode Sans"/>
              </a:defRPr>
            </a:lvl4pPr>
            <a:lvl5pPr marL="2286000" marR="0" lvl="4" indent="-304800" algn="l" rtl="0">
              <a:lnSpc>
                <a:spcPct val="100000"/>
              </a:lnSpc>
              <a:spcBef>
                <a:spcPts val="300"/>
              </a:spcBef>
              <a:spcAft>
                <a:spcPts val="0"/>
              </a:spcAft>
              <a:buClr>
                <a:schemeClr val="dk2"/>
              </a:buClr>
              <a:buSzPts val="1200"/>
              <a:buFont typeface="Arial"/>
              <a:buChar char="•"/>
              <a:defRPr sz="1200" b="0" i="0" u="none" strike="noStrike" cap="none">
                <a:solidFill>
                  <a:schemeClr val="dk2"/>
                </a:solidFill>
                <a:latin typeface="Encode Sans"/>
                <a:ea typeface="Encode Sans"/>
                <a:cs typeface="Encode Sans"/>
                <a:sym typeface="Encode Sans"/>
              </a:defRPr>
            </a:lvl5pPr>
            <a:lvl6pPr marL="2743200" marR="0" lvl="5" indent="-292100" algn="l" rtl="0">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Encode Sans"/>
                <a:ea typeface="Encode Sans"/>
                <a:cs typeface="Encode Sans"/>
                <a:sym typeface="Encode Sans"/>
              </a:defRPr>
            </a:lvl6pPr>
            <a:lvl7pPr marL="3200400" marR="0" lvl="6" indent="-292100" algn="l" rtl="0">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Encode Sans"/>
                <a:ea typeface="Encode Sans"/>
                <a:cs typeface="Encode Sans"/>
                <a:sym typeface="Encode Sans"/>
              </a:defRPr>
            </a:lvl7pPr>
            <a:lvl8pPr marL="3657600" marR="0" lvl="7" indent="-292100" algn="l" rtl="0">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Encode Sans"/>
                <a:ea typeface="Encode Sans"/>
                <a:cs typeface="Encode Sans"/>
                <a:sym typeface="Encode Sans"/>
              </a:defRPr>
            </a:lvl8pPr>
            <a:lvl9pPr marL="4114800" marR="0" lvl="8" indent="-292100" algn="l" rtl="0">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Encode Sans"/>
                <a:ea typeface="Encode Sans"/>
                <a:cs typeface="Encode Sans"/>
                <a:sym typeface="Encode Sans"/>
              </a:defRPr>
            </a:lvl9pPr>
          </a:lstStyle>
          <a:p>
            <a:endParaRPr/>
          </a:p>
        </p:txBody>
      </p:sp>
      <p:sp>
        <p:nvSpPr>
          <p:cNvPr id="8" name="Google Shape;8;p1"/>
          <p:cNvSpPr txBox="1">
            <a:spLocks noGrp="1"/>
          </p:cNvSpPr>
          <p:nvPr>
            <p:ph type="dt" idx="10"/>
          </p:nvPr>
        </p:nvSpPr>
        <p:spPr>
          <a:xfrm>
            <a:off x="409575" y="4867276"/>
            <a:ext cx="792000" cy="1620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700" b="0" i="0" u="none" strike="noStrike" cap="none">
                <a:solidFill>
                  <a:schemeClr val="dk2"/>
                </a:solidFill>
                <a:latin typeface="Encode Sans"/>
                <a:ea typeface="Encode Sans"/>
                <a:cs typeface="Encode Sans"/>
                <a:sym typeface="Encode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9pPr>
          </a:lstStyle>
          <a:p>
            <a:endParaRPr/>
          </a:p>
        </p:txBody>
      </p:sp>
      <p:sp>
        <p:nvSpPr>
          <p:cNvPr id="9" name="Google Shape;9;p1"/>
          <p:cNvSpPr txBox="1">
            <a:spLocks noGrp="1"/>
          </p:cNvSpPr>
          <p:nvPr>
            <p:ph type="ftr" idx="11"/>
          </p:nvPr>
        </p:nvSpPr>
        <p:spPr>
          <a:xfrm>
            <a:off x="1201580" y="4867276"/>
            <a:ext cx="3600000" cy="1620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700" b="0" i="0" u="none" strike="noStrike" cap="none">
                <a:solidFill>
                  <a:schemeClr val="dk2"/>
                </a:solidFill>
                <a:latin typeface="Encode Sans"/>
                <a:ea typeface="Encode Sans"/>
                <a:cs typeface="Encode Sans"/>
                <a:sym typeface="Encode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Encode Sans"/>
                <a:ea typeface="Encode Sans"/>
                <a:cs typeface="Encode Sans"/>
                <a:sym typeface="Encode Sans"/>
              </a:defRPr>
            </a:lvl9pPr>
          </a:lstStyle>
          <a:p>
            <a:endParaRPr/>
          </a:p>
        </p:txBody>
      </p:sp>
      <p:sp>
        <p:nvSpPr>
          <p:cNvPr id="10" name="Google Shape;10;p1"/>
          <p:cNvSpPr txBox="1">
            <a:spLocks noGrp="1"/>
          </p:cNvSpPr>
          <p:nvPr>
            <p:ph type="sldNum" idx="12"/>
          </p:nvPr>
        </p:nvSpPr>
        <p:spPr>
          <a:xfrm>
            <a:off x="8234906" y="4867276"/>
            <a:ext cx="540000" cy="1620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chemeClr val="dk2"/>
                </a:solidFill>
                <a:latin typeface="Encode Sans"/>
                <a:ea typeface="Encode Sans"/>
                <a:cs typeface="Encode Sans"/>
                <a:sym typeface="Encode Sans"/>
              </a:defRPr>
            </a:lvl9pPr>
          </a:lstStyle>
          <a:p>
            <a:pPr marL="0" lvl="0" indent="0" algn="r" rtl="0">
              <a:spcBef>
                <a:spcPts val="0"/>
              </a:spcBef>
              <a:spcAft>
                <a:spcPts val="0"/>
              </a:spcAft>
              <a:buNone/>
            </a:pPr>
            <a:fld id="{00000000-1234-1234-1234-123412341234}" type="slidenum">
              <a:rPr lang="it-IT"/>
              <a:t>‹N°›</a:t>
            </a:fld>
            <a:endParaRPr/>
          </a:p>
        </p:txBody>
      </p:sp>
      <p:pic>
        <p:nvPicPr>
          <p:cNvPr id="2" name="Image 1">
            <a:extLst>
              <a:ext uri="{FF2B5EF4-FFF2-40B4-BE49-F238E27FC236}">
                <a16:creationId xmlns:a16="http://schemas.microsoft.com/office/drawing/2014/main" id="{7F0F7931-BA67-8273-E1DE-AD7E0EA6669D}"/>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7355206" y="139418"/>
            <a:ext cx="1548551" cy="636929"/>
          </a:xfrm>
          <a:prstGeom prst="rect">
            <a:avLst/>
          </a:prstGeom>
        </p:spPr>
      </p:pic>
    </p:spTree>
    <p:extLst>
      <p:ext uri="{BB962C8B-B14F-4D97-AF65-F5344CB8AC3E}">
        <p14:creationId xmlns:p14="http://schemas.microsoft.com/office/powerpoint/2010/main" val="3247839421"/>
      </p:ext>
    </p:extLst>
  </p:cSld>
  <p:clrMap bg1="lt1" tx1="dk1" bg2="dk2" tx2="lt2" accent1="accent1" accent2="accent2" accent3="accent3" accent4="accent4" accent5="accent5" accent6="accent6" hlink="hlink" folHlink="folHlink"/>
  <p:sldLayoutIdLst>
    <p:sldLayoutId id="2147483692" r:id="rId1"/>
    <p:sldLayoutId id="2147483695" r:id="rId2"/>
    <p:sldLayoutId id="2147483696" r:id="rId3"/>
    <p:sldLayoutId id="2147483697" r:id="rId4"/>
    <p:sldLayoutId id="2147483699" r:id="rId5"/>
    <p:sldLayoutId id="2147483700" r:id="rId6"/>
    <p:sldLayoutId id="2147483701" r:id="rId7"/>
    <p:sldLayoutId id="2147483702" r:id="rId8"/>
    <p:sldLayoutId id="2147483703" r:id="rId9"/>
    <p:sldLayoutId id="2147483761" r:id="rId10"/>
    <p:sldLayoutId id="2147483762" r:id="rId11"/>
    <p:sldLayoutId id="2147483763" r:id="rId12"/>
    <p:sldLayoutId id="214748376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53">
          <p15:clr>
            <a:srgbClr val="EA4335"/>
          </p15:clr>
        </p15:guide>
        <p15:guide id="2" pos="1999">
          <p15:clr>
            <a:srgbClr val="EA4335"/>
          </p15:clr>
        </p15:guide>
        <p15:guide id="3" pos="2870">
          <p15:clr>
            <a:srgbClr val="EA4335"/>
          </p15:clr>
        </p15:guide>
        <p15:guide id="4" pos="2045">
          <p15:clr>
            <a:srgbClr val="EA4335"/>
          </p15:clr>
        </p15:guide>
        <p15:guide id="5" pos="3786">
          <p15:clr>
            <a:srgbClr val="EA4335"/>
          </p15:clr>
        </p15:guide>
        <p15:guide id="6" pos="5527">
          <p15:clr>
            <a:srgbClr val="EA4335"/>
          </p15:clr>
        </p15:guide>
        <p15:guide id="7" pos="3741">
          <p15:clr>
            <a:srgbClr val="EA4335"/>
          </p15:clr>
        </p15:guide>
        <p15:guide id="8" orient="horz" pos="373">
          <p15:clr>
            <a:srgbClr val="EA4335"/>
          </p15:clr>
        </p15:guide>
        <p15:guide id="9" orient="horz" pos="588">
          <p15:clr>
            <a:srgbClr val="EA4335"/>
          </p15:clr>
        </p15:guide>
        <p15:guide id="10" orient="horz" pos="3066">
          <p15:clr>
            <a:srgbClr val="EA4335"/>
          </p15:clr>
        </p15:guide>
        <p15:guide id="11" orient="horz" pos="3168">
          <p15:clr>
            <a:srgbClr val="EA4335"/>
          </p15:clr>
        </p15:guide>
        <p15:guide id="12" pos="2915">
          <p15:clr>
            <a:srgbClr val="EA4335"/>
          </p15:clr>
        </p15:guide>
        <p15:guide id="13" orient="horz" pos="2941">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865978" y="1549643"/>
            <a:ext cx="7830000" cy="1080000"/>
          </a:xfrm>
          <a:prstGeom prst="rect">
            <a:avLst/>
          </a:prstGeom>
        </p:spPr>
        <p:txBody>
          <a:bodyPr vert="horz" lIns="91440" tIns="45720" rIns="91440" bIns="45720" rtlCol="0" anchor="t">
            <a:noAutofit/>
          </a:bodyPr>
          <a:lstStyle/>
          <a:p>
            <a:r>
              <a:rPr lang="fr-FR" noProof="0"/>
              <a:t>Modifiez le style du titre</a:t>
            </a:r>
            <a:endParaRPr lang="en-US" noProof="0"/>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865978" y="2281911"/>
            <a:ext cx="7830000" cy="1809077"/>
          </a:xfrm>
          <a:prstGeom prst="rect">
            <a:avLst/>
          </a:prstGeom>
        </p:spPr>
        <p:txBody>
          <a:bodyPr vert="horz" lIns="91440" tIns="45720" rIns="91440" bIns="45720" rtlCol="0">
            <a:no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3582000" y="4922100"/>
            <a:ext cx="1980000" cy="162000"/>
          </a:xfrm>
          <a:prstGeom prst="rect">
            <a:avLst/>
          </a:prstGeom>
        </p:spPr>
        <p:txBody>
          <a:bodyPr vert="horz" lIns="91440" tIns="45720" rIns="91440" bIns="45720" rtlCol="0" anchor="ctr">
            <a:noAutofit/>
          </a:bodyPr>
          <a:lstStyle>
            <a:lvl1pPr algn="ctr">
              <a:defRPr sz="750" b="0" cap="all" baseline="0">
                <a:solidFill>
                  <a:schemeClr val="bg1"/>
                </a:solidFill>
                <a:latin typeface="+mj-lt"/>
              </a:defRPr>
            </a:lvl1pPr>
          </a:lstStyle>
          <a:p>
            <a:r>
              <a:rPr lang="en-US"/>
              <a:t>YYYY/MM/DD</a:t>
            </a:r>
            <a:endParaRPr lang="en-US">
              <a:latin typeface="+mj-lt"/>
            </a:endParaRP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76201" y="4922100"/>
            <a:ext cx="3060000" cy="162000"/>
          </a:xfrm>
          <a:prstGeom prst="rect">
            <a:avLst/>
          </a:prstGeom>
        </p:spPr>
        <p:txBody>
          <a:bodyPr vert="horz" lIns="91440" tIns="45720" rIns="91440" bIns="45720" rtlCol="0" anchor="ctr">
            <a:noAutofit/>
          </a:bodyPr>
          <a:lstStyle>
            <a:lvl1pPr algn="l">
              <a:defRPr sz="600">
                <a:solidFill>
                  <a:schemeClr val="bg1"/>
                </a:solidFill>
                <a:latin typeface="+mn-lt"/>
              </a:defRPr>
            </a:lvl1pPr>
          </a:lstStyle>
          <a:p>
            <a:r>
              <a:rPr lang="en-US"/>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8527799" y="4922100"/>
            <a:ext cx="540000" cy="162000"/>
          </a:xfrm>
          <a:prstGeom prst="rect">
            <a:avLst/>
          </a:prstGeom>
        </p:spPr>
        <p:txBody>
          <a:bodyPr vert="horz" lIns="91440" tIns="45720" rIns="91440" bIns="45720" rtlCol="0" anchor="ctr">
            <a:noAutofit/>
          </a:bodyPr>
          <a:lstStyle>
            <a:lvl1pPr algn="r">
              <a:defRPr sz="600">
                <a:solidFill>
                  <a:schemeClr val="bg1"/>
                </a:solidFill>
                <a:latin typeface="+mn-lt"/>
              </a:defRPr>
            </a:lvl1pPr>
          </a:lstStyle>
          <a:p>
            <a:fld id="{975A587B-5814-4D9B-9598-FE9CB954CB01}" type="slidenum">
              <a:rPr lang="en-US" smtClean="0"/>
              <a:pPr/>
              <a:t>‹N°›</a:t>
            </a:fld>
            <a:endParaRPr lang="en-US"/>
          </a:p>
        </p:txBody>
      </p:sp>
      <p:pic>
        <p:nvPicPr>
          <p:cNvPr id="9" name="Image 8">
            <a:extLst>
              <a:ext uri="{FF2B5EF4-FFF2-40B4-BE49-F238E27FC236}">
                <a16:creationId xmlns:a16="http://schemas.microsoft.com/office/drawing/2014/main" id="{506896BE-B44F-4376-995C-7ADCE70575FC}"/>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3748765" y="172090"/>
            <a:ext cx="1646471" cy="677204"/>
          </a:xfrm>
          <a:prstGeom prst="rect">
            <a:avLst/>
          </a:prstGeom>
        </p:spPr>
      </p:pic>
    </p:spTree>
    <p:extLst>
      <p:ext uri="{BB962C8B-B14F-4D97-AF65-F5344CB8AC3E}">
        <p14:creationId xmlns:p14="http://schemas.microsoft.com/office/powerpoint/2010/main" val="276847235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Lst>
  <p:hf sldNum="0" hdr="0" ftr="0" dt="0"/>
  <p:txStyles>
    <p:titleStyle>
      <a:lvl1pPr algn="l" defTabSz="514350" rtl="0" eaLnBrk="1" latinLnBrk="0" hangingPunct="1">
        <a:lnSpc>
          <a:spcPct val="95000"/>
        </a:lnSpc>
        <a:spcBef>
          <a:spcPct val="0"/>
        </a:spcBef>
        <a:buNone/>
        <a:defRPr sz="3525" kern="1200" cap="all" baseline="0">
          <a:solidFill>
            <a:schemeClr val="bg1"/>
          </a:solidFill>
          <a:latin typeface="+mn-lt"/>
          <a:ea typeface="+mj-ea"/>
          <a:cs typeface="+mj-cs"/>
        </a:defRPr>
      </a:lvl1pPr>
    </p:titleStyle>
    <p:bodyStyle>
      <a:lvl1pPr marL="0" indent="0" algn="l" defTabSz="514350" rtl="0" eaLnBrk="1" latinLnBrk="0" hangingPunct="1">
        <a:lnSpc>
          <a:spcPct val="105000"/>
        </a:lnSpc>
        <a:spcBef>
          <a:spcPts val="0"/>
        </a:spcBef>
        <a:buFont typeface="+mj-lt"/>
        <a:buNone/>
        <a:defRPr sz="1875" b="0" kern="1200" cap="none" baseline="0">
          <a:solidFill>
            <a:schemeClr val="bg1"/>
          </a:solidFill>
          <a:latin typeface="+mn-lt"/>
          <a:ea typeface="+mn-ea"/>
          <a:cs typeface="+mn-cs"/>
        </a:defRPr>
      </a:lvl1pPr>
      <a:lvl2pPr marL="162000" indent="-162000" algn="l" defTabSz="514350" rtl="0" eaLnBrk="1" latinLnBrk="0" hangingPunct="1">
        <a:lnSpc>
          <a:spcPct val="105000"/>
        </a:lnSpc>
        <a:spcBef>
          <a:spcPts val="0"/>
        </a:spcBef>
        <a:buFont typeface="Arial" panose="020B0604020202020204" pitchFamily="34" charset="0"/>
        <a:buChar char="•"/>
        <a:defRPr sz="1875" kern="1200">
          <a:solidFill>
            <a:schemeClr val="bg1"/>
          </a:solidFill>
          <a:latin typeface="+mn-lt"/>
          <a:ea typeface="+mn-ea"/>
          <a:cs typeface="+mn-cs"/>
        </a:defRPr>
      </a:lvl2pPr>
      <a:lvl3pPr marL="0" indent="0" algn="l" defTabSz="514350" rtl="0" eaLnBrk="1" latinLnBrk="0" hangingPunct="1">
        <a:lnSpc>
          <a:spcPct val="105000"/>
        </a:lnSpc>
        <a:spcBef>
          <a:spcPts val="0"/>
        </a:spcBef>
        <a:buSzPct val="120000"/>
        <a:buFont typeface="Encode Sans" pitchFamily="2" charset="0"/>
        <a:buNone/>
        <a:defRPr sz="1125" b="0" kern="1200">
          <a:solidFill>
            <a:schemeClr val="bg1"/>
          </a:solidFill>
          <a:latin typeface="+mn-lt"/>
          <a:ea typeface="+mn-ea"/>
          <a:cs typeface="+mn-cs"/>
        </a:defRPr>
      </a:lvl3pPr>
      <a:lvl4pPr marL="0" indent="-135000" algn="l" defTabSz="514350" rtl="0" eaLnBrk="1" latinLnBrk="0" hangingPunct="1">
        <a:lnSpc>
          <a:spcPct val="105000"/>
        </a:lnSpc>
        <a:spcBef>
          <a:spcPts val="0"/>
        </a:spcBef>
        <a:buFont typeface="Arial" panose="020B0604020202020204" pitchFamily="34" charset="0"/>
        <a:buChar char="•"/>
        <a:defRPr sz="1125" kern="1200">
          <a:solidFill>
            <a:schemeClr val="bg1"/>
          </a:solidFill>
          <a:latin typeface="+mn-lt"/>
          <a:ea typeface="+mn-ea"/>
          <a:cs typeface="+mn-cs"/>
        </a:defRPr>
      </a:lvl4pPr>
      <a:lvl5pPr marL="0" indent="0" algn="l" defTabSz="514350" rtl="0" eaLnBrk="1" latinLnBrk="0" hangingPunct="1">
        <a:lnSpc>
          <a:spcPct val="105000"/>
        </a:lnSpc>
        <a:spcBef>
          <a:spcPts val="0"/>
        </a:spcBef>
        <a:buFont typeface="Arial" panose="020B0604020202020204" pitchFamily="34" charset="0"/>
        <a:buNone/>
        <a:defRPr sz="975" kern="1200">
          <a:solidFill>
            <a:schemeClr val="bg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408811" y="1151316"/>
            <a:ext cx="8100000" cy="648000"/>
          </a:xfrm>
          <a:prstGeom prst="rect">
            <a:avLst/>
          </a:prstGeom>
        </p:spPr>
        <p:txBody>
          <a:bodyPr vert="horz" lIns="91440" tIns="45720" rIns="91440" bIns="45720" rtlCol="0" anchor="t">
            <a:noAutofit/>
          </a:bodyPr>
          <a:lstStyle/>
          <a:p>
            <a:r>
              <a:rPr lang="fr-FR" noProof="0"/>
              <a:t>Modifiez le style du titre</a:t>
            </a:r>
            <a:endParaRPr lang="en-US" noProof="0"/>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408811" y="1968578"/>
            <a:ext cx="8100000" cy="2700000"/>
          </a:xfrm>
          <a:prstGeom prst="rect">
            <a:avLst/>
          </a:prstGeom>
        </p:spPr>
        <p:txBody>
          <a:bodyPr vert="horz" lIns="91440" tIns="45720" rIns="91440" bIns="45720" rtlCol="0">
            <a:no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409575" y="4867276"/>
            <a:ext cx="792000" cy="162000"/>
          </a:xfrm>
          <a:prstGeom prst="rect">
            <a:avLst/>
          </a:prstGeom>
        </p:spPr>
        <p:txBody>
          <a:bodyPr vert="horz" lIns="91440" tIns="45720" rIns="91440" bIns="45720" rtlCol="0" anchor="ctr">
            <a:noAutofit/>
          </a:bodyPr>
          <a:lstStyle>
            <a:lvl1pPr algn="l">
              <a:defRPr sz="675" b="0">
                <a:solidFill>
                  <a:schemeClr val="tx2"/>
                </a:solidFill>
                <a:latin typeface="+mn-lt"/>
              </a:defRPr>
            </a:lvl1pPr>
          </a:lstStyle>
          <a:p>
            <a:r>
              <a:rPr lang="en-US"/>
              <a:t>YYYY/MM/DD</a:t>
            </a: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117280" y="4867276"/>
            <a:ext cx="3600000" cy="162000"/>
          </a:xfrm>
          <a:prstGeom prst="rect">
            <a:avLst/>
          </a:prstGeom>
        </p:spPr>
        <p:txBody>
          <a:bodyPr vert="horz" lIns="91440" tIns="45720" rIns="91440" bIns="45720" rtlCol="0" anchor="ctr">
            <a:noAutofit/>
          </a:bodyPr>
          <a:lstStyle>
            <a:lvl1pPr algn="l">
              <a:defRPr sz="675" b="0">
                <a:solidFill>
                  <a:schemeClr val="tx2"/>
                </a:solidFill>
                <a:latin typeface="+mn-lt"/>
              </a:defRPr>
            </a:lvl1pPr>
          </a:lstStyle>
          <a:p>
            <a:r>
              <a:rPr lang="en-US"/>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8234906" y="4867276"/>
            <a:ext cx="540000" cy="162000"/>
          </a:xfrm>
          <a:prstGeom prst="rect">
            <a:avLst/>
          </a:prstGeom>
        </p:spPr>
        <p:txBody>
          <a:bodyPr vert="horz" lIns="91440" tIns="45720" rIns="91440" bIns="45720" rtlCol="0" anchor="ctr">
            <a:noAutofit/>
          </a:bodyPr>
          <a:lstStyle>
            <a:lvl1pPr algn="r">
              <a:defRPr sz="675" b="0">
                <a:solidFill>
                  <a:schemeClr val="tx2"/>
                </a:solidFill>
                <a:latin typeface="+mn-lt"/>
              </a:defRPr>
            </a:lvl1pPr>
          </a:lstStyle>
          <a:p>
            <a:fld id="{975A587B-5814-4D9B-9598-FE9CB954CB01}" type="slidenum">
              <a:rPr lang="en-US" smtClean="0"/>
              <a:pPr/>
              <a:t>‹N°›</a:t>
            </a:fld>
            <a:endParaRPr lang="en-US"/>
          </a:p>
        </p:txBody>
      </p:sp>
      <p:pic>
        <p:nvPicPr>
          <p:cNvPr id="16" name="Image 15">
            <a:extLst>
              <a:ext uri="{FF2B5EF4-FFF2-40B4-BE49-F238E27FC236}">
                <a16:creationId xmlns:a16="http://schemas.microsoft.com/office/drawing/2014/main" id="{C3BC85E7-A235-4FF4-9B8B-EFEEC472A86F}"/>
              </a:ext>
            </a:extLst>
          </p:cNvPr>
          <p:cNvPicPr>
            <a:picLocks noChangeAspect="1"/>
          </p:cNvPicPr>
          <p:nvPr/>
        </p:nvPicPr>
        <p:blipFill>
          <a:blip r:embed="rId15" cstate="screen">
            <a:extLst>
              <a:ext uri="{28A0092B-C50C-407E-A947-70E740481C1C}">
                <a14:useLocalDpi xmlns:a14="http://schemas.microsoft.com/office/drawing/2010/main"/>
              </a:ext>
            </a:extLst>
          </a:blip>
          <a:srcRect/>
          <a:stretch/>
        </p:blipFill>
        <p:spPr>
          <a:xfrm>
            <a:off x="7432936" y="262532"/>
            <a:ext cx="1293617" cy="532073"/>
          </a:xfrm>
          <a:prstGeom prst="rect">
            <a:avLst/>
          </a:prstGeom>
        </p:spPr>
      </p:pic>
    </p:spTree>
    <p:extLst>
      <p:ext uri="{BB962C8B-B14F-4D97-AF65-F5344CB8AC3E}">
        <p14:creationId xmlns:p14="http://schemas.microsoft.com/office/powerpoint/2010/main" val="2846042622"/>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Lst>
  <p:hf sldNum="0" hdr="0"/>
  <p:txStyles>
    <p:titleStyle>
      <a:lvl1pPr algn="l" defTabSz="514350" rtl="0" eaLnBrk="1" latinLnBrk="0" hangingPunct="1">
        <a:lnSpc>
          <a:spcPct val="95000"/>
        </a:lnSpc>
        <a:spcBef>
          <a:spcPct val="0"/>
        </a:spcBef>
        <a:buNone/>
        <a:defRPr sz="1950" b="0" kern="1200" cap="all" baseline="0">
          <a:solidFill>
            <a:schemeClr val="tx2"/>
          </a:solidFill>
          <a:latin typeface="+mj-lt"/>
          <a:ea typeface="+mj-ea"/>
          <a:cs typeface="+mj-cs"/>
        </a:defRPr>
      </a:lvl1pPr>
    </p:titleStyle>
    <p:bodyStyle>
      <a:lvl1pPr marL="0" indent="0" algn="l" defTabSz="514350" rtl="0" eaLnBrk="1" latinLnBrk="0" hangingPunct="1">
        <a:lnSpc>
          <a:spcPct val="105000"/>
        </a:lnSpc>
        <a:spcBef>
          <a:spcPts val="0"/>
        </a:spcBef>
        <a:buFont typeface="Arial" panose="020B0604020202020204" pitchFamily="34" charset="0"/>
        <a:buNone/>
        <a:defRPr sz="1200" b="0" kern="1200">
          <a:solidFill>
            <a:schemeClr val="tx2"/>
          </a:solidFill>
          <a:latin typeface="+mj-lt"/>
          <a:ea typeface="+mn-ea"/>
          <a:cs typeface="+mn-cs"/>
        </a:defRPr>
      </a:lvl1pPr>
      <a:lvl2pPr marL="162000" indent="-162000" algn="l" defTabSz="514350" rtl="0" eaLnBrk="1" latinLnBrk="0" hangingPunct="1">
        <a:lnSpc>
          <a:spcPct val="105000"/>
        </a:lnSpc>
        <a:spcBef>
          <a:spcPts val="525"/>
        </a:spcBef>
        <a:buFont typeface="Arial" panose="020B0604020202020204" pitchFamily="34" charset="0"/>
        <a:buChar char="•"/>
        <a:defRPr sz="1200" kern="1200">
          <a:solidFill>
            <a:schemeClr val="tx2"/>
          </a:solidFill>
          <a:latin typeface="+mn-lt"/>
          <a:ea typeface="+mn-ea"/>
          <a:cs typeface="+mn-cs"/>
        </a:defRPr>
      </a:lvl2pPr>
      <a:lvl3pPr marL="162000" indent="0" algn="l" defTabSz="514350" rtl="0" eaLnBrk="1" latinLnBrk="0" hangingPunct="1">
        <a:lnSpc>
          <a:spcPct val="105000"/>
        </a:lnSpc>
        <a:spcBef>
          <a:spcPts val="525"/>
        </a:spcBef>
        <a:buSzPct val="120000"/>
        <a:buFont typeface="Encode Sans" pitchFamily="2" charset="0"/>
        <a:buNone/>
        <a:defRPr sz="1050" b="0" kern="1200">
          <a:solidFill>
            <a:schemeClr val="accent1"/>
          </a:solidFill>
          <a:latin typeface="+mn-lt"/>
          <a:ea typeface="+mn-ea"/>
          <a:cs typeface="+mn-cs"/>
        </a:defRPr>
      </a:lvl3pPr>
      <a:lvl4pPr marL="162000" indent="0" algn="l" defTabSz="514350" rtl="0" eaLnBrk="1" latinLnBrk="0" hangingPunct="1">
        <a:lnSpc>
          <a:spcPct val="105000"/>
        </a:lnSpc>
        <a:spcBef>
          <a:spcPts val="300"/>
        </a:spcBef>
        <a:buFont typeface="Encode Sans" pitchFamily="2" charset="0"/>
        <a:buNone/>
        <a:defRPr sz="1050" b="0" kern="1200">
          <a:solidFill>
            <a:schemeClr val="accent1"/>
          </a:solidFill>
          <a:latin typeface="+mj-lt"/>
          <a:ea typeface="+mn-ea"/>
          <a:cs typeface="+mn-cs"/>
        </a:defRPr>
      </a:lvl4pPr>
      <a:lvl5pPr marL="270000" indent="-108000" algn="l" defTabSz="514350" rtl="0" eaLnBrk="1" latinLnBrk="0" hangingPunct="1">
        <a:lnSpc>
          <a:spcPct val="105000"/>
        </a:lnSpc>
        <a:spcBef>
          <a:spcPts val="300"/>
        </a:spcBef>
        <a:buFont typeface="Arial" panose="020B0604020202020204" pitchFamily="34" charset="0"/>
        <a:buChar char="•"/>
        <a:defRPr sz="1050" kern="1200">
          <a:solidFill>
            <a:schemeClr val="accent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408811" y="1151316"/>
            <a:ext cx="8100000" cy="648000"/>
          </a:xfrm>
          <a:prstGeom prst="rect">
            <a:avLst/>
          </a:prstGeom>
        </p:spPr>
        <p:txBody>
          <a:bodyPr vert="horz" lIns="91440" tIns="45720" rIns="91440" bIns="45720" rtlCol="0" anchor="t">
            <a:noAutofit/>
          </a:bodyPr>
          <a:lstStyle/>
          <a:p>
            <a:r>
              <a:rPr lang="fr-FR" noProof="0"/>
              <a:t>Modifiez le style du titre</a:t>
            </a:r>
            <a:endParaRPr lang="en-US" noProof="0"/>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408811" y="1968578"/>
            <a:ext cx="8100000" cy="2700000"/>
          </a:xfrm>
          <a:prstGeom prst="rect">
            <a:avLst/>
          </a:prstGeom>
        </p:spPr>
        <p:txBody>
          <a:bodyPr vert="horz" lIns="91440" tIns="45720" rIns="91440" bIns="45720" rtlCol="0">
            <a:no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409575" y="4867276"/>
            <a:ext cx="792000" cy="162000"/>
          </a:xfrm>
          <a:prstGeom prst="rect">
            <a:avLst/>
          </a:prstGeom>
        </p:spPr>
        <p:txBody>
          <a:bodyPr vert="horz" lIns="91440" tIns="45720" rIns="91440" bIns="45720" rtlCol="0" anchor="ctr">
            <a:noAutofit/>
          </a:bodyPr>
          <a:lstStyle>
            <a:lvl1pPr algn="l">
              <a:defRPr sz="675" b="0">
                <a:solidFill>
                  <a:schemeClr val="tx2"/>
                </a:solidFill>
                <a:latin typeface="+mn-lt"/>
              </a:defRPr>
            </a:lvl1pPr>
          </a:lstStyle>
          <a:p>
            <a:r>
              <a:rPr lang="en-US"/>
              <a:t>YYYY/MM/DD</a:t>
            </a: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117280" y="4867276"/>
            <a:ext cx="3600000" cy="162000"/>
          </a:xfrm>
          <a:prstGeom prst="rect">
            <a:avLst/>
          </a:prstGeom>
        </p:spPr>
        <p:txBody>
          <a:bodyPr vert="horz" lIns="91440" tIns="45720" rIns="91440" bIns="45720" rtlCol="0" anchor="ctr">
            <a:noAutofit/>
          </a:bodyPr>
          <a:lstStyle>
            <a:lvl1pPr algn="l">
              <a:defRPr sz="675" b="0">
                <a:solidFill>
                  <a:schemeClr val="tx2"/>
                </a:solidFill>
                <a:latin typeface="+mn-lt"/>
              </a:defRPr>
            </a:lvl1pPr>
          </a:lstStyle>
          <a:p>
            <a:r>
              <a:rPr lang="en-US"/>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8234906" y="4867276"/>
            <a:ext cx="540000" cy="162000"/>
          </a:xfrm>
          <a:prstGeom prst="rect">
            <a:avLst/>
          </a:prstGeom>
        </p:spPr>
        <p:txBody>
          <a:bodyPr vert="horz" lIns="91440" tIns="45720" rIns="91440" bIns="45720" rtlCol="0" anchor="ctr">
            <a:noAutofit/>
          </a:bodyPr>
          <a:lstStyle>
            <a:lvl1pPr algn="r">
              <a:defRPr sz="675" b="0">
                <a:solidFill>
                  <a:schemeClr val="tx2"/>
                </a:solidFill>
                <a:latin typeface="+mn-lt"/>
              </a:defRPr>
            </a:lvl1pPr>
          </a:lstStyle>
          <a:p>
            <a:fld id="{975A587B-5814-4D9B-9598-FE9CB954CB01}" type="slidenum">
              <a:rPr lang="en-US" smtClean="0"/>
              <a:pPr/>
              <a:t>‹N°›</a:t>
            </a:fld>
            <a:endParaRPr lang="en-US"/>
          </a:p>
        </p:txBody>
      </p:sp>
      <p:pic>
        <p:nvPicPr>
          <p:cNvPr id="9" name="Image 8">
            <a:extLst>
              <a:ext uri="{FF2B5EF4-FFF2-40B4-BE49-F238E27FC236}">
                <a16:creationId xmlns:a16="http://schemas.microsoft.com/office/drawing/2014/main" id="{A8184D15-CFA2-416E-9366-E5D1FC2B9D9B}"/>
              </a:ext>
            </a:extLst>
          </p:cNvPr>
          <p:cNvPicPr>
            <a:picLocks noChangeAspect="1"/>
          </p:cNvPicPr>
          <p:nvPr/>
        </p:nvPicPr>
        <p:blipFill>
          <a:blip r:embed="rId15" cstate="screen">
            <a:extLst>
              <a:ext uri="{28A0092B-C50C-407E-A947-70E740481C1C}">
                <a14:useLocalDpi xmlns:a14="http://schemas.microsoft.com/office/drawing/2010/main"/>
              </a:ext>
            </a:extLst>
          </a:blip>
          <a:srcRect/>
          <a:stretch/>
        </p:blipFill>
        <p:spPr>
          <a:xfrm>
            <a:off x="7355206" y="139418"/>
            <a:ext cx="1548551" cy="636929"/>
          </a:xfrm>
          <a:prstGeom prst="rect">
            <a:avLst/>
          </a:prstGeom>
        </p:spPr>
      </p:pic>
    </p:spTree>
    <p:extLst>
      <p:ext uri="{BB962C8B-B14F-4D97-AF65-F5344CB8AC3E}">
        <p14:creationId xmlns:p14="http://schemas.microsoft.com/office/powerpoint/2010/main" val="144589718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Lst>
  <p:hf sldNum="0" hdr="0"/>
  <p:txStyles>
    <p:titleStyle>
      <a:lvl1pPr algn="l" defTabSz="514350" rtl="0" eaLnBrk="1" latinLnBrk="0" hangingPunct="1">
        <a:lnSpc>
          <a:spcPct val="95000"/>
        </a:lnSpc>
        <a:spcBef>
          <a:spcPct val="0"/>
        </a:spcBef>
        <a:buNone/>
        <a:defRPr sz="1950" b="0" kern="1200" cap="all" baseline="0">
          <a:solidFill>
            <a:schemeClr val="tx2"/>
          </a:solidFill>
          <a:latin typeface="+mj-lt"/>
          <a:ea typeface="+mj-ea"/>
          <a:cs typeface="+mj-cs"/>
        </a:defRPr>
      </a:lvl1pPr>
    </p:titleStyle>
    <p:bodyStyle>
      <a:lvl1pPr marL="0" indent="0" algn="l" defTabSz="514350" rtl="0" eaLnBrk="1" latinLnBrk="0" hangingPunct="1">
        <a:lnSpc>
          <a:spcPct val="105000"/>
        </a:lnSpc>
        <a:spcBef>
          <a:spcPts val="0"/>
        </a:spcBef>
        <a:buFont typeface="Arial" panose="020B0604020202020204" pitchFamily="34" charset="0"/>
        <a:buNone/>
        <a:defRPr sz="1200" b="0" kern="1200">
          <a:solidFill>
            <a:schemeClr val="tx2"/>
          </a:solidFill>
          <a:latin typeface="+mj-lt"/>
          <a:ea typeface="+mn-ea"/>
          <a:cs typeface="+mn-cs"/>
        </a:defRPr>
      </a:lvl1pPr>
      <a:lvl2pPr marL="162000" indent="-162000" algn="l" defTabSz="514350" rtl="0" eaLnBrk="1" latinLnBrk="0" hangingPunct="1">
        <a:lnSpc>
          <a:spcPct val="105000"/>
        </a:lnSpc>
        <a:spcBef>
          <a:spcPts val="525"/>
        </a:spcBef>
        <a:buClr>
          <a:schemeClr val="accent2"/>
        </a:buClr>
        <a:buFont typeface="Arial" panose="020B0604020202020204" pitchFamily="34" charset="0"/>
        <a:buChar char="•"/>
        <a:defRPr sz="1200" kern="1200">
          <a:solidFill>
            <a:schemeClr val="tx2"/>
          </a:solidFill>
          <a:latin typeface="+mn-lt"/>
          <a:ea typeface="+mn-ea"/>
          <a:cs typeface="+mn-cs"/>
        </a:defRPr>
      </a:lvl2pPr>
      <a:lvl3pPr marL="162000" indent="0" algn="l" defTabSz="514350" rtl="0" eaLnBrk="1" latinLnBrk="0" hangingPunct="1">
        <a:lnSpc>
          <a:spcPct val="105000"/>
        </a:lnSpc>
        <a:spcBef>
          <a:spcPts val="525"/>
        </a:spcBef>
        <a:buSzPct val="120000"/>
        <a:buFont typeface="Encode Sans" pitchFamily="2" charset="0"/>
        <a:buNone/>
        <a:defRPr sz="1050" b="0" kern="1200">
          <a:solidFill>
            <a:schemeClr val="accent1"/>
          </a:solidFill>
          <a:latin typeface="+mn-lt"/>
          <a:ea typeface="+mn-ea"/>
          <a:cs typeface="+mn-cs"/>
        </a:defRPr>
      </a:lvl3pPr>
      <a:lvl4pPr marL="162000" indent="0" algn="l" defTabSz="514350" rtl="0" eaLnBrk="1" latinLnBrk="0" hangingPunct="1">
        <a:lnSpc>
          <a:spcPct val="105000"/>
        </a:lnSpc>
        <a:spcBef>
          <a:spcPts val="300"/>
        </a:spcBef>
        <a:buFont typeface="Encode Sans" pitchFamily="2" charset="0"/>
        <a:buNone/>
        <a:defRPr sz="1050" b="0" kern="1200">
          <a:solidFill>
            <a:schemeClr val="accent1"/>
          </a:solidFill>
          <a:latin typeface="+mj-lt"/>
          <a:ea typeface="+mn-ea"/>
          <a:cs typeface="+mn-cs"/>
        </a:defRPr>
      </a:lvl4pPr>
      <a:lvl5pPr marL="270000" indent="-108000" algn="l" defTabSz="514350" rtl="0" eaLnBrk="1" latinLnBrk="0" hangingPunct="1">
        <a:lnSpc>
          <a:spcPct val="105000"/>
        </a:lnSpc>
        <a:spcBef>
          <a:spcPts val="300"/>
        </a:spcBef>
        <a:buClr>
          <a:schemeClr val="accent2"/>
        </a:buClr>
        <a:buFont typeface="Arial" panose="020B0604020202020204" pitchFamily="34" charset="0"/>
        <a:buChar char="•"/>
        <a:defRPr sz="1050" kern="1200">
          <a:solidFill>
            <a:schemeClr val="accent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tags" Target="../tags/tag1.xml"/>
  <Relationship Id="rId2" Type="http://schemas.openxmlformats.org/officeDocument/2006/relationships/slideLayout" Target="../slideLayouts/slideLayout3.xml"/>
  <Relationship Id="rId3"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tags" Target="../tags/tag2.xml"/>
  <Relationship Id="rId2" Type="http://schemas.openxmlformats.org/officeDocument/2006/relationships/slideLayout" Target="../slideLayouts/slideLayout3.xml"/>
  <Relationship Id="rId3"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4.xml"/>
  <Relationship Id="rId3" Type="http://schemas.openxmlformats.org/officeDocument/2006/relationships/image" Target="../media/image14.png"/>
  <Relationship Id="rId4" Type="http://schemas.openxmlformats.org/officeDocument/2006/relationships/image" Target="../media/image15.png"/>
  <Relationship Id="rId5" Type="http://schemas.openxmlformats.org/officeDocument/2006/relationships/image" Target="../media/image16.pn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5.xml"/>
  <Relationship Id="rId3" Type="http://schemas.openxmlformats.org/officeDocument/2006/relationships/image" Target="../media/image14.png"/>
</Relationships>

</file>

<file path=ppt/slides/_rels/slide6.xml.rels><?xml version="1.0" encoding="UTF-8"?>

<Relationships xmlns="http://schemas.openxmlformats.org/package/2006/relationships">
  <Relationship Id="rId1" Type="http://schemas.openxmlformats.org/officeDocument/2006/relationships/tags" Target="../tags/tag3.xml"/>
  <Relationship Id="rId2" Type="http://schemas.openxmlformats.org/officeDocument/2006/relationships/slideLayout" Target="../slideLayouts/slideLayout3.xml"/>
  <Relationship Id="rId3" Type="http://schemas.openxmlformats.org/officeDocument/2006/relationships/notesSlide" Target="../notesSlides/notesSlide6.xml"/>
  <Relationship Id="rId4" Type="http://schemas.openxmlformats.org/officeDocument/2006/relationships/hyperlink" TargetMode="External" Target="https://shiftup.sharepoint.com/:x:/r/sites/bpf-ea-community/Documents%20partages/ENTREPRISE%20ARCHITECTURE/EA%20Works/00%20-%20Technology%20Roadmap%202025/03%20-%20EA%20Transversal%20workstreams/EATWK04%20-%20Architecture%20Governance/Working/ICT-SIBS%20Architecture%20Gates%20Criteria_List_V4.1.xlsx?d=w8c4caac0445c4e359d7fef3681f61497&amp;csf=1&amp;web=1&amp;e=pOJ4HS"/>
  <Relationship Id="rId5" Type="http://schemas.openxmlformats.org/officeDocument/2006/relationships/image" Target="../media/image17.png"/>
  <Relationship Id="rId6" Type="http://schemas.openxmlformats.org/officeDocument/2006/relationships/image" Target="../media/image18.svg"/>
  <Relationship Id="rId7" Type="http://schemas.openxmlformats.org/officeDocument/2006/relationships/image" Target="../media/image19.svg"/>
  <Relationship Id="rId8" Type="http://schemas.openxmlformats.org/officeDocument/2006/relationships/slide" Target="slide9.xml"/>
  <Relationship Id="rId9" Type="http://schemas.openxmlformats.org/officeDocument/2006/relationships/slide" Target="slide10.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21.xml"/>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tags" Target="../tags/tag4.xml"/>
  <Relationship Id="rId2" Type="http://schemas.openxmlformats.org/officeDocument/2006/relationships/slideLayout" Target="../slideLayouts/slideLayout3.xml"/>
  <Relationship Id="rId3" Type="http://schemas.openxmlformats.org/officeDocument/2006/relationships/notesSlide" Target="../notesSlides/notesSlide8.xml"/>
</Relationships>

</file>

<file path=ppt/slides/_rels/slide9.xml.rels><?xml version="1.0" encoding="UTF-8"?>

<Relationships xmlns="http://schemas.openxmlformats.org/package/2006/relationships">
  <Relationship Id="rId1" Type="http://schemas.openxmlformats.org/officeDocument/2006/relationships/tags" Target="../tags/tag5.xml"/>
  <Relationship Id="rId2" Type="http://schemas.openxmlformats.org/officeDocument/2006/relationships/slideLayout" Target="../slideLayouts/slideLayout3.xml"/>
  <Relationship Id="rId3" Type="http://schemas.openxmlformats.org/officeDocument/2006/relationships/notesSlide" Target="../notesSlides/notesSlide9.xml"/>
  <Relationship Id="rId4" Type="http://schemas.openxmlformats.org/officeDocument/2006/relationships/hyperlink" TargetMode="External" Target="https://digitalme.service-now.com/now/apm/capability-hierarchy"/>
  <Relationship Id="rId5" Type="http://schemas.openxmlformats.org/officeDocument/2006/relationships/hyperlink" TargetMode="External" Target="https://digitalme.service-now.com/now/apm/portfolio"/>
  <Relationship Id="rId6" Type="http://schemas.openxmlformats.org/officeDocument/2006/relationships/hyperlink" TargetMode="External" Target="https://shiftup.sharepoint.com/sites/Enterprise_Architecture/SitePages/Techincal-Principles.aspx"/>
  <Relationship Id="rId7" Type="http://schemas.openxmlformats.org/officeDocument/2006/relationships/hyperlink" TargetMode="External" Target="https://digitalme.service-now.com/now/sow/home"/>
</Relationships>

</file>

<file path=ppt/slides/_rels/slide10.xml.rels><?xml version="1.0" encoding="UTF-8"?>

<Relationships xmlns="http://schemas.openxmlformats.org/package/2006/relationships">
  <Relationship Id="rId1" Type="http://schemas.openxmlformats.org/officeDocument/2006/relationships/tags" Target="../tags/tag6.xml"/>
  <Relationship Id="rId2" Type="http://schemas.openxmlformats.org/officeDocument/2006/relationships/slideLayout" Target="../slideLayouts/slideLayout3.xml"/>
  <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
  <Relationship Id="rId1" Type="http://schemas.openxmlformats.org/officeDocument/2006/relationships/tags" Target="../tags/tag7.xml"/>
  <Relationship Id="rId10" Type="http://schemas.openxmlformats.org/officeDocument/2006/relationships/slide" Target="slide21.xml"/>
  <Relationship Id="rId11" Type="http://schemas.openxmlformats.org/officeDocument/2006/relationships/slide" Target="slide45.xml"/>
  <Relationship Id="rId12" Type="http://schemas.openxmlformats.org/officeDocument/2006/relationships/slide" Target="slide40.xml"/>
  <Relationship Id="rId13" Type="http://schemas.openxmlformats.org/officeDocument/2006/relationships/slide" Target="slide65.xml"/>
  <Relationship Id="rId14" Type="http://schemas.openxmlformats.org/officeDocument/2006/relationships/slide" Target="slide31.xml"/>
  <Relationship Id="rId15" Type="http://schemas.openxmlformats.org/officeDocument/2006/relationships/slide" Target="slide59.xml"/>
  <Relationship Id="rId16" Type="http://schemas.openxmlformats.org/officeDocument/2006/relationships/slide" Target="slide60.xml"/>
  <Relationship Id="rId17" Type="http://schemas.openxmlformats.org/officeDocument/2006/relationships/slide" Target="slide32.xml"/>
  <Relationship Id="rId2" Type="http://schemas.openxmlformats.org/officeDocument/2006/relationships/slideLayout" Target="../slideLayouts/slideLayout3.xml"/>
  <Relationship Id="rId3" Type="http://schemas.openxmlformats.org/officeDocument/2006/relationships/notesSlide" Target="../notesSlides/notesSlide11.xml"/>
  <Relationship Id="rId4" Type="http://schemas.microsoft.com/office/2018/10/relationships/comments" Target="../comments/modernComment_7FFFEFB2_91E28C00.xml"/>
  <Relationship Id="rId5" Type="http://schemas.openxmlformats.org/officeDocument/2006/relationships/slide" Target="slide43.xml"/>
  <Relationship Id="rId6" Type="http://schemas.openxmlformats.org/officeDocument/2006/relationships/slide" Target="slide29.xml"/>
  <Relationship Id="rId7" Type="http://schemas.openxmlformats.org/officeDocument/2006/relationships/slide" Target="slide35.xml"/>
  <Relationship Id="rId8" Type="http://schemas.openxmlformats.org/officeDocument/2006/relationships/slide" Target="slide13.xml"/>
  <Relationship Id="rId9" Type="http://schemas.openxmlformats.org/officeDocument/2006/relationships/slide" Target="slide38.xml"/>
</Relationships>

</file>

<file path=ppt/slides/_rels/slide12.xml.rels><?xml version="1.0" encoding="UTF-8"?>

<Relationships xmlns="http://schemas.openxmlformats.org/package/2006/relationships">
  <Relationship Id="rId1" Type="http://schemas.openxmlformats.org/officeDocument/2006/relationships/tags" Target="../tags/tag8.xml"/>
  <Relationship Id="rId2" Type="http://schemas.openxmlformats.org/officeDocument/2006/relationships/slideLayout" Target="../slideLayouts/slideLayout3.xml"/>
  <Relationship Id="rId3" Type="http://schemas.openxmlformats.org/officeDocument/2006/relationships/notesSlide" Target="../notesSlides/notesSlide12.xml"/>
  <Relationship Id="rId4" Type="http://schemas.openxmlformats.org/officeDocument/2006/relationships/hyperlink" TargetMode="External" Target="https://digitalme.service-now.com/now/sow/home"/>
</Relationships>

</file>

<file path=ppt/slides/_rels/slide13.xml.rels><?xml version="1.0" encoding="UTF-8"?>

<Relationships xmlns="http://schemas.openxmlformats.org/package/2006/relationships">
  <Relationship Id="rId1" Type="http://schemas.openxmlformats.org/officeDocument/2006/relationships/tags" Target="../tags/tag9.xml"/>
  <Relationship Id="rId2" Type="http://schemas.openxmlformats.org/officeDocument/2006/relationships/slideLayout" Target="../slideLayouts/slideLayout3.xml"/>
  <Relationship Id="rId3" Type="http://schemas.openxmlformats.org/officeDocument/2006/relationships/notesSlide" Target="../notesSlides/notesSlide13.xml"/>
  <Relationship Id="rId4" Type="http://schemas.openxmlformats.org/officeDocument/2006/relationships/image" Target="../media/image20.jpeg"/>
  <Relationship Id="rId5" Type="http://schemas.openxmlformats.org/officeDocument/2006/relationships/image" Target="../media/image21.png"/>
  <Relationship Id="rId6" Type="http://schemas.openxmlformats.org/officeDocument/2006/relationships/hyperlink" TargetMode="External" Target="https://shiftup.sharepoint.com/:x:/r/sites/bpf-ea-community/Documents%20partages/ENTREPRISE%20ARCHITECTURE/EA%20Works/00%20-%20Technology%20Roadmap%202025/03%20-%20EA%20Transversal%20workstreams/EATWK04%20-%20Architecture%20Governance/Working/ICT-SIBS%20Architecture%20Gates%20Criteria_List_V4.1.xlsx?d=w8c4caac0445c4e359d7fef3681f61497&amp;csf=1&amp;web=1&amp;e=pOJ4HS"/>
  <Relationship Id="rId7" Type="http://schemas.openxmlformats.org/officeDocument/2006/relationships/hyperlink" TargetMode="External" Target="https://artificialintelligenceact.eu/"/>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6.xml"/>
  <Relationship Id="rId3" Type="http://schemas.openxmlformats.org/officeDocument/2006/relationships/image" Target="../media/image22.png"/>
  <Relationship Id="rId4" Type="http://schemas.openxmlformats.org/officeDocument/2006/relationships/image" Target="../media/image23.png"/>
</Relationships>

</file>

<file path=ppt/slides/_rels/slide17.xml.rels><?xml version="1.0" encoding="UTF-8"?>

<Relationships xmlns="http://schemas.openxmlformats.org/package/2006/relationships">
  <Relationship Id="rId1" Type="http://schemas.openxmlformats.org/officeDocument/2006/relationships/tags" Target="../tags/tag10.xml"/>
  <Relationship Id="rId2" Type="http://schemas.openxmlformats.org/officeDocument/2006/relationships/slideLayout" Target="../slideLayouts/slideLayout3.xml"/>
  <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
  <Relationship Id="rId1" Type="http://schemas.openxmlformats.org/officeDocument/2006/relationships/tags" Target="../tags/tag11.xml"/>
  <Relationship Id="rId2" Type="http://schemas.openxmlformats.org/officeDocument/2006/relationships/slideLayout" Target="../slideLayouts/slideLayout3.xml"/>
  <Relationship Id="rId3" Type="http://schemas.openxmlformats.org/officeDocument/2006/relationships/notesSlide" Target="../notesSlides/notesSlide18.xml"/>
  <Relationship Id="rId4" Type="http://schemas.openxmlformats.org/officeDocument/2006/relationships/hyperlink" TargetMode="External" Target="https://meteor-it.inetpsa.com/Documentation/BUILD_Documentation/Deliverables/Engineering/Non-Functional_Requirements.html"/>
</Relationships>

</file>

<file path=ppt/slides/_rels/slide19.xml.rels><?xml version="1.0" encoding="UTF-8"?>

<Relationships xmlns="http://schemas.openxmlformats.org/package/2006/relationships">
  <Relationship Id="rId1" Type="http://schemas.openxmlformats.org/officeDocument/2006/relationships/tags" Target="../tags/tag12.xml"/>
  <Relationship Id="rId2" Type="http://schemas.openxmlformats.org/officeDocument/2006/relationships/slideLayout" Target="../slideLayouts/slideLayout3.xml"/>
  <Relationship Id="rId3" Type="http://schemas.openxmlformats.org/officeDocument/2006/relationships/notesSlide" Target="../notesSlides/notesSlide19.xml"/>
  <Relationship Id="rId4" Type="http://schemas.openxmlformats.org/officeDocument/2006/relationships/hyperlink" TargetMode="External" Target="https://docinfogroupe.stellantis.com/ead/doc/ref.20533_24_00011/v.dp/pj"/>
  <Relationship Id="rId5" Type="http://schemas.openxmlformats.org/officeDocument/2006/relationships/hyperlink" TargetMode="External" Target="https://shiftup.sharepoint.com/sites/bpf-ea-community/Documents%20partages/ENTREPRISE%20ARCHITECTURE/EA%20Works/00%20-%20Technology%20Roadmap%202025/03%20-%20EA%20Transversal%20workstreams/EATWK04%20-%20Architecture%20Governance/Working/SIBS_CCT_template-flow-mapping.xlsx?web=1"/>
  <Relationship Id="rId6" Type="http://schemas.openxmlformats.org/officeDocument/2006/relationships/image" Target="../media/image24.png"/>
  <Relationship Id="rId7" Type="http://schemas.openxmlformats.org/officeDocument/2006/relationships/image" Target="../media/image25.png"/>
</Relationships>

</file>

<file path=ppt/slides/_rels/slide20.xml.rels><?xml version="1.0" encoding="UTF-8"?>

<Relationships xmlns="http://schemas.openxmlformats.org/package/2006/relationships">
  <Relationship Id="rId1" Type="http://schemas.openxmlformats.org/officeDocument/2006/relationships/tags" Target="../tags/tag13.xml"/>
  <Relationship Id="rId2" Type="http://schemas.openxmlformats.org/officeDocument/2006/relationships/slideLayout" Target="../slideLayouts/slideLayout3.xml"/>
  <Relationship Id="rId3" Type="http://schemas.openxmlformats.org/officeDocument/2006/relationships/notesSlide" Target="../notesSlides/notesSlide20.xml"/>
  <Relationship Id="rId4" Type="http://schemas.openxmlformats.org/officeDocument/2006/relationships/hyperlink" TargetMode="External" Target="https://docinfogroupe.stellantis.com/ead/doc/ref.01278_24_00697/v.vc/fiche"/>
  <Relationship Id="rId5" Type="http://schemas.openxmlformats.org/officeDocument/2006/relationships/hyperlink" TargetMode="External" Target="https://docinfogroupe.stellantis.com/ead/doc/ref.01278_25_00103/v.vc/fiche"/>
  <Relationship Id="rId6" Type="http://schemas.openxmlformats.org/officeDocument/2006/relationships/hyperlink" TargetMode="External" Target="https://docinfogroupe.stellantis.com/ead/doc/ref.20373_24_06098/v.vc/fiche"/>
  <Relationship Id="rId7" Type="http://schemas.openxmlformats.org/officeDocument/2006/relationships/hyperlink" TargetMode="External" Target="http://docinfogroupe.inetpsa.com/ead/doc/ref.20368_22_06432/v.vc/fiche"/>
</Relationships>

</file>

<file path=ppt/slides/_rels/slide21.xml.rels><?xml version="1.0" encoding="UTF-8"?>

<Relationships xmlns="http://schemas.openxmlformats.org/package/2006/relationships">
  <Relationship Id="rId1" Type="http://schemas.openxmlformats.org/officeDocument/2006/relationships/tags" Target="../tags/tag14.xml"/>
  <Relationship Id="rId2" Type="http://schemas.openxmlformats.org/officeDocument/2006/relationships/slideLayout" Target="../slideLayouts/slideLayout3.xml"/>
  <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
  <Relationship Id="rId1" Type="http://schemas.openxmlformats.org/officeDocument/2006/relationships/tags" Target="../tags/tag15.xml"/>
  <Relationship Id="rId2" Type="http://schemas.openxmlformats.org/officeDocument/2006/relationships/slideLayout" Target="../slideLayouts/slideLayout3.xml"/>
  <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
  <Relationship Id="rId1" Type="http://schemas.openxmlformats.org/officeDocument/2006/relationships/tags" Target="../tags/tag16.xml"/>
  <Relationship Id="rId2" Type="http://schemas.openxmlformats.org/officeDocument/2006/relationships/slideLayout" Target="../slideLayouts/slideLayout3.xml"/>
  <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
  <Relationship Id="rId1" Type="http://schemas.openxmlformats.org/officeDocument/2006/relationships/tags" Target="../tags/tag17.xml"/>
  <Relationship Id="rId2" Type="http://schemas.openxmlformats.org/officeDocument/2006/relationships/slideLayout" Target="../slideLayouts/slideLayout3.xml"/>
  <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
  <Relationship Id="rId1" Type="http://schemas.openxmlformats.org/officeDocument/2006/relationships/tags" Target="../tags/tag18.xml"/>
  <Relationship Id="rId2" Type="http://schemas.openxmlformats.org/officeDocument/2006/relationships/slideLayout" Target="../slideLayouts/slideLayout3.xml"/>
  <Relationship Id="rId3" Type="http://schemas.openxmlformats.org/officeDocument/2006/relationships/notesSlide" Target="../notesSlides/notesSlide25.xml"/>
  <Relationship Id="rId4" Type="http://schemas.openxmlformats.org/officeDocument/2006/relationships/image" Target="../media/image26.svg"/>
</Relationships>

</file>

<file path=ppt/slides/_rels/slide26.xml.rels><?xml version="1.0" encoding="UTF-8"?>

<Relationships xmlns="http://schemas.openxmlformats.org/package/2006/relationships">
  <Relationship Id="rId1" Type="http://schemas.openxmlformats.org/officeDocument/2006/relationships/tags" Target="../tags/tag19.xml"/>
  <Relationship Id="rId2" Type="http://schemas.openxmlformats.org/officeDocument/2006/relationships/slideLayout" Target="../slideLayouts/slideLayout3.xml"/>
  <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
  <Relationship Id="rId1" Type="http://schemas.openxmlformats.org/officeDocument/2006/relationships/tags" Target="../tags/tag20.xml"/>
  <Relationship Id="rId2" Type="http://schemas.openxmlformats.org/officeDocument/2006/relationships/slideLayout" Target="../slideLayouts/slideLayout3.xml"/>
  <Relationship Id="rId3" Type="http://schemas.openxmlformats.org/officeDocument/2006/relationships/notesSlide" Target="../notesSlides/notesSlide27.xml"/>
  <Relationship Id="rId4" Type="http://schemas.openxmlformats.org/officeDocument/2006/relationships/image" Target="../media/image27.png"/>
  <Relationship Id="rId5" Type="http://schemas.openxmlformats.org/officeDocument/2006/relationships/image" Target="../media/image28.png"/>
  <Relationship Id="rId6" Type="http://schemas.openxmlformats.org/officeDocument/2006/relationships/image" Target="../media/image29.pn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28.xml"/>
  <Relationship Id="rId3" Type="http://schemas.openxmlformats.org/officeDocument/2006/relationships/hyperlink" TargetMode="External" Target="https://docinfogroupe.stellantis.com/ead/doc/ref.20373_21_06727"/>
  <Relationship Id="rId4" Type="http://schemas.openxmlformats.org/officeDocument/2006/relationships/image" Target="../media/image30.png"/>
</Relationships>

</file>

<file path=ppt/slides/_rels/slide29.xml.rels><?xml version="1.0" encoding="UTF-8"?>

<Relationships xmlns="http://schemas.openxmlformats.org/package/2006/relationships">
  <Relationship Id="rId1" Type="http://schemas.openxmlformats.org/officeDocument/2006/relationships/tags" Target="../tags/tag21.xml"/>
  <Relationship Id="rId2" Type="http://schemas.openxmlformats.org/officeDocument/2006/relationships/slideLayout" Target="../slideLayouts/slideLayout3.xml"/>
  <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
  <Relationship Id="rId1" Type="http://schemas.openxmlformats.org/officeDocument/2006/relationships/tags" Target="../tags/tag22.xml"/>
  <Relationship Id="rId2" Type="http://schemas.openxmlformats.org/officeDocument/2006/relationships/slideLayout" Target="../slideLayouts/slideLayout3.xml"/>
  <Relationship Id="rId3" Type="http://schemas.openxmlformats.org/officeDocument/2006/relationships/notesSlide" Target="../notesSlides/notesSlide30.xml"/>
  <Relationship Id="rId4" Type="http://schemas.openxmlformats.org/officeDocument/2006/relationships/image" Target="../media/image31.png"/>
</Relationships>

</file>

<file path=ppt/slides/_rels/slide31.xml.rels><?xml version="1.0" encoding="UTF-8"?>

<Relationships xmlns="http://schemas.openxmlformats.org/package/2006/relationships">
  <Relationship Id="rId1" Type="http://schemas.openxmlformats.org/officeDocument/2006/relationships/tags" Target="../tags/tag23.xml"/>
  <Relationship Id="rId2" Type="http://schemas.openxmlformats.org/officeDocument/2006/relationships/slideLayout" Target="../slideLayouts/slideLayout3.xml"/>
  <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
  <Relationship Id="rId1" Type="http://schemas.openxmlformats.org/officeDocument/2006/relationships/tags" Target="../tags/tag24.xml"/>
  <Relationship Id="rId2" Type="http://schemas.openxmlformats.org/officeDocument/2006/relationships/slideLayout" Target="../slideLayouts/slideLayout3.xml"/>
  <Relationship Id="rId3" Type="http://schemas.openxmlformats.org/officeDocument/2006/relationships/notesSlide" Target="../notesSlides/notesSlide33.xml"/>
  <Relationship Id="rId4" Type="http://schemas.openxmlformats.org/officeDocument/2006/relationships/hyperlink" TargetMode="External" Target="https://docinfogroupe.stellantis.com/ead/doc/ref.20533_24_00013/v.vc/pj"/>
  <Relationship Id="rId5" Type="http://schemas.openxmlformats.org/officeDocument/2006/relationships/hyperlink" TargetMode="External" Target="https://shiftup.sharepoint.com/:w:/s/NewMyFinanceDefinitiveEdition-1.NewMyfinanceCoreModel/EYOR4HGMXplLnDbajrgdujcBlnUlQZ2U4wuv-j13A5ZyHQ?e=8oBSaB"/>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3.xml"/>
  <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
  <Relationship Id="rId1" Type="http://schemas.openxmlformats.org/officeDocument/2006/relationships/tags" Target="../tags/tag25.xml"/>
  <Relationship Id="rId2" Type="http://schemas.openxmlformats.org/officeDocument/2006/relationships/slideLayout" Target="../slideLayouts/slideLayout3.xml"/>
  <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
  <Relationship Id="rId1" Type="http://schemas.openxmlformats.org/officeDocument/2006/relationships/tags" Target="../tags/tag26.xml"/>
  <Relationship Id="rId2" Type="http://schemas.openxmlformats.org/officeDocument/2006/relationships/slideLayout" Target="../slideLayouts/slideLayout3.xml"/>
  <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
  <Relationship Id="rId1" Type="http://schemas.openxmlformats.org/officeDocument/2006/relationships/tags" Target="../tags/tag27.xml"/>
  <Relationship Id="rId2" Type="http://schemas.openxmlformats.org/officeDocument/2006/relationships/slideLayout" Target="../slideLayouts/slideLayout3.xml"/>
  <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
  <Relationship Id="rId1" Type="http://schemas.openxmlformats.org/officeDocument/2006/relationships/tags" Target="../tags/tag28.xml"/>
  <Relationship Id="rId2" Type="http://schemas.openxmlformats.org/officeDocument/2006/relationships/slideLayout" Target="../slideLayouts/slideLayout3.xml"/>
  <Relationship Id="rId3" Type="http://schemas.openxmlformats.org/officeDocument/2006/relationships/notesSlide" Target="../notesSlides/notesSlide40.xml"/>
  <Relationship Id="rId4" Type="http://schemas.openxmlformats.org/officeDocument/2006/relationships/image" Target="../media/image32.png"/>
</Relationships>

</file>

<file path=ppt/slides/_rels/slide41.xml.rels><?xml version="1.0" encoding="UTF-8"?>

<Relationships xmlns="http://schemas.openxmlformats.org/package/2006/relationships">
  <Relationship Id="rId1" Type="http://schemas.openxmlformats.org/officeDocument/2006/relationships/tags" Target="../tags/tag29.xml"/>
  <Relationship Id="rId2" Type="http://schemas.openxmlformats.org/officeDocument/2006/relationships/slideLayout" Target="../slideLayouts/slideLayout3.xml"/>
  <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
  <Relationship Id="rId1" Type="http://schemas.openxmlformats.org/officeDocument/2006/relationships/tags" Target="../tags/tag30.xml"/>
  <Relationship Id="rId2" Type="http://schemas.openxmlformats.org/officeDocument/2006/relationships/slideLayout" Target="../slideLayouts/slideLayout3.xml"/>
  <Relationship Id="rId3" Type="http://schemas.openxmlformats.org/officeDocument/2006/relationships/notesSlide" Target="../notesSlides/notesSlide42.xml"/>
  <Relationship Id="rId4" Type="http://schemas.openxmlformats.org/officeDocument/2006/relationships/image" Target="../media/image33.png"/>
</Relationships>

</file>

<file path=ppt/slides/_rels/slide43.xml.rels><?xml version="1.0" encoding="UTF-8"?>

<Relationships xmlns="http://schemas.openxmlformats.org/package/2006/relationships">
  <Relationship Id="rId1" Type="http://schemas.openxmlformats.org/officeDocument/2006/relationships/tags" Target="../tags/tag31.xml"/>
  <Relationship Id="rId2" Type="http://schemas.openxmlformats.org/officeDocument/2006/relationships/slideLayout" Target="../slideLayouts/slideLayout3.xml"/>
  <Relationship Id="rId3" Type="http://schemas.openxmlformats.org/officeDocument/2006/relationships/notesSlide" Target="../notesSlides/notesSlide43.xml"/>
  <Relationship Id="rId4" Type="http://schemas.openxmlformats.org/officeDocument/2006/relationships/hyperlink" TargetMode="External" Target="https://docinfogroupe.stellantis.com/ead/doc/ref.20533_24_00012/v.dp/pj"/>
</Relationships>

</file>

<file path=ppt/slides/_rels/slide44.xml.rels><?xml version="1.0" encoding="UTF-8"?>

<Relationships xmlns="http://schemas.openxmlformats.org/package/2006/relationships">
  <Relationship Id="rId1" Type="http://schemas.openxmlformats.org/officeDocument/2006/relationships/tags" Target="../tags/tag32.xml"/>
  <Relationship Id="rId2" Type="http://schemas.openxmlformats.org/officeDocument/2006/relationships/slideLayout" Target="../slideLayouts/slideLayout3.xml"/>
  <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
  <Relationship Id="rId1" Type="http://schemas.openxmlformats.org/officeDocument/2006/relationships/tags" Target="../tags/tag33.xml"/>
  <Relationship Id="rId2" Type="http://schemas.openxmlformats.org/officeDocument/2006/relationships/slideLayout" Target="../slideLayouts/slideLayout3.xml"/>
  <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
  <Relationship Id="rId1" Type="http://schemas.openxmlformats.org/officeDocument/2006/relationships/tags" Target="../tags/tag34.xml"/>
  <Relationship Id="rId2" Type="http://schemas.openxmlformats.org/officeDocument/2006/relationships/slideLayout" Target="../slideLayouts/slideLayout3.xml"/>
  <Relationship Id="rId3" Type="http://schemas.openxmlformats.org/officeDocument/2006/relationships/notesSlide" Target="../notesSlides/notesSlide46.xml"/>
  <Relationship Id="rId4" Type="http://schemas.openxmlformats.org/officeDocument/2006/relationships/image" Target="../media/image34.sv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47.xml"/>
  <Relationship Id="rId3" Type="http://schemas.openxmlformats.org/officeDocument/2006/relationships/oleObject" Target="../embeddings/oleObject1.bin"/>
  <Relationship Id="rId4" Type="http://schemas.openxmlformats.org/officeDocument/2006/relationships/image" Target="../media/image35.emf"/>
  <Relationship Id="rId5" Type="http://schemas.openxmlformats.org/officeDocument/2006/relationships/image" Target="../media/image36.png"/>
</Relationships>

</file>

<file path=ppt/slides/_rels/slide48.xml.rels><?xml version="1.0" encoding="UTF-8"?>

<Relationships xmlns="http://schemas.openxmlformats.org/package/2006/relationships">
  <Relationship Id="rId1" Type="http://schemas.openxmlformats.org/officeDocument/2006/relationships/tags" Target="../tags/tag35.xml"/>
  <Relationship Id="rId2" Type="http://schemas.openxmlformats.org/officeDocument/2006/relationships/slideLayout" Target="../slideLayouts/slideLayout3.xml"/>
  <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49.xml"/>
  <Relationship Id="rId3" Type="http://schemas.openxmlformats.org/officeDocument/2006/relationships/hyperlink" TargetMode="External" Target="https://www.cloudping.co/grid"/>
  <Relationship Id="rId4" Type="http://schemas.openxmlformats.org/officeDocument/2006/relationships/image" Target="../media/image26.sv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50.xml"/>
  <Relationship Id="rId3" Type="http://schemas.openxmlformats.org/officeDocument/2006/relationships/image" Target="../media/image37.pn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53.xml"/>
  <Relationship Id="rId3" Type="http://schemas.openxmlformats.org/officeDocument/2006/relationships/image" Target="../media/image38.png"/>
  <Relationship Id="rId4" Type="http://schemas.openxmlformats.org/officeDocument/2006/relationships/image" Target="../media/image39.png"/>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54.xml"/>
  <Relationship Id="rId3" Type="http://schemas.openxmlformats.org/officeDocument/2006/relationships/image" Target="../media/image40.png"/>
  <Relationship Id="rId4" Type="http://schemas.openxmlformats.org/officeDocument/2006/relationships/hyperlink" TargetMode="External" Target="https://docinfogroupe.stellantis.com/ead/doc/ref.20373_24_06448/v.vc/pj"/>
  <Relationship Id="rId5" Type="http://schemas.openxmlformats.org/officeDocument/2006/relationships/hyperlink" TargetMode="External" Target="https://docinfogroupe.stellantis.com/ead/doc/ref.20373_24_06449/v.vc/pj"/>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55.xml"/>
  <Relationship Id="rId3" Type="http://schemas.openxmlformats.org/officeDocument/2006/relationships/hyperlink" TargetMode="External" Target="http://docinfogroupe.inetpsa.com/ead/doc/ref.20373_22_04503/v.vc/pj"/>
</Relationships>

</file>

<file path=ppt/slides/_rels/slide56.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56.xml"/>
  <Relationship Id="rId3" Type="http://schemas.openxmlformats.org/officeDocument/2006/relationships/hyperlink" TargetMode="External" Target="https://docinfogroupe.stellantis.com/ead/doc/ref.20373_22_05890/v.vc/fiche"/>
  <Relationship Id="rId4" Type="http://schemas.openxmlformats.org/officeDocument/2006/relationships/image" Target="../media/image41.png"/>
</Relationships>

</file>

<file path=ppt/slides/_rels/slide57.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57.xml"/>
  <Relationship Id="rId3" Type="http://schemas.openxmlformats.org/officeDocument/2006/relationships/hyperlink" TargetMode="External" Target="https://github.psa-cloud.com/tlk00/psa-dev-guidelines/blob/ap-region/docs/cloud/aws/tags.md"/>
  <Relationship Id="rId4" Type="http://schemas.openxmlformats.org/officeDocument/2006/relationships/hyperlink" TargetMode="External" Target="https://docinfogroupe.stellantis.com/ead/doc/ref.20373_22_05887/v.vc/fiche"/>
  <Relationship Id="rId5" Type="http://schemas.openxmlformats.org/officeDocument/2006/relationships/image" Target="../media/image26.svg"/>
</Relationships>

</file>

<file path=ppt/slides/_rels/slide58.xml.rels><?xml version="1.0" encoding="UTF-8"?>

<Relationships xmlns="http://schemas.openxmlformats.org/package/2006/relationships">
  <Relationship Id="rId1" Type="http://schemas.openxmlformats.org/officeDocument/2006/relationships/tags" Target="../tags/tag36.xml"/>
  <Relationship Id="rId2" Type="http://schemas.openxmlformats.org/officeDocument/2006/relationships/slideLayout" Target="../slideLayouts/slideLayout3.xml"/>
  <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
  <Relationship Id="rId1" Type="http://schemas.openxmlformats.org/officeDocument/2006/relationships/tags" Target="../tags/tag37.xml"/>
  <Relationship Id="rId2" Type="http://schemas.openxmlformats.org/officeDocument/2006/relationships/slideLayout" Target="../slideLayouts/slideLayout3.xml"/>
  <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
  <Relationship Id="rId1" Type="http://schemas.openxmlformats.org/officeDocument/2006/relationships/tags" Target="../tags/tag38.xml"/>
  <Relationship Id="rId2" Type="http://schemas.openxmlformats.org/officeDocument/2006/relationships/slideLayout" Target="../slideLayouts/slideLayout3.xml"/>
  <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
  <Relationship Id="rId1" Type="http://schemas.openxmlformats.org/officeDocument/2006/relationships/tags" Target="../tags/tag39.xml"/>
  <Relationship Id="rId2" Type="http://schemas.openxmlformats.org/officeDocument/2006/relationships/slideLayout" Target="../slideLayouts/slideLayout3.xml"/>
  <Relationship Id="rId3" Type="http://schemas.openxmlformats.org/officeDocument/2006/relationships/notesSlide" Target="../notesSlides/notesSlide61.xml"/>
  <Relationship Id="rId4" Type="http://schemas.openxmlformats.org/officeDocument/2006/relationships/image" Target="../media/image26.svg"/>
</Relationships>

</file>

<file path=ppt/slides/_rels/slide62.xml.rels><?xml version="1.0" encoding="UTF-8"?>

<Relationships xmlns="http://schemas.openxmlformats.org/package/2006/relationships">
  <Relationship Id="rId1" Type="http://schemas.openxmlformats.org/officeDocument/2006/relationships/tags" Target="../tags/tag40.xml"/>
  <Relationship Id="rId2" Type="http://schemas.openxmlformats.org/officeDocument/2006/relationships/slideLayout" Target="../slideLayouts/slideLayout3.xml"/>
  <Relationship Id="rId3" Type="http://schemas.openxmlformats.org/officeDocument/2006/relationships/notesSlide" Target="../notesSlides/notesSlide62.xml"/>
</Relationships>

</file>

<file path=ppt/slides/_rels/slide63.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63.xml"/>
  <Relationship Id="rId3" Type="http://schemas.openxmlformats.org/officeDocument/2006/relationships/oleObject" Target="../embeddings/oleObject2.bin"/>
  <Relationship Id="rId4" Type="http://schemas.openxmlformats.org/officeDocument/2006/relationships/image" Target="../media/image42.emf"/>
</Relationships>

</file>

<file path=ppt/slides/_rels/slide64.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64.xml"/>
  <Relationship Id="rId3" Type="http://schemas.openxmlformats.org/officeDocument/2006/relationships/image" Target="../media/image40.png"/>
  <Relationship Id="rId4" Type="http://schemas.openxmlformats.org/officeDocument/2006/relationships/hyperlink" TargetMode="External" Target="https://docinfogroupe.inetpsa.com/ead/doc/ref.20373_24_06449/v.vc/fiche"/>
  <Relationship Id="rId5" Type="http://schemas.openxmlformats.org/officeDocument/2006/relationships/hyperlink" TargetMode="External" Target="https://docinfogroupe.inetpsa.com/ead/doc/ref.20373_24_06448/v.vc/fiche"/>
  <Relationship Id="rId6" Type="http://schemas.openxmlformats.org/officeDocument/2006/relationships/hyperlink" TargetMode="External" Target="https://docinfogroupe.inetpsa.com/ead/doc/ref.20373_25_01242/v.vc/fiche"/>
  <Relationship Id="rId7" Type="http://schemas.openxmlformats.org/officeDocument/2006/relationships/hyperlink" TargetMode="External" Target="https://docinfogroupe.inetpsa.com/ead/doc/ref.20373_26_01890/v.vc/fiche"/>
</Relationships>

</file>

<file path=ppt/slides/_rels/slide65.xml.rels><?xml version="1.0" encoding="UTF-8"?>

<Relationships xmlns="http://schemas.openxmlformats.org/package/2006/relationships">
  <Relationship Id="rId1" Type="http://schemas.openxmlformats.org/officeDocument/2006/relationships/tags" Target="../tags/tag41.xml"/>
  <Relationship Id="rId2" Type="http://schemas.openxmlformats.org/officeDocument/2006/relationships/slideLayout" Target="../slideLayouts/slideLayout3.xml"/>
  <Relationship Id="rId3" Type="http://schemas.openxmlformats.org/officeDocument/2006/relationships/notesSlide" Target="../notesSlides/notesSlide65.xml"/>
</Relationships>

</file>

<file path=ppt/slides/_rels/slide66.xml.rels><?xml version="1.0" encoding="UTF-8"?>

<Relationships xmlns="http://schemas.openxmlformats.org/package/2006/relationships">
  <Relationship Id="rId1" Type="http://schemas.openxmlformats.org/officeDocument/2006/relationships/tags" Target="../tags/tag42.xml"/>
  <Relationship Id="rId2" Type="http://schemas.openxmlformats.org/officeDocument/2006/relationships/slideLayout" Target="../slideLayouts/slideLayout3.xml"/>
  <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
  <Relationship Id="rId1" Type="http://schemas.openxmlformats.org/officeDocument/2006/relationships/tags" Target="../tags/tag43.xml"/>
  <Relationship Id="rId2" Type="http://schemas.openxmlformats.org/officeDocument/2006/relationships/slideLayout" Target="../slideLayouts/slideLayout3.xml"/>
  <Relationship Id="rId3" Type="http://schemas.openxmlformats.org/officeDocument/2006/relationships/notesSlide" Target="../notesSlides/notesSlide67.xml"/>
  <Relationship Id="rId4" Type="http://schemas.openxmlformats.org/officeDocument/2006/relationships/image" Target="../media/image27.png"/>
  <Relationship Id="rId5" Type="http://schemas.openxmlformats.org/officeDocument/2006/relationships/image" Target="../media/image28.png"/>
  <Relationship Id="rId6" Type="http://schemas.openxmlformats.org/officeDocument/2006/relationships/image" Target="../media/image29.png"/>
</Relationships>

</file>

<file path=ppt/slides/_rels/slide68.xml.rels><?xml version="1.0" encoding="UTF-8"?>

<Relationships xmlns="http://schemas.openxmlformats.org/package/2006/relationships">
  <Relationship Id="rId1" Type="http://schemas.openxmlformats.org/officeDocument/2006/relationships/tags" Target="../tags/tag44.xml"/>
  <Relationship Id="rId2" Type="http://schemas.openxmlformats.org/officeDocument/2006/relationships/slideLayout" Target="../slideLayouts/slideLayout3.xml"/>
  <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
  <Relationship Id="rId1" Type="http://schemas.openxmlformats.org/officeDocument/2006/relationships/tags" Target="../tags/tag45.xml"/>
  <Relationship Id="rId2" Type="http://schemas.openxmlformats.org/officeDocument/2006/relationships/slideLayout" Target="../slideLayouts/slideLayout3.xml"/>
  <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
  <Relationship Id="rId1" Type="http://schemas.openxmlformats.org/officeDocument/2006/relationships/tags" Target="../tags/tag46.xml"/>
  <Relationship Id="rId2" Type="http://schemas.openxmlformats.org/officeDocument/2006/relationships/slideLayout" Target="../slideLayouts/slideLayout3.xml"/>
  <Relationship Id="rId3" Type="http://schemas.openxmlformats.org/officeDocument/2006/relationships/notesSlide" Target="../notesSlides/notesSlide70.xml"/>
  <Relationship Id="rId4" Type="http://schemas.openxmlformats.org/officeDocument/2006/relationships/slide" Target="slide72.xml"/>
</Relationships>

</file>

<file path=ppt/slides/_rels/slide71.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72.xml.rels><?xml version="1.0" encoding="UTF-8"?>

<Relationships xmlns="http://schemas.openxmlformats.org/package/2006/relationships">
  <Relationship Id="rId1" Type="http://schemas.openxmlformats.org/officeDocument/2006/relationships/tags" Target="../tags/tag47.xml"/>
  <Relationship Id="rId2" Type="http://schemas.openxmlformats.org/officeDocument/2006/relationships/slideLayout" Target="../slideLayouts/slideLayout3.xml"/>
  <Relationship Id="rId3" Type="http://schemas.openxmlformats.org/officeDocument/2006/relationships/notesSlide" Target="../notesSlides/notesSlide71.xml"/>
  <Relationship Id="rId4" Type="http://schemas.openxmlformats.org/officeDocument/2006/relationships/hyperlink" TargetMode="External" Target="mailto:cloudadoptionmteam@stellantis.com"/>
</Relationships>

</file>

<file path=ppt/slides/_rels/slide73.xml.rels><?xml version="1.0" encoding="UTF-8"?>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72.xml"/>
  <Relationship Id="rId3" Type="http://schemas.openxmlformats.org/officeDocument/2006/relationships/hyperlink" TargetMode="External" Target="https://shiftup.sharepoint.com/sites/bpf-ea-community/Documents%20partages/ENTREPRISE%20ARCHITECTURE/EA%20Works/00%20-%20Technology%20Roadmap%202025/03%20-%20EA%20Transversal%20workstreams/EATWK04%20-%20Architecture%20Governance/Working/SIBS_CCT_template-flow-mapping.xlsx?web=1"/>
  <Relationship Id="rId4" Type="http://schemas.openxmlformats.org/officeDocument/2006/relationships/image" Target="../media/image24.png"/>
  <Relationship Id="rId5" Type="http://schemas.openxmlformats.org/officeDocument/2006/relationships/image" Target="../media/image43.png"/>
</Relationships>

</file>

<file path=ppt/slides/_rels/slide74.xml.rels><?xml version="1.0" encoding="UTF-8"?>

<Relationships xmlns="http://schemas.openxmlformats.org/package/2006/relationships">
  <Relationship Id="rId1" Type="http://schemas.openxmlformats.org/officeDocument/2006/relationships/tags" Target="../tags/tag48.xml"/>
  <Relationship Id="rId10" Type="http://schemas.openxmlformats.org/officeDocument/2006/relationships/image" Target="../media/image50.emf"/>
  <Relationship Id="rId2" Type="http://schemas.openxmlformats.org/officeDocument/2006/relationships/slideLayout" Target="../slideLayouts/slideLayout3.xml"/>
  <Relationship Id="rId3" Type="http://schemas.openxmlformats.org/officeDocument/2006/relationships/notesSlide" Target="../notesSlides/notesSlide73.xml"/>
  <Relationship Id="rId4" Type="http://schemas.openxmlformats.org/officeDocument/2006/relationships/image" Target="../media/image44.emf"/>
  <Relationship Id="rId5" Type="http://schemas.openxmlformats.org/officeDocument/2006/relationships/image" Target="../media/image45.emf"/>
  <Relationship Id="rId6" Type="http://schemas.openxmlformats.org/officeDocument/2006/relationships/image" Target="../media/image46.emf"/>
  <Relationship Id="rId7" Type="http://schemas.openxmlformats.org/officeDocument/2006/relationships/image" Target="../media/image47.emf"/>
  <Relationship Id="rId8" Type="http://schemas.openxmlformats.org/officeDocument/2006/relationships/image" Target="../media/image48.emf"/>
  <Relationship Id="rId9" Type="http://schemas.openxmlformats.org/officeDocument/2006/relationships/image" Target="../media/image49.emf"/>
</Relationships>

</file>

<file path=ppt/slides/_rels/slide75.xml.rels><?xml version="1.0" encoding="UTF-8"?>

<Relationships xmlns="http://schemas.openxmlformats.org/package/2006/relationships">
  <Relationship Id="rId1" Type="http://schemas.openxmlformats.org/officeDocument/2006/relationships/tags" Target="../tags/tag49.xml"/>
  <Relationship Id="rId2" Type="http://schemas.openxmlformats.org/officeDocument/2006/relationships/slideLayout" Target="../slideLayouts/slideLayout13.xml"/>
  <Relationship Id="rId3" Type="http://schemas.openxmlformats.org/officeDocument/2006/relationships/notesSlide" Target="../notesSlides/notesSlide74.xml"/>
  <Relationship Id="rId4" Type="http://schemas.openxmlformats.org/officeDocument/2006/relationships/image" Target="../media/image51.png"/>
  <Relationship Id="rId5" Type="http://schemas.openxmlformats.org/officeDocument/2006/relationships/image" Target="../media/image5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4"/>
          <p:cNvSpPr txBox="1">
            <a:spLocks noGrp="1"/>
          </p:cNvSpPr>
          <p:nvPr>
            <p:ph type="title"/>
          </p:nvPr>
        </p:nvSpPr>
        <p:spPr>
          <a:xfrm>
            <a:off x="731520" y="1013036"/>
            <a:ext cx="7829550" cy="2773363"/>
          </a:xfrm>
          <a:prstGeom prst="rect">
            <a:avLst/>
          </a:prstGeom>
          <a:noFill/>
          <a:ln>
            <a:noFill/>
          </a:ln>
        </p:spPr>
        <p:txBody>
          <a:bodyPr spcFirstLastPara="1" wrap="square" lIns="68575" tIns="34275" rIns="68575" bIns="34275" anchor="t" anchorCtr="0">
            <a:noAutofit/>
          </a:bodyPr>
          <a:lstStyle/>
          <a:p>
            <a:pPr marL="0" lvl="0" indent="0" algn="ctr" rtl="0">
              <a:spcBef>
                <a:spcPts val="0"/>
              </a:spcBef>
              <a:spcAft>
                <a:spcPts val="0"/>
              </a:spcAft>
              <a:buNone/>
            </a:pPr>
            <a:br>
              <a:rPr lang="en-GB"/>
            </a:br>
            <a:r>
              <a:rPr lang="en-GB"/>
              <a:t>Architecture Gates Dossier</a:t>
            </a:r>
            <a:br>
              <a:rPr lang="en-GB"/>
            </a:br>
            <a:r>
              <a:rPr lang="en-GB" sz="2800"/>
              <a:t>Presentation &amp; Approval</a:t>
            </a:r>
            <a:br>
              <a:rPr lang="en-GB"/>
            </a:br>
            <a:br>
              <a:rPr lang="en-GB"/>
            </a:br>
            <a:r>
              <a:rPr lang="en-GB"/>
              <a:t>&lt;&lt;Name of the project&gt;&gt;</a:t>
            </a:r>
            <a:endParaRPr lang="en-GB" sz="3500">
              <a:latin typeface="Encode Sans Expanded Light"/>
              <a:ea typeface="Encode Sans Expanded Light"/>
              <a:cs typeface="Encode Sans Expanded Light"/>
              <a:sym typeface="Encode Sans Expande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GB" sz="1200" b="1" i="0" u="none" strike="noStrike" kern="1200" cap="all" spc="0" normalizeH="0" baseline="0" noProof="0">
                <a:ln>
                  <a:noFill/>
                </a:ln>
                <a:solidFill>
                  <a:prstClr val="white"/>
                </a:solidFill>
                <a:effectLst/>
                <a:uLnTx/>
                <a:uFillTx/>
                <a:latin typeface="Encode Sans"/>
                <a:ea typeface="+mj-ea"/>
                <a:cs typeface="+mj-cs"/>
              </a:rPr>
              <a:t>Revisions index of the template</a:t>
            </a:r>
            <a:endParaRPr>
              <a:latin typeface="Encode Sans" pitchFamily="2" charset="0"/>
            </a:endParaRPr>
          </a:p>
        </p:txBody>
      </p:sp>
      <p:graphicFrame>
        <p:nvGraphicFramePr>
          <p:cNvPr id="4" name="Tableau 4">
            <a:extLst>
              <a:ext uri="{FF2B5EF4-FFF2-40B4-BE49-F238E27FC236}">
                <a16:creationId xmlns:a16="http://schemas.microsoft.com/office/drawing/2014/main" id="{E9DE4FF2-F959-40BA-B644-28F5AE2F9C7A}"/>
              </a:ext>
            </a:extLst>
          </p:cNvPr>
          <p:cNvGraphicFramePr>
            <a:graphicFrameLocks noGrp="1"/>
          </p:cNvGraphicFramePr>
          <p:nvPr>
            <p:extLst>
              <p:ext uri="{D42A27DB-BD31-4B8C-83A1-F6EECF244321}">
                <p14:modId xmlns:p14="http://schemas.microsoft.com/office/powerpoint/2010/main" val="3843803226"/>
              </p:ext>
            </p:extLst>
          </p:nvPr>
        </p:nvGraphicFramePr>
        <p:xfrm>
          <a:off x="408347" y="935098"/>
          <a:ext cx="8317642" cy="2674222"/>
        </p:xfrm>
        <a:graphic>
          <a:graphicData uri="http://schemas.openxmlformats.org/drawingml/2006/table">
            <a:tbl>
              <a:tblPr firstRow="1" bandRow="1">
                <a:tableStyleId>{5C22544A-7EE6-4342-B048-85BDC9FD1C3A}</a:tableStyleId>
              </a:tblPr>
              <a:tblGrid>
                <a:gridCol w="723767">
                  <a:extLst>
                    <a:ext uri="{9D8B030D-6E8A-4147-A177-3AD203B41FA5}">
                      <a16:colId xmlns:a16="http://schemas.microsoft.com/office/drawing/2014/main" val="20000"/>
                    </a:ext>
                  </a:extLst>
                </a:gridCol>
                <a:gridCol w="783772">
                  <a:extLst>
                    <a:ext uri="{9D8B030D-6E8A-4147-A177-3AD203B41FA5}">
                      <a16:colId xmlns:a16="http://schemas.microsoft.com/office/drawing/2014/main" val="20001"/>
                    </a:ext>
                  </a:extLst>
                </a:gridCol>
                <a:gridCol w="5268685">
                  <a:extLst>
                    <a:ext uri="{9D8B030D-6E8A-4147-A177-3AD203B41FA5}">
                      <a16:colId xmlns:a16="http://schemas.microsoft.com/office/drawing/2014/main" val="20002"/>
                    </a:ext>
                  </a:extLst>
                </a:gridCol>
                <a:gridCol w="1541418">
                  <a:extLst>
                    <a:ext uri="{9D8B030D-6E8A-4147-A177-3AD203B41FA5}">
                      <a16:colId xmlns:a16="http://schemas.microsoft.com/office/drawing/2014/main" val="332799031"/>
                    </a:ext>
                  </a:extLst>
                </a:gridCol>
              </a:tblGrid>
              <a:tr h="30651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Release</a:t>
                      </a:r>
                      <a:endParaRPr lang="en-US" sz="1200" b="1" kern="1200" noProof="0">
                        <a:solidFill>
                          <a:schemeClr val="lt1"/>
                        </a:solidFill>
                        <a:latin typeface="Encode Sans"/>
                        <a:ea typeface="+mn-ea"/>
                        <a:cs typeface="Arial" panose="020B0604020202020204" pitchFamily="34" charset="0"/>
                      </a:endParaRPr>
                    </a:p>
                  </a:txBody>
                  <a:tcPr marT="34259" marB="3425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Date</a:t>
                      </a:r>
                      <a:endParaRPr lang="en-US" sz="1200" b="1" kern="1200" noProof="0">
                        <a:solidFill>
                          <a:schemeClr val="lt1"/>
                        </a:solidFill>
                        <a:latin typeface="Encode Sans"/>
                        <a:ea typeface="+mn-ea"/>
                        <a:cs typeface="Arial" panose="020B0604020202020204" pitchFamily="34" charset="0"/>
                      </a:endParaRPr>
                    </a:p>
                  </a:txBody>
                  <a:tcPr marT="34259" marB="3425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Update details</a:t>
                      </a:r>
                      <a:endParaRPr lang="en-US" sz="1200" b="1" kern="1200" noProof="0">
                        <a:solidFill>
                          <a:schemeClr val="lt1"/>
                        </a:solidFill>
                        <a:latin typeface="Encode Sans"/>
                        <a:ea typeface="+mn-ea"/>
                        <a:cs typeface="Arial" panose="020B0604020202020204" pitchFamily="34" charset="0"/>
                      </a:endParaRPr>
                    </a:p>
                  </a:txBody>
                  <a:tcPr marT="34259" marB="3425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noProof="0">
                          <a:solidFill>
                            <a:schemeClr val="lt1"/>
                          </a:solidFill>
                          <a:latin typeface="Encode Sans"/>
                          <a:ea typeface="+mn-ea"/>
                          <a:cs typeface="Arial"/>
                        </a:rPr>
                        <a:t>Author(s)</a:t>
                      </a:r>
                    </a:p>
                  </a:txBody>
                  <a:tcPr marT="34259" marB="34259" anchor="ctr"/>
                </a:tc>
                <a:extLst>
                  <a:ext uri="{0D108BD9-81ED-4DB2-BD59-A6C34878D82A}">
                    <a16:rowId xmlns:a16="http://schemas.microsoft.com/office/drawing/2014/main" val="10000"/>
                  </a:ext>
                </a:extLst>
              </a:tr>
              <a:tr h="373324">
                <a:tc>
                  <a:txBody>
                    <a:bodyPr/>
                    <a:lstStyle/>
                    <a:p>
                      <a:pPr algn="ctr"/>
                      <a:r>
                        <a:rPr lang="en-US" sz="1000" noProof="0">
                          <a:solidFill>
                            <a:schemeClr val="tx1"/>
                          </a:solidFill>
                          <a:latin typeface="Encode Sans"/>
                        </a:rPr>
                        <a:t>1.0</a:t>
                      </a:r>
                    </a:p>
                  </a:txBody>
                  <a:tcPr marT="34262" marB="34262" anchor="ctr" horzOverflow="overflow"/>
                </a:tc>
                <a:tc>
                  <a:txBody>
                    <a:bodyPr/>
                    <a:lstStyle/>
                    <a:p>
                      <a:pPr algn="ctr"/>
                      <a:r>
                        <a:rPr lang="en-US" sz="1000" kern="1200" noProof="0">
                          <a:solidFill>
                            <a:schemeClr val="tx1"/>
                          </a:solidFill>
                          <a:latin typeface="Encode Sans"/>
                          <a:ea typeface="+mn-ea"/>
                          <a:cs typeface="+mn-cs"/>
                        </a:rPr>
                        <a:t>01/2025</a:t>
                      </a:r>
                    </a:p>
                  </a:txBody>
                  <a:tcPr marT="34262" marB="34262" anchor="ctr" horzOverflow="overflow"/>
                </a:tc>
                <a:tc>
                  <a:txBody>
                    <a:bodyPr/>
                    <a:lstStyle/>
                    <a:p>
                      <a:pPr algn="ctr"/>
                      <a:r>
                        <a:rPr lang="en-US" sz="1000" kern="1200" noProof="0">
                          <a:solidFill>
                            <a:schemeClr val="tx1"/>
                          </a:solidFill>
                          <a:latin typeface="Encode Sans"/>
                          <a:ea typeface="+mn-ea"/>
                          <a:cs typeface="+mn-cs"/>
                        </a:rPr>
                        <a:t>Merge of ICT template with SIBS M2C templates and review with architects</a:t>
                      </a:r>
                    </a:p>
                  </a:txBody>
                  <a:tcPr marT="34262" marB="34262" anchor="ctr" horzOverflow="overflow"/>
                </a:tc>
                <a:tc>
                  <a:txBody>
                    <a:bodyPr/>
                    <a:lstStyle/>
                    <a:p>
                      <a:pPr algn="ctr"/>
                      <a:r>
                        <a:rPr lang="en-US" sz="1000" kern="1200" noProof="0">
                          <a:solidFill>
                            <a:schemeClr val="tx1"/>
                          </a:solidFill>
                          <a:latin typeface="Encode Sans"/>
                          <a:ea typeface="+mn-ea"/>
                          <a:cs typeface="+mn-cs"/>
                        </a:rPr>
                        <a:t>V. </a:t>
                      </a:r>
                      <a:r>
                        <a:rPr lang="en-US" sz="1000" kern="1200" noProof="0" err="1">
                          <a:solidFill>
                            <a:schemeClr val="tx1"/>
                          </a:solidFill>
                          <a:latin typeface="Encode Sans"/>
                          <a:ea typeface="+mn-ea"/>
                          <a:cs typeface="+mn-cs"/>
                        </a:rPr>
                        <a:t>Cassotti</a:t>
                      </a:r>
                      <a:r>
                        <a:rPr lang="en-US" sz="1000" kern="1200" noProof="0">
                          <a:solidFill>
                            <a:schemeClr val="tx1"/>
                          </a:solidFill>
                          <a:latin typeface="Encode Sans"/>
                          <a:ea typeface="+mn-ea"/>
                          <a:cs typeface="+mn-cs"/>
                        </a:rPr>
                        <a:t> / E. Lootens</a:t>
                      </a:r>
                    </a:p>
                  </a:txBody>
                  <a:tcPr marT="34262" marB="34262" anchor="ctr" horzOverflow="overflow"/>
                </a:tc>
                <a:extLst>
                  <a:ext uri="{0D108BD9-81ED-4DB2-BD59-A6C34878D82A}">
                    <a16:rowId xmlns:a16="http://schemas.microsoft.com/office/drawing/2014/main" val="10001"/>
                  </a:ext>
                </a:extLst>
              </a:tr>
              <a:tr h="373324">
                <a:tc>
                  <a:txBody>
                    <a:bodyPr/>
                    <a:lstStyle/>
                    <a:p>
                      <a:pPr algn="ctr"/>
                      <a:r>
                        <a:rPr lang="en-US" sz="1000" kern="1200" noProof="0">
                          <a:solidFill>
                            <a:schemeClr val="tx1"/>
                          </a:solidFill>
                          <a:latin typeface="Encode Sans"/>
                          <a:ea typeface="+mn-ea"/>
                          <a:cs typeface="+mn-cs"/>
                        </a:rPr>
                        <a:t>2.0</a:t>
                      </a:r>
                    </a:p>
                  </a:txBody>
                  <a:tcPr marT="34262" marB="34262" anchor="ctr" horzOverflow="overflow"/>
                </a:tc>
                <a:tc>
                  <a:txBody>
                    <a:bodyPr/>
                    <a:lstStyle/>
                    <a:p>
                      <a:pPr algn="ctr"/>
                      <a:r>
                        <a:rPr lang="en-US" sz="1000" kern="1200" noProof="0">
                          <a:solidFill>
                            <a:schemeClr val="tx1"/>
                          </a:solidFill>
                          <a:latin typeface="Encode Sans"/>
                          <a:ea typeface="+mn-ea"/>
                          <a:cs typeface="+mn-cs"/>
                        </a:rPr>
                        <a:t>04/2025</a:t>
                      </a:r>
                    </a:p>
                  </a:txBody>
                  <a:tcPr marT="34262" marB="34262" anchor="ctr" horzOverflow="overflow"/>
                </a:tc>
                <a:tc>
                  <a:txBody>
                    <a:bodyPr/>
                    <a:lstStyle/>
                    <a:p>
                      <a:pPr algn="ctr"/>
                      <a:r>
                        <a:rPr lang="en-US" sz="1000" kern="1200" noProof="0">
                          <a:solidFill>
                            <a:schemeClr val="tx1"/>
                          </a:solidFill>
                          <a:latin typeface="Encode Sans"/>
                          <a:ea typeface="+mn-ea"/>
                          <a:cs typeface="+mn-cs"/>
                        </a:rPr>
                        <a:t>SaaS updates</a:t>
                      </a:r>
                    </a:p>
                  </a:txBody>
                  <a:tcPr marT="34262" marB="34262" anchor="ctr" horzOverflow="overflow"/>
                </a:tc>
                <a:tc>
                  <a:txBody>
                    <a:bodyPr/>
                    <a:lstStyle/>
                    <a:p>
                      <a:pPr algn="ctr"/>
                      <a:r>
                        <a:rPr lang="en-US" sz="1000" kern="1200" noProof="0">
                          <a:solidFill>
                            <a:schemeClr val="tx1"/>
                          </a:solidFill>
                          <a:latin typeface="Encode Sans" pitchFamily="2" charset="0"/>
                          <a:ea typeface="+mn-ea"/>
                          <a:cs typeface="+mn-cs"/>
                        </a:rPr>
                        <a:t>Nathalie C</a:t>
                      </a:r>
                    </a:p>
                  </a:txBody>
                  <a:tcPr marT="34262" marB="34262" anchor="ctr" horzOverflow="overflow"/>
                </a:tc>
                <a:extLst>
                  <a:ext uri="{0D108BD9-81ED-4DB2-BD59-A6C34878D82A}">
                    <a16:rowId xmlns:a16="http://schemas.microsoft.com/office/drawing/2014/main" val="10002"/>
                  </a:ext>
                </a:extLst>
              </a:tr>
              <a:tr h="373324">
                <a:tc>
                  <a:txBody>
                    <a:bodyPr/>
                    <a:lstStyle/>
                    <a:p>
                      <a:pPr algn="ctr"/>
                      <a:r>
                        <a:rPr lang="en-US" sz="1000" kern="1200" noProof="0">
                          <a:solidFill>
                            <a:schemeClr val="tx1"/>
                          </a:solidFill>
                          <a:latin typeface="Encode Sans"/>
                          <a:ea typeface="+mn-ea"/>
                          <a:cs typeface="+mn-cs"/>
                        </a:rPr>
                        <a:t>3.0</a:t>
                      </a:r>
                    </a:p>
                  </a:txBody>
                  <a:tcPr marT="34262" marB="34262" anchor="ctr" horzOverflow="overflow"/>
                </a:tc>
                <a:tc>
                  <a:txBody>
                    <a:bodyPr/>
                    <a:lstStyle/>
                    <a:p>
                      <a:pPr algn="ctr"/>
                      <a:r>
                        <a:rPr lang="en-US" sz="1000" kern="1200" noProof="0">
                          <a:solidFill>
                            <a:schemeClr val="tx1"/>
                          </a:solidFill>
                          <a:latin typeface="Encode Sans"/>
                          <a:ea typeface="+mn-ea"/>
                          <a:cs typeface="+mn-cs"/>
                        </a:rPr>
                        <a:t>06/2025</a:t>
                      </a:r>
                    </a:p>
                  </a:txBody>
                  <a:tcPr marT="34262" marB="34262" anchor="ctr" horzOverflow="overflow"/>
                </a:tc>
                <a:tc>
                  <a:txBody>
                    <a:bodyPr/>
                    <a:lstStyle/>
                    <a:p>
                      <a:pPr algn="ctr"/>
                      <a:r>
                        <a:rPr lang="en-US" sz="1000" kern="1200" noProof="0">
                          <a:solidFill>
                            <a:schemeClr val="tx1"/>
                          </a:solidFill>
                          <a:latin typeface="Encode Sans"/>
                          <a:ea typeface="+mn-ea"/>
                          <a:cs typeface="+mn-cs"/>
                        </a:rPr>
                        <a:t>Architecture Gates Merge of ICT with SIBS</a:t>
                      </a:r>
                    </a:p>
                  </a:txBody>
                  <a:tcPr marT="34262" marB="34262" anchor="ctr" horzOverflow="overflow"/>
                </a:tc>
                <a:tc>
                  <a:txBody>
                    <a:bodyPr/>
                    <a:lstStyle/>
                    <a:p>
                      <a:pPr algn="ctr"/>
                      <a:r>
                        <a:rPr lang="en-US" sz="1000" kern="1200" noProof="0">
                          <a:solidFill>
                            <a:schemeClr val="tx1"/>
                          </a:solidFill>
                          <a:latin typeface="Encode Sans"/>
                          <a:ea typeface="+mn-ea"/>
                          <a:cs typeface="+mn-cs"/>
                        </a:rPr>
                        <a:t>Enterprise Design Authority</a:t>
                      </a:r>
                    </a:p>
                  </a:txBody>
                  <a:tcPr marT="34262" marB="34262" anchor="ctr" horzOverflow="overflow"/>
                </a:tc>
                <a:extLst>
                  <a:ext uri="{0D108BD9-81ED-4DB2-BD59-A6C34878D82A}">
                    <a16:rowId xmlns:a16="http://schemas.microsoft.com/office/drawing/2014/main" val="10003"/>
                  </a:ext>
                </a:extLst>
              </a:tr>
              <a:tr h="373324">
                <a:tc>
                  <a:txBody>
                    <a:bodyPr/>
                    <a:lstStyle/>
                    <a:p>
                      <a:pPr marL="0" algn="ctr" rtl="0" eaLnBrk="1" latinLnBrk="0" hangingPunct="1"/>
                      <a:r>
                        <a:rPr lang="en-US" sz="1000" kern="1200" noProof="0" dirty="0">
                          <a:solidFill>
                            <a:schemeClr val="tx1"/>
                          </a:solidFill>
                          <a:latin typeface="Encode Sans" pitchFamily="2" charset="0"/>
                          <a:ea typeface="+mn-ea"/>
                          <a:cs typeface="+mn-cs"/>
                        </a:rPr>
                        <a:t>4.0</a:t>
                      </a:r>
                    </a:p>
                  </a:txBody>
                  <a:tcPr marT="34262" marB="34262" anchor="ctr" horzOverflow="overflow"/>
                </a:tc>
                <a:tc>
                  <a:txBody>
                    <a:bodyPr/>
                    <a:lstStyle/>
                    <a:p>
                      <a:pPr marL="0" algn="ctr" rtl="0" eaLnBrk="1" latinLnBrk="0" hangingPunct="1"/>
                      <a:r>
                        <a:rPr lang="en-US" sz="1000" kern="1200" noProof="0" dirty="0">
                          <a:solidFill>
                            <a:schemeClr val="tx1"/>
                          </a:solidFill>
                          <a:latin typeface="Encode Sans" pitchFamily="2" charset="0"/>
                          <a:ea typeface="+mn-ea"/>
                          <a:cs typeface="+mn-cs"/>
                        </a:rPr>
                        <a:t>08/2026</a:t>
                      </a:r>
                    </a:p>
                  </a:txBody>
                  <a:tcPr marT="34262" marB="34262" anchor="ctr" horzOverflow="overflow"/>
                </a:tc>
                <a:tc>
                  <a:txBody>
                    <a:bodyPr/>
                    <a:lstStyle/>
                    <a:p>
                      <a:pPr marL="0" algn="ctr" rtl="0" eaLnBrk="1" latinLnBrk="0" hangingPunct="1"/>
                      <a:r>
                        <a:rPr lang="en-US" sz="1000" kern="1200" noProof="0" dirty="0">
                          <a:solidFill>
                            <a:schemeClr val="tx1"/>
                          </a:solidFill>
                          <a:latin typeface="Encode Sans" pitchFamily="2" charset="0"/>
                          <a:ea typeface="+mn-ea"/>
                          <a:cs typeface="+mn-cs"/>
                        </a:rPr>
                        <a:t>Exit Plan slides + Link correction for SIBS Criteria + New slide for Enterprise/Business Data Model</a:t>
                      </a:r>
                    </a:p>
                  </a:txBody>
                  <a:tcPr marT="34262" marB="34262" anchor="ctr" horzOverflow="overflow"/>
                </a:tc>
                <a:tc>
                  <a:txBody>
                    <a:bodyPr/>
                    <a:lstStyle/>
                    <a:p>
                      <a:pPr marL="0" algn="ctr" rtl="0" eaLnBrk="1" latinLnBrk="0" hangingPunct="1"/>
                      <a:r>
                        <a:rPr lang="en-US" sz="1000" kern="1200" noProof="0" dirty="0">
                          <a:solidFill>
                            <a:schemeClr val="tx1"/>
                          </a:solidFill>
                          <a:latin typeface="Encode Sans" pitchFamily="2" charset="0"/>
                          <a:ea typeface="+mn-ea"/>
                          <a:cs typeface="+mn-cs"/>
                        </a:rPr>
                        <a:t>Gunjan/Aymeric/Prab</a:t>
                      </a:r>
                    </a:p>
                  </a:txBody>
                  <a:tcPr marT="34262" marB="34262" anchor="ctr" horzOverflow="overflow"/>
                </a:tc>
                <a:extLst>
                  <a:ext uri="{0D108BD9-81ED-4DB2-BD59-A6C34878D82A}">
                    <a16:rowId xmlns:a16="http://schemas.microsoft.com/office/drawing/2014/main" val="10004"/>
                  </a:ext>
                </a:extLst>
              </a:tr>
              <a:tr h="373324">
                <a:tc>
                  <a:txBody>
                    <a:bodyPr/>
                    <a:lstStyle/>
                    <a:p>
                      <a:pPr marL="0" algn="ctr" rtl="0" eaLnBrk="1" latinLnBrk="0" hangingPunct="1"/>
                      <a:r>
                        <a:rPr lang="en-US" sz="1000" kern="1200" noProof="0" dirty="0">
                          <a:solidFill>
                            <a:schemeClr val="tx1"/>
                          </a:solidFill>
                          <a:latin typeface="Encode Sans" pitchFamily="2" charset="0"/>
                          <a:ea typeface="+mn-ea"/>
                          <a:cs typeface="+mn-cs"/>
                        </a:rPr>
                        <a:t>5.0</a:t>
                      </a:r>
                    </a:p>
                  </a:txBody>
                  <a:tcPr marT="34262" marB="34262" anchor="ctr" horzOverflow="overflow"/>
                </a:tc>
                <a:tc>
                  <a:txBody>
                    <a:bodyPr/>
                    <a:lstStyle/>
                    <a:p>
                      <a:pPr marL="0" algn="ctr" rtl="0" eaLnBrk="1" latinLnBrk="0" hangingPunct="1"/>
                      <a:r>
                        <a:rPr lang="en-US" sz="1000" kern="1200" noProof="0" dirty="0">
                          <a:solidFill>
                            <a:schemeClr val="tx1"/>
                          </a:solidFill>
                          <a:latin typeface="Encode Sans" pitchFamily="2" charset="0"/>
                          <a:ea typeface="+mn-ea"/>
                          <a:cs typeface="+mn-cs"/>
                        </a:rPr>
                        <a:t>09/2026</a:t>
                      </a:r>
                    </a:p>
                  </a:txBody>
                  <a:tcPr marT="34262" marB="34262" anchor="ctr" horzOverflow="overflow"/>
                </a:tc>
                <a:tc>
                  <a:txBody>
                    <a:bodyPr/>
                    <a:lstStyle/>
                    <a:p>
                      <a:pPr marL="0" algn="ctr" rtl="0" eaLnBrk="1" latinLnBrk="0" hangingPunct="1"/>
                      <a:r>
                        <a:rPr lang="en-US" sz="1000" kern="1200" noProof="0" dirty="0">
                          <a:solidFill>
                            <a:schemeClr val="tx1"/>
                          </a:solidFill>
                          <a:latin typeface="Encode Sans" pitchFamily="2" charset="0"/>
                          <a:ea typeface="+mn-ea"/>
                          <a:cs typeface="+mn-cs"/>
                        </a:rPr>
                        <a:t>Slide 63 : Gate 2 instead of Gate 4</a:t>
                      </a:r>
                    </a:p>
                    <a:p>
                      <a:pPr marL="0" algn="ctr" rtl="0" eaLnBrk="1" latinLnBrk="0" hangingPunct="1"/>
                      <a:r>
                        <a:rPr lang="en-US" sz="1000" kern="1200" noProof="0" dirty="0">
                          <a:solidFill>
                            <a:schemeClr val="tx1"/>
                          </a:solidFill>
                          <a:latin typeface="Encode Sans" pitchFamily="2" charset="0"/>
                          <a:ea typeface="+mn-ea"/>
                          <a:cs typeface="+mn-cs"/>
                        </a:rPr>
                        <a:t>Slide 64 : Update SSDLC link</a:t>
                      </a:r>
                    </a:p>
                  </a:txBody>
                  <a:tcPr marT="34262" marB="34262" anchor="ctr" horzOverflow="overflow"/>
                </a:tc>
                <a:tc>
                  <a:txBody>
                    <a:bodyPr/>
                    <a:lstStyle/>
                    <a:p>
                      <a:pPr marL="0" algn="ctr" rtl="0" eaLnBrk="1" latinLnBrk="0" hangingPunct="1"/>
                      <a:r>
                        <a:rPr lang="en-US" sz="1000" kern="1200" noProof="0" dirty="0">
                          <a:solidFill>
                            <a:schemeClr val="tx1"/>
                          </a:solidFill>
                          <a:latin typeface="Encode Sans" pitchFamily="2" charset="0"/>
                          <a:ea typeface="+mn-ea"/>
                          <a:cs typeface="+mn-cs"/>
                        </a:rPr>
                        <a:t>Yann B / Viviane C.</a:t>
                      </a:r>
                    </a:p>
                  </a:txBody>
                  <a:tcPr marT="34262" marB="34262" anchor="ctr" horzOverflow="overflow"/>
                </a:tc>
                <a:extLst>
                  <a:ext uri="{0D108BD9-81ED-4DB2-BD59-A6C34878D82A}">
                    <a16:rowId xmlns:a16="http://schemas.microsoft.com/office/drawing/2014/main" val="10005"/>
                  </a:ext>
                </a:extLst>
              </a:tr>
              <a:tr h="373324">
                <a:tc>
                  <a:txBody>
                    <a:bodyPr/>
                    <a:lstStyle/>
                    <a:p>
                      <a:pPr marL="0" algn="ctr" rtl="0" eaLnBrk="1" latinLnBrk="0" hangingPunct="1"/>
                      <a:endParaRPr lang="en-US" sz="1000" kern="1200" noProof="0">
                        <a:solidFill>
                          <a:schemeClr val="tx1"/>
                        </a:solidFill>
                        <a:latin typeface="Encode Sans" pitchFamily="2" charset="0"/>
                        <a:ea typeface="+mn-ea"/>
                        <a:cs typeface="+mn-cs"/>
                      </a:endParaRPr>
                    </a:p>
                  </a:txBody>
                  <a:tcPr marT="34262" marB="34262" anchor="ctr" horzOverflow="overflow"/>
                </a:tc>
                <a:tc>
                  <a:txBody>
                    <a:bodyPr/>
                    <a:lstStyle/>
                    <a:p>
                      <a:pPr marL="0" algn="ctr" rtl="0" eaLnBrk="1" latinLnBrk="0" hangingPunct="1"/>
                      <a:endParaRPr lang="en-US" sz="1000" kern="1200" noProof="0">
                        <a:solidFill>
                          <a:schemeClr val="tx1"/>
                        </a:solidFill>
                        <a:latin typeface="Encode Sans" pitchFamily="2" charset="0"/>
                        <a:ea typeface="+mn-ea"/>
                        <a:cs typeface="+mn-cs"/>
                      </a:endParaRPr>
                    </a:p>
                  </a:txBody>
                  <a:tcPr marT="34262" marB="34262" anchor="ctr" horzOverflow="overflow"/>
                </a:tc>
                <a:tc>
                  <a:txBody>
                    <a:bodyPr/>
                    <a:lstStyle/>
                    <a:p>
                      <a:pPr marL="0" algn="ctr" rtl="0" eaLnBrk="1" latinLnBrk="0" hangingPunct="1"/>
                      <a:endParaRPr lang="en-US" sz="1000" kern="1200" noProof="0">
                        <a:solidFill>
                          <a:schemeClr val="tx1"/>
                        </a:solidFill>
                        <a:latin typeface="Encode Sans" pitchFamily="2" charset="0"/>
                        <a:ea typeface="+mn-ea"/>
                        <a:cs typeface="+mn-cs"/>
                      </a:endParaRPr>
                    </a:p>
                  </a:txBody>
                  <a:tcPr marT="34262" marB="34262" anchor="ctr" horzOverflow="overflow"/>
                </a:tc>
                <a:tc>
                  <a:txBody>
                    <a:bodyPr/>
                    <a:lstStyle/>
                    <a:p>
                      <a:pPr marL="0" algn="ctr" defTabSz="457189" rtl="0" eaLnBrk="1" latinLnBrk="0" hangingPunct="1"/>
                      <a:endParaRPr lang="en-US" sz="1000" kern="1200" noProof="0" dirty="0">
                        <a:solidFill>
                          <a:schemeClr val="tx1"/>
                        </a:solidFill>
                        <a:latin typeface="Encode Sans" pitchFamily="2" charset="0"/>
                        <a:ea typeface="+mn-ea"/>
                        <a:cs typeface="+mn-cs"/>
                      </a:endParaRPr>
                    </a:p>
                  </a:txBody>
                  <a:tcPr marT="34262" marB="34262" anchor="ctr" horzOverflow="overflow"/>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1823474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Introduction</a:t>
            </a:r>
            <a:endParaRPr>
              <a:latin typeface="Encode Sans" pitchFamily="2" charset="0"/>
            </a:endParaRPr>
          </a:p>
        </p:txBody>
      </p:sp>
      <p:sp>
        <p:nvSpPr>
          <p:cNvPr id="25" name="Espace réservé du contenu 1">
            <a:extLst>
              <a:ext uri="{FF2B5EF4-FFF2-40B4-BE49-F238E27FC236}">
                <a16:creationId xmlns:a16="http://schemas.microsoft.com/office/drawing/2014/main" id="{3DB7E8D5-3C4D-4CF5-9505-4093F38609CE}"/>
              </a:ext>
            </a:extLst>
          </p:cNvPr>
          <p:cNvSpPr txBox="1">
            <a:spLocks/>
          </p:cNvSpPr>
          <p:nvPr/>
        </p:nvSpPr>
        <p:spPr>
          <a:xfrm>
            <a:off x="296864" y="1080992"/>
            <a:ext cx="8316194" cy="2965408"/>
          </a:xfrm>
          <a:prstGeom prst="rect">
            <a:avLst/>
          </a:prstGeom>
        </p:spPr>
        <p:txBody>
          <a:bodyPr vert="horz" lIns="91440" tIns="45720" rIns="91440" bIns="45720" rtlCol="0" anchor="t">
            <a:no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Aft>
                <a:spcPts val="0"/>
              </a:spcAft>
            </a:pPr>
            <a:r>
              <a:rPr lang="en-US">
                <a:solidFill>
                  <a:schemeClr val="accent1"/>
                </a:solidFill>
                <a:latin typeface="Encode Sans"/>
                <a:cs typeface="Arial"/>
              </a:rPr>
              <a:t>Architecture Gates are mandatory to approve an IT solution</a:t>
            </a:r>
            <a:r>
              <a:rPr lang="en-US" b="0">
                <a:solidFill>
                  <a:schemeClr val="accent1"/>
                </a:solidFill>
                <a:latin typeface="Encode Sans"/>
                <a:cs typeface="Arial"/>
              </a:rPr>
              <a:t>. It’s part of the Strategic Portfolio Management’s (SPM) Demand &amp; Project Process  in </a:t>
            </a:r>
            <a:r>
              <a:rPr lang="en-US" b="0" err="1">
                <a:solidFill>
                  <a:schemeClr val="accent1"/>
                </a:solidFill>
                <a:latin typeface="Encode Sans"/>
                <a:cs typeface="Arial"/>
              </a:rPr>
              <a:t>DigitalMe</a:t>
            </a:r>
            <a:r>
              <a:rPr lang="en-US" b="0">
                <a:solidFill>
                  <a:schemeClr val="accent1"/>
                </a:solidFill>
                <a:latin typeface="Encode Sans"/>
                <a:cs typeface="Arial"/>
              </a:rPr>
              <a:t>. </a:t>
            </a:r>
          </a:p>
          <a:p>
            <a:pPr>
              <a:spcAft>
                <a:spcPts val="0"/>
              </a:spcAft>
            </a:pPr>
            <a:endParaRPr lang="en-US" b="0">
              <a:solidFill>
                <a:schemeClr val="accent1"/>
              </a:solidFill>
              <a:latin typeface="Encode Sans"/>
              <a:cs typeface="Arial"/>
            </a:endParaRPr>
          </a:p>
          <a:p>
            <a:pPr>
              <a:spcAft>
                <a:spcPts val="0"/>
              </a:spcAft>
            </a:pPr>
            <a:r>
              <a:rPr lang="en-US" b="0">
                <a:solidFill>
                  <a:schemeClr val="accent1"/>
                </a:solidFill>
                <a:latin typeface="Encode Sans"/>
                <a:cs typeface="Arial"/>
              </a:rPr>
              <a:t>Architecture approval is an internal SIBS approval mandatory before presentation and decision with the Business.</a:t>
            </a:r>
          </a:p>
          <a:p>
            <a:pPr>
              <a:spcAft>
                <a:spcPts val="0"/>
              </a:spcAft>
            </a:pPr>
            <a:endParaRPr lang="en-US" b="0">
              <a:solidFill>
                <a:schemeClr val="accent1"/>
              </a:solidFill>
              <a:latin typeface="Encode Sans" pitchFamily="2" charset="0"/>
            </a:endParaRPr>
          </a:p>
          <a:p>
            <a:pPr>
              <a:spcAft>
                <a:spcPts val="0"/>
              </a:spcAft>
            </a:pPr>
            <a:r>
              <a:rPr lang="en-US" b="0">
                <a:solidFill>
                  <a:schemeClr val="accent1"/>
                </a:solidFill>
                <a:latin typeface="Encode Sans"/>
                <a:cs typeface="Arial"/>
              </a:rPr>
              <a:t>​</a:t>
            </a:r>
            <a:r>
              <a:rPr lang="en-US">
                <a:solidFill>
                  <a:schemeClr val="accent1"/>
                </a:solidFill>
                <a:latin typeface="Encode Sans"/>
                <a:cs typeface="Arial"/>
              </a:rPr>
              <a:t>This new Template is used by IT Project Manager to present the IT solution for gates approval</a:t>
            </a:r>
            <a:r>
              <a:rPr lang="en-US" b="0">
                <a:solidFill>
                  <a:schemeClr val="accent1"/>
                </a:solidFill>
                <a:latin typeface="Encode Sans"/>
                <a:cs typeface="Arial"/>
              </a:rPr>
              <a:t>. </a:t>
            </a:r>
          </a:p>
          <a:p>
            <a:pPr>
              <a:spcAft>
                <a:spcPts val="0"/>
              </a:spcAft>
            </a:pPr>
            <a:endParaRPr lang="en-US" b="0">
              <a:solidFill>
                <a:schemeClr val="accent1"/>
              </a:solidFill>
              <a:latin typeface="Encode Sans"/>
              <a:cs typeface="Arial"/>
            </a:endParaRPr>
          </a:p>
          <a:p>
            <a:pPr>
              <a:spcAft>
                <a:spcPts val="0"/>
              </a:spcAft>
            </a:pPr>
            <a:r>
              <a:rPr lang="en-US">
                <a:solidFill>
                  <a:schemeClr val="accent1"/>
                </a:solidFill>
                <a:latin typeface="Encode Sans"/>
                <a:cs typeface="Arial"/>
              </a:rPr>
              <a:t>It covers all topics and project deliverables needed by the Architecture Review Board members </a:t>
            </a:r>
            <a:r>
              <a:rPr lang="en-US" b="0">
                <a:solidFill>
                  <a:schemeClr val="accent1"/>
                </a:solidFill>
                <a:latin typeface="Encode Sans"/>
                <a:cs typeface="Arial"/>
              </a:rPr>
              <a:t>(formerly TCC) to review the solution for approval or for recommendations, advices.</a:t>
            </a:r>
            <a:endParaRPr lang="en-US" sz="1600" b="0">
              <a:solidFill>
                <a:schemeClr val="accent1"/>
              </a:solidFill>
              <a:latin typeface="Encode Sans"/>
              <a:cs typeface="Arial"/>
            </a:endParaRPr>
          </a:p>
        </p:txBody>
      </p:sp>
    </p:spTree>
    <p:custDataLst>
      <p:tags r:id="rId1"/>
    </p:custDataLst>
    <p:extLst>
      <p:ext uri="{BB962C8B-B14F-4D97-AF65-F5344CB8AC3E}">
        <p14:creationId xmlns:p14="http://schemas.microsoft.com/office/powerpoint/2010/main" val="3542314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EEE6E-324F-B480-4489-4D141853B5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BA6C68-F418-4664-631B-C019956D4F27}"/>
              </a:ext>
            </a:extLst>
          </p:cNvPr>
          <p:cNvPicPr>
            <a:picLocks noChangeAspect="1"/>
          </p:cNvPicPr>
          <p:nvPr/>
        </p:nvPicPr>
        <p:blipFill>
          <a:blip r:embed="rId3"/>
          <a:stretch>
            <a:fillRect/>
          </a:stretch>
        </p:blipFill>
        <p:spPr>
          <a:xfrm>
            <a:off x="0" y="851339"/>
            <a:ext cx="9144000" cy="3440821"/>
          </a:xfrm>
          <a:prstGeom prst="rect">
            <a:avLst/>
          </a:prstGeom>
        </p:spPr>
      </p:pic>
      <p:sp>
        <p:nvSpPr>
          <p:cNvPr id="2" name="TextBox 1">
            <a:extLst>
              <a:ext uri="{FF2B5EF4-FFF2-40B4-BE49-F238E27FC236}">
                <a16:creationId xmlns:a16="http://schemas.microsoft.com/office/drawing/2014/main" id="{36D51612-9684-93B6-F31E-4ED7D9828873}"/>
              </a:ext>
            </a:extLst>
          </p:cNvPr>
          <p:cNvSpPr txBox="1"/>
          <p:nvPr/>
        </p:nvSpPr>
        <p:spPr>
          <a:xfrm>
            <a:off x="1939636" y="3638277"/>
            <a:ext cx="1369286" cy="307777"/>
          </a:xfrm>
          <a:prstGeom prst="rect">
            <a:avLst/>
          </a:prstGeom>
          <a:noFill/>
        </p:spPr>
        <p:txBody>
          <a:bodyPr wrap="none" rtlCol="0">
            <a:spAutoFit/>
          </a:bodyPr>
          <a:lstStyle/>
          <a:p>
            <a:r>
              <a:rPr lang="en-GB" dirty="0"/>
              <a:t>Audit Control 1</a:t>
            </a:r>
          </a:p>
        </p:txBody>
      </p:sp>
      <p:sp>
        <p:nvSpPr>
          <p:cNvPr id="3" name="TextBox 2">
            <a:extLst>
              <a:ext uri="{FF2B5EF4-FFF2-40B4-BE49-F238E27FC236}">
                <a16:creationId xmlns:a16="http://schemas.microsoft.com/office/drawing/2014/main" id="{FE67896C-64AA-427C-B4AE-DA880458E02B}"/>
              </a:ext>
            </a:extLst>
          </p:cNvPr>
          <p:cNvSpPr txBox="1"/>
          <p:nvPr/>
        </p:nvSpPr>
        <p:spPr>
          <a:xfrm>
            <a:off x="7398327" y="3605099"/>
            <a:ext cx="1369286" cy="307777"/>
          </a:xfrm>
          <a:prstGeom prst="rect">
            <a:avLst/>
          </a:prstGeom>
          <a:noFill/>
        </p:spPr>
        <p:txBody>
          <a:bodyPr wrap="none" rtlCol="0">
            <a:spAutoFit/>
          </a:bodyPr>
          <a:lstStyle/>
          <a:p>
            <a:r>
              <a:rPr lang="en-GB"/>
              <a:t>Audit Control 3</a:t>
            </a:r>
          </a:p>
        </p:txBody>
      </p:sp>
      <p:sp>
        <p:nvSpPr>
          <p:cNvPr id="4" name="TextBox 3">
            <a:extLst>
              <a:ext uri="{FF2B5EF4-FFF2-40B4-BE49-F238E27FC236}">
                <a16:creationId xmlns:a16="http://schemas.microsoft.com/office/drawing/2014/main" id="{092755F9-53CD-BF62-FD79-0DB6F44984A2}"/>
              </a:ext>
            </a:extLst>
          </p:cNvPr>
          <p:cNvSpPr txBox="1"/>
          <p:nvPr/>
        </p:nvSpPr>
        <p:spPr>
          <a:xfrm>
            <a:off x="5763490" y="3599433"/>
            <a:ext cx="1369286" cy="307777"/>
          </a:xfrm>
          <a:prstGeom prst="rect">
            <a:avLst/>
          </a:prstGeom>
          <a:noFill/>
        </p:spPr>
        <p:txBody>
          <a:bodyPr wrap="none" rtlCol="0">
            <a:spAutoFit/>
          </a:bodyPr>
          <a:lstStyle/>
          <a:p>
            <a:r>
              <a:rPr lang="en-GB"/>
              <a:t>Audit Control 2</a:t>
            </a:r>
          </a:p>
        </p:txBody>
      </p:sp>
      <p:sp>
        <p:nvSpPr>
          <p:cNvPr id="11" name="Rectangle 10">
            <a:extLst>
              <a:ext uri="{FF2B5EF4-FFF2-40B4-BE49-F238E27FC236}">
                <a16:creationId xmlns:a16="http://schemas.microsoft.com/office/drawing/2014/main" id="{BF9AD30B-F066-7430-DC58-1FCE1FDB073D}"/>
              </a:ext>
            </a:extLst>
          </p:cNvPr>
          <p:cNvSpPr/>
          <p:nvPr/>
        </p:nvSpPr>
        <p:spPr>
          <a:xfrm>
            <a:off x="3706092" y="1811440"/>
            <a:ext cx="733792" cy="14443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34CF93FA-A358-AA28-3A2E-4FE22E82F9E9}"/>
              </a:ext>
            </a:extLst>
          </p:cNvPr>
          <p:cNvSpPr/>
          <p:nvPr/>
        </p:nvSpPr>
        <p:spPr>
          <a:xfrm>
            <a:off x="3485361" y="3081417"/>
            <a:ext cx="1246852" cy="4363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E528EFD-6BA5-2A87-9912-C4E72C93B3DE}"/>
              </a:ext>
            </a:extLst>
          </p:cNvPr>
          <p:cNvSpPr/>
          <p:nvPr/>
        </p:nvSpPr>
        <p:spPr>
          <a:xfrm>
            <a:off x="6034775" y="1783731"/>
            <a:ext cx="2732837" cy="21234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49EDD376-C410-4155-DB4A-F311DFFC71A2}"/>
              </a:ext>
            </a:extLst>
          </p:cNvPr>
          <p:cNvSpPr/>
          <p:nvPr/>
        </p:nvSpPr>
        <p:spPr>
          <a:xfrm>
            <a:off x="5382768" y="3614625"/>
            <a:ext cx="733792" cy="2610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58BB8702-50D1-5185-7C8E-932F399AB190}"/>
              </a:ext>
            </a:extLst>
          </p:cNvPr>
          <p:cNvPicPr>
            <a:picLocks noChangeAspect="1"/>
          </p:cNvPicPr>
          <p:nvPr/>
        </p:nvPicPr>
        <p:blipFill>
          <a:blip r:embed="rId4"/>
          <a:stretch>
            <a:fillRect/>
          </a:stretch>
        </p:blipFill>
        <p:spPr>
          <a:xfrm>
            <a:off x="7344556" y="1778065"/>
            <a:ext cx="543953" cy="1188107"/>
          </a:xfrm>
          <a:prstGeom prst="rect">
            <a:avLst/>
          </a:prstGeom>
        </p:spPr>
      </p:pic>
      <p:pic>
        <p:nvPicPr>
          <p:cNvPr id="10" name="Picture 9">
            <a:extLst>
              <a:ext uri="{FF2B5EF4-FFF2-40B4-BE49-F238E27FC236}">
                <a16:creationId xmlns:a16="http://schemas.microsoft.com/office/drawing/2014/main" id="{1BD9231C-3A39-835B-02EC-8F8DC56A6388}"/>
              </a:ext>
            </a:extLst>
          </p:cNvPr>
          <p:cNvPicPr>
            <a:picLocks noChangeAspect="1"/>
          </p:cNvPicPr>
          <p:nvPr/>
        </p:nvPicPr>
        <p:blipFill>
          <a:blip r:embed="rId5"/>
          <a:stretch>
            <a:fillRect/>
          </a:stretch>
        </p:blipFill>
        <p:spPr>
          <a:xfrm>
            <a:off x="6880625" y="2951178"/>
            <a:ext cx="1309781" cy="687099"/>
          </a:xfrm>
          <a:prstGeom prst="rect">
            <a:avLst/>
          </a:prstGeom>
        </p:spPr>
      </p:pic>
      <p:sp>
        <p:nvSpPr>
          <p:cNvPr id="14" name="TextBox 13">
            <a:extLst>
              <a:ext uri="{FF2B5EF4-FFF2-40B4-BE49-F238E27FC236}">
                <a16:creationId xmlns:a16="http://schemas.microsoft.com/office/drawing/2014/main" id="{CCACEC48-B550-D63E-3199-73D681B750B9}"/>
              </a:ext>
            </a:extLst>
          </p:cNvPr>
          <p:cNvSpPr txBox="1"/>
          <p:nvPr/>
        </p:nvSpPr>
        <p:spPr>
          <a:xfrm>
            <a:off x="242454" y="316130"/>
            <a:ext cx="4918364" cy="261610"/>
          </a:xfrm>
          <a:prstGeom prst="rect">
            <a:avLst/>
          </a:prstGeom>
          <a:noFill/>
        </p:spPr>
        <p:txBody>
          <a:bodyPr wrap="square">
            <a:spAutoFit/>
          </a:bodyPr>
          <a:lstStyle/>
          <a:p>
            <a:r>
              <a:rPr lang="en-GB" sz="1100" b="1" dirty="0">
                <a:solidFill>
                  <a:schemeClr val="bg1"/>
                </a:solidFill>
                <a:latin typeface="Encode Sans" pitchFamily="2" charset="0"/>
              </a:rPr>
              <a:t>Architecture gates approval process: Study/NO/Discovery</a:t>
            </a:r>
          </a:p>
        </p:txBody>
      </p:sp>
    </p:spTree>
    <p:extLst>
      <p:ext uri="{BB962C8B-B14F-4D97-AF65-F5344CB8AC3E}">
        <p14:creationId xmlns:p14="http://schemas.microsoft.com/office/powerpoint/2010/main" val="3818251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F14E5-0BCC-5A8F-C3A5-474E4ED292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6E44681-8546-1B19-B415-70E39EE01FF3}"/>
              </a:ext>
            </a:extLst>
          </p:cNvPr>
          <p:cNvPicPr>
            <a:picLocks noChangeAspect="1"/>
          </p:cNvPicPr>
          <p:nvPr/>
        </p:nvPicPr>
        <p:blipFill>
          <a:blip r:embed="rId3"/>
          <a:stretch>
            <a:fillRect/>
          </a:stretch>
        </p:blipFill>
        <p:spPr>
          <a:xfrm>
            <a:off x="0" y="851339"/>
            <a:ext cx="9144000" cy="3440821"/>
          </a:xfrm>
          <a:prstGeom prst="rect">
            <a:avLst/>
          </a:prstGeom>
        </p:spPr>
      </p:pic>
      <p:sp>
        <p:nvSpPr>
          <p:cNvPr id="2" name="TextBox 1">
            <a:extLst>
              <a:ext uri="{FF2B5EF4-FFF2-40B4-BE49-F238E27FC236}">
                <a16:creationId xmlns:a16="http://schemas.microsoft.com/office/drawing/2014/main" id="{EF04D2EA-C560-1E46-850A-D8147429E618}"/>
              </a:ext>
            </a:extLst>
          </p:cNvPr>
          <p:cNvSpPr txBox="1"/>
          <p:nvPr/>
        </p:nvSpPr>
        <p:spPr>
          <a:xfrm>
            <a:off x="1939636" y="3638277"/>
            <a:ext cx="1369286" cy="307777"/>
          </a:xfrm>
          <a:prstGeom prst="rect">
            <a:avLst/>
          </a:prstGeom>
          <a:noFill/>
        </p:spPr>
        <p:txBody>
          <a:bodyPr wrap="none" rtlCol="0">
            <a:spAutoFit/>
          </a:bodyPr>
          <a:lstStyle/>
          <a:p>
            <a:r>
              <a:rPr lang="en-GB" dirty="0"/>
              <a:t>Audit Control 1</a:t>
            </a:r>
          </a:p>
        </p:txBody>
      </p:sp>
      <p:sp>
        <p:nvSpPr>
          <p:cNvPr id="3" name="TextBox 2">
            <a:extLst>
              <a:ext uri="{FF2B5EF4-FFF2-40B4-BE49-F238E27FC236}">
                <a16:creationId xmlns:a16="http://schemas.microsoft.com/office/drawing/2014/main" id="{F268D37E-5D7C-A3E8-686D-F4BCB5115598}"/>
              </a:ext>
            </a:extLst>
          </p:cNvPr>
          <p:cNvSpPr txBox="1"/>
          <p:nvPr/>
        </p:nvSpPr>
        <p:spPr>
          <a:xfrm>
            <a:off x="7398327" y="3605099"/>
            <a:ext cx="1369286" cy="307777"/>
          </a:xfrm>
          <a:prstGeom prst="rect">
            <a:avLst/>
          </a:prstGeom>
          <a:noFill/>
        </p:spPr>
        <p:txBody>
          <a:bodyPr wrap="none" rtlCol="0">
            <a:spAutoFit/>
          </a:bodyPr>
          <a:lstStyle/>
          <a:p>
            <a:r>
              <a:rPr lang="en-GB" dirty="0"/>
              <a:t>Audit Control 2</a:t>
            </a:r>
          </a:p>
        </p:txBody>
      </p:sp>
      <p:sp>
        <p:nvSpPr>
          <p:cNvPr id="11" name="Rectangle 10">
            <a:extLst>
              <a:ext uri="{FF2B5EF4-FFF2-40B4-BE49-F238E27FC236}">
                <a16:creationId xmlns:a16="http://schemas.microsoft.com/office/drawing/2014/main" id="{9A4888D7-A968-0AC5-9A32-DB92B09823F1}"/>
              </a:ext>
            </a:extLst>
          </p:cNvPr>
          <p:cNvSpPr/>
          <p:nvPr/>
        </p:nvSpPr>
        <p:spPr>
          <a:xfrm>
            <a:off x="3706092" y="1811440"/>
            <a:ext cx="733792" cy="14443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717F0530-DE85-47EE-8D3C-351E1CFC8106}"/>
              </a:ext>
            </a:extLst>
          </p:cNvPr>
          <p:cNvSpPr/>
          <p:nvPr/>
        </p:nvSpPr>
        <p:spPr>
          <a:xfrm>
            <a:off x="3485361" y="3081417"/>
            <a:ext cx="1246852" cy="4363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B474D12-DAD2-A108-7879-3FC403CA95C7}"/>
              </a:ext>
            </a:extLst>
          </p:cNvPr>
          <p:cNvSpPr txBox="1"/>
          <p:nvPr/>
        </p:nvSpPr>
        <p:spPr>
          <a:xfrm>
            <a:off x="242454" y="316130"/>
            <a:ext cx="4918364" cy="261610"/>
          </a:xfrm>
          <a:prstGeom prst="rect">
            <a:avLst/>
          </a:prstGeom>
          <a:noFill/>
        </p:spPr>
        <p:txBody>
          <a:bodyPr wrap="square">
            <a:spAutoFit/>
          </a:bodyPr>
          <a:lstStyle/>
          <a:p>
            <a:r>
              <a:rPr lang="en-GB" sz="1100" b="1" dirty="0">
                <a:solidFill>
                  <a:schemeClr val="bg1"/>
                </a:solidFill>
                <a:latin typeface="Encode Sans" pitchFamily="2" charset="0"/>
              </a:rPr>
              <a:t>Architecture gates approval process: Realisation/NE/Delivery</a:t>
            </a:r>
          </a:p>
        </p:txBody>
      </p:sp>
    </p:spTree>
    <p:extLst>
      <p:ext uri="{BB962C8B-B14F-4D97-AF65-F5344CB8AC3E}">
        <p14:creationId xmlns:p14="http://schemas.microsoft.com/office/powerpoint/2010/main" val="447143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50" name="Google Shape;694;p95">
            <a:extLst>
              <a:ext uri="{FF2B5EF4-FFF2-40B4-BE49-F238E27FC236}">
                <a16:creationId xmlns:a16="http://schemas.microsoft.com/office/drawing/2014/main" id="{6E4A0BF1-E05E-4EC3-BE16-4F4151CEB82E}"/>
              </a:ext>
            </a:extLst>
          </p:cNvPr>
          <p:cNvSpPr/>
          <p:nvPr/>
        </p:nvSpPr>
        <p:spPr>
          <a:xfrm>
            <a:off x="259248" y="1179106"/>
            <a:ext cx="432000" cy="432000"/>
          </a:xfrm>
          <a:prstGeom prst="ellipse">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Encode Sans" pitchFamily="2" charset="0"/>
            </a:endParaRPr>
          </a:p>
        </p:txBody>
      </p:sp>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lang="it-IT" sz="1200">
                <a:latin typeface="Encode Sans" pitchFamily="2" charset="0"/>
                <a:sym typeface="Encode Sans"/>
              </a:rPr>
              <a:t>NOTES – User guide </a:t>
            </a:r>
            <a:endParaRPr>
              <a:latin typeface="Encode Sans" pitchFamily="2" charset="0"/>
            </a:endParaRPr>
          </a:p>
        </p:txBody>
      </p:sp>
      <p:sp>
        <p:nvSpPr>
          <p:cNvPr id="40" name="Google Shape;1160;p132">
            <a:extLst>
              <a:ext uri="{FF2B5EF4-FFF2-40B4-BE49-F238E27FC236}">
                <a16:creationId xmlns:a16="http://schemas.microsoft.com/office/drawing/2014/main" id="{6F4DBA7B-D075-4CAA-B33A-5E2A281004BF}"/>
              </a:ext>
            </a:extLst>
          </p:cNvPr>
          <p:cNvSpPr/>
          <p:nvPr/>
        </p:nvSpPr>
        <p:spPr>
          <a:xfrm>
            <a:off x="907114" y="1080664"/>
            <a:ext cx="7743591" cy="614700"/>
          </a:xfrm>
          <a:prstGeom prst="roundRect">
            <a:avLst>
              <a:gd name="adj" fmla="val 15022"/>
            </a:avLst>
          </a:prstGeom>
          <a:solidFill>
            <a:schemeClr val="accent6"/>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lang="en-GB" b="1">
              <a:solidFill>
                <a:schemeClr val="bg1"/>
              </a:solidFill>
              <a:latin typeface="Encode Sans" pitchFamily="2" charset="0"/>
              <a:ea typeface="Poppins"/>
              <a:cs typeface="Poppins"/>
              <a:sym typeface="Poppins"/>
            </a:endParaRPr>
          </a:p>
          <a:p>
            <a:pPr marL="0" lvl="0" indent="0" rtl="0">
              <a:spcBef>
                <a:spcPts val="0"/>
              </a:spcBef>
              <a:spcAft>
                <a:spcPts val="0"/>
              </a:spcAft>
              <a:buNone/>
            </a:pPr>
            <a:r>
              <a:rPr lang="en-US" b="1">
                <a:solidFill>
                  <a:schemeClr val="bg1"/>
                </a:solidFill>
                <a:latin typeface="Encode Sans" pitchFamily="2" charset="0"/>
                <a:ea typeface="Poppins"/>
                <a:cs typeface="Poppins"/>
                <a:sym typeface="Poppins"/>
              </a:rPr>
              <a:t>This template is used from Gate 1 to Gate 4 approval (ARB process).</a:t>
            </a:r>
            <a:endParaRPr lang="en-GB" b="1">
              <a:solidFill>
                <a:schemeClr val="bg1"/>
              </a:solidFill>
              <a:latin typeface="Encode Sans" pitchFamily="2" charset="0"/>
              <a:ea typeface="Poppins"/>
              <a:cs typeface="Poppins"/>
              <a:sym typeface="Poppins"/>
            </a:endParaRPr>
          </a:p>
          <a:p>
            <a:pPr marL="0" lvl="0" indent="0" rtl="0">
              <a:spcBef>
                <a:spcPts val="0"/>
              </a:spcBef>
              <a:spcAft>
                <a:spcPts val="0"/>
              </a:spcAft>
              <a:buNone/>
            </a:pPr>
            <a:endParaRPr lang="en-GB" b="1">
              <a:solidFill>
                <a:schemeClr val="bg1"/>
              </a:solidFill>
              <a:latin typeface="Encode Sans" pitchFamily="2" charset="0"/>
              <a:ea typeface="Poppins"/>
              <a:cs typeface="Poppins"/>
              <a:sym typeface="Poppins"/>
            </a:endParaRPr>
          </a:p>
        </p:txBody>
      </p:sp>
      <p:sp>
        <p:nvSpPr>
          <p:cNvPr id="42" name="Google Shape;1164;p132">
            <a:extLst>
              <a:ext uri="{FF2B5EF4-FFF2-40B4-BE49-F238E27FC236}">
                <a16:creationId xmlns:a16="http://schemas.microsoft.com/office/drawing/2014/main" id="{83D8209C-676B-467E-AEAD-ABC4B3A2620C}"/>
              </a:ext>
            </a:extLst>
          </p:cNvPr>
          <p:cNvSpPr/>
          <p:nvPr/>
        </p:nvSpPr>
        <p:spPr>
          <a:xfrm>
            <a:off x="907114" y="1743353"/>
            <a:ext cx="7743591" cy="614700"/>
          </a:xfrm>
          <a:prstGeom prst="roundRect">
            <a:avLst>
              <a:gd name="adj" fmla="val 15022"/>
            </a:avLst>
          </a:prstGeom>
          <a:solidFill>
            <a:schemeClr val="accent6"/>
          </a:solidFill>
          <a:ln>
            <a:noFill/>
          </a:ln>
        </p:spPr>
        <p:txBody>
          <a:bodyPr spcFirstLastPara="1" wrap="square" lIns="91425" tIns="91425" rIns="91425" bIns="91425" anchor="ctr" anchorCtr="0">
            <a:noAutofit/>
          </a:bodyPr>
          <a:lstStyle/>
          <a:p>
            <a:r>
              <a:rPr lang="en-GB" b="1">
                <a:solidFill>
                  <a:schemeClr val="bg1"/>
                </a:solidFill>
                <a:latin typeface="Encode Sans" pitchFamily="2" charset="0"/>
                <a:ea typeface="Poppins"/>
                <a:cs typeface="Poppins"/>
                <a:sym typeface="Poppins"/>
              </a:rPr>
              <a:t>Use the same document all along the project for all gates</a:t>
            </a:r>
          </a:p>
        </p:txBody>
      </p:sp>
      <p:sp>
        <p:nvSpPr>
          <p:cNvPr id="45" name="Google Shape;1170;p132">
            <a:extLst>
              <a:ext uri="{FF2B5EF4-FFF2-40B4-BE49-F238E27FC236}">
                <a16:creationId xmlns:a16="http://schemas.microsoft.com/office/drawing/2014/main" id="{7D8C2DE8-427A-480C-B7F4-5B526D9026BB}"/>
              </a:ext>
            </a:extLst>
          </p:cNvPr>
          <p:cNvSpPr/>
          <p:nvPr/>
        </p:nvSpPr>
        <p:spPr>
          <a:xfrm>
            <a:off x="889067" y="3546084"/>
            <a:ext cx="7743591" cy="614700"/>
          </a:xfrm>
          <a:prstGeom prst="roundRect">
            <a:avLst>
              <a:gd name="adj" fmla="val 15022"/>
            </a:avLst>
          </a:prstGeom>
          <a:solidFill>
            <a:schemeClr val="accent6"/>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GB" b="1">
                <a:solidFill>
                  <a:schemeClr val="bg1"/>
                </a:solidFill>
                <a:latin typeface="Encode Sans" pitchFamily="2" charset="0"/>
                <a:ea typeface="Poppins"/>
                <a:cs typeface="Poppins"/>
                <a:sym typeface="Poppins"/>
              </a:rPr>
              <a:t>Read explanation in </a:t>
            </a:r>
            <a:r>
              <a:rPr lang="en-GB" b="1">
                <a:solidFill>
                  <a:schemeClr val="tx1"/>
                </a:solidFill>
                <a:highlight>
                  <a:srgbClr val="FFFF00"/>
                </a:highlight>
                <a:latin typeface="Encode Sans" pitchFamily="2" charset="0"/>
                <a:ea typeface="Poppins"/>
                <a:cs typeface="Poppins"/>
                <a:sym typeface="Poppins"/>
              </a:rPr>
              <a:t>Yellow</a:t>
            </a:r>
            <a:r>
              <a:rPr lang="en-GB" b="1">
                <a:solidFill>
                  <a:schemeClr val="bg1"/>
                </a:solidFill>
                <a:latin typeface="Encode Sans" pitchFamily="2" charset="0"/>
                <a:ea typeface="Poppins"/>
                <a:cs typeface="Poppins"/>
                <a:sym typeface="Poppins"/>
              </a:rPr>
              <a:t> and remove them after filled-in the text</a:t>
            </a:r>
          </a:p>
          <a:p>
            <a:pPr marL="0" lvl="0" indent="0" rtl="0">
              <a:spcBef>
                <a:spcPts val="0"/>
              </a:spcBef>
              <a:spcAft>
                <a:spcPts val="0"/>
              </a:spcAft>
              <a:buNone/>
            </a:pPr>
            <a:r>
              <a:rPr lang="en-GB" b="1">
                <a:solidFill>
                  <a:schemeClr val="bg1"/>
                </a:solidFill>
                <a:latin typeface="Encode Sans" pitchFamily="2" charset="0"/>
                <a:ea typeface="Poppins"/>
                <a:cs typeface="Poppins"/>
                <a:sym typeface="Poppins"/>
              </a:rPr>
              <a:t>Also, check more explanation on the speaker notes for each page to help you to fill-in the document</a:t>
            </a:r>
          </a:p>
        </p:txBody>
      </p:sp>
      <p:sp>
        <p:nvSpPr>
          <p:cNvPr id="47" name="Google Shape;1180;p132">
            <a:extLst>
              <a:ext uri="{FF2B5EF4-FFF2-40B4-BE49-F238E27FC236}">
                <a16:creationId xmlns:a16="http://schemas.microsoft.com/office/drawing/2014/main" id="{76462CBD-3DFE-4790-A4CC-844074961B05}"/>
              </a:ext>
            </a:extLst>
          </p:cNvPr>
          <p:cNvSpPr/>
          <p:nvPr/>
        </p:nvSpPr>
        <p:spPr>
          <a:xfrm>
            <a:off x="889067" y="4216065"/>
            <a:ext cx="7779686" cy="614700"/>
          </a:xfrm>
          <a:prstGeom prst="roundRect">
            <a:avLst>
              <a:gd name="adj" fmla="val 15022"/>
            </a:avLst>
          </a:prstGeom>
          <a:solidFill>
            <a:schemeClr val="accent6"/>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GB" b="1" dirty="0">
                <a:solidFill>
                  <a:schemeClr val="bg1"/>
                </a:solidFill>
                <a:latin typeface="Encode Sans" pitchFamily="2" charset="0"/>
                <a:ea typeface="Poppins"/>
                <a:cs typeface="Poppins"/>
                <a:sym typeface="Poppins"/>
              </a:rPr>
              <a:t>Rely on the list of criteria to fill this document : </a:t>
            </a:r>
            <a:r>
              <a:rPr lang="en-US" b="1" u="sng" dirty="0">
                <a:solidFill>
                  <a:schemeClr val="bg1"/>
                </a:solidFill>
                <a:latin typeface="Segoe UI" panose="020B0502040204020203" pitchFamily="34" charset="0"/>
                <a:hlinkClick r:id="rId4">
                  <a:extLst>
                    <a:ext uri="{A12FA001-AC4F-418D-AE19-62706E023703}">
                      <ahyp:hlinkClr xmlns:ahyp="http://schemas.microsoft.com/office/drawing/2018/hyperlinkcolor" val="tx"/>
                    </a:ext>
                  </a:extLst>
                </a:hlinkClick>
              </a:rPr>
              <a:t>HERE</a:t>
            </a:r>
            <a:endParaRPr lang="en-GB" b="1" dirty="0">
              <a:solidFill>
                <a:schemeClr val="bg1"/>
              </a:solidFill>
              <a:latin typeface="Encode Sans" pitchFamily="2" charset="0"/>
              <a:ea typeface="Poppins"/>
              <a:cs typeface="Poppins"/>
              <a:sym typeface="Poppins"/>
            </a:endParaRPr>
          </a:p>
        </p:txBody>
      </p:sp>
      <p:sp>
        <p:nvSpPr>
          <p:cNvPr id="57" name="Google Shape;694;p95">
            <a:extLst>
              <a:ext uri="{FF2B5EF4-FFF2-40B4-BE49-F238E27FC236}">
                <a16:creationId xmlns:a16="http://schemas.microsoft.com/office/drawing/2014/main" id="{34EB6E61-868C-4389-98AB-96F1E6F74E9F}"/>
              </a:ext>
            </a:extLst>
          </p:cNvPr>
          <p:cNvSpPr/>
          <p:nvPr/>
        </p:nvSpPr>
        <p:spPr>
          <a:xfrm>
            <a:off x="262109" y="1856963"/>
            <a:ext cx="432000" cy="432000"/>
          </a:xfrm>
          <a:prstGeom prst="ellipse">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Encode Sans" pitchFamily="2" charset="0"/>
            </a:endParaRPr>
          </a:p>
        </p:txBody>
      </p:sp>
      <p:pic>
        <p:nvPicPr>
          <p:cNvPr id="62" name="Google Shape;705;p95">
            <a:extLst>
              <a:ext uri="{FF2B5EF4-FFF2-40B4-BE49-F238E27FC236}">
                <a16:creationId xmlns:a16="http://schemas.microsoft.com/office/drawing/2014/main" id="{DF064096-9230-43BA-9372-9227682246B2}"/>
              </a:ext>
            </a:extLst>
          </p:cNvPr>
          <p:cNvPicPr preferRelativeResize="0"/>
          <p:nvPr/>
        </p:nvPicPr>
        <p:blipFill>
          <a:blip r:embed="rId5">
            <a:alphaModFix/>
          </a:blip>
          <a:stretch>
            <a:fillRect/>
          </a:stretch>
        </p:blipFill>
        <p:spPr>
          <a:xfrm rot="10800000" flipH="1">
            <a:off x="345629" y="1932779"/>
            <a:ext cx="252000" cy="252000"/>
          </a:xfrm>
          <a:prstGeom prst="rect">
            <a:avLst/>
          </a:prstGeom>
          <a:noFill/>
          <a:ln>
            <a:noFill/>
          </a:ln>
        </p:spPr>
      </p:pic>
      <p:grpSp>
        <p:nvGrpSpPr>
          <p:cNvPr id="4" name="Graphic 2" descr="Document outline">
            <a:extLst>
              <a:ext uri="{FF2B5EF4-FFF2-40B4-BE49-F238E27FC236}">
                <a16:creationId xmlns:a16="http://schemas.microsoft.com/office/drawing/2014/main" id="{EA5317BB-9ACE-4178-90FF-E68D58B817FA}"/>
              </a:ext>
            </a:extLst>
          </p:cNvPr>
          <p:cNvGrpSpPr/>
          <p:nvPr/>
        </p:nvGrpSpPr>
        <p:grpSpPr>
          <a:xfrm>
            <a:off x="369693" y="1246209"/>
            <a:ext cx="216000" cy="252000"/>
            <a:chOff x="149759" y="764957"/>
            <a:chExt cx="571500" cy="762000"/>
          </a:xfrm>
          <a:solidFill>
            <a:srgbClr val="000000"/>
          </a:solidFill>
        </p:grpSpPr>
        <p:sp>
          <p:nvSpPr>
            <p:cNvPr id="6" name="Freeform: Shape 5">
              <a:extLst>
                <a:ext uri="{FF2B5EF4-FFF2-40B4-BE49-F238E27FC236}">
                  <a16:creationId xmlns:a16="http://schemas.microsoft.com/office/drawing/2014/main" id="{A870664F-6846-4CE2-BF1B-58C6622D1390}"/>
                </a:ext>
              </a:extLst>
            </p:cNvPr>
            <p:cNvSpPr/>
            <p:nvPr/>
          </p:nvSpPr>
          <p:spPr>
            <a:xfrm>
              <a:off x="245009" y="1012607"/>
              <a:ext cx="180975" cy="19050"/>
            </a:xfrm>
            <a:custGeom>
              <a:avLst/>
              <a:gdLst>
                <a:gd name="connsiteX0" fmla="*/ 0 w 180975"/>
                <a:gd name="connsiteY0" fmla="*/ 0 h 19050"/>
                <a:gd name="connsiteX1" fmla="*/ 180975 w 180975"/>
                <a:gd name="connsiteY1" fmla="*/ 0 h 19050"/>
                <a:gd name="connsiteX2" fmla="*/ 180975 w 180975"/>
                <a:gd name="connsiteY2" fmla="*/ 19050 h 19050"/>
                <a:gd name="connsiteX3" fmla="*/ 0 w 18097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180975" h="19050">
                  <a:moveTo>
                    <a:pt x="0" y="0"/>
                  </a:moveTo>
                  <a:lnTo>
                    <a:pt x="180975" y="0"/>
                  </a:lnTo>
                  <a:lnTo>
                    <a:pt x="180975" y="19050"/>
                  </a:lnTo>
                  <a:lnTo>
                    <a:pt x="0" y="19050"/>
                  </a:lnTo>
                  <a:close/>
                </a:path>
              </a:pathLst>
            </a:custGeom>
            <a:solidFill>
              <a:srgbClr val="000000"/>
            </a:solidFill>
            <a:ln w="9525" cap="flat">
              <a:noFill/>
              <a:prstDash val="solid"/>
              <a:miter/>
            </a:ln>
          </p:spPr>
          <p:txBody>
            <a:bodyPr rtlCol="0" anchor="ctr"/>
            <a:lstStyle/>
            <a:p>
              <a:endParaRPr lang="en-GB">
                <a:latin typeface="Encode Sans" pitchFamily="2" charset="0"/>
              </a:endParaRPr>
            </a:p>
          </p:txBody>
        </p:sp>
        <p:sp>
          <p:nvSpPr>
            <p:cNvPr id="7" name="Freeform: Shape 6">
              <a:extLst>
                <a:ext uri="{FF2B5EF4-FFF2-40B4-BE49-F238E27FC236}">
                  <a16:creationId xmlns:a16="http://schemas.microsoft.com/office/drawing/2014/main" id="{B604A39A-A0E5-4EA9-A01E-31D73A9BE6CA}"/>
                </a:ext>
              </a:extLst>
            </p:cNvPr>
            <p:cNvSpPr/>
            <p:nvPr/>
          </p:nvSpPr>
          <p:spPr>
            <a:xfrm>
              <a:off x="245009" y="1165007"/>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en-GB">
                <a:latin typeface="Encode Sans" pitchFamily="2" charset="0"/>
              </a:endParaRPr>
            </a:p>
          </p:txBody>
        </p:sp>
        <p:sp>
          <p:nvSpPr>
            <p:cNvPr id="8" name="Freeform: Shape 7">
              <a:extLst>
                <a:ext uri="{FF2B5EF4-FFF2-40B4-BE49-F238E27FC236}">
                  <a16:creationId xmlns:a16="http://schemas.microsoft.com/office/drawing/2014/main" id="{E7462C9B-1EE1-422A-8538-BAF05B6234C5}"/>
                </a:ext>
              </a:extLst>
            </p:cNvPr>
            <p:cNvSpPr/>
            <p:nvPr/>
          </p:nvSpPr>
          <p:spPr>
            <a:xfrm>
              <a:off x="245009" y="1241207"/>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en-GB">
                <a:latin typeface="Encode Sans" pitchFamily="2" charset="0"/>
              </a:endParaRPr>
            </a:p>
          </p:txBody>
        </p:sp>
        <p:sp>
          <p:nvSpPr>
            <p:cNvPr id="9" name="Freeform: Shape 8">
              <a:extLst>
                <a:ext uri="{FF2B5EF4-FFF2-40B4-BE49-F238E27FC236}">
                  <a16:creationId xmlns:a16="http://schemas.microsoft.com/office/drawing/2014/main" id="{5FB02C87-4C2C-440C-8CD9-39043E662B79}"/>
                </a:ext>
              </a:extLst>
            </p:cNvPr>
            <p:cNvSpPr/>
            <p:nvPr/>
          </p:nvSpPr>
          <p:spPr>
            <a:xfrm>
              <a:off x="245009" y="1317407"/>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en-GB">
                <a:latin typeface="Encode Sans" pitchFamily="2" charset="0"/>
              </a:endParaRPr>
            </a:p>
          </p:txBody>
        </p:sp>
        <p:sp>
          <p:nvSpPr>
            <p:cNvPr id="10" name="Freeform: Shape 9">
              <a:extLst>
                <a:ext uri="{FF2B5EF4-FFF2-40B4-BE49-F238E27FC236}">
                  <a16:creationId xmlns:a16="http://schemas.microsoft.com/office/drawing/2014/main" id="{13287F85-4935-4F80-8A01-6C8D39C8AE36}"/>
                </a:ext>
              </a:extLst>
            </p:cNvPr>
            <p:cNvSpPr/>
            <p:nvPr/>
          </p:nvSpPr>
          <p:spPr>
            <a:xfrm>
              <a:off x="245009" y="1393607"/>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en-GB">
                <a:latin typeface="Encode Sans" pitchFamily="2" charset="0"/>
              </a:endParaRPr>
            </a:p>
          </p:txBody>
        </p:sp>
        <p:sp>
          <p:nvSpPr>
            <p:cNvPr id="11" name="Freeform: Shape 10">
              <a:extLst>
                <a:ext uri="{FF2B5EF4-FFF2-40B4-BE49-F238E27FC236}">
                  <a16:creationId xmlns:a16="http://schemas.microsoft.com/office/drawing/2014/main" id="{2B6C45D9-3FCC-4137-87B9-CA7F45D7E07E}"/>
                </a:ext>
              </a:extLst>
            </p:cNvPr>
            <p:cNvSpPr/>
            <p:nvPr/>
          </p:nvSpPr>
          <p:spPr>
            <a:xfrm>
              <a:off x="149759" y="764957"/>
              <a:ext cx="571500" cy="762000"/>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en-GB">
                <a:latin typeface="Encode Sans" pitchFamily="2" charset="0"/>
              </a:endParaRPr>
            </a:p>
          </p:txBody>
        </p:sp>
      </p:grpSp>
      <p:sp>
        <p:nvSpPr>
          <p:cNvPr id="68" name="Google Shape;694;p95">
            <a:extLst>
              <a:ext uri="{FF2B5EF4-FFF2-40B4-BE49-F238E27FC236}">
                <a16:creationId xmlns:a16="http://schemas.microsoft.com/office/drawing/2014/main" id="{76313D10-076B-45B7-B54F-DBA60050D9FC}"/>
              </a:ext>
            </a:extLst>
          </p:cNvPr>
          <p:cNvSpPr/>
          <p:nvPr/>
        </p:nvSpPr>
        <p:spPr>
          <a:xfrm>
            <a:off x="264979" y="4267538"/>
            <a:ext cx="432000" cy="432000"/>
          </a:xfrm>
          <a:prstGeom prst="ellipse">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Encode Sans" pitchFamily="2" charset="0"/>
            </a:endParaRPr>
          </a:p>
        </p:txBody>
      </p:sp>
      <p:pic>
        <p:nvPicPr>
          <p:cNvPr id="19" name="Graphic 18" descr="Checklist outline">
            <a:extLst>
              <a:ext uri="{FF2B5EF4-FFF2-40B4-BE49-F238E27FC236}">
                <a16:creationId xmlns:a16="http://schemas.microsoft.com/office/drawing/2014/main" id="{1B80B128-4988-463B-9D5D-EFD80D0396B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0874" y="4339411"/>
            <a:ext cx="288000" cy="288000"/>
          </a:xfrm>
          <a:prstGeom prst="rect">
            <a:avLst/>
          </a:prstGeom>
        </p:spPr>
      </p:pic>
      <p:sp>
        <p:nvSpPr>
          <p:cNvPr id="69" name="Google Shape;694;p95">
            <a:extLst>
              <a:ext uri="{FF2B5EF4-FFF2-40B4-BE49-F238E27FC236}">
                <a16:creationId xmlns:a16="http://schemas.microsoft.com/office/drawing/2014/main" id="{D4EA3265-3CC9-4E57-8051-0459335F17B2}"/>
              </a:ext>
            </a:extLst>
          </p:cNvPr>
          <p:cNvSpPr/>
          <p:nvPr/>
        </p:nvSpPr>
        <p:spPr>
          <a:xfrm>
            <a:off x="259248" y="3642392"/>
            <a:ext cx="432000" cy="432000"/>
          </a:xfrm>
          <a:prstGeom prst="ellipse">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Encode Sans" pitchFamily="2" charset="0"/>
            </a:endParaRPr>
          </a:p>
        </p:txBody>
      </p:sp>
      <p:pic>
        <p:nvPicPr>
          <p:cNvPr id="15" name="Graphic 14" descr="Comment Like outline">
            <a:extLst>
              <a:ext uri="{FF2B5EF4-FFF2-40B4-BE49-F238E27FC236}">
                <a16:creationId xmlns:a16="http://schemas.microsoft.com/office/drawing/2014/main" id="{67C89828-30F3-4C4B-85A1-C4936C3D293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2368" y="3682256"/>
            <a:ext cx="360000" cy="360000"/>
          </a:xfrm>
          <a:prstGeom prst="rect">
            <a:avLst/>
          </a:prstGeom>
        </p:spPr>
      </p:pic>
      <p:sp>
        <p:nvSpPr>
          <p:cNvPr id="3" name="ZoneTexte 11">
            <a:extLst>
              <a:ext uri="{FF2B5EF4-FFF2-40B4-BE49-F238E27FC236}">
                <a16:creationId xmlns:a16="http://schemas.microsoft.com/office/drawing/2014/main" id="{26D77671-37A9-F697-55F5-12756D5DC4F8}"/>
              </a:ext>
            </a:extLst>
          </p:cNvPr>
          <p:cNvSpPr txBox="1"/>
          <p:nvPr/>
        </p:nvSpPr>
        <p:spPr>
          <a:xfrm>
            <a:off x="907114" y="2432474"/>
            <a:ext cx="7725544" cy="861774"/>
          </a:xfrm>
          <a:prstGeom prst="rect">
            <a:avLst/>
          </a:prstGeom>
          <a:noFill/>
        </p:spPr>
        <p:txBody>
          <a:bodyPr wrap="square">
            <a:spAutoFit/>
          </a:bodyPr>
          <a:lstStyle/>
          <a:p>
            <a:pPr marL="171450" lvl="1" indent="-171450">
              <a:spcAft>
                <a:spcPts val="0"/>
              </a:spcAft>
              <a:buFont typeface="Arial" panose="020B0604020202020204" pitchFamily="34" charset="0"/>
              <a:buChar char="•"/>
            </a:pPr>
            <a:r>
              <a:rPr lang="en-US" sz="1000">
                <a:solidFill>
                  <a:schemeClr val="accent1"/>
                </a:solidFill>
                <a:latin typeface="Encode Sans"/>
                <a:cs typeface="Arial"/>
              </a:rPr>
              <a:t>For Gate 1 : </a:t>
            </a:r>
            <a:r>
              <a:rPr lang="en-US" sz="1000">
                <a:solidFill>
                  <a:schemeClr val="accent1"/>
                </a:solidFill>
                <a:latin typeface="Encode Sans"/>
                <a:cs typeface="Arial"/>
                <a:hlinkClick r:id="rId8" action="ppaction://hlinksldjump"/>
              </a:rPr>
              <a:t>complete only the “Gate 1” section</a:t>
            </a:r>
            <a:endParaRPr lang="en-US" sz="1000">
              <a:solidFill>
                <a:schemeClr val="accent1"/>
              </a:solidFill>
              <a:latin typeface="Encode Sans"/>
              <a:cs typeface="Arial"/>
            </a:endParaRPr>
          </a:p>
          <a:p>
            <a:pPr marL="171450" lvl="1" indent="-171450">
              <a:buFont typeface="Arial" panose="020B0604020202020204" pitchFamily="34" charset="0"/>
              <a:buChar char="•"/>
            </a:pPr>
            <a:r>
              <a:rPr lang="en-US" sz="1000" b="0">
                <a:solidFill>
                  <a:schemeClr val="accent1"/>
                </a:solidFill>
                <a:latin typeface="Encode Sans"/>
                <a:cs typeface="Arial"/>
              </a:rPr>
              <a:t>For Gate 2 : Eventually, update </a:t>
            </a:r>
            <a:r>
              <a:rPr lang="en-US" sz="1000" b="0">
                <a:solidFill>
                  <a:schemeClr val="accent1"/>
                </a:solidFill>
                <a:latin typeface="Encode Sans"/>
                <a:cs typeface="Arial"/>
                <a:hlinkClick r:id="rId8" action="ppaction://hlinksldjump"/>
              </a:rPr>
              <a:t>Gate 1</a:t>
            </a:r>
            <a:r>
              <a:rPr lang="en-US" sz="1000">
                <a:solidFill>
                  <a:schemeClr val="accent1"/>
                </a:solidFill>
                <a:latin typeface="Encode Sans"/>
              </a:rPr>
              <a:t>. C</a:t>
            </a:r>
            <a:r>
              <a:rPr lang="en-US" sz="1000" b="0">
                <a:solidFill>
                  <a:schemeClr val="accent1"/>
                </a:solidFill>
                <a:latin typeface="Encode Sans"/>
                <a:cs typeface="Arial"/>
              </a:rPr>
              <a:t>omplete slides on section “</a:t>
            </a:r>
            <a:r>
              <a:rPr lang="en-US" sz="1000" b="0">
                <a:solidFill>
                  <a:schemeClr val="accent1"/>
                </a:solidFill>
                <a:latin typeface="Encode Sans"/>
                <a:cs typeface="Arial"/>
                <a:hlinkClick r:id="rId9" action="ppaction://hlinksldjump"/>
              </a:rPr>
              <a:t>Gate 2</a:t>
            </a:r>
            <a:r>
              <a:rPr lang="en-US" sz="1000" b="0">
                <a:solidFill>
                  <a:schemeClr val="accent1"/>
                </a:solidFill>
                <a:latin typeface="Encode Sans"/>
                <a:cs typeface="Arial"/>
              </a:rPr>
              <a:t>”. </a:t>
            </a:r>
          </a:p>
          <a:p>
            <a:pPr marL="171450" lvl="1" indent="-171450">
              <a:buFont typeface="Arial" panose="020B0604020202020204" pitchFamily="34" charset="0"/>
              <a:buChar char="•"/>
            </a:pPr>
            <a:r>
              <a:rPr lang="en-US" sz="1000" b="0">
                <a:solidFill>
                  <a:schemeClr val="accent1"/>
                </a:solidFill>
                <a:latin typeface="Encode Sans"/>
                <a:cs typeface="Arial"/>
              </a:rPr>
              <a:t>For </a:t>
            </a:r>
            <a:r>
              <a:rPr lang="en-US" sz="1000">
                <a:solidFill>
                  <a:schemeClr val="accent1"/>
                </a:solidFill>
                <a:latin typeface="Encode Sans"/>
                <a:cs typeface="Arial"/>
              </a:rPr>
              <a:t>G</a:t>
            </a:r>
            <a:r>
              <a:rPr lang="en-US" sz="1000" b="0">
                <a:solidFill>
                  <a:schemeClr val="accent1"/>
                </a:solidFill>
                <a:latin typeface="Encode Sans"/>
                <a:cs typeface="Arial"/>
              </a:rPr>
              <a:t>ate 3 to 4 :</a:t>
            </a:r>
          </a:p>
          <a:p>
            <a:pPr marL="360363" lvl="6" indent="-180975">
              <a:buFont typeface="Wingdings" panose="05000000000000000000" pitchFamily="2" charset="2"/>
              <a:buChar char="ü"/>
            </a:pPr>
            <a:r>
              <a:rPr lang="en-US" sz="1000">
                <a:solidFill>
                  <a:schemeClr val="accent1"/>
                </a:solidFill>
                <a:latin typeface="Encode Sans"/>
                <a:cs typeface="Arial"/>
              </a:rPr>
              <a:t>Modify/Include slides on section </a:t>
            </a:r>
            <a:r>
              <a:rPr lang="en-US" sz="1000" b="0">
                <a:solidFill>
                  <a:schemeClr val="accent1"/>
                </a:solidFill>
                <a:latin typeface="Encode Sans"/>
                <a:cs typeface="Arial"/>
              </a:rPr>
              <a:t>“</a:t>
            </a:r>
            <a:r>
              <a:rPr lang="en-US" sz="1000" b="0">
                <a:solidFill>
                  <a:schemeClr val="accent1"/>
                </a:solidFill>
                <a:latin typeface="Encode Sans"/>
                <a:cs typeface="Arial"/>
                <a:hlinkClick r:id="rId9" action="ppaction://hlinksldjump"/>
              </a:rPr>
              <a:t>Gate 2 to 4</a:t>
            </a:r>
            <a:r>
              <a:rPr lang="en-US" sz="1000" b="0">
                <a:solidFill>
                  <a:schemeClr val="accent1"/>
                </a:solidFill>
                <a:latin typeface="Encode Sans"/>
                <a:cs typeface="Arial"/>
              </a:rPr>
              <a:t>”</a:t>
            </a:r>
          </a:p>
          <a:p>
            <a:pPr marL="360363" lvl="6" indent="-180975">
              <a:buFont typeface="Wingdings" panose="05000000000000000000" pitchFamily="2" charset="2"/>
              <a:buChar char="ü"/>
            </a:pPr>
            <a:r>
              <a:rPr lang="en-US" sz="1000" b="0">
                <a:solidFill>
                  <a:schemeClr val="accent1"/>
                </a:solidFill>
                <a:latin typeface="Encode Sans"/>
                <a:cs typeface="Arial"/>
              </a:rPr>
              <a:t>Complete with information needed for specific Gate</a:t>
            </a:r>
          </a:p>
        </p:txBody>
      </p:sp>
    </p:spTree>
    <p:custDataLst>
      <p:tags r:id="rId1"/>
    </p:custDataLst>
    <p:extLst>
      <p:ext uri="{BB962C8B-B14F-4D97-AF65-F5344CB8AC3E}">
        <p14:creationId xmlns:p14="http://schemas.microsoft.com/office/powerpoint/2010/main" val="897979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906"/>
        <p:cNvGrpSpPr/>
        <p:nvPr/>
      </p:nvGrpSpPr>
      <p:grpSpPr>
        <a:xfrm>
          <a:off x="0" y="0"/>
          <a:ext cx="0" cy="0"/>
          <a:chOff x="0" y="0"/>
          <a:chExt cx="0" cy="0"/>
        </a:xfrm>
      </p:grpSpPr>
      <p:sp>
        <p:nvSpPr>
          <p:cNvPr id="909" name="Google Shape;909;p118"/>
          <p:cNvSpPr/>
          <p:nvPr/>
        </p:nvSpPr>
        <p:spPr>
          <a:xfrm>
            <a:off x="7367475" y="257600"/>
            <a:ext cx="1502700" cy="395100"/>
          </a:xfrm>
          <a:prstGeom prst="rect">
            <a:avLst/>
          </a:prstGeom>
          <a:solidFill>
            <a:srgbClr val="00206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Encode Sans" pitchFamily="2" charset="0"/>
              <a:sym typeface="Arial"/>
            </a:endParaRPr>
          </a:p>
        </p:txBody>
      </p:sp>
      <p:sp>
        <p:nvSpPr>
          <p:cNvPr id="9" name="Titre 8">
            <a:extLst>
              <a:ext uri="{FF2B5EF4-FFF2-40B4-BE49-F238E27FC236}">
                <a16:creationId xmlns:a16="http://schemas.microsoft.com/office/drawing/2014/main" id="{035FC2D8-7873-4413-8EB2-BD4EAB5FB4EF}"/>
              </a:ext>
            </a:extLst>
          </p:cNvPr>
          <p:cNvSpPr txBox="1">
            <a:spLocks/>
          </p:cNvSpPr>
          <p:nvPr/>
        </p:nvSpPr>
        <p:spPr>
          <a:xfrm>
            <a:off x="592459" y="1504661"/>
            <a:ext cx="3456384" cy="49952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a:solidFill>
                  <a:schemeClr val="bg1"/>
                </a:solidFill>
                <a:latin typeface="Encode Sans" pitchFamily="2" charset="0"/>
              </a:rPr>
              <a:t>TABLE OF CONTENT</a:t>
            </a:r>
          </a:p>
        </p:txBody>
      </p:sp>
      <p:sp>
        <p:nvSpPr>
          <p:cNvPr id="10" name="Espace réservé du texte 1">
            <a:extLst>
              <a:ext uri="{FF2B5EF4-FFF2-40B4-BE49-F238E27FC236}">
                <a16:creationId xmlns:a16="http://schemas.microsoft.com/office/drawing/2014/main" id="{2EF59A23-2FD7-4D61-A041-40ED61EEE007}"/>
              </a:ext>
            </a:extLst>
          </p:cNvPr>
          <p:cNvSpPr txBox="1">
            <a:spLocks/>
          </p:cNvSpPr>
          <p:nvPr/>
        </p:nvSpPr>
        <p:spPr>
          <a:xfrm>
            <a:off x="592459" y="2311286"/>
            <a:ext cx="8277716" cy="2394529"/>
          </a:xfrm>
          <a:prstGeom prst="rect">
            <a:avLst/>
          </a:prstGeom>
        </p:spPr>
        <p:txBody>
          <a:bodyPr>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a:solidFill>
                  <a:schemeClr val="bg1"/>
                </a:solidFill>
                <a:latin typeface="Encode Sans" pitchFamily="2" charset="0"/>
              </a:rPr>
              <a:t>Objectives</a:t>
            </a:r>
          </a:p>
          <a:p>
            <a:r>
              <a:rPr lang="en-US" sz="2000">
                <a:solidFill>
                  <a:schemeClr val="bg1"/>
                </a:solidFill>
                <a:latin typeface="Encode Sans" pitchFamily="2" charset="0"/>
              </a:rPr>
              <a:t>Project Synthesis</a:t>
            </a:r>
          </a:p>
          <a:p>
            <a:r>
              <a:rPr lang="en-US" sz="2000">
                <a:solidFill>
                  <a:schemeClr val="bg1"/>
                </a:solidFill>
                <a:latin typeface="Encode Sans" pitchFamily="2" charset="0"/>
              </a:rPr>
              <a:t>Functional Architecture</a:t>
            </a:r>
          </a:p>
          <a:p>
            <a:r>
              <a:rPr lang="en-US" sz="2000">
                <a:solidFill>
                  <a:schemeClr val="bg1"/>
                </a:solidFill>
                <a:latin typeface="Encode Sans" pitchFamily="2" charset="0"/>
              </a:rPr>
              <a:t>Solutions description (NFR, Technical architecture, cost, schedule)</a:t>
            </a:r>
          </a:p>
          <a:p>
            <a:r>
              <a:rPr lang="en-US" sz="2000">
                <a:solidFill>
                  <a:schemeClr val="bg1"/>
                </a:solidFill>
                <a:latin typeface="Encode Sans" pitchFamily="2" charset="0"/>
              </a:rPr>
              <a:t>Summary of the Solutions</a:t>
            </a:r>
          </a:p>
          <a:p>
            <a:r>
              <a:rPr lang="en-US" sz="2000">
                <a:solidFill>
                  <a:schemeClr val="bg1"/>
                </a:solidFill>
                <a:latin typeface="Encode Sans" pitchFamily="2" charset="0"/>
              </a:rPr>
              <a:t>Gate 1 Demand Gate (Mandatory for all Demands)</a:t>
            </a:r>
          </a:p>
          <a:p>
            <a:r>
              <a:rPr lang="en-US" sz="2000">
                <a:solidFill>
                  <a:schemeClr val="bg1"/>
                </a:solidFill>
                <a:latin typeface="Encode Sans" pitchFamily="2" charset="0"/>
              </a:rPr>
              <a:t>Gate 2 initial Gate </a:t>
            </a:r>
          </a:p>
          <a:p>
            <a:r>
              <a:rPr lang="en-US" sz="2000">
                <a:solidFill>
                  <a:schemeClr val="bg1"/>
                </a:solidFill>
                <a:latin typeface="Encode Sans" pitchFamily="2" charset="0"/>
              </a:rPr>
              <a:t>Gate 3 after Design Gate</a:t>
            </a:r>
          </a:p>
          <a:p>
            <a:r>
              <a:rPr lang="en-US" sz="2000">
                <a:solidFill>
                  <a:schemeClr val="bg1"/>
                </a:solidFill>
                <a:latin typeface="Encode Sans" pitchFamily="2" charset="0"/>
              </a:rPr>
              <a:t>Gate 4 before Go-Live Gate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err="1">
                <a:ln>
                  <a:noFill/>
                </a:ln>
                <a:solidFill>
                  <a:prstClr val="white"/>
                </a:solidFill>
                <a:effectLst/>
                <a:uLnTx/>
                <a:uFillTx/>
                <a:latin typeface="Encode Sans"/>
                <a:ea typeface="+mj-ea"/>
                <a:cs typeface="+mj-cs"/>
              </a:rPr>
              <a:t>ObjectiveS</a:t>
            </a:r>
            <a:endParaRPr>
              <a:latin typeface="Encode Sans" pitchFamily="2" charset="0"/>
            </a:endParaRPr>
          </a:p>
        </p:txBody>
      </p:sp>
      <p:sp>
        <p:nvSpPr>
          <p:cNvPr id="25" name="Espace réservé du contenu 1">
            <a:extLst>
              <a:ext uri="{FF2B5EF4-FFF2-40B4-BE49-F238E27FC236}">
                <a16:creationId xmlns:a16="http://schemas.microsoft.com/office/drawing/2014/main" id="{3DB7E8D5-3C4D-4CF5-9505-4093F38609CE}"/>
              </a:ext>
            </a:extLst>
          </p:cNvPr>
          <p:cNvSpPr txBox="1">
            <a:spLocks/>
          </p:cNvSpPr>
          <p:nvPr/>
        </p:nvSpPr>
        <p:spPr>
          <a:xfrm>
            <a:off x="296864" y="771551"/>
            <a:ext cx="8689194" cy="4290900"/>
          </a:xfrm>
          <a:prstGeom prst="rect">
            <a:avLst/>
          </a:prstGeom>
        </p:spPr>
        <p:txBody>
          <a:bodyPr vert="horz" lIns="91440" tIns="45720" rIns="91440" bIns="45720" rtlCol="0" anchor="t">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b="0" dirty="0">
                <a:solidFill>
                  <a:schemeClr val="accent1"/>
                </a:solidFill>
                <a:latin typeface="Encode Sans"/>
                <a:cs typeface="Arial"/>
              </a:rPr>
              <a:t>Functional architecture (validation by enterprise architects)​</a:t>
            </a:r>
          </a:p>
          <a:p>
            <a:r>
              <a:rPr lang="en-US" b="0" dirty="0">
                <a:solidFill>
                  <a:schemeClr val="accent1"/>
                </a:solidFill>
                <a:latin typeface="Encode Sans"/>
                <a:cs typeface="Arial"/>
              </a:rPr>
              <a:t>Technical architecture (designed with help of solution architects, validation by solution architects &amp; Infrastructure Team)​</a:t>
            </a:r>
          </a:p>
          <a:p>
            <a:r>
              <a:rPr lang="en-US" b="0" dirty="0">
                <a:solidFill>
                  <a:schemeClr val="accent1"/>
                </a:solidFill>
                <a:latin typeface="Encode Sans"/>
                <a:cs typeface="Arial"/>
              </a:rPr>
              <a:t>Cybersecurity impacts (validation by cybersecurity Team)​</a:t>
            </a:r>
          </a:p>
          <a:p>
            <a:r>
              <a:rPr lang="en-US" b="0" dirty="0">
                <a:solidFill>
                  <a:schemeClr val="accent1"/>
                </a:solidFill>
                <a:latin typeface="Encode Sans"/>
                <a:cs typeface="Arial"/>
              </a:rPr>
              <a:t>Data privacy (validation by data privacy team)​</a:t>
            </a:r>
          </a:p>
          <a:p>
            <a:r>
              <a:rPr lang="en-US" b="0" dirty="0">
                <a:solidFill>
                  <a:schemeClr val="accent1"/>
                </a:solidFill>
                <a:latin typeface="Encode Sans"/>
                <a:cs typeface="Arial"/>
              </a:rPr>
              <a:t>For “SaaS”, an  exit plan strategy and contract defined  according to it</a:t>
            </a:r>
          </a:p>
          <a:p>
            <a:r>
              <a:rPr lang="en-US" b="0" dirty="0">
                <a:solidFill>
                  <a:schemeClr val="accent1"/>
                </a:solidFill>
                <a:latin typeface="Encode Sans"/>
                <a:cs typeface="Arial"/>
              </a:rPr>
              <a:t>(optional) List of application decommissioning (application + date)</a:t>
            </a:r>
          </a:p>
          <a:p>
            <a:r>
              <a:rPr lang="en-US" b="0" dirty="0">
                <a:solidFill>
                  <a:schemeClr val="accent1"/>
                </a:solidFill>
                <a:latin typeface="Encode Sans"/>
                <a:cs typeface="Arial"/>
              </a:rPr>
              <a:t>(optional) Contract &amp; licenses impacts and ad hoc contracts (validation by Contract Team)​</a:t>
            </a:r>
          </a:p>
          <a:p>
            <a:r>
              <a:rPr lang="en-US" b="0" dirty="0">
                <a:solidFill>
                  <a:schemeClr val="accent1"/>
                </a:solidFill>
                <a:latin typeface="Encode Sans"/>
                <a:cs typeface="Arial"/>
              </a:rPr>
              <a:t>(optional) Data impacts (validation by Data team)</a:t>
            </a:r>
          </a:p>
          <a:p>
            <a:r>
              <a:rPr lang="en-US" b="0" dirty="0">
                <a:solidFill>
                  <a:schemeClr val="accent1"/>
                </a:solidFill>
                <a:latin typeface="Encode Sans"/>
                <a:cs typeface="Arial"/>
              </a:rPr>
              <a:t>Costs</a:t>
            </a:r>
          </a:p>
          <a:p>
            <a:r>
              <a:rPr lang="en-US" b="0" dirty="0">
                <a:solidFill>
                  <a:schemeClr val="accent1"/>
                </a:solidFill>
                <a:latin typeface="Encode Sans"/>
                <a:cs typeface="Arial"/>
              </a:rPr>
              <a:t>Timelines</a:t>
            </a:r>
          </a:p>
          <a:p>
            <a:endParaRPr lang="en-US" dirty="0">
              <a:solidFill>
                <a:srgbClr val="FF0000"/>
              </a:solidFill>
              <a:latin typeface="Encode Sans" pitchFamily="2" charset="0"/>
            </a:endParaRPr>
          </a:p>
          <a:p>
            <a:r>
              <a:rPr lang="en-US" dirty="0">
                <a:solidFill>
                  <a:schemeClr val="accent1"/>
                </a:solidFill>
                <a:latin typeface="Encode Sans"/>
                <a:cs typeface="Arial"/>
              </a:rPr>
              <a:t>Important: solutions are defined and problem are solved before the gate.</a:t>
            </a:r>
          </a:p>
          <a:p>
            <a:endParaRPr lang="en-US" dirty="0">
              <a:solidFill>
                <a:schemeClr val="accent1"/>
              </a:solidFill>
              <a:latin typeface="Encode Sans" pitchFamily="2" charset="0"/>
            </a:endParaRPr>
          </a:p>
          <a:p>
            <a:endParaRPr lang="en-US" dirty="0">
              <a:solidFill>
                <a:schemeClr val="accent1"/>
              </a:solidFill>
              <a:latin typeface="Encode Sans" pitchFamily="2" charset="0"/>
            </a:endParaRPr>
          </a:p>
        </p:txBody>
      </p:sp>
      <p:sp>
        <p:nvSpPr>
          <p:cNvPr id="2" name="ZoneTexte 1">
            <a:extLst>
              <a:ext uri="{FF2B5EF4-FFF2-40B4-BE49-F238E27FC236}">
                <a16:creationId xmlns:a16="http://schemas.microsoft.com/office/drawing/2014/main" id="{874C7246-5ABE-A58B-840C-C5AAB34BC7E1}"/>
              </a:ext>
            </a:extLst>
          </p:cNvPr>
          <p:cNvSpPr txBox="1"/>
          <p:nvPr/>
        </p:nvSpPr>
        <p:spPr>
          <a:xfrm>
            <a:off x="5847652" y="2710656"/>
            <a:ext cx="3296348"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u="sng">
                <a:latin typeface="Encode Sans" pitchFamily="2" charset="0"/>
              </a:rPr>
              <a:t>Remark</a:t>
            </a:r>
            <a:r>
              <a:rPr lang="en-US" sz="1000">
                <a:latin typeface="Encode Sans" pitchFamily="2" charset="0"/>
              </a:rPr>
              <a:t>: </a:t>
            </a:r>
            <a:br>
              <a:rPr lang="en-US" sz="1000">
                <a:latin typeface="Encode Sans" pitchFamily="2" charset="0"/>
              </a:rPr>
            </a:br>
            <a:r>
              <a:rPr lang="en-US" sz="1000">
                <a:latin typeface="Encode Sans" pitchFamily="2" charset="0"/>
              </a:rPr>
              <a:t>Write here the points to be validated </a:t>
            </a:r>
            <a:r>
              <a:rPr lang="en-US" sz="1000">
                <a:latin typeface="Segoe UI Symbol" panose="020B0502040204020203" pitchFamily="34" charset="0"/>
                <a:ea typeface="Segoe UI Symbol" panose="020B0502040204020203" pitchFamily="34" charset="0"/>
              </a:rPr>
              <a:t>🡺</a:t>
            </a:r>
            <a:r>
              <a:rPr lang="en-US" sz="1000">
                <a:latin typeface="Encode Sans" pitchFamily="2" charset="0"/>
              </a:rPr>
              <a:t> do not forget development and operational criteria and the technical means.</a:t>
            </a:r>
          </a:p>
        </p:txBody>
      </p:sp>
    </p:spTree>
    <p:custDataLst>
      <p:tags r:id="rId1"/>
    </p:custDataLst>
    <p:extLst>
      <p:ext uri="{BB962C8B-B14F-4D97-AF65-F5344CB8AC3E}">
        <p14:creationId xmlns:p14="http://schemas.microsoft.com/office/powerpoint/2010/main" val="2516010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49" y="334650"/>
            <a:ext cx="6769975" cy="257100"/>
          </a:xfrm>
          <a:prstGeom prst="rect">
            <a:avLst/>
          </a:prstGeom>
          <a:noFill/>
          <a:ln>
            <a:noFill/>
          </a:ln>
        </p:spPr>
        <p:txBody>
          <a:bodyPr spcFirstLastPara="1" vert="horz" wrap="square" lIns="68575" tIns="34275" rIns="68575" bIns="34275" rtlCol="0" anchor="ctr" anchorCtr="0">
            <a:noAutofit/>
          </a:bodyPr>
          <a:lstStyle/>
          <a:p>
            <a:r>
              <a:rPr lang="en-US" sz="1200" cap="all">
                <a:solidFill>
                  <a:prstClr val="white"/>
                </a:solidFill>
              </a:rPr>
              <a:t>Architecture One Pager (Demand/Project Overview) – Gate 1 review / Gate 1 PoC</a:t>
            </a:r>
            <a:endParaRPr>
              <a:latin typeface="Encode Sans" pitchFamily="2" charset="0"/>
            </a:endParaRPr>
          </a:p>
        </p:txBody>
      </p:sp>
      <p:sp>
        <p:nvSpPr>
          <p:cNvPr id="1152" name="Rectangle 1151">
            <a:extLst>
              <a:ext uri="{FF2B5EF4-FFF2-40B4-BE49-F238E27FC236}">
                <a16:creationId xmlns:a16="http://schemas.microsoft.com/office/drawing/2014/main" id="{E2894BB4-C16C-7273-A575-4A2416B8094D}"/>
              </a:ext>
            </a:extLst>
          </p:cNvPr>
          <p:cNvSpPr/>
          <p:nvPr/>
        </p:nvSpPr>
        <p:spPr>
          <a:xfrm>
            <a:off x="244402" y="662895"/>
            <a:ext cx="8655197" cy="1019856"/>
          </a:xfrm>
          <a:prstGeom prst="rect">
            <a:avLst/>
          </a:prstGeom>
          <a:noFill/>
          <a:ln>
            <a:solidFill>
              <a:srgbClr val="135EB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750" b="1">
                <a:solidFill>
                  <a:schemeClr val="bg1"/>
                </a:solidFill>
                <a:highlight>
                  <a:srgbClr val="000080"/>
                </a:highlight>
                <a:latin typeface="Arial" panose="020B0604020202020204" pitchFamily="34" charset="0"/>
                <a:cs typeface="Arial" panose="020B0604020202020204" pitchFamily="34" charset="0"/>
              </a:rPr>
              <a:t>Project Details</a:t>
            </a:r>
          </a:p>
          <a:p>
            <a:endParaRPr lang="en-US" sz="750" b="1">
              <a:solidFill>
                <a:schemeClr val="bg1"/>
              </a:solidFill>
              <a:highlight>
                <a:srgbClr val="000080"/>
              </a:highlight>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1959F1F4-FD08-B181-A8CB-4B88E3166E07}"/>
              </a:ext>
            </a:extLst>
          </p:cNvPr>
          <p:cNvGraphicFramePr>
            <a:graphicFrameLocks noGrp="1"/>
          </p:cNvGraphicFramePr>
          <p:nvPr/>
        </p:nvGraphicFramePr>
        <p:xfrm>
          <a:off x="300478" y="1116129"/>
          <a:ext cx="8543042" cy="514813"/>
        </p:xfrm>
        <a:graphic>
          <a:graphicData uri="http://schemas.openxmlformats.org/drawingml/2006/table">
            <a:tbl>
              <a:tblPr>
                <a:tableStyleId>{5C22544A-7EE6-4342-B048-85BDC9FD1C3A}</a:tableStyleId>
              </a:tblPr>
              <a:tblGrid>
                <a:gridCol w="1763272">
                  <a:extLst>
                    <a:ext uri="{9D8B030D-6E8A-4147-A177-3AD203B41FA5}">
                      <a16:colId xmlns:a16="http://schemas.microsoft.com/office/drawing/2014/main" val="817279871"/>
                    </a:ext>
                  </a:extLst>
                </a:gridCol>
                <a:gridCol w="6779770">
                  <a:extLst>
                    <a:ext uri="{9D8B030D-6E8A-4147-A177-3AD203B41FA5}">
                      <a16:colId xmlns:a16="http://schemas.microsoft.com/office/drawing/2014/main" val="3984421803"/>
                    </a:ext>
                  </a:extLst>
                </a:gridCol>
              </a:tblGrid>
              <a:tr h="314325">
                <a:tc>
                  <a:txBody>
                    <a:bodyPr/>
                    <a:lstStyle/>
                    <a:p>
                      <a:pPr marL="0" marR="0" lvl="0" indent="0" algn="l" rtl="0" eaLnBrk="1" fontAlgn="b" latinLnBrk="0" hangingPunct="1">
                        <a:lnSpc>
                          <a:spcPct val="100000"/>
                        </a:lnSpc>
                        <a:spcBef>
                          <a:spcPts val="0"/>
                        </a:spcBef>
                        <a:spcAft>
                          <a:spcPts val="0"/>
                        </a:spcAft>
                        <a:buClrTx/>
                        <a:buSzTx/>
                        <a:buFontTx/>
                        <a:buNone/>
                      </a:pPr>
                      <a:r>
                        <a:rPr lang="en-US" sz="800" b="0" i="0" u="none" strike="noStrike">
                          <a:solidFill>
                            <a:srgbClr val="000000"/>
                          </a:solidFill>
                          <a:effectLst/>
                          <a:latin typeface="Arial"/>
                          <a:cs typeface="Arial"/>
                        </a:rPr>
                        <a:t>Demand Type</a:t>
                      </a:r>
                    </a:p>
                  </a:txBody>
                  <a:tcPr marL="5715" marR="5715" marT="5715" marB="0" anchor="ctr"/>
                </a:tc>
                <a:tc>
                  <a:txBody>
                    <a:bodyPr/>
                    <a:lstStyle/>
                    <a:p>
                      <a:pPr marL="0" marR="0" lvl="0" indent="0" algn="l" rtl="0" eaLnBrk="1" fontAlgn="b" latinLnBrk="0" hangingPunct="1">
                        <a:lnSpc>
                          <a:spcPct val="100000"/>
                        </a:lnSpc>
                        <a:spcBef>
                          <a:spcPts val="0"/>
                        </a:spcBef>
                        <a:spcAft>
                          <a:spcPts val="0"/>
                        </a:spcAft>
                        <a:buClrTx/>
                        <a:buSzTx/>
                        <a:buFontTx/>
                        <a:buNone/>
                      </a:pPr>
                      <a:r>
                        <a:rPr lang="en-US" sz="700" i="0" u="none" strike="noStrike">
                          <a:solidFill>
                            <a:schemeClr val="tx1"/>
                          </a:solidFill>
                          <a:effectLst/>
                          <a:highlight>
                            <a:srgbClr val="FFFF00"/>
                          </a:highlight>
                          <a:latin typeface="Arial"/>
                          <a:cs typeface="Arial"/>
                        </a:rPr>
                        <a:t>Describe the type of this Demand. See slide notes for applicable values (1).</a:t>
                      </a:r>
                      <a:endParaRPr lang="en-US" sz="800" b="0" i="0" u="none" strike="noStrike">
                        <a:solidFill>
                          <a:schemeClr val="tx1"/>
                        </a:solidFill>
                        <a:effectLst/>
                        <a:highlight>
                          <a:srgbClr val="FFFF00"/>
                        </a:highlight>
                        <a:latin typeface="Arial"/>
                        <a:cs typeface="Arial"/>
                      </a:endParaRPr>
                    </a:p>
                  </a:txBody>
                  <a:tcPr marL="5715" marR="5715" marT="5715" marB="0" anchor="ctr"/>
                </a:tc>
                <a:extLst>
                  <a:ext uri="{0D108BD9-81ED-4DB2-BD59-A6C34878D82A}">
                    <a16:rowId xmlns:a16="http://schemas.microsoft.com/office/drawing/2014/main" val="3749525303"/>
                  </a:ext>
                </a:extLst>
              </a:tr>
              <a:tr h="200488">
                <a:tc>
                  <a:txBody>
                    <a:bodyPr/>
                    <a:lstStyle/>
                    <a:p>
                      <a:pPr algn="l" fontAlgn="b"/>
                      <a:r>
                        <a:rPr lang="en-US" sz="800" i="0" u="none" strike="noStrike">
                          <a:effectLst/>
                          <a:latin typeface="Arial"/>
                          <a:cs typeface="Arial"/>
                        </a:rPr>
                        <a:t> Build type</a:t>
                      </a:r>
                      <a:endParaRPr lang="en-US" sz="800" b="0" i="0" u="none" strike="noStrike">
                        <a:solidFill>
                          <a:srgbClr val="000000"/>
                        </a:solidFill>
                        <a:effectLst/>
                        <a:latin typeface="Arial"/>
                        <a:cs typeface="Arial"/>
                      </a:endParaRPr>
                    </a:p>
                  </a:txBody>
                  <a:tcPr marL="5715" marR="5715" marT="5715" marB="0" anchor="ctr"/>
                </a:tc>
                <a:tc>
                  <a:txBody>
                    <a:bodyPr/>
                    <a:lstStyle/>
                    <a:p>
                      <a:pPr algn="l" fontAlgn="b"/>
                      <a:r>
                        <a:rPr lang="en-US" sz="700" i="0" u="none" strike="noStrike">
                          <a:solidFill>
                            <a:schemeClr val="tx1"/>
                          </a:solidFill>
                          <a:effectLst/>
                          <a:highlight>
                            <a:srgbClr val="FFFF00"/>
                          </a:highlight>
                          <a:latin typeface="Arial"/>
                          <a:cs typeface="Arial"/>
                        </a:rPr>
                        <a:t>Describe what is plan to be done during execution phase (=build): </a:t>
                      </a:r>
                      <a:r>
                        <a:rPr lang="en-US" sz="700" i="0" u="none" strike="noStrike">
                          <a:solidFill>
                            <a:schemeClr val="tx1"/>
                          </a:solidFill>
                          <a:effectLst/>
                          <a:highlight>
                            <a:srgbClr val="FFFF00"/>
                          </a:highlight>
                          <a:latin typeface="+mn-lt"/>
                          <a:cs typeface="Arial"/>
                        </a:rPr>
                        <a:t>See slide notes for applicable values (2)</a:t>
                      </a:r>
                      <a:endParaRPr lang="en-US" sz="700" b="0" i="0" u="none" strike="noStrike">
                        <a:solidFill>
                          <a:srgbClr val="000000"/>
                        </a:solidFill>
                        <a:effectLst/>
                        <a:latin typeface="Arial"/>
                        <a:cs typeface="Arial"/>
                      </a:endParaRPr>
                    </a:p>
                  </a:txBody>
                  <a:tcPr marL="5715" marR="5715" marT="5715" marB="0" anchor="ctr"/>
                </a:tc>
                <a:extLst>
                  <a:ext uri="{0D108BD9-81ED-4DB2-BD59-A6C34878D82A}">
                    <a16:rowId xmlns:a16="http://schemas.microsoft.com/office/drawing/2014/main" val="250975319"/>
                  </a:ext>
                </a:extLst>
              </a:tr>
            </a:tbl>
          </a:graphicData>
        </a:graphic>
      </p:graphicFrame>
      <p:sp>
        <p:nvSpPr>
          <p:cNvPr id="13" name="Rectangle 12">
            <a:extLst>
              <a:ext uri="{FF2B5EF4-FFF2-40B4-BE49-F238E27FC236}">
                <a16:creationId xmlns:a16="http://schemas.microsoft.com/office/drawing/2014/main" id="{3E890E66-7BC0-6C45-FA45-971213D80C66}"/>
              </a:ext>
            </a:extLst>
          </p:cNvPr>
          <p:cNvSpPr/>
          <p:nvPr/>
        </p:nvSpPr>
        <p:spPr>
          <a:xfrm>
            <a:off x="244972" y="1732672"/>
            <a:ext cx="3584078" cy="647798"/>
          </a:xfrm>
          <a:prstGeom prst="rect">
            <a:avLst/>
          </a:prstGeom>
          <a:noFill/>
          <a:ln>
            <a:solidFill>
              <a:srgbClr val="135EB9"/>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r>
              <a:rPr lang="en-US" sz="750" b="1">
                <a:solidFill>
                  <a:schemeClr val="bg1"/>
                </a:solidFill>
                <a:highlight>
                  <a:srgbClr val="000080"/>
                </a:highlight>
                <a:latin typeface="Arial"/>
                <a:cs typeface="Arial"/>
              </a:rPr>
              <a:t>Business Capabilities</a:t>
            </a:r>
            <a:r>
              <a:rPr lang="en-US" sz="750" kern="1200">
                <a:solidFill>
                  <a:srgbClr val="000000"/>
                </a:solidFill>
                <a:latin typeface="Arial"/>
                <a:cs typeface="Arial"/>
              </a:rPr>
              <a:t>  Map available </a:t>
            </a:r>
            <a:r>
              <a:rPr lang="en-US" sz="750" b="1" kern="1200">
                <a:solidFill>
                  <a:srgbClr val="000000"/>
                </a:solidFill>
                <a:latin typeface="Arial"/>
                <a:cs typeface="Arial"/>
                <a:hlinkClick r:id="rId4"/>
              </a:rPr>
              <a:t>HERE</a:t>
            </a:r>
            <a:endParaRPr lang="en-US" sz="750" b="1" kern="1200">
              <a:solidFill>
                <a:srgbClr val="000000"/>
              </a:solidFill>
              <a:latin typeface="Arial"/>
              <a:cs typeface="Arial"/>
            </a:endParaRPr>
          </a:p>
          <a:p>
            <a:r>
              <a:rPr lang="en-US" sz="675" kern="1200">
                <a:solidFill>
                  <a:srgbClr val="000000"/>
                </a:solidFill>
                <a:highlight>
                  <a:srgbClr val="FFFF00"/>
                </a:highlight>
                <a:latin typeface="Arial"/>
                <a:cs typeface="Arial"/>
              </a:rPr>
              <a:t>Look at the Business Capability map and List the </a:t>
            </a:r>
            <a:r>
              <a:rPr lang="en-US" sz="675">
                <a:solidFill>
                  <a:srgbClr val="000000"/>
                </a:solidFill>
                <a:highlight>
                  <a:srgbClr val="FFFF00"/>
                </a:highlight>
                <a:latin typeface="Arial"/>
                <a:cs typeface="Arial"/>
              </a:rPr>
              <a:t>Business Capabilities impacted</a:t>
            </a:r>
            <a:r>
              <a:rPr lang="en-US" sz="675" kern="1200">
                <a:solidFill>
                  <a:srgbClr val="000000"/>
                </a:solidFill>
                <a:highlight>
                  <a:srgbClr val="FFFF00"/>
                </a:highlight>
                <a:latin typeface="Arial"/>
                <a:cs typeface="Arial"/>
              </a:rPr>
              <a:t> with criticality indicator</a:t>
            </a:r>
            <a:endParaRPr lang="en-US" sz="675" b="1">
              <a:solidFill>
                <a:schemeClr val="bg1"/>
              </a:solidFill>
              <a:highlight>
                <a:srgbClr val="000080"/>
              </a:highlight>
              <a:latin typeface="Arial"/>
              <a:cs typeface="Arial"/>
            </a:endParaRPr>
          </a:p>
          <a:p>
            <a:pPr marL="128588" indent="-128588">
              <a:buFont typeface="Arial" panose="020B0604020202020204" pitchFamily="34" charset="0"/>
              <a:buChar char="•"/>
            </a:pPr>
            <a:r>
              <a:rPr lang="en-US" sz="750">
                <a:solidFill>
                  <a:schemeClr val="tx1"/>
                </a:solidFill>
                <a:latin typeface="Arial"/>
                <a:cs typeface="Arial"/>
              </a:rPr>
              <a:t>---</a:t>
            </a:r>
          </a:p>
          <a:p>
            <a:pPr marL="128588" indent="-128588">
              <a:buFont typeface="Arial" panose="020B0604020202020204" pitchFamily="34" charset="0"/>
              <a:buChar char="•"/>
            </a:pPr>
            <a:r>
              <a:rPr lang="en-US" sz="750">
                <a:solidFill>
                  <a:schemeClr val="tx1"/>
                </a:solidFill>
                <a:latin typeface="Arial"/>
                <a:cs typeface="Arial"/>
              </a:rPr>
              <a:t>---</a:t>
            </a:r>
          </a:p>
          <a:p>
            <a:pPr marL="128588" indent="-128588">
              <a:buFont typeface="Arial" panose="020B0604020202020204" pitchFamily="34" charset="0"/>
              <a:buChar char="•"/>
            </a:pPr>
            <a:endParaRPr lang="en-US" sz="750" i="1">
              <a:solidFill>
                <a:schemeClr val="tx1"/>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BB08E395-0A5B-E7F6-3A8D-9DEB113449D2}"/>
              </a:ext>
            </a:extLst>
          </p:cNvPr>
          <p:cNvSpPr/>
          <p:nvPr/>
        </p:nvSpPr>
        <p:spPr>
          <a:xfrm>
            <a:off x="237829" y="3297272"/>
            <a:ext cx="3591221" cy="745031"/>
          </a:xfrm>
          <a:prstGeom prst="rect">
            <a:avLst/>
          </a:prstGeom>
          <a:noFill/>
          <a:ln>
            <a:solidFill>
              <a:srgbClr val="135EB9"/>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r>
              <a:rPr lang="en-US" sz="750" b="1">
                <a:solidFill>
                  <a:schemeClr val="bg1"/>
                </a:solidFill>
                <a:highlight>
                  <a:srgbClr val="000080"/>
                </a:highlight>
                <a:latin typeface="Arial"/>
                <a:cs typeface="Arial"/>
              </a:rPr>
              <a:t>Business Applications / Application Services</a:t>
            </a:r>
            <a:r>
              <a:rPr lang="en-US" sz="750" kern="1200">
                <a:solidFill>
                  <a:srgbClr val="000000"/>
                </a:solidFill>
                <a:latin typeface="Arial"/>
                <a:cs typeface="Arial"/>
              </a:rPr>
              <a:t> </a:t>
            </a:r>
            <a:r>
              <a:rPr lang="en-US" sz="675">
                <a:solidFill>
                  <a:schemeClr val="tx1"/>
                </a:solidFill>
                <a:highlight>
                  <a:srgbClr val="FFFF00"/>
                </a:highlight>
                <a:latin typeface="Arial"/>
                <a:cs typeface="Arial"/>
              </a:rPr>
              <a:t>List the Business Application(</a:t>
            </a:r>
            <a:r>
              <a:rPr lang="en-US" sz="680">
                <a:solidFill>
                  <a:schemeClr val="tx1"/>
                </a:solidFill>
                <a:highlight>
                  <a:srgbClr val="FFFF00"/>
                </a:highlight>
                <a:latin typeface="Arial"/>
                <a:cs typeface="Arial"/>
              </a:rPr>
              <a:t>s) impacted (</a:t>
            </a:r>
            <a:r>
              <a:rPr lang="en-US" sz="680">
                <a:solidFill>
                  <a:srgbClr val="000000"/>
                </a:solidFill>
                <a:highlight>
                  <a:srgbClr val="FFFF00"/>
                </a:highlight>
                <a:latin typeface="Arial"/>
                <a:cs typeface="Arial"/>
              </a:rPr>
              <a:t>in </a:t>
            </a:r>
            <a:r>
              <a:rPr lang="en-US" sz="680" err="1">
                <a:solidFill>
                  <a:srgbClr val="000000"/>
                </a:solidFill>
                <a:highlight>
                  <a:srgbClr val="FFFF00"/>
                </a:highlight>
                <a:latin typeface="Arial"/>
                <a:cs typeface="Arial"/>
                <a:hlinkClick r:id="rId5"/>
              </a:rPr>
              <a:t>DigitalMe</a:t>
            </a:r>
            <a:r>
              <a:rPr lang="en-US" sz="680">
                <a:solidFill>
                  <a:srgbClr val="000000"/>
                </a:solidFill>
                <a:highlight>
                  <a:srgbClr val="FFFF00"/>
                </a:highlight>
                <a:latin typeface="Arial"/>
                <a:cs typeface="Arial"/>
                <a:hlinkClick r:id="rId5"/>
              </a:rPr>
              <a:t> Portfolio</a:t>
            </a:r>
            <a:r>
              <a:rPr lang="en-US" sz="680" b="1" kern="1200">
                <a:solidFill>
                  <a:srgbClr val="000000"/>
                </a:solidFill>
                <a:highlight>
                  <a:srgbClr val="FFFF00"/>
                </a:highlight>
                <a:latin typeface="Arial"/>
                <a:cs typeface="Arial"/>
              </a:rPr>
              <a:t>) </a:t>
            </a:r>
            <a:r>
              <a:rPr lang="en-US" sz="680">
                <a:solidFill>
                  <a:schemeClr val="tx1"/>
                </a:solidFill>
                <a:highlight>
                  <a:srgbClr val="FFFF00"/>
                </a:highlight>
                <a:latin typeface="Arial"/>
                <a:cs typeface="Arial"/>
              </a:rPr>
              <a:t>or </a:t>
            </a:r>
            <a:r>
              <a:rPr lang="en-US" sz="675">
                <a:solidFill>
                  <a:schemeClr val="tx1"/>
                </a:solidFill>
                <a:highlight>
                  <a:srgbClr val="FFFF00"/>
                </a:highlight>
                <a:latin typeface="Arial"/>
                <a:cs typeface="Arial"/>
              </a:rPr>
              <a:t>Application Services impacted (in </a:t>
            </a:r>
            <a:r>
              <a:rPr lang="en-US" sz="675" err="1">
                <a:solidFill>
                  <a:schemeClr val="tx1"/>
                </a:solidFill>
                <a:highlight>
                  <a:srgbClr val="FFFF00"/>
                </a:highlight>
                <a:latin typeface="Arial"/>
                <a:cs typeface="Arial"/>
                <a:hlinkClick r:id="rId5"/>
              </a:rPr>
              <a:t>DigitalMe</a:t>
            </a:r>
            <a:r>
              <a:rPr lang="en-US" sz="675">
                <a:solidFill>
                  <a:schemeClr val="tx1"/>
                </a:solidFill>
                <a:highlight>
                  <a:srgbClr val="FFFF00"/>
                </a:highlight>
                <a:latin typeface="Arial"/>
                <a:cs typeface="Arial"/>
                <a:hlinkClick r:id="rId5"/>
              </a:rPr>
              <a:t> Portfolio</a:t>
            </a:r>
            <a:r>
              <a:rPr lang="en-US" sz="675">
                <a:solidFill>
                  <a:schemeClr val="tx1"/>
                </a:solidFill>
                <a:highlight>
                  <a:srgbClr val="FFFF00"/>
                </a:highlight>
                <a:latin typeface="Arial"/>
                <a:cs typeface="Arial"/>
              </a:rPr>
              <a:t>)</a:t>
            </a:r>
          </a:p>
          <a:p>
            <a:r>
              <a:rPr lang="en-US" sz="700" i="1">
                <a:solidFill>
                  <a:schemeClr val="tx1"/>
                </a:solidFill>
                <a:highlight>
                  <a:srgbClr val="FFFF00"/>
                </a:highlight>
                <a:latin typeface="Arial" panose="020B0604020202020204" pitchFamily="34" charset="0"/>
                <a:cs typeface="Arial" panose="020B0604020202020204" pitchFamily="34" charset="0"/>
              </a:rPr>
              <a:t>Complete for Gate 2 section #Impacted Applications Service</a:t>
            </a:r>
            <a:endParaRPr lang="en-US" sz="675">
              <a:solidFill>
                <a:schemeClr val="tx1"/>
              </a:solidFill>
              <a:highlight>
                <a:srgbClr val="FFFF00"/>
              </a:highlight>
              <a:latin typeface="Arial"/>
              <a:cs typeface="Arial"/>
            </a:endParaRPr>
          </a:p>
          <a:p>
            <a:pPr marL="128588" indent="-128588">
              <a:buFont typeface="Arial" panose="020B0604020202020204" pitchFamily="34" charset="0"/>
              <a:buChar char="•"/>
            </a:pPr>
            <a:r>
              <a:rPr lang="en-US" sz="750">
                <a:solidFill>
                  <a:schemeClr val="tx1"/>
                </a:solidFill>
                <a:latin typeface="Arial"/>
                <a:cs typeface="Arial"/>
              </a:rPr>
              <a:t>---</a:t>
            </a:r>
          </a:p>
          <a:p>
            <a:pPr marL="128588" indent="-128588">
              <a:buFont typeface="Arial" panose="020B0604020202020204" pitchFamily="34" charset="0"/>
              <a:buChar char="•"/>
            </a:pPr>
            <a:r>
              <a:rPr lang="en-US" sz="750">
                <a:solidFill>
                  <a:schemeClr val="tx1"/>
                </a:solidFill>
                <a:latin typeface="Arial"/>
                <a:cs typeface="Arial"/>
              </a:rPr>
              <a:t>---</a:t>
            </a:r>
            <a:endParaRPr lang="en-US" sz="1050">
              <a:solidFill>
                <a:schemeClr val="tx1"/>
              </a:solidFill>
            </a:endParaRPr>
          </a:p>
          <a:p>
            <a:pPr marL="128588" indent="-128588">
              <a:buFont typeface="Arial" panose="020B0604020202020204" pitchFamily="34" charset="0"/>
              <a:buChar char="•"/>
            </a:pPr>
            <a:endParaRPr lang="en-US" sz="750" i="1">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3A88952-D0DC-1BDA-BF64-005C11485BBC}"/>
              </a:ext>
            </a:extLst>
          </p:cNvPr>
          <p:cNvSpPr/>
          <p:nvPr/>
        </p:nvSpPr>
        <p:spPr>
          <a:xfrm>
            <a:off x="245658" y="4132247"/>
            <a:ext cx="3575564" cy="777452"/>
          </a:xfrm>
          <a:prstGeom prst="rect">
            <a:avLst/>
          </a:prstGeom>
          <a:noFill/>
          <a:ln>
            <a:solidFill>
              <a:srgbClr val="135EB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750" b="1">
                <a:solidFill>
                  <a:schemeClr val="bg1"/>
                </a:solidFill>
                <a:highlight>
                  <a:srgbClr val="000080"/>
                </a:highlight>
                <a:latin typeface="Arial" panose="020B0604020202020204" pitchFamily="34" charset="0"/>
                <a:cs typeface="Arial" panose="020B0604020202020204" pitchFamily="34" charset="0"/>
              </a:rPr>
              <a:t>Related records</a:t>
            </a:r>
          </a:p>
          <a:p>
            <a:r>
              <a:rPr lang="en-US" sz="675">
                <a:solidFill>
                  <a:schemeClr val="tx1"/>
                </a:solidFill>
                <a:highlight>
                  <a:srgbClr val="FFFF00"/>
                </a:highlight>
                <a:latin typeface="Arial" panose="020B0604020202020204" pitchFamily="34" charset="0"/>
                <a:cs typeface="Arial" panose="020B0604020202020204" pitchFamily="34" charset="0"/>
              </a:rPr>
              <a:t>List the potential other program(s) or project(s) in planning/roadmap dependence with this Demand</a:t>
            </a:r>
          </a:p>
          <a:p>
            <a:pPr marL="128588" indent="-128588">
              <a:buFont typeface="Arial" panose="020B0604020202020204" pitchFamily="34" charset="0"/>
              <a:buChar char="•"/>
            </a:pPr>
            <a:r>
              <a:rPr lang="en-US" sz="750" err="1">
                <a:solidFill>
                  <a:schemeClr val="tx1"/>
                </a:solidFill>
                <a:highlight>
                  <a:srgbClr val="FFFF00"/>
                </a:highlight>
                <a:latin typeface="Arial" panose="020B0604020202020204" pitchFamily="34" charset="0"/>
                <a:cs typeface="Arial" panose="020B0604020202020204" pitchFamily="34" charset="0"/>
              </a:rPr>
              <a:t>GenAI</a:t>
            </a:r>
            <a:r>
              <a:rPr lang="en-US" sz="750">
                <a:solidFill>
                  <a:schemeClr val="tx1"/>
                </a:solidFill>
                <a:highlight>
                  <a:srgbClr val="FFFF00"/>
                </a:highlight>
                <a:latin typeface="Arial" panose="020B0604020202020204" pitchFamily="34" charset="0"/>
                <a:cs typeface="Arial" panose="020B0604020202020204" pitchFamily="34" charset="0"/>
              </a:rPr>
              <a:t> </a:t>
            </a:r>
            <a:r>
              <a:rPr lang="en-US" sz="750" err="1">
                <a:solidFill>
                  <a:schemeClr val="tx1"/>
                </a:solidFill>
                <a:highlight>
                  <a:srgbClr val="FFFF00"/>
                </a:highlight>
                <a:latin typeface="Arial" panose="020B0604020202020204" pitchFamily="34" charset="0"/>
                <a:cs typeface="Arial" panose="020B0604020202020204" pitchFamily="34" charset="0"/>
              </a:rPr>
              <a:t>BrightIdea</a:t>
            </a:r>
            <a:r>
              <a:rPr lang="en-US" sz="750">
                <a:solidFill>
                  <a:schemeClr val="tx1"/>
                </a:solidFill>
                <a:highlight>
                  <a:srgbClr val="FFFF00"/>
                </a:highlight>
                <a:latin typeface="Arial" panose="020B0604020202020204" pitchFamily="34" charset="0"/>
                <a:cs typeface="Arial" panose="020B0604020202020204" pitchFamily="34" charset="0"/>
              </a:rPr>
              <a:t> #id if needed</a:t>
            </a:r>
          </a:p>
          <a:p>
            <a:pPr marL="128588" indent="-128588">
              <a:buFont typeface="Arial" panose="020B0604020202020204" pitchFamily="34" charset="0"/>
              <a:buChar char="•"/>
            </a:pPr>
            <a:r>
              <a:rPr lang="en-US" sz="750" err="1">
                <a:solidFill>
                  <a:schemeClr val="tx1"/>
                </a:solidFill>
                <a:highlight>
                  <a:srgbClr val="FFFF00"/>
                </a:highlight>
                <a:latin typeface="Arial" panose="020B0604020202020204" pitchFamily="34" charset="0"/>
                <a:cs typeface="Arial" panose="020B0604020202020204" pitchFamily="34" charset="0"/>
              </a:rPr>
              <a:t>DigitalMe</a:t>
            </a:r>
            <a:r>
              <a:rPr lang="en-US" sz="750">
                <a:solidFill>
                  <a:schemeClr val="tx1"/>
                </a:solidFill>
                <a:highlight>
                  <a:srgbClr val="FFFF00"/>
                </a:highlight>
                <a:latin typeface="Arial" panose="020B0604020202020204" pitchFamily="34" charset="0"/>
                <a:cs typeface="Arial" panose="020B0604020202020204" pitchFamily="34" charset="0"/>
              </a:rPr>
              <a:t> ID(s)</a:t>
            </a:r>
          </a:p>
          <a:p>
            <a:pPr marL="128588" indent="-128588">
              <a:buFont typeface="Arial" panose="020B0604020202020204" pitchFamily="34" charset="0"/>
              <a:buChar char="•"/>
            </a:pPr>
            <a:r>
              <a:rPr lang="en-US" sz="750">
                <a:solidFill>
                  <a:schemeClr val="tx1"/>
                </a:solidFill>
                <a:highlight>
                  <a:srgbClr val="FFFF00"/>
                </a:highlight>
                <a:latin typeface="Arial" panose="020B0604020202020204" pitchFamily="34" charset="0"/>
                <a:cs typeface="Arial" panose="020B0604020202020204" pitchFamily="34" charset="0"/>
              </a:rPr>
              <a:t>RPA : Idea number + Opportunity Assessment Template + shadowing</a:t>
            </a:r>
          </a:p>
        </p:txBody>
      </p:sp>
      <p:graphicFrame>
        <p:nvGraphicFramePr>
          <p:cNvPr id="30" name="Table 29">
            <a:extLst>
              <a:ext uri="{FF2B5EF4-FFF2-40B4-BE49-F238E27FC236}">
                <a16:creationId xmlns:a16="http://schemas.microsoft.com/office/drawing/2014/main" id="{8276439C-2813-E8D0-93AE-182C4B3827E3}"/>
              </a:ext>
            </a:extLst>
          </p:cNvPr>
          <p:cNvGraphicFramePr>
            <a:graphicFrameLocks noGrp="1"/>
          </p:cNvGraphicFramePr>
          <p:nvPr>
            <p:extLst>
              <p:ext uri="{D42A27DB-BD31-4B8C-83A1-F6EECF244321}">
                <p14:modId xmlns:p14="http://schemas.microsoft.com/office/powerpoint/2010/main" val="3243415526"/>
              </p:ext>
            </p:extLst>
          </p:nvPr>
        </p:nvGraphicFramePr>
        <p:xfrm>
          <a:off x="3887714" y="1731964"/>
          <a:ext cx="5011884" cy="3282947"/>
        </p:xfrm>
        <a:graphic>
          <a:graphicData uri="http://schemas.openxmlformats.org/drawingml/2006/table">
            <a:tbl>
              <a:tblPr firstRow="1" bandRow="1">
                <a:tableStyleId>{5C22544A-7EE6-4342-B048-85BDC9FD1C3A}</a:tableStyleId>
              </a:tblPr>
              <a:tblGrid>
                <a:gridCol w="1198636">
                  <a:extLst>
                    <a:ext uri="{9D8B030D-6E8A-4147-A177-3AD203B41FA5}">
                      <a16:colId xmlns:a16="http://schemas.microsoft.com/office/drawing/2014/main" val="787101966"/>
                    </a:ext>
                  </a:extLst>
                </a:gridCol>
                <a:gridCol w="3813248">
                  <a:extLst>
                    <a:ext uri="{9D8B030D-6E8A-4147-A177-3AD203B41FA5}">
                      <a16:colId xmlns:a16="http://schemas.microsoft.com/office/drawing/2014/main" val="1380588127"/>
                    </a:ext>
                  </a:extLst>
                </a:gridCol>
              </a:tblGrid>
              <a:tr h="249878">
                <a:tc gridSpan="2">
                  <a:txBody>
                    <a:bodyPr/>
                    <a:lstStyle/>
                    <a:p>
                      <a:r>
                        <a:rPr lang="en-US" sz="800">
                          <a:solidFill>
                            <a:schemeClr val="bg1"/>
                          </a:solidFill>
                          <a:latin typeface="Arial"/>
                          <a:cs typeface="Arial"/>
                          <a:hlinkClick r:id="rId6">
                            <a:extLst>
                              <a:ext uri="{A12FA001-AC4F-418D-AE19-62706E023703}">
                                <ahyp:hlinkClr xmlns:ahyp="http://schemas.microsoft.com/office/drawing/2018/hyperlinkcolor" val="tx"/>
                              </a:ext>
                            </a:extLst>
                          </a:hlinkClick>
                        </a:rPr>
                        <a:t>Technical Principles Compliance</a:t>
                      </a:r>
                      <a:endParaRPr lang="en-US" sz="800">
                        <a:solidFill>
                          <a:schemeClr val="bg1"/>
                        </a:solidFill>
                        <a:latin typeface="Arial"/>
                        <a:cs typeface="Arial"/>
                      </a:endParaRPr>
                    </a:p>
                  </a:txBody>
                  <a:tcPr marL="68580" marR="68580" marT="34290" marB="34290" anchor="ctr">
                    <a:solidFill>
                      <a:srgbClr val="002060"/>
                    </a:solidFill>
                  </a:tcPr>
                </a:tc>
                <a:tc hMerge="1">
                  <a:txBody>
                    <a:bodyPr/>
                    <a:lstStyle/>
                    <a:p>
                      <a:pPr algn="ctr"/>
                      <a:endParaRPr lang="en-US" sz="11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40889003"/>
                  </a:ext>
                </a:extLst>
              </a:tr>
              <a:tr h="500538">
                <a:tc>
                  <a:txBody>
                    <a:bodyPr/>
                    <a:lstStyle/>
                    <a:p>
                      <a:pPr algn="r"/>
                      <a:r>
                        <a:rPr lang="fr-FR" sz="800" err="1">
                          <a:latin typeface="Arial"/>
                          <a:cs typeface="Arial"/>
                        </a:rPr>
                        <a:t>Regulatory</a:t>
                      </a:r>
                      <a:r>
                        <a:rPr lang="fr-FR" sz="800">
                          <a:latin typeface="Arial"/>
                          <a:cs typeface="Arial"/>
                        </a:rPr>
                        <a:t> compliance</a:t>
                      </a:r>
                      <a:endParaRPr lang="en-US" sz="800">
                        <a:latin typeface="Arial"/>
                        <a:cs typeface="Arial"/>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a:highlight>
                            <a:srgbClr val="FFFF00"/>
                          </a:highlight>
                          <a:latin typeface="+mn-lt"/>
                          <a:cs typeface="Arial"/>
                        </a:rPr>
                        <a:t>List of the regulatory the project needs to comply with</a:t>
                      </a:r>
                      <a:r>
                        <a:rPr lang="en-US" sz="800">
                          <a:highlight>
                            <a:srgbClr val="FFFF00"/>
                          </a:highlight>
                          <a:latin typeface="Arial"/>
                          <a:cs typeface="Arial"/>
                        </a:rPr>
                        <a:t>. See slide note for applicable values (4).</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i="1">
                          <a:highlight>
                            <a:srgbClr val="FFFF00"/>
                          </a:highlight>
                          <a:latin typeface="+mn-lt"/>
                          <a:cs typeface="Arial"/>
                        </a:rPr>
                        <a:t>if Personal data involved, mention what PII Data for gate 2 - Complete  section “#Data Privacy”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i="1">
                          <a:highlight>
                            <a:srgbClr val="FFFF00"/>
                          </a:highlight>
                          <a:latin typeface="+mn-lt"/>
                          <a:cs typeface="Arial"/>
                        </a:rPr>
                        <a:t>“DORA compliance requires exit plan for business-critical cloud applications” . What is the substitutability of the service provider?</a:t>
                      </a:r>
                      <a:endParaRPr lang="en-US" sz="800">
                        <a:highlight>
                          <a:srgbClr val="FFFF00"/>
                        </a:highlight>
                        <a:latin typeface="+mn-lt"/>
                        <a:cs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800">
                        <a:highlight>
                          <a:srgbClr val="FFFF00"/>
                        </a:highlight>
                        <a:latin typeface="+mn-lt"/>
                        <a:cs typeface="Arial"/>
                      </a:endParaRPr>
                    </a:p>
                  </a:txBody>
                  <a:tcPr marL="68580" marR="68580" marT="34290" marB="34290"/>
                </a:tc>
                <a:extLst>
                  <a:ext uri="{0D108BD9-81ED-4DB2-BD59-A6C34878D82A}">
                    <a16:rowId xmlns:a16="http://schemas.microsoft.com/office/drawing/2014/main" val="3017904776"/>
                  </a:ext>
                </a:extLst>
              </a:tr>
              <a:tr h="340353">
                <a:tc>
                  <a:txBody>
                    <a:bodyPr/>
                    <a:lstStyle/>
                    <a:p>
                      <a:pPr algn="r"/>
                      <a:r>
                        <a:rPr lang="en-US" sz="800">
                          <a:latin typeface="+mn-lt"/>
                          <a:cs typeface="Arial"/>
                        </a:rPr>
                        <a:t>Technology(</a:t>
                      </a:r>
                      <a:r>
                        <a:rPr lang="en-US" sz="800" err="1">
                          <a:latin typeface="+mn-lt"/>
                          <a:cs typeface="Arial"/>
                        </a:rPr>
                        <a:t>ies</a:t>
                      </a:r>
                      <a:r>
                        <a:rPr lang="en-US" sz="800">
                          <a:latin typeface="+mn-lt"/>
                          <a:cs typeface="Arial"/>
                        </a:rPr>
                        <a:t>) involved</a:t>
                      </a:r>
                    </a:p>
                  </a:txBody>
                  <a:tcPr marL="68580" marR="68580" marT="34290" marB="34290"/>
                </a:tc>
                <a:tc>
                  <a:txBody>
                    <a:bodyPr/>
                    <a:lstStyle/>
                    <a:p>
                      <a:r>
                        <a:rPr lang="fr-FR" sz="800">
                          <a:highlight>
                            <a:srgbClr val="FFFF00"/>
                          </a:highlight>
                          <a:latin typeface="Arial"/>
                          <a:cs typeface="Arial"/>
                        </a:rPr>
                        <a:t>List of technologies </a:t>
                      </a:r>
                      <a:r>
                        <a:rPr lang="fr-FR" sz="800" err="1">
                          <a:highlight>
                            <a:srgbClr val="FFFF00"/>
                          </a:highlight>
                          <a:latin typeface="Arial"/>
                          <a:cs typeface="Arial"/>
                        </a:rPr>
                        <a:t>involved</a:t>
                      </a:r>
                      <a:r>
                        <a:rPr lang="fr-FR" sz="800">
                          <a:highlight>
                            <a:srgbClr val="FFFF00"/>
                          </a:highlight>
                          <a:latin typeface="Arial"/>
                          <a:cs typeface="Arial"/>
                        </a:rPr>
                        <a:t>. </a:t>
                      </a:r>
                      <a:r>
                        <a:rPr lang="fr-FR" sz="800" err="1">
                          <a:highlight>
                            <a:srgbClr val="FFFF00"/>
                          </a:highlight>
                          <a:latin typeface="Arial"/>
                          <a:cs typeface="Arial"/>
                        </a:rPr>
                        <a:t>See</a:t>
                      </a:r>
                      <a:r>
                        <a:rPr lang="fr-FR" sz="800">
                          <a:highlight>
                            <a:srgbClr val="FFFF00"/>
                          </a:highlight>
                          <a:latin typeface="Arial"/>
                          <a:cs typeface="Arial"/>
                        </a:rPr>
                        <a:t> slide note for applicable values (5).</a:t>
                      </a:r>
                      <a:endParaRPr lang="en-US" sz="800">
                        <a:highlight>
                          <a:srgbClr val="FFFF00"/>
                        </a:highlight>
                        <a:latin typeface="Arial"/>
                        <a:cs typeface="Arial"/>
                      </a:endParaRPr>
                    </a:p>
                  </a:txBody>
                  <a:tcPr marL="68580" marR="68580" marT="34290" marB="34290"/>
                </a:tc>
                <a:extLst>
                  <a:ext uri="{0D108BD9-81ED-4DB2-BD59-A6C34878D82A}">
                    <a16:rowId xmlns:a16="http://schemas.microsoft.com/office/drawing/2014/main" val="1439008314"/>
                  </a:ext>
                </a:extLst>
              </a:tr>
              <a:tr h="500538">
                <a:tc>
                  <a:txBody>
                    <a:bodyPr/>
                    <a:lstStyle/>
                    <a:p>
                      <a:pPr algn="r"/>
                      <a:r>
                        <a:rPr lang="fr-FR" sz="800" err="1">
                          <a:latin typeface="Arial"/>
                          <a:cs typeface="Arial"/>
                        </a:rPr>
                        <a:t>Detailed</a:t>
                      </a:r>
                      <a:r>
                        <a:rPr lang="fr-FR" sz="800">
                          <a:latin typeface="Arial"/>
                          <a:cs typeface="Arial"/>
                        </a:rPr>
                        <a:t> </a:t>
                      </a:r>
                      <a:r>
                        <a:rPr lang="fr-FR" sz="800" err="1">
                          <a:latin typeface="Arial"/>
                          <a:cs typeface="Arial"/>
                        </a:rPr>
                        <a:t>technology</a:t>
                      </a:r>
                      <a:r>
                        <a:rPr lang="fr-FR" sz="800">
                          <a:latin typeface="Arial"/>
                          <a:cs typeface="Arial"/>
                        </a:rPr>
                        <a:t>(</a:t>
                      </a:r>
                      <a:r>
                        <a:rPr lang="fr-FR" sz="800" err="1">
                          <a:latin typeface="Arial"/>
                          <a:cs typeface="Arial"/>
                        </a:rPr>
                        <a:t>ies</a:t>
                      </a:r>
                      <a:r>
                        <a:rPr lang="fr-FR" sz="800">
                          <a:latin typeface="Arial"/>
                          <a:cs typeface="Arial"/>
                        </a:rPr>
                        <a:t>)</a:t>
                      </a:r>
                      <a:endParaRPr lang="en-US" sz="800">
                        <a:latin typeface="Arial"/>
                        <a:cs typeface="Arial"/>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b="1" kern="1200">
                          <a:solidFill>
                            <a:schemeClr val="dk1"/>
                          </a:solidFill>
                          <a:latin typeface="+mn-lt"/>
                          <a:ea typeface="+mn-ea"/>
                          <a:cs typeface="Arial"/>
                        </a:rPr>
                        <a:t>Cloud implementation type: </a:t>
                      </a:r>
                      <a:r>
                        <a:rPr lang="en-US" sz="800">
                          <a:highlight>
                            <a:srgbClr val="FFFF00"/>
                          </a:highlight>
                          <a:latin typeface="+mn-lt"/>
                          <a:cs typeface="Arial"/>
                        </a:rPr>
                        <a:t>See slide note for applicable values (6)</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b="1" kern="1200">
                          <a:solidFill>
                            <a:schemeClr val="dk1"/>
                          </a:solidFill>
                          <a:latin typeface="+mn-lt"/>
                          <a:ea typeface="+mn-ea"/>
                          <a:cs typeface="Arial"/>
                        </a:rPr>
                        <a:t>API re-use or new: </a:t>
                      </a:r>
                      <a:r>
                        <a:rPr lang="en-US" sz="800">
                          <a:highlight>
                            <a:srgbClr val="FFFF00"/>
                          </a:highlight>
                          <a:latin typeface="+mn-lt"/>
                          <a:cs typeface="Arial"/>
                        </a:rPr>
                        <a:t>See slide note for applicable values (7)</a:t>
                      </a:r>
                      <a:endParaRPr lang="en-US" sz="800" i="1">
                        <a:highlight>
                          <a:srgbClr val="FFFF00"/>
                        </a:highlight>
                        <a:latin typeface="+mn-lt"/>
                        <a:cs typeface="Arial"/>
                      </a:endParaRPr>
                    </a:p>
                  </a:txBody>
                  <a:tcPr marL="68580" marR="68580" marT="34290" marB="34290"/>
                </a:tc>
                <a:extLst>
                  <a:ext uri="{0D108BD9-81ED-4DB2-BD59-A6C34878D82A}">
                    <a16:rowId xmlns:a16="http://schemas.microsoft.com/office/drawing/2014/main" val="2785351209"/>
                  </a:ext>
                </a:extLst>
              </a:tr>
              <a:tr h="335280">
                <a:tc>
                  <a:txBody>
                    <a:bodyPr/>
                    <a:lstStyle/>
                    <a:p>
                      <a:pPr algn="r"/>
                      <a:r>
                        <a:rPr lang="fr-FR" sz="800">
                          <a:latin typeface="Arial"/>
                          <a:cs typeface="Arial"/>
                        </a:rPr>
                        <a:t>Platform re-</a:t>
                      </a:r>
                      <a:r>
                        <a:rPr lang="fr-FR" sz="800" err="1">
                          <a:latin typeface="Arial"/>
                          <a:cs typeface="Arial"/>
                        </a:rPr>
                        <a:t>used</a:t>
                      </a:r>
                      <a:endParaRPr lang="en-US" sz="800">
                        <a:latin typeface="Arial"/>
                        <a:cs typeface="Arial"/>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a:highlight>
                            <a:srgbClr val="FFFF00"/>
                          </a:highlight>
                          <a:latin typeface="+mn-lt"/>
                          <a:cs typeface="Arial"/>
                        </a:rPr>
                        <a:t>List the platform(s) expected to be </a:t>
                      </a:r>
                      <a:r>
                        <a:rPr lang="en-US" sz="800" u="sng">
                          <a:highlight>
                            <a:srgbClr val="FFFF00"/>
                          </a:highlight>
                          <a:latin typeface="+mn-lt"/>
                          <a:cs typeface="Arial"/>
                        </a:rPr>
                        <a:t>re-used</a:t>
                      </a:r>
                      <a:r>
                        <a:rPr lang="en-US" sz="800">
                          <a:highlight>
                            <a:srgbClr val="FFFF00"/>
                          </a:highlight>
                          <a:latin typeface="+mn-lt"/>
                          <a:cs typeface="Arial"/>
                        </a:rPr>
                        <a:t> among the existing ones or new platform. See slide note for applicable values (8).</a:t>
                      </a:r>
                      <a:endParaRPr lang="en-US" sz="800">
                        <a:highlight>
                          <a:srgbClr val="FFFF00"/>
                        </a:highlight>
                        <a:latin typeface="Arial"/>
                        <a:cs typeface="Arial"/>
                      </a:endParaRPr>
                    </a:p>
                  </a:txBody>
                  <a:tcPr marL="68580" marR="68580" marT="34290" marB="34290"/>
                </a:tc>
                <a:extLst>
                  <a:ext uri="{0D108BD9-81ED-4DB2-BD59-A6C34878D82A}">
                    <a16:rowId xmlns:a16="http://schemas.microsoft.com/office/drawing/2014/main" val="3783820839"/>
                  </a:ext>
                </a:extLst>
              </a:tr>
              <a:tr h="250983">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800" b="0">
                          <a:latin typeface="Arial" panose="020B0604020202020204" pitchFamily="34" charset="0"/>
                          <a:cs typeface="Arial" panose="020B0604020202020204" pitchFamily="34" charset="0"/>
                        </a:rPr>
                        <a:t>Applications Service decommissioning</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a:highlight>
                            <a:srgbClr val="FFFF00"/>
                          </a:highlight>
                          <a:latin typeface="Arial" panose="020B0604020202020204" pitchFamily="34" charset="0"/>
                          <a:cs typeface="Arial" panose="020B0604020202020204" pitchFamily="34" charset="0"/>
                        </a:rPr>
                        <a:t>List the existing applications to be decommissioned during this project. </a:t>
                      </a:r>
                      <a:r>
                        <a:rPr lang="en-US" sz="800">
                          <a:solidFill>
                            <a:schemeClr val="tx1"/>
                          </a:solidFill>
                          <a:highlight>
                            <a:srgbClr val="FFFF00"/>
                          </a:highlight>
                          <a:latin typeface="Arial" panose="020B0604020202020204" pitchFamily="34" charset="0"/>
                          <a:cs typeface="Arial" panose="020B0604020202020204" pitchFamily="34" charset="0"/>
                        </a:rPr>
                        <a:t>Application services selected in the CMDB. </a:t>
                      </a:r>
                      <a:br>
                        <a:rPr lang="en-US" sz="800">
                          <a:solidFill>
                            <a:schemeClr val="tx1"/>
                          </a:solidFill>
                          <a:highlight>
                            <a:srgbClr val="FFFF00"/>
                          </a:highlight>
                          <a:latin typeface="Arial" panose="020B0604020202020204" pitchFamily="34" charset="0"/>
                          <a:cs typeface="Arial" panose="020B0604020202020204" pitchFamily="34" charset="0"/>
                        </a:rPr>
                      </a:br>
                      <a:r>
                        <a:rPr lang="en-US" sz="800" i="1">
                          <a:solidFill>
                            <a:schemeClr val="tx1"/>
                          </a:solidFill>
                          <a:highlight>
                            <a:srgbClr val="FFFF00"/>
                          </a:highlight>
                          <a:latin typeface="Arial" panose="020B0604020202020204" pitchFamily="34" charset="0"/>
                          <a:cs typeface="Arial" panose="020B0604020202020204" pitchFamily="34" charset="0"/>
                        </a:rPr>
                        <a:t>Complete for Gate 2 section #Impacted Applications Service</a:t>
                      </a:r>
                      <a:endParaRPr lang="en-US" sz="800">
                        <a:latin typeface="Arial"/>
                        <a:cs typeface="Arial"/>
                      </a:endParaRPr>
                    </a:p>
                  </a:txBody>
                  <a:tcPr marL="68580" marR="68580" marT="34290" marB="34290"/>
                </a:tc>
                <a:extLst>
                  <a:ext uri="{0D108BD9-81ED-4DB2-BD59-A6C34878D82A}">
                    <a16:rowId xmlns:a16="http://schemas.microsoft.com/office/drawing/2014/main" val="2117757214"/>
                  </a:ext>
                </a:extLst>
              </a:tr>
              <a:tr h="500538">
                <a:tc>
                  <a:txBody>
                    <a:bodyPr/>
                    <a:lstStyle/>
                    <a:p>
                      <a:pPr algn="r"/>
                      <a:r>
                        <a:rPr lang="en-US" sz="800">
                          <a:latin typeface="Arial"/>
                          <a:cs typeface="Arial"/>
                        </a:rPr>
                        <a:t>Scope coverage</a:t>
                      </a:r>
                    </a:p>
                  </a:txBody>
                  <a:tcPr marL="68580" marR="68580" marT="34290" marB="34290"/>
                </a:tc>
                <a:tc>
                  <a:txBody>
                    <a:bodyPr/>
                    <a:lstStyle/>
                    <a:p>
                      <a:r>
                        <a:rPr lang="en-US" sz="800">
                          <a:highlight>
                            <a:srgbClr val="FFFF00"/>
                          </a:highlight>
                          <a:latin typeface="Arial"/>
                          <a:cs typeface="Arial"/>
                        </a:rPr>
                        <a:t>List of </a:t>
                      </a:r>
                      <a:r>
                        <a:rPr lang="en-US" sz="800" err="1">
                          <a:highlight>
                            <a:srgbClr val="FFFF00"/>
                          </a:highlight>
                          <a:latin typeface="Arial"/>
                          <a:cs typeface="Arial"/>
                        </a:rPr>
                        <a:t>Region</a:t>
                      </a:r>
                      <a:r>
                        <a:rPr lang="en-US" sz="800" b="1" u="sng" err="1">
                          <a:highlight>
                            <a:srgbClr val="FFFF00"/>
                          </a:highlight>
                          <a:latin typeface="Arial"/>
                          <a:cs typeface="Arial"/>
                        </a:rPr>
                        <a:t>S</a:t>
                      </a:r>
                      <a:r>
                        <a:rPr lang="en-US" sz="800" b="1" u="sng">
                          <a:highlight>
                            <a:srgbClr val="FFFF00"/>
                          </a:highlight>
                          <a:latin typeface="Arial"/>
                          <a:cs typeface="Arial"/>
                        </a:rPr>
                        <a:t>, </a:t>
                      </a:r>
                      <a:r>
                        <a:rPr lang="en-US" sz="800" err="1">
                          <a:highlight>
                            <a:srgbClr val="FFFF00"/>
                          </a:highlight>
                          <a:latin typeface="Arial"/>
                          <a:cs typeface="Arial"/>
                        </a:rPr>
                        <a:t>Plant</a:t>
                      </a:r>
                      <a:r>
                        <a:rPr lang="en-US" sz="800" b="1" u="sng" err="1">
                          <a:highlight>
                            <a:srgbClr val="FFFF00"/>
                          </a:highlight>
                          <a:latin typeface="Arial"/>
                          <a:cs typeface="Arial"/>
                        </a:rPr>
                        <a:t>S</a:t>
                      </a:r>
                      <a:r>
                        <a:rPr lang="en-US" sz="800" b="1" u="sng">
                          <a:highlight>
                            <a:srgbClr val="FFFF00"/>
                          </a:highlight>
                          <a:latin typeface="Arial"/>
                          <a:cs typeface="Arial"/>
                        </a:rPr>
                        <a:t>,</a:t>
                      </a:r>
                      <a:r>
                        <a:rPr lang="en-US" sz="800" b="0" u="none">
                          <a:highlight>
                            <a:srgbClr val="FFFF00"/>
                          </a:highlight>
                          <a:latin typeface="Arial"/>
                          <a:cs typeface="Arial"/>
                        </a:rPr>
                        <a:t> </a:t>
                      </a:r>
                      <a:r>
                        <a:rPr lang="en-US" sz="800" b="0" u="none" err="1">
                          <a:highlight>
                            <a:srgbClr val="FFFF00"/>
                          </a:highlight>
                          <a:latin typeface="Arial"/>
                          <a:cs typeface="Arial"/>
                        </a:rPr>
                        <a:t>Brand</a:t>
                      </a:r>
                      <a:r>
                        <a:rPr lang="en-US" sz="800" b="1" u="sng" err="1">
                          <a:highlight>
                            <a:srgbClr val="FFFF00"/>
                          </a:highlight>
                          <a:latin typeface="Arial"/>
                          <a:cs typeface="Arial"/>
                        </a:rPr>
                        <a:t>S</a:t>
                      </a:r>
                      <a:r>
                        <a:rPr lang="en-US" sz="800" b="1" u="sng">
                          <a:highlight>
                            <a:srgbClr val="FFFF00"/>
                          </a:highlight>
                          <a:latin typeface="Arial"/>
                          <a:cs typeface="Arial"/>
                        </a:rPr>
                        <a:t>,</a:t>
                      </a:r>
                      <a:r>
                        <a:rPr lang="en-US" sz="800" b="0" u="sng">
                          <a:highlight>
                            <a:srgbClr val="FFFF00"/>
                          </a:highlight>
                          <a:latin typeface="Arial"/>
                          <a:cs typeface="Arial"/>
                        </a:rPr>
                        <a:t> Countries</a:t>
                      </a:r>
                      <a:r>
                        <a:rPr lang="en-US" sz="800">
                          <a:highlight>
                            <a:srgbClr val="FFFF00"/>
                          </a:highlight>
                          <a:latin typeface="Arial"/>
                          <a:cs typeface="Arial"/>
                        </a:rPr>
                        <a:t> that used</a:t>
                      </a:r>
                    </a:p>
                    <a:p>
                      <a:r>
                        <a:rPr lang="en-US" sz="800">
                          <a:highlight>
                            <a:srgbClr val="FFFF00"/>
                          </a:highlight>
                          <a:latin typeface="Arial"/>
                          <a:cs typeface="Arial"/>
                        </a:rPr>
                        <a:t>(extension to other regions/plants foreseen): -----</a:t>
                      </a:r>
                    </a:p>
                  </a:txBody>
                  <a:tcPr marL="68580" marR="68580" marT="34290" marB="34290"/>
                </a:tc>
                <a:extLst>
                  <a:ext uri="{0D108BD9-81ED-4DB2-BD59-A6C34878D82A}">
                    <a16:rowId xmlns:a16="http://schemas.microsoft.com/office/drawing/2014/main" val="2550645026"/>
                  </a:ext>
                </a:extLst>
              </a:tr>
            </a:tbl>
          </a:graphicData>
        </a:graphic>
      </p:graphicFrame>
      <p:sp>
        <p:nvSpPr>
          <p:cNvPr id="4" name="Rectangle 3">
            <a:extLst>
              <a:ext uri="{FF2B5EF4-FFF2-40B4-BE49-F238E27FC236}">
                <a16:creationId xmlns:a16="http://schemas.microsoft.com/office/drawing/2014/main" id="{862C6206-6183-A896-B605-11168681FB76}"/>
              </a:ext>
            </a:extLst>
          </p:cNvPr>
          <p:cNvSpPr/>
          <p:nvPr/>
        </p:nvSpPr>
        <p:spPr>
          <a:xfrm>
            <a:off x="237829" y="2429683"/>
            <a:ext cx="3584078" cy="745031"/>
          </a:xfrm>
          <a:prstGeom prst="rect">
            <a:avLst/>
          </a:prstGeom>
          <a:noFill/>
          <a:ln>
            <a:solidFill>
              <a:srgbClr val="135EB9"/>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r>
              <a:rPr lang="en-US" sz="750" b="1">
                <a:solidFill>
                  <a:schemeClr val="bg1"/>
                </a:solidFill>
                <a:highlight>
                  <a:srgbClr val="000080"/>
                </a:highlight>
                <a:latin typeface="Arial"/>
                <a:cs typeface="Arial"/>
              </a:rPr>
              <a:t>End Users</a:t>
            </a:r>
          </a:p>
          <a:p>
            <a:r>
              <a:rPr lang="en-US" sz="675">
                <a:solidFill>
                  <a:schemeClr val="tx1"/>
                </a:solidFill>
                <a:highlight>
                  <a:srgbClr val="FFFF00"/>
                </a:highlight>
                <a:latin typeface="Arial"/>
                <a:cs typeface="Arial"/>
              </a:rPr>
              <a:t>Describe which type of User Users are impacted. Include front-end and back-end users. </a:t>
            </a:r>
          </a:p>
          <a:p>
            <a:r>
              <a:rPr lang="en-US" sz="675">
                <a:solidFill>
                  <a:schemeClr val="tx1"/>
                </a:solidFill>
                <a:highlight>
                  <a:srgbClr val="FFFF00"/>
                </a:highlight>
                <a:latin typeface="Arial"/>
                <a:cs typeface="Arial"/>
              </a:rPr>
              <a:t>See slide notes for applicable values (3)</a:t>
            </a:r>
            <a:r>
              <a:rPr lang="en-US" sz="675" i="1">
                <a:solidFill>
                  <a:schemeClr val="tx1"/>
                </a:solidFill>
                <a:highlight>
                  <a:srgbClr val="FFFF00"/>
                </a:highlight>
                <a:latin typeface="Arial"/>
                <a:cs typeface="Arial"/>
              </a:rPr>
              <a:t>.</a:t>
            </a:r>
            <a:endParaRPr lang="en-US" sz="750">
              <a:solidFill>
                <a:schemeClr val="tx1"/>
              </a:solidFill>
              <a:latin typeface="Arial"/>
              <a:cs typeface="Arial"/>
            </a:endParaRPr>
          </a:p>
        </p:txBody>
      </p:sp>
      <p:graphicFrame>
        <p:nvGraphicFramePr>
          <p:cNvPr id="9" name="Table 2">
            <a:extLst>
              <a:ext uri="{FF2B5EF4-FFF2-40B4-BE49-F238E27FC236}">
                <a16:creationId xmlns:a16="http://schemas.microsoft.com/office/drawing/2014/main" id="{1D38EC29-1903-B926-B287-F52D58311F91}"/>
              </a:ext>
            </a:extLst>
          </p:cNvPr>
          <p:cNvGraphicFramePr>
            <a:graphicFrameLocks noGrp="1"/>
          </p:cNvGraphicFramePr>
          <p:nvPr>
            <p:extLst>
              <p:ext uri="{D42A27DB-BD31-4B8C-83A1-F6EECF244321}">
                <p14:modId xmlns:p14="http://schemas.microsoft.com/office/powerpoint/2010/main" val="2081053449"/>
              </p:ext>
            </p:extLst>
          </p:nvPr>
        </p:nvGraphicFramePr>
        <p:xfrm>
          <a:off x="300634" y="815161"/>
          <a:ext cx="8543042" cy="286466"/>
        </p:xfrm>
        <a:graphic>
          <a:graphicData uri="http://schemas.openxmlformats.org/drawingml/2006/table">
            <a:tbl>
              <a:tblPr>
                <a:tableStyleId>{5C22544A-7EE6-4342-B048-85BDC9FD1C3A}</a:tableStyleId>
              </a:tblPr>
              <a:tblGrid>
                <a:gridCol w="1220927">
                  <a:extLst>
                    <a:ext uri="{9D8B030D-6E8A-4147-A177-3AD203B41FA5}">
                      <a16:colId xmlns:a16="http://schemas.microsoft.com/office/drawing/2014/main" val="817279871"/>
                    </a:ext>
                  </a:extLst>
                </a:gridCol>
                <a:gridCol w="2040941">
                  <a:extLst>
                    <a:ext uri="{9D8B030D-6E8A-4147-A177-3AD203B41FA5}">
                      <a16:colId xmlns:a16="http://schemas.microsoft.com/office/drawing/2014/main" val="3984421803"/>
                    </a:ext>
                  </a:extLst>
                </a:gridCol>
                <a:gridCol w="2611283">
                  <a:extLst>
                    <a:ext uri="{9D8B030D-6E8A-4147-A177-3AD203B41FA5}">
                      <a16:colId xmlns:a16="http://schemas.microsoft.com/office/drawing/2014/main" val="2697619527"/>
                    </a:ext>
                  </a:extLst>
                </a:gridCol>
                <a:gridCol w="2669891">
                  <a:extLst>
                    <a:ext uri="{9D8B030D-6E8A-4147-A177-3AD203B41FA5}">
                      <a16:colId xmlns:a16="http://schemas.microsoft.com/office/drawing/2014/main" val="3098233436"/>
                    </a:ext>
                  </a:extLst>
                </a:gridCol>
              </a:tblGrid>
              <a:tr h="286466">
                <a:tc>
                  <a:txBody>
                    <a:bodyPr/>
                    <a:lstStyle/>
                    <a:p>
                      <a:pPr algn="l" fontAlgn="b"/>
                      <a:r>
                        <a:rPr lang="en-US" sz="800" b="0" i="0" u="none" strike="noStrike">
                          <a:solidFill>
                            <a:srgbClr val="000000"/>
                          </a:solidFill>
                          <a:effectLst/>
                          <a:latin typeface="Arial"/>
                          <a:cs typeface="Arial"/>
                        </a:rPr>
                        <a:t>DIGITALME Demand ID</a:t>
                      </a:r>
                    </a:p>
                  </a:txBody>
                  <a:tcPr marL="5715" marR="5715" marT="5715" marB="0" anchor="ctr"/>
                </a:tc>
                <a:tc>
                  <a:txBody>
                    <a:bodyPr/>
                    <a:lstStyle/>
                    <a:p>
                      <a:pPr algn="l" fontAlgn="b"/>
                      <a:r>
                        <a:rPr lang="en-US" sz="700" b="0" i="1" u="none" strike="noStrike">
                          <a:solidFill>
                            <a:srgbClr val="000000"/>
                          </a:solidFill>
                          <a:effectLst/>
                          <a:highlight>
                            <a:srgbClr val="FFFF00"/>
                          </a:highlight>
                          <a:latin typeface="Arial"/>
                          <a:cs typeface="Arial"/>
                        </a:rPr>
                        <a:t>Provide DIGITALME </a:t>
                      </a:r>
                      <a:r>
                        <a:rPr lang="en-US" sz="700" b="0" i="1" u="none" strike="noStrike">
                          <a:solidFill>
                            <a:srgbClr val="000000"/>
                          </a:solidFill>
                          <a:effectLst/>
                          <a:highlight>
                            <a:srgbClr val="FFFF00"/>
                          </a:highlight>
                          <a:latin typeface="Arial"/>
                          <a:cs typeface="Arial"/>
                          <a:hlinkClick r:id="rId7"/>
                        </a:rPr>
                        <a:t>Demand</a:t>
                      </a:r>
                      <a:r>
                        <a:rPr lang="en-US" sz="700" b="0" i="1" u="none" strike="noStrike">
                          <a:solidFill>
                            <a:srgbClr val="000000"/>
                          </a:solidFill>
                          <a:effectLst/>
                          <a:highlight>
                            <a:srgbClr val="FFFF00"/>
                          </a:highlight>
                          <a:latin typeface="Arial"/>
                          <a:cs typeface="Arial"/>
                        </a:rPr>
                        <a:t> ID with Link here</a:t>
                      </a:r>
                      <a:r>
                        <a:rPr lang="en-US" sz="700" b="0" i="1" u="none" strike="noStrike">
                          <a:solidFill>
                            <a:srgbClr val="000000"/>
                          </a:solidFill>
                          <a:effectLst/>
                          <a:latin typeface="Arial"/>
                          <a:cs typeface="Arial"/>
                        </a:rPr>
                        <a:t> ----</a:t>
                      </a:r>
                    </a:p>
                  </a:txBody>
                  <a:tcPr marL="5715" marR="5715" marT="5715"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pPr>
                      <a:r>
                        <a:rPr lang="fr-FR" sz="800" b="0" i="0" u="none" strike="noStrike" kern="1200" err="1">
                          <a:solidFill>
                            <a:srgbClr val="000000"/>
                          </a:solidFill>
                          <a:effectLst/>
                          <a:latin typeface="Arial"/>
                          <a:ea typeface="+mn-ea"/>
                          <a:cs typeface="Arial"/>
                        </a:rPr>
                        <a:t>Primary</a:t>
                      </a:r>
                      <a:r>
                        <a:rPr lang="fr-FR" sz="800" b="0" i="0" u="none" strike="noStrike" kern="1200">
                          <a:solidFill>
                            <a:srgbClr val="000000"/>
                          </a:solidFill>
                          <a:effectLst/>
                          <a:latin typeface="Arial"/>
                          <a:ea typeface="+mn-ea"/>
                          <a:cs typeface="Arial"/>
                        </a:rPr>
                        <a:t> Business </a:t>
                      </a:r>
                      <a:r>
                        <a:rPr lang="fr-FR" sz="800" b="0" i="0" u="none" strike="noStrike" kern="1200" err="1">
                          <a:solidFill>
                            <a:srgbClr val="000000"/>
                          </a:solidFill>
                          <a:effectLst/>
                          <a:latin typeface="Arial"/>
                          <a:ea typeface="+mn-ea"/>
                          <a:cs typeface="Arial"/>
                        </a:rPr>
                        <a:t>domain</a:t>
                      </a:r>
                      <a:r>
                        <a:rPr lang="fr-FR" sz="800" b="0" i="0" u="none" strike="noStrike" kern="1200">
                          <a:solidFill>
                            <a:srgbClr val="000000"/>
                          </a:solidFill>
                          <a:effectLst/>
                          <a:latin typeface="Arial"/>
                          <a:ea typeface="+mn-ea"/>
                          <a:cs typeface="Arial"/>
                        </a:rPr>
                        <a:t> </a:t>
                      </a:r>
                      <a:r>
                        <a:rPr lang="fr-FR" sz="800" b="0" i="0" u="none" strike="noStrike" kern="1200" err="1">
                          <a:solidFill>
                            <a:srgbClr val="000000"/>
                          </a:solidFill>
                          <a:effectLst/>
                          <a:latin typeface="Arial"/>
                          <a:ea typeface="+mn-ea"/>
                          <a:cs typeface="Arial"/>
                        </a:rPr>
                        <a:t>impacted</a:t>
                      </a:r>
                      <a:r>
                        <a:rPr lang="fr-FR" sz="700" b="0" i="0" u="none" strike="noStrike" kern="1200">
                          <a:solidFill>
                            <a:srgbClr val="000000"/>
                          </a:solidFill>
                          <a:effectLst/>
                          <a:latin typeface="Arial"/>
                          <a:ea typeface="+mn-ea"/>
                          <a:cs typeface="Arial"/>
                        </a:rPr>
                        <a:t>: </a:t>
                      </a:r>
                      <a:r>
                        <a:rPr lang="fr-FR" sz="700" b="0" i="0" u="none" strike="noStrike" kern="1200">
                          <a:solidFill>
                            <a:srgbClr val="000000"/>
                          </a:solidFill>
                          <a:effectLst/>
                          <a:highlight>
                            <a:srgbClr val="FFFF00"/>
                          </a:highlight>
                          <a:latin typeface="Arial"/>
                          <a:ea typeface="+mn-ea"/>
                          <a:cs typeface="Arial"/>
                        </a:rPr>
                        <a:t>ICT </a:t>
                      </a:r>
                      <a:r>
                        <a:rPr lang="fr-FR" sz="700" b="0" i="0" u="none" strike="noStrike" kern="1200" err="1">
                          <a:solidFill>
                            <a:srgbClr val="000000"/>
                          </a:solidFill>
                          <a:effectLst/>
                          <a:highlight>
                            <a:srgbClr val="FFFF00"/>
                          </a:highlight>
                          <a:latin typeface="Arial"/>
                          <a:ea typeface="+mn-ea"/>
                          <a:cs typeface="Arial"/>
                        </a:rPr>
                        <a:t>domain</a:t>
                      </a:r>
                      <a:r>
                        <a:rPr lang="fr-FR" sz="700" b="0" i="0" u="none" strike="noStrike" kern="1200">
                          <a:solidFill>
                            <a:srgbClr val="000000"/>
                          </a:solidFill>
                          <a:effectLst/>
                          <a:highlight>
                            <a:srgbClr val="FFFF00"/>
                          </a:highlight>
                          <a:latin typeface="Arial"/>
                          <a:ea typeface="+mn-ea"/>
                          <a:cs typeface="Arial"/>
                        </a:rPr>
                        <a:t> as CORF…</a:t>
                      </a:r>
                      <a:endParaRPr lang="fr-FR" sz="800" b="0" i="0" u="none" strike="noStrike" kern="1200">
                        <a:solidFill>
                          <a:srgbClr val="000000"/>
                        </a:solidFill>
                        <a:effectLst/>
                        <a:highlight>
                          <a:srgbClr val="FFFF00"/>
                        </a:highlight>
                        <a:latin typeface="Arial"/>
                        <a:ea typeface="+mn-ea"/>
                        <a:cs typeface="Arial"/>
                      </a:endParaRPr>
                    </a:p>
                  </a:txBody>
                  <a:tcPr marL="5715" marR="5715" marT="5715"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800" b="0" i="0" u="none" strike="noStrike" kern="1200" err="1">
                          <a:solidFill>
                            <a:srgbClr val="000000"/>
                          </a:solidFill>
                          <a:effectLst/>
                          <a:latin typeface="Arial"/>
                          <a:ea typeface="+mn-ea"/>
                          <a:cs typeface="Arial"/>
                        </a:rPr>
                        <a:t>Other</a:t>
                      </a:r>
                      <a:r>
                        <a:rPr lang="fr-FR" sz="800" b="0" i="0" u="none" strike="noStrike" kern="1200">
                          <a:solidFill>
                            <a:srgbClr val="000000"/>
                          </a:solidFill>
                          <a:effectLst/>
                          <a:latin typeface="Arial"/>
                          <a:ea typeface="+mn-ea"/>
                          <a:cs typeface="Arial"/>
                        </a:rPr>
                        <a:t> </a:t>
                      </a:r>
                      <a:r>
                        <a:rPr lang="fr-FR" sz="800" b="0" i="0" u="none" strike="noStrike" kern="1200" err="1">
                          <a:solidFill>
                            <a:srgbClr val="000000"/>
                          </a:solidFill>
                          <a:effectLst/>
                          <a:latin typeface="Arial"/>
                          <a:ea typeface="+mn-ea"/>
                          <a:cs typeface="Arial"/>
                        </a:rPr>
                        <a:t>domain</a:t>
                      </a:r>
                      <a:r>
                        <a:rPr lang="fr-FR" sz="800" b="0" i="0" u="none" strike="noStrike" kern="1200">
                          <a:solidFill>
                            <a:srgbClr val="000000"/>
                          </a:solidFill>
                          <a:effectLst/>
                          <a:latin typeface="Arial"/>
                          <a:ea typeface="+mn-ea"/>
                          <a:cs typeface="Arial"/>
                        </a:rPr>
                        <a:t>(s): </a:t>
                      </a:r>
                      <a:r>
                        <a:rPr lang="fr-FR" sz="700" b="0" i="1" u="none" strike="noStrike" kern="1200" err="1">
                          <a:solidFill>
                            <a:srgbClr val="000000"/>
                          </a:solidFill>
                          <a:effectLst/>
                          <a:highlight>
                            <a:srgbClr val="FFFF00"/>
                          </a:highlight>
                          <a:latin typeface="Arial"/>
                          <a:ea typeface="+mn-ea"/>
                          <a:cs typeface="Arial"/>
                        </a:rPr>
                        <a:t>other</a:t>
                      </a:r>
                      <a:r>
                        <a:rPr lang="fr-FR" sz="700" b="0" i="1" u="none" strike="noStrike" kern="1200">
                          <a:solidFill>
                            <a:srgbClr val="000000"/>
                          </a:solidFill>
                          <a:effectLst/>
                          <a:highlight>
                            <a:srgbClr val="FFFF00"/>
                          </a:highlight>
                          <a:latin typeface="Arial"/>
                          <a:ea typeface="+mn-ea"/>
                          <a:cs typeface="Arial"/>
                        </a:rPr>
                        <a:t> ICT </a:t>
                      </a:r>
                      <a:r>
                        <a:rPr lang="fr-FR" sz="700" b="0" i="1" u="none" strike="noStrike" kern="1200" err="1">
                          <a:solidFill>
                            <a:srgbClr val="000000"/>
                          </a:solidFill>
                          <a:effectLst/>
                          <a:highlight>
                            <a:srgbClr val="FFFF00"/>
                          </a:highlight>
                          <a:latin typeface="Arial"/>
                          <a:ea typeface="+mn-ea"/>
                          <a:cs typeface="Arial"/>
                        </a:rPr>
                        <a:t>domains</a:t>
                      </a:r>
                      <a:r>
                        <a:rPr lang="fr-FR" sz="700" b="0" i="1" u="none" strike="noStrike" kern="1200">
                          <a:solidFill>
                            <a:srgbClr val="000000"/>
                          </a:solidFill>
                          <a:effectLst/>
                          <a:highlight>
                            <a:srgbClr val="FFFF00"/>
                          </a:highlight>
                          <a:latin typeface="Arial"/>
                          <a:ea typeface="+mn-ea"/>
                          <a:cs typeface="Arial"/>
                        </a:rPr>
                        <a:t> as </a:t>
                      </a:r>
                      <a:r>
                        <a:rPr lang="fr-FR" sz="700" i="1">
                          <a:highlight>
                            <a:srgbClr val="FFFF00"/>
                          </a:highlight>
                        </a:rPr>
                        <a:t>SMKG, EDSC, etc...</a:t>
                      </a:r>
                      <a:endParaRPr lang="fr-FR" sz="800" b="0" i="1" u="none" strike="noStrike" kern="1200">
                        <a:solidFill>
                          <a:srgbClr val="000000"/>
                        </a:solidFill>
                        <a:effectLst/>
                        <a:highlight>
                          <a:srgbClr val="FFFF00"/>
                        </a:highlight>
                        <a:latin typeface="Arial"/>
                        <a:ea typeface="+mn-ea"/>
                        <a:cs typeface="Arial"/>
                      </a:endParaRPr>
                    </a:p>
                  </a:txBody>
                  <a:tcPr marL="5715" marR="5715" marT="5715" marB="0" anchor="ctr"/>
                </a:tc>
                <a:extLst>
                  <a:ext uri="{0D108BD9-81ED-4DB2-BD59-A6C34878D82A}">
                    <a16:rowId xmlns:a16="http://schemas.microsoft.com/office/drawing/2014/main" val="1541944835"/>
                  </a:ext>
                </a:extLst>
              </a:tr>
            </a:tbl>
          </a:graphicData>
        </a:graphic>
      </p:graphicFrame>
    </p:spTree>
    <p:custDataLst>
      <p:tags r:id="rId1"/>
    </p:custDataLst>
    <p:extLst>
      <p:ext uri="{BB962C8B-B14F-4D97-AF65-F5344CB8AC3E}">
        <p14:creationId xmlns:p14="http://schemas.microsoft.com/office/powerpoint/2010/main" val="537079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49" y="334650"/>
            <a:ext cx="6769975" cy="257100"/>
          </a:xfrm>
          <a:prstGeom prst="rect">
            <a:avLst/>
          </a:prstGeom>
          <a:noFill/>
          <a:ln>
            <a:noFill/>
          </a:ln>
        </p:spPr>
        <p:txBody>
          <a:bodyPr spcFirstLastPara="1" vert="horz" wrap="square" lIns="68575" tIns="34275" rIns="68575" bIns="34275" rtlCol="0" anchor="ctr" anchorCtr="0">
            <a:noAutofit/>
          </a:bodyPr>
          <a:lstStyle/>
          <a:p>
            <a:r>
              <a:rPr lang="en-US" sz="1200" cap="all">
                <a:solidFill>
                  <a:prstClr val="white"/>
                </a:solidFill>
              </a:rPr>
              <a:t>Architecture OVERVIEW DIAGRAM – Gate 1 review / Gate 1 PoC</a:t>
            </a:r>
            <a:endParaRPr>
              <a:latin typeface="Encode Sans" pitchFamily="2" charset="0"/>
            </a:endParaRPr>
          </a:p>
        </p:txBody>
      </p:sp>
      <p:sp>
        <p:nvSpPr>
          <p:cNvPr id="2" name="TextBox 1">
            <a:extLst>
              <a:ext uri="{FF2B5EF4-FFF2-40B4-BE49-F238E27FC236}">
                <a16:creationId xmlns:a16="http://schemas.microsoft.com/office/drawing/2014/main" id="{7C937D2F-C601-CF78-84FB-A5C5C09FDCC2}"/>
              </a:ext>
            </a:extLst>
          </p:cNvPr>
          <p:cNvSpPr txBox="1"/>
          <p:nvPr/>
        </p:nvSpPr>
        <p:spPr>
          <a:xfrm>
            <a:off x="2978645" y="2053988"/>
            <a:ext cx="2990691" cy="707886"/>
          </a:xfrm>
          <a:prstGeom prst="rect">
            <a:avLst/>
          </a:prstGeom>
          <a:noFill/>
        </p:spPr>
        <p:txBody>
          <a:bodyPr wrap="none" rtlCol="0">
            <a:spAutoFit/>
          </a:bodyPr>
          <a:lstStyle/>
          <a:p>
            <a:pPr algn="ctr"/>
            <a:r>
              <a:rPr lang="en-GB" dirty="0"/>
              <a:t>As-IS/To-Be Overview Diagram</a:t>
            </a:r>
          </a:p>
          <a:p>
            <a:pPr algn="ctr"/>
            <a:endParaRPr lang="en-GB" dirty="0"/>
          </a:p>
          <a:p>
            <a:r>
              <a:rPr lang="en-GB" sz="1200" dirty="0"/>
              <a:t> (For example see References section)</a:t>
            </a:r>
          </a:p>
        </p:txBody>
      </p:sp>
    </p:spTree>
    <p:custDataLst>
      <p:tags r:id="rId1"/>
    </p:custDataLst>
    <p:extLst>
      <p:ext uri="{BB962C8B-B14F-4D97-AF65-F5344CB8AC3E}">
        <p14:creationId xmlns:p14="http://schemas.microsoft.com/office/powerpoint/2010/main" val="3059598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Applicability</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endParaRPr lang="en-US">
              <a:solidFill>
                <a:schemeClr val="accent1"/>
              </a:solidFill>
              <a:highlight>
                <a:srgbClr val="FFFF00"/>
              </a:highlight>
              <a:latin typeface="Encode Sans" pitchFamily="2" charset="0"/>
            </a:endParaRPr>
          </a:p>
          <a:p>
            <a:pPr lvl="1"/>
            <a:endParaRPr lang="en-US">
              <a:solidFill>
                <a:schemeClr val="accent1"/>
              </a:solidFill>
              <a:latin typeface="Encode Sans" pitchFamily="2" charset="0"/>
            </a:endParaRPr>
          </a:p>
          <a:p>
            <a:endParaRPr lang="en-US">
              <a:solidFill>
                <a:schemeClr val="accent1"/>
              </a:solidFill>
              <a:latin typeface="Encode Sans" pitchFamily="2" charset="0"/>
            </a:endParaRPr>
          </a:p>
          <a:p>
            <a:pPr marL="0" indent="0">
              <a:buNone/>
            </a:pPr>
            <a:endParaRPr lang="en-US">
              <a:solidFill>
                <a:schemeClr val="accent1"/>
              </a:solidFill>
              <a:latin typeface="Encode Sans" pitchFamily="2" charset="0"/>
            </a:endParaRPr>
          </a:p>
        </p:txBody>
      </p:sp>
      <p:sp>
        <p:nvSpPr>
          <p:cNvPr id="6" name="Espace réservé du contenu 1">
            <a:extLst>
              <a:ext uri="{FF2B5EF4-FFF2-40B4-BE49-F238E27FC236}">
                <a16:creationId xmlns:a16="http://schemas.microsoft.com/office/drawing/2014/main" id="{7F9F2D1B-71BF-4023-3679-A9399EC1CFA8}"/>
              </a:ext>
            </a:extLst>
          </p:cNvPr>
          <p:cNvSpPr txBox="1">
            <a:spLocks/>
          </p:cNvSpPr>
          <p:nvPr/>
        </p:nvSpPr>
        <p:spPr>
          <a:xfrm>
            <a:off x="138544" y="684253"/>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sz="1600">
                <a:solidFill>
                  <a:schemeClr val="accent1"/>
                </a:solidFill>
                <a:latin typeface="Encode Sans" pitchFamily="2" charset="0"/>
              </a:rPr>
              <a:t>Report applicable </a:t>
            </a:r>
            <a:r>
              <a:rPr lang="fr-FR" sz="1600" err="1">
                <a:solidFill>
                  <a:schemeClr val="accent1"/>
                </a:solidFill>
                <a:latin typeface="Encode Sans" pitchFamily="2" charset="0"/>
              </a:rPr>
              <a:t>domains</a:t>
            </a:r>
            <a:endParaRPr lang="en-US">
              <a:solidFill>
                <a:schemeClr val="accent1"/>
              </a:solidFill>
              <a:latin typeface="Encode Sans" pitchFamily="2" charset="0"/>
            </a:endParaRPr>
          </a:p>
        </p:txBody>
      </p:sp>
      <p:graphicFrame>
        <p:nvGraphicFramePr>
          <p:cNvPr id="7" name="Table 6">
            <a:extLst>
              <a:ext uri="{FF2B5EF4-FFF2-40B4-BE49-F238E27FC236}">
                <a16:creationId xmlns:a16="http://schemas.microsoft.com/office/drawing/2014/main" id="{AC1FF1FE-0D0F-7932-8B02-85502F467846}"/>
              </a:ext>
            </a:extLst>
          </p:cNvPr>
          <p:cNvGraphicFramePr>
            <a:graphicFrameLocks noGrp="1"/>
          </p:cNvGraphicFramePr>
          <p:nvPr>
            <p:extLst>
              <p:ext uri="{D42A27DB-BD31-4B8C-83A1-F6EECF244321}">
                <p14:modId xmlns:p14="http://schemas.microsoft.com/office/powerpoint/2010/main" val="3524526741"/>
              </p:ext>
            </p:extLst>
          </p:nvPr>
        </p:nvGraphicFramePr>
        <p:xfrm>
          <a:off x="402350" y="1039405"/>
          <a:ext cx="5917982" cy="4032000"/>
        </p:xfrm>
        <a:graphic>
          <a:graphicData uri="http://schemas.openxmlformats.org/drawingml/2006/table">
            <a:tbl>
              <a:tblPr firstRow="1" bandRow="1">
                <a:tableStyleId>{5C22544A-7EE6-4342-B048-85BDC9FD1C3A}</a:tableStyleId>
              </a:tblPr>
              <a:tblGrid>
                <a:gridCol w="2798050">
                  <a:extLst>
                    <a:ext uri="{9D8B030D-6E8A-4147-A177-3AD203B41FA5}">
                      <a16:colId xmlns:a16="http://schemas.microsoft.com/office/drawing/2014/main" val="2763935810"/>
                    </a:ext>
                  </a:extLst>
                </a:gridCol>
                <a:gridCol w="3119932">
                  <a:extLst>
                    <a:ext uri="{9D8B030D-6E8A-4147-A177-3AD203B41FA5}">
                      <a16:colId xmlns:a16="http://schemas.microsoft.com/office/drawing/2014/main" val="284180114"/>
                    </a:ext>
                  </a:extLst>
                </a:gridCol>
              </a:tblGrid>
              <a:tr h="252000">
                <a:tc>
                  <a:txBody>
                    <a:bodyPr/>
                    <a:lstStyle/>
                    <a:p>
                      <a:r>
                        <a:rPr lang="fr-FR" sz="1000" dirty="0"/>
                        <a:t>Domain</a:t>
                      </a:r>
                      <a:endParaRPr lang="en-US" sz="1000" dirty="0"/>
                    </a:p>
                  </a:txBody>
                  <a:tcPr anchor="ctr"/>
                </a:tc>
                <a:tc>
                  <a:txBody>
                    <a:bodyPr/>
                    <a:lstStyle/>
                    <a:p>
                      <a:r>
                        <a:rPr lang="fr-FR" sz="1000"/>
                        <a:t>Applicable</a:t>
                      </a:r>
                      <a:endParaRPr lang="en-US" sz="1000"/>
                    </a:p>
                  </a:txBody>
                  <a:tcPr anchor="ctr"/>
                </a:tc>
                <a:extLst>
                  <a:ext uri="{0D108BD9-81ED-4DB2-BD59-A6C34878D82A}">
                    <a16:rowId xmlns:a16="http://schemas.microsoft.com/office/drawing/2014/main" val="387990020"/>
                  </a:ext>
                </a:extLst>
              </a:tr>
              <a:tr h="252000">
                <a:tc>
                  <a:txBody>
                    <a:bodyPr/>
                    <a:lstStyle/>
                    <a:p>
                      <a:pPr algn="l" fontAlgn="ctr"/>
                      <a:r>
                        <a:rPr lang="en-US" sz="1000" u="none" strike="noStrike">
                          <a:effectLst/>
                          <a:hlinkClick r:id="rId5" action="ppaction://hlinksldjump"/>
                        </a:rPr>
                        <a:t>API</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 : not API </a:t>
                      </a:r>
                      <a:r>
                        <a:rPr lang="fr-FR" sz="1000" err="1">
                          <a:highlight>
                            <a:srgbClr val="FFFF00"/>
                          </a:highlight>
                        </a:rPr>
                        <a:t>involved</a:t>
                      </a:r>
                      <a:endParaRPr lang="en-US" sz="1000">
                        <a:highlight>
                          <a:srgbClr val="FFFF00"/>
                        </a:highlight>
                      </a:endParaRPr>
                    </a:p>
                  </a:txBody>
                  <a:tcPr anchor="ctr"/>
                </a:tc>
                <a:extLst>
                  <a:ext uri="{0D108BD9-81ED-4DB2-BD59-A6C34878D82A}">
                    <a16:rowId xmlns:a16="http://schemas.microsoft.com/office/drawing/2014/main" val="3839595598"/>
                  </a:ext>
                </a:extLst>
              </a:tr>
              <a:tr h="252000">
                <a:tc>
                  <a:txBody>
                    <a:bodyPr/>
                    <a:lstStyle/>
                    <a:p>
                      <a:pPr algn="l" fontAlgn="ctr"/>
                      <a:r>
                        <a:rPr lang="en-US" sz="1000" u="none" strike="noStrike">
                          <a:effectLst/>
                          <a:hlinkClick r:id="rId6" action="ppaction://hlinksldjump"/>
                        </a:rPr>
                        <a:t>Cloud</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 : not </a:t>
                      </a:r>
                      <a:r>
                        <a:rPr lang="fr-FR" sz="1000" err="1">
                          <a:highlight>
                            <a:srgbClr val="FFFF00"/>
                          </a:highlight>
                        </a:rPr>
                        <a:t>hosted</a:t>
                      </a:r>
                      <a:r>
                        <a:rPr lang="fr-FR" sz="1000">
                          <a:highlight>
                            <a:srgbClr val="FFFF00"/>
                          </a:highlight>
                        </a:rPr>
                        <a:t> on the cloud</a:t>
                      </a:r>
                      <a:endParaRPr lang="en-US" sz="1000">
                        <a:highlight>
                          <a:srgbClr val="FFFF00"/>
                        </a:highlight>
                      </a:endParaRPr>
                    </a:p>
                  </a:txBody>
                  <a:tcPr anchor="ctr"/>
                </a:tc>
                <a:extLst>
                  <a:ext uri="{0D108BD9-81ED-4DB2-BD59-A6C34878D82A}">
                    <a16:rowId xmlns:a16="http://schemas.microsoft.com/office/drawing/2014/main" val="454564786"/>
                  </a:ext>
                </a:extLst>
              </a:tr>
              <a:tr h="252000">
                <a:tc>
                  <a:txBody>
                    <a:bodyPr/>
                    <a:lstStyle/>
                    <a:p>
                      <a:pPr algn="l" fontAlgn="ctr"/>
                      <a:r>
                        <a:rPr lang="en-US" sz="1000" u="none" strike="noStrike">
                          <a:effectLst/>
                          <a:hlinkClick r:id="rId7" action="ppaction://hlinksldjump"/>
                        </a:rPr>
                        <a:t>Data</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 : no data platform </a:t>
                      </a:r>
                      <a:r>
                        <a:rPr lang="fr-FR" sz="1000" err="1">
                          <a:highlight>
                            <a:srgbClr val="FFFF00"/>
                          </a:highlight>
                        </a:rPr>
                        <a:t>involved</a:t>
                      </a:r>
                      <a:endParaRPr lang="en-US" sz="1000">
                        <a:highlight>
                          <a:srgbClr val="FFFF00"/>
                        </a:highlight>
                      </a:endParaRPr>
                    </a:p>
                  </a:txBody>
                  <a:tcPr anchor="ctr"/>
                </a:tc>
                <a:extLst>
                  <a:ext uri="{0D108BD9-81ED-4DB2-BD59-A6C34878D82A}">
                    <a16:rowId xmlns:a16="http://schemas.microsoft.com/office/drawing/2014/main" val="1181854593"/>
                  </a:ext>
                </a:extLst>
              </a:tr>
              <a:tr h="252000">
                <a:tc>
                  <a:txBody>
                    <a:bodyPr/>
                    <a:lstStyle/>
                    <a:p>
                      <a:pPr algn="l" fontAlgn="ctr"/>
                      <a:r>
                        <a:rPr lang="en-US" sz="1000" u="none" strike="noStrike">
                          <a:effectLst/>
                          <a:hlinkClick r:id="rId8" action="ppaction://hlinksldjump"/>
                        </a:rPr>
                        <a:t>Data privacy</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 : no data </a:t>
                      </a:r>
                      <a:r>
                        <a:rPr lang="fr-FR" sz="1000" err="1">
                          <a:highlight>
                            <a:srgbClr val="FFFF00"/>
                          </a:highlight>
                        </a:rPr>
                        <a:t>privacy</a:t>
                      </a:r>
                      <a:r>
                        <a:rPr lang="fr-FR" sz="1000">
                          <a:highlight>
                            <a:srgbClr val="FFFF00"/>
                          </a:highlight>
                        </a:rPr>
                        <a:t> </a:t>
                      </a:r>
                      <a:r>
                        <a:rPr lang="fr-FR" sz="1000" err="1">
                          <a:highlight>
                            <a:srgbClr val="FFFF00"/>
                          </a:highlight>
                        </a:rPr>
                        <a:t>involved</a:t>
                      </a:r>
                      <a:endParaRPr lang="en-US" sz="1000">
                        <a:highlight>
                          <a:srgbClr val="FFFF00"/>
                        </a:highlight>
                      </a:endParaRPr>
                    </a:p>
                  </a:txBody>
                  <a:tcPr anchor="ctr"/>
                </a:tc>
                <a:extLst>
                  <a:ext uri="{0D108BD9-81ED-4DB2-BD59-A6C34878D82A}">
                    <a16:rowId xmlns:a16="http://schemas.microsoft.com/office/drawing/2014/main" val="2140964245"/>
                  </a:ext>
                </a:extLst>
              </a:tr>
              <a:tr h="252000">
                <a:tc>
                  <a:txBody>
                    <a:bodyPr/>
                    <a:lstStyle/>
                    <a:p>
                      <a:pPr algn="l" fontAlgn="ctr"/>
                      <a:r>
                        <a:rPr lang="en-US" sz="1000" u="none" strike="noStrike" err="1">
                          <a:effectLst/>
                          <a:hlinkClick r:id="rId9" action="ppaction://hlinksldjump"/>
                        </a:rPr>
                        <a:t>DevSecOps</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 : </a:t>
                      </a:r>
                      <a:r>
                        <a:rPr lang="fr-FR" sz="1000" err="1">
                          <a:highlight>
                            <a:srgbClr val="FFFF00"/>
                          </a:highlight>
                        </a:rPr>
                        <a:t>there</a:t>
                      </a:r>
                      <a:r>
                        <a:rPr lang="fr-FR" sz="1000">
                          <a:highlight>
                            <a:srgbClr val="FFFF00"/>
                          </a:highlight>
                        </a:rPr>
                        <a:t> </a:t>
                      </a:r>
                      <a:r>
                        <a:rPr lang="fr-FR" sz="1000" err="1">
                          <a:highlight>
                            <a:srgbClr val="FFFF00"/>
                          </a:highlight>
                        </a:rPr>
                        <a:t>is</a:t>
                      </a:r>
                      <a:r>
                        <a:rPr lang="fr-FR" sz="1000">
                          <a:highlight>
                            <a:srgbClr val="FFFF00"/>
                          </a:highlight>
                        </a:rPr>
                        <a:t> no </a:t>
                      </a:r>
                      <a:r>
                        <a:rPr lang="fr-FR" sz="1000" err="1">
                          <a:highlight>
                            <a:srgbClr val="FFFF00"/>
                          </a:highlight>
                        </a:rPr>
                        <a:t>development</a:t>
                      </a:r>
                      <a:endParaRPr lang="en-US" sz="1000">
                        <a:highlight>
                          <a:srgbClr val="FFFF00"/>
                        </a:highlight>
                      </a:endParaRPr>
                    </a:p>
                  </a:txBody>
                  <a:tcPr anchor="ctr"/>
                </a:tc>
                <a:extLst>
                  <a:ext uri="{0D108BD9-81ED-4DB2-BD59-A6C34878D82A}">
                    <a16:rowId xmlns:a16="http://schemas.microsoft.com/office/drawing/2014/main" val="3462254443"/>
                  </a:ext>
                </a:extLst>
              </a:tr>
              <a:tr h="252000">
                <a:tc>
                  <a:txBody>
                    <a:bodyPr/>
                    <a:lstStyle/>
                    <a:p>
                      <a:pPr algn="l" fontAlgn="ctr"/>
                      <a:r>
                        <a:rPr lang="en-US" sz="1000" u="none" strike="noStrike">
                          <a:effectLst/>
                          <a:hlinkClick r:id="rId10" action="ppaction://hlinksldjump"/>
                        </a:rPr>
                        <a:t>Enterprise Architecture</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t>Yes</a:t>
                      </a:r>
                      <a:endParaRPr lang="en-US" sz="1000"/>
                    </a:p>
                  </a:txBody>
                  <a:tcPr anchor="ctr"/>
                </a:tc>
                <a:extLst>
                  <a:ext uri="{0D108BD9-81ED-4DB2-BD59-A6C34878D82A}">
                    <a16:rowId xmlns:a16="http://schemas.microsoft.com/office/drawing/2014/main" val="1141582350"/>
                  </a:ext>
                </a:extLst>
              </a:tr>
              <a:tr h="252000">
                <a:tc>
                  <a:txBody>
                    <a:bodyPr/>
                    <a:lstStyle/>
                    <a:p>
                      <a:pPr algn="l" fontAlgn="ctr"/>
                      <a:r>
                        <a:rPr lang="en-US" sz="1000" u="none" strike="noStrike">
                          <a:effectLst/>
                          <a:hlinkClick r:id="rId11" action="ppaction://hlinksldjump"/>
                        </a:rPr>
                        <a:t>Gen AI</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 : no usage of AI or </a:t>
                      </a:r>
                      <a:r>
                        <a:rPr lang="fr-FR" sz="1000" err="1">
                          <a:highlight>
                            <a:srgbClr val="FFFF00"/>
                          </a:highlight>
                        </a:rPr>
                        <a:t>GenAI</a:t>
                      </a:r>
                      <a:endParaRPr lang="en-US" sz="1000">
                        <a:highlight>
                          <a:srgbClr val="FFFF00"/>
                        </a:highlight>
                      </a:endParaRPr>
                    </a:p>
                  </a:txBody>
                  <a:tcPr anchor="ctr"/>
                </a:tc>
                <a:extLst>
                  <a:ext uri="{0D108BD9-81ED-4DB2-BD59-A6C34878D82A}">
                    <a16:rowId xmlns:a16="http://schemas.microsoft.com/office/drawing/2014/main" val="1438365187"/>
                  </a:ext>
                </a:extLst>
              </a:tr>
              <a:tr h="252000">
                <a:tc>
                  <a:txBody>
                    <a:bodyPr/>
                    <a:lstStyle/>
                    <a:p>
                      <a:pPr algn="l" fontAlgn="ctr"/>
                      <a:r>
                        <a:rPr lang="en-US" sz="1000" u="none" strike="noStrike">
                          <a:effectLst/>
                          <a:hlinkClick r:id="rId12" action="ppaction://hlinksldjump"/>
                        </a:rPr>
                        <a:t>Infrastructure</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a:t>
                      </a:r>
                      <a:endParaRPr lang="en-US" sz="1000">
                        <a:highlight>
                          <a:srgbClr val="FFFF00"/>
                        </a:highlight>
                      </a:endParaRPr>
                    </a:p>
                  </a:txBody>
                  <a:tcPr anchor="ctr"/>
                </a:tc>
                <a:extLst>
                  <a:ext uri="{0D108BD9-81ED-4DB2-BD59-A6C34878D82A}">
                    <a16:rowId xmlns:a16="http://schemas.microsoft.com/office/drawing/2014/main" val="255869323"/>
                  </a:ext>
                </a:extLst>
              </a:tr>
              <a:tr h="252000">
                <a:tc>
                  <a:txBody>
                    <a:bodyPr/>
                    <a:lstStyle/>
                    <a:p>
                      <a:pPr algn="l" fontAlgn="ctr"/>
                      <a:r>
                        <a:rPr lang="en-US" sz="1000" u="none" strike="noStrike">
                          <a:effectLst/>
                          <a:hlinkClick r:id="rId6" action="ppaction://hlinksldjump"/>
                        </a:rPr>
                        <a:t>Cybersecurity</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t>Yes</a:t>
                      </a:r>
                      <a:endParaRPr lang="en-US" sz="1000"/>
                    </a:p>
                  </a:txBody>
                  <a:tcPr anchor="ctr"/>
                </a:tc>
                <a:extLst>
                  <a:ext uri="{0D108BD9-81ED-4DB2-BD59-A6C34878D82A}">
                    <a16:rowId xmlns:a16="http://schemas.microsoft.com/office/drawing/2014/main" val="1548128443"/>
                  </a:ext>
                </a:extLst>
              </a:tr>
              <a:tr h="252000">
                <a:tc>
                  <a:txBody>
                    <a:bodyPr/>
                    <a:lstStyle/>
                    <a:p>
                      <a:pPr algn="l" fontAlgn="ctr"/>
                      <a:r>
                        <a:rPr lang="en-US" sz="1000" u="none" strike="noStrike" dirty="0">
                          <a:solidFill>
                            <a:schemeClr val="bg2"/>
                          </a:solidFill>
                          <a:effectLst/>
                          <a:hlinkClick r:id="rId13" action="ppaction://hlinksldjump">
                            <a:extLst>
                              <a:ext uri="{A12FA001-AC4F-418D-AE19-62706E023703}">
                                <ahyp:hlinkClr xmlns:ahyp="http://schemas.microsoft.com/office/drawing/2018/hyperlinkcolor" val="tx"/>
                              </a:ext>
                            </a:extLst>
                          </a:hlinkClick>
                        </a:rPr>
                        <a:t>Accessibility</a:t>
                      </a:r>
                      <a:r>
                        <a:rPr lang="en-US" sz="1000" u="none" strike="noStrike" dirty="0">
                          <a:solidFill>
                            <a:schemeClr val="bg2"/>
                          </a:solidFill>
                          <a:effectLst/>
                        </a:rPr>
                        <a:t> (criteria not published yet)</a:t>
                      </a:r>
                      <a:endParaRPr lang="en-US" sz="1000" b="0" i="0" u="none" strike="noStrike" dirty="0">
                        <a:solidFill>
                          <a:schemeClr val="bg2"/>
                        </a:solidFill>
                        <a:effectLst/>
                        <a:latin typeface="Calibri" panose="020F0502020204030204" pitchFamily="34" charset="0"/>
                      </a:endParaRPr>
                    </a:p>
                  </a:txBody>
                  <a:tcPr anchor="ctr"/>
                </a:tc>
                <a:tc>
                  <a:txBody>
                    <a:bodyPr/>
                    <a:lstStyle/>
                    <a:p>
                      <a:r>
                        <a:rPr lang="fr-FR" sz="1000" dirty="0">
                          <a:solidFill>
                            <a:schemeClr val="bg1">
                              <a:lumMod val="95000"/>
                            </a:schemeClr>
                          </a:solidFill>
                          <a:highlight>
                            <a:srgbClr val="FFFF00"/>
                          </a:highlight>
                        </a:rPr>
                        <a:t>Yes / No : no user interface</a:t>
                      </a:r>
                      <a:endParaRPr lang="en-US" sz="1000" dirty="0">
                        <a:solidFill>
                          <a:schemeClr val="bg1">
                            <a:lumMod val="95000"/>
                          </a:schemeClr>
                        </a:solidFill>
                        <a:highlight>
                          <a:srgbClr val="FFFF00"/>
                        </a:highlight>
                      </a:endParaRPr>
                    </a:p>
                  </a:txBody>
                  <a:tcPr anchor="ctr"/>
                </a:tc>
                <a:extLst>
                  <a:ext uri="{0D108BD9-81ED-4DB2-BD59-A6C34878D82A}">
                    <a16:rowId xmlns:a16="http://schemas.microsoft.com/office/drawing/2014/main" val="3132902759"/>
                  </a:ext>
                </a:extLst>
              </a:tr>
              <a:tr h="252000">
                <a:tc>
                  <a:txBody>
                    <a:bodyPr/>
                    <a:lstStyle/>
                    <a:p>
                      <a:pPr algn="l" fontAlgn="ctr"/>
                      <a:r>
                        <a:rPr lang="en-US" sz="1000" u="none" strike="noStrike">
                          <a:effectLst/>
                          <a:hlinkClick r:id="rId14" action="ppaction://hlinksldjump"/>
                        </a:rPr>
                        <a:t>IOT</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 : no IOT </a:t>
                      </a:r>
                      <a:r>
                        <a:rPr lang="fr-FR" sz="1000" err="1">
                          <a:highlight>
                            <a:srgbClr val="FFFF00"/>
                          </a:highlight>
                        </a:rPr>
                        <a:t>devices</a:t>
                      </a:r>
                      <a:r>
                        <a:rPr lang="fr-FR" sz="1000">
                          <a:highlight>
                            <a:srgbClr val="FFFF00"/>
                          </a:highlight>
                        </a:rPr>
                        <a:t> or platform </a:t>
                      </a:r>
                      <a:r>
                        <a:rPr lang="fr-FR" sz="1000" err="1">
                          <a:highlight>
                            <a:srgbClr val="FFFF00"/>
                          </a:highlight>
                        </a:rPr>
                        <a:t>involved</a:t>
                      </a:r>
                      <a:endParaRPr lang="en-US" sz="1000">
                        <a:highlight>
                          <a:srgbClr val="FFFF00"/>
                        </a:highlight>
                      </a:endParaRPr>
                    </a:p>
                  </a:txBody>
                  <a:tcPr anchor="ctr"/>
                </a:tc>
                <a:extLst>
                  <a:ext uri="{0D108BD9-81ED-4DB2-BD59-A6C34878D82A}">
                    <a16:rowId xmlns:a16="http://schemas.microsoft.com/office/drawing/2014/main" val="2274439188"/>
                  </a:ext>
                </a:extLst>
              </a:tr>
              <a:tr h="252000">
                <a:tc>
                  <a:txBody>
                    <a:bodyPr/>
                    <a:lstStyle/>
                    <a:p>
                      <a:pPr algn="l" fontAlgn="ctr"/>
                      <a:r>
                        <a:rPr lang="en-US" sz="1000" u="none" strike="noStrike">
                          <a:solidFill>
                            <a:schemeClr val="bg1">
                              <a:lumMod val="95000"/>
                            </a:schemeClr>
                          </a:solidFill>
                          <a:effectLst/>
                          <a:hlinkClick r:id="rId15" action="ppaction://hlinksldjump">
                            <a:extLst>
                              <a:ext uri="{A12FA001-AC4F-418D-AE19-62706E023703}">
                                <ahyp:hlinkClr xmlns:ahyp="http://schemas.microsoft.com/office/drawing/2018/hyperlinkcolor" val="tx"/>
                              </a:ext>
                            </a:extLst>
                          </a:hlinkClick>
                        </a:rPr>
                        <a:t>RPA</a:t>
                      </a:r>
                      <a:r>
                        <a:rPr lang="en-US" sz="1000" u="none" strike="noStrike">
                          <a:solidFill>
                            <a:schemeClr val="bg1">
                              <a:lumMod val="95000"/>
                            </a:schemeClr>
                          </a:solidFill>
                          <a:effectLst/>
                        </a:rPr>
                        <a:t> Criteria not published yet</a:t>
                      </a:r>
                      <a:endParaRPr lang="en-US" sz="1000" b="0" i="0" u="none" strike="noStrike">
                        <a:solidFill>
                          <a:schemeClr val="bg1">
                            <a:lumMod val="95000"/>
                          </a:schemeClr>
                        </a:solidFill>
                        <a:effectLst/>
                        <a:latin typeface="Calibri" panose="020F0502020204030204" pitchFamily="34" charset="0"/>
                      </a:endParaRPr>
                    </a:p>
                  </a:txBody>
                  <a:tcPr anchor="ctr"/>
                </a:tc>
                <a:tc>
                  <a:txBody>
                    <a:bodyPr/>
                    <a:lstStyle/>
                    <a:p>
                      <a:r>
                        <a:rPr lang="fr-FR" sz="1000">
                          <a:solidFill>
                            <a:schemeClr val="bg1">
                              <a:lumMod val="95000"/>
                            </a:schemeClr>
                          </a:solidFill>
                          <a:highlight>
                            <a:srgbClr val="FFFF00"/>
                          </a:highlight>
                        </a:rPr>
                        <a:t>Yes / No : no </a:t>
                      </a:r>
                      <a:r>
                        <a:rPr lang="fr-FR" sz="1000" err="1">
                          <a:solidFill>
                            <a:schemeClr val="bg1">
                              <a:lumMod val="95000"/>
                            </a:schemeClr>
                          </a:solidFill>
                          <a:highlight>
                            <a:srgbClr val="FFFF00"/>
                          </a:highlight>
                        </a:rPr>
                        <a:t>need</a:t>
                      </a:r>
                      <a:r>
                        <a:rPr lang="fr-FR" sz="1000">
                          <a:solidFill>
                            <a:schemeClr val="bg1">
                              <a:lumMod val="95000"/>
                            </a:schemeClr>
                          </a:solidFill>
                          <a:highlight>
                            <a:srgbClr val="FFFF00"/>
                          </a:highlight>
                        </a:rPr>
                        <a:t> for RPA</a:t>
                      </a:r>
                      <a:endParaRPr lang="en-US" sz="1000">
                        <a:solidFill>
                          <a:schemeClr val="bg1">
                            <a:lumMod val="95000"/>
                          </a:schemeClr>
                        </a:solidFill>
                        <a:highlight>
                          <a:srgbClr val="FFFF00"/>
                        </a:highlight>
                      </a:endParaRPr>
                    </a:p>
                  </a:txBody>
                  <a:tcPr anchor="ctr"/>
                </a:tc>
                <a:extLst>
                  <a:ext uri="{0D108BD9-81ED-4DB2-BD59-A6C34878D82A}">
                    <a16:rowId xmlns:a16="http://schemas.microsoft.com/office/drawing/2014/main" val="3215113833"/>
                  </a:ext>
                </a:extLst>
              </a:tr>
              <a:tr h="252000">
                <a:tc>
                  <a:txBody>
                    <a:bodyPr/>
                    <a:lstStyle/>
                    <a:p>
                      <a:pPr algn="l" fontAlgn="ctr"/>
                      <a:r>
                        <a:rPr lang="en-US" sz="1000" u="none" strike="noStrike" err="1">
                          <a:solidFill>
                            <a:schemeClr val="bg1">
                              <a:lumMod val="95000"/>
                            </a:schemeClr>
                          </a:solidFill>
                          <a:effectLst/>
                          <a:hlinkClick r:id="rId16" action="ppaction://hlinksldjump">
                            <a:extLst>
                              <a:ext uri="{A12FA001-AC4F-418D-AE19-62706E023703}">
                                <ahyp:hlinkClr xmlns:ahyp="http://schemas.microsoft.com/office/drawing/2018/hyperlinkcolor" val="tx"/>
                              </a:ext>
                            </a:extLst>
                          </a:hlinkClick>
                        </a:rPr>
                        <a:t>LowCodeNocode</a:t>
                      </a:r>
                      <a:r>
                        <a:rPr lang="en-US" sz="1000" u="none" strike="noStrike">
                          <a:solidFill>
                            <a:schemeClr val="bg1">
                              <a:lumMod val="95000"/>
                            </a:schemeClr>
                          </a:solidFill>
                          <a:effectLst/>
                        </a:rPr>
                        <a:t> (criteria not published yet)</a:t>
                      </a:r>
                      <a:endParaRPr lang="en-US" sz="1000" b="0" i="0" u="none" strike="noStrike">
                        <a:solidFill>
                          <a:schemeClr val="bg1">
                            <a:lumMod val="95000"/>
                          </a:schemeClr>
                        </a:solidFill>
                        <a:effectLst/>
                        <a:latin typeface="Calibri" panose="020F0502020204030204" pitchFamily="34" charset="0"/>
                      </a:endParaRPr>
                    </a:p>
                  </a:txBody>
                  <a:tcPr anchor="ctr"/>
                </a:tc>
                <a:tc>
                  <a:txBody>
                    <a:bodyPr/>
                    <a:lstStyle/>
                    <a:p>
                      <a:r>
                        <a:rPr lang="fr-FR" sz="1000">
                          <a:solidFill>
                            <a:schemeClr val="bg1">
                              <a:lumMod val="95000"/>
                            </a:schemeClr>
                          </a:solidFill>
                          <a:highlight>
                            <a:srgbClr val="FFFF00"/>
                          </a:highlight>
                        </a:rPr>
                        <a:t>Yes / No : no </a:t>
                      </a:r>
                      <a:r>
                        <a:rPr lang="fr-FR" sz="1000" err="1">
                          <a:solidFill>
                            <a:schemeClr val="bg1">
                              <a:lumMod val="95000"/>
                            </a:schemeClr>
                          </a:solidFill>
                          <a:highlight>
                            <a:srgbClr val="FFFF00"/>
                          </a:highlight>
                        </a:rPr>
                        <a:t>CitizenDev</a:t>
                      </a:r>
                      <a:r>
                        <a:rPr lang="fr-FR" sz="1000">
                          <a:solidFill>
                            <a:schemeClr val="bg1">
                              <a:lumMod val="95000"/>
                            </a:schemeClr>
                          </a:solidFill>
                          <a:highlight>
                            <a:srgbClr val="FFFF00"/>
                          </a:highlight>
                        </a:rPr>
                        <a:t> </a:t>
                      </a:r>
                      <a:r>
                        <a:rPr lang="fr-FR" sz="1000" err="1">
                          <a:solidFill>
                            <a:schemeClr val="bg1">
                              <a:lumMod val="95000"/>
                            </a:schemeClr>
                          </a:solidFill>
                          <a:highlight>
                            <a:srgbClr val="FFFF00"/>
                          </a:highlight>
                        </a:rPr>
                        <a:t>involved</a:t>
                      </a:r>
                      <a:endParaRPr lang="en-US" sz="1000">
                        <a:solidFill>
                          <a:schemeClr val="bg1">
                            <a:lumMod val="95000"/>
                          </a:schemeClr>
                        </a:solidFill>
                        <a:highlight>
                          <a:srgbClr val="FFFF00"/>
                        </a:highlight>
                      </a:endParaRPr>
                    </a:p>
                  </a:txBody>
                  <a:tcPr anchor="ctr"/>
                </a:tc>
                <a:extLst>
                  <a:ext uri="{0D108BD9-81ED-4DB2-BD59-A6C34878D82A}">
                    <a16:rowId xmlns:a16="http://schemas.microsoft.com/office/drawing/2014/main" val="715917631"/>
                  </a:ext>
                </a:extLst>
              </a:tr>
              <a:tr h="252000">
                <a:tc>
                  <a:txBody>
                    <a:bodyPr/>
                    <a:lstStyle/>
                    <a:p>
                      <a:pPr algn="l" fontAlgn="ctr"/>
                      <a:r>
                        <a:rPr lang="en-US" sz="1000" u="none" strike="noStrike">
                          <a:effectLst/>
                          <a:hlinkClick r:id="rId13" action="ppaction://hlinksldjump"/>
                        </a:rPr>
                        <a:t>Services Contracts</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a:highlight>
                            <a:srgbClr val="FFFF00"/>
                          </a:highlight>
                        </a:rPr>
                        <a:t>Yes / No : no services</a:t>
                      </a:r>
                      <a:endParaRPr lang="en-US" sz="1000">
                        <a:highlight>
                          <a:srgbClr val="FFFF00"/>
                        </a:highlight>
                      </a:endParaRPr>
                    </a:p>
                  </a:txBody>
                  <a:tcPr anchor="ctr"/>
                </a:tc>
                <a:extLst>
                  <a:ext uri="{0D108BD9-81ED-4DB2-BD59-A6C34878D82A}">
                    <a16:rowId xmlns:a16="http://schemas.microsoft.com/office/drawing/2014/main" val="1521176753"/>
                  </a:ext>
                </a:extLst>
              </a:tr>
              <a:tr h="252000">
                <a:tc>
                  <a:txBody>
                    <a:bodyPr/>
                    <a:lstStyle/>
                    <a:p>
                      <a:pPr algn="l" fontAlgn="ctr"/>
                      <a:r>
                        <a:rPr lang="en-US" sz="1000" u="none" strike="noStrike">
                          <a:effectLst/>
                          <a:hlinkClick r:id="rId17" action="ppaction://hlinksldjump"/>
                        </a:rPr>
                        <a:t>Hardware &amp; Software Contracts</a:t>
                      </a:r>
                      <a:endParaRPr lang="en-US" sz="1000" b="0" i="0" u="none" strike="noStrike">
                        <a:solidFill>
                          <a:srgbClr val="272B35"/>
                        </a:solidFill>
                        <a:effectLst/>
                        <a:latin typeface="Calibri" panose="020F0502020204030204" pitchFamily="34" charset="0"/>
                      </a:endParaRPr>
                    </a:p>
                  </a:txBody>
                  <a:tcPr anchor="ctr"/>
                </a:tc>
                <a:tc>
                  <a:txBody>
                    <a:bodyPr/>
                    <a:lstStyle/>
                    <a:p>
                      <a:r>
                        <a:rPr lang="fr-FR" sz="1000" dirty="0">
                          <a:highlight>
                            <a:srgbClr val="FFFF00"/>
                          </a:highlight>
                        </a:rPr>
                        <a:t>Yes / No : no </a:t>
                      </a:r>
                      <a:r>
                        <a:rPr lang="fr-FR" sz="1000" dirty="0" err="1">
                          <a:highlight>
                            <a:srgbClr val="FFFF00"/>
                          </a:highlight>
                        </a:rPr>
                        <a:t>need</a:t>
                      </a:r>
                      <a:r>
                        <a:rPr lang="fr-FR" sz="1000" dirty="0">
                          <a:highlight>
                            <a:srgbClr val="FFFF00"/>
                          </a:highlight>
                        </a:rPr>
                        <a:t> for software contracts</a:t>
                      </a:r>
                      <a:endParaRPr lang="en-US" sz="1000" dirty="0">
                        <a:highlight>
                          <a:srgbClr val="FFFF00"/>
                        </a:highlight>
                      </a:endParaRPr>
                    </a:p>
                  </a:txBody>
                  <a:tcPr anchor="ctr"/>
                </a:tc>
                <a:extLst>
                  <a:ext uri="{0D108BD9-81ED-4DB2-BD59-A6C34878D82A}">
                    <a16:rowId xmlns:a16="http://schemas.microsoft.com/office/drawing/2014/main" val="3430348364"/>
                  </a:ext>
                </a:extLst>
              </a:tr>
            </a:tbl>
          </a:graphicData>
        </a:graphic>
      </p:graphicFrame>
      <p:sp>
        <p:nvSpPr>
          <p:cNvPr id="9" name="Espace réservé du contenu 1">
            <a:extLst>
              <a:ext uri="{FF2B5EF4-FFF2-40B4-BE49-F238E27FC236}">
                <a16:creationId xmlns:a16="http://schemas.microsoft.com/office/drawing/2014/main" id="{BE01575E-049B-BB49-9FE7-5C58F673EE00}"/>
              </a:ext>
            </a:extLst>
          </p:cNvPr>
          <p:cNvSpPr txBox="1">
            <a:spLocks/>
          </p:cNvSpPr>
          <p:nvPr/>
        </p:nvSpPr>
        <p:spPr>
          <a:xfrm>
            <a:off x="6320332" y="4251596"/>
            <a:ext cx="2970873" cy="891904"/>
          </a:xfrm>
          <a:prstGeom prst="rect">
            <a:avLst/>
          </a:prstGeom>
        </p:spPr>
        <p:txBody>
          <a:bodyPr vert="horz" lIns="91440" tIns="45720" rIns="91440" bIns="45720" rtlCol="0">
            <a:normAutofit fontScale="92500"/>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fr-FR" sz="1600" i="1">
                <a:solidFill>
                  <a:schemeClr val="accent1"/>
                </a:solidFill>
                <a:latin typeface="Encode Sans" pitchFamily="2" charset="0"/>
              </a:rPr>
              <a:t>Note</a:t>
            </a:r>
            <a:r>
              <a:rPr lang="fr-FR" sz="1600">
                <a:solidFill>
                  <a:schemeClr val="accent1"/>
                </a:solidFill>
                <a:latin typeface="Encode Sans" pitchFamily="2" charset="0"/>
              </a:rPr>
              <a:t> : all non-applicable </a:t>
            </a:r>
            <a:r>
              <a:rPr lang="fr-FR" sz="1600" err="1">
                <a:solidFill>
                  <a:schemeClr val="accent1"/>
                </a:solidFill>
                <a:latin typeface="Encode Sans" pitchFamily="2" charset="0"/>
              </a:rPr>
              <a:t>domains</a:t>
            </a:r>
            <a:r>
              <a:rPr lang="fr-FR" sz="1600">
                <a:solidFill>
                  <a:schemeClr val="accent1"/>
                </a:solidFill>
                <a:latin typeface="Encode Sans" pitchFamily="2" charset="0"/>
              </a:rPr>
              <a:t> </a:t>
            </a:r>
            <a:r>
              <a:rPr lang="fr-FR" sz="1600" err="1">
                <a:solidFill>
                  <a:schemeClr val="accent1"/>
                </a:solidFill>
                <a:latin typeface="Encode Sans" pitchFamily="2" charset="0"/>
              </a:rPr>
              <a:t>will</a:t>
            </a:r>
            <a:r>
              <a:rPr lang="fr-FR" sz="1600">
                <a:solidFill>
                  <a:schemeClr val="accent1"/>
                </a:solidFill>
                <a:latin typeface="Encode Sans" pitchFamily="2" charset="0"/>
              </a:rPr>
              <a:t> not </a:t>
            </a:r>
            <a:r>
              <a:rPr lang="fr-FR" sz="1600" err="1">
                <a:solidFill>
                  <a:schemeClr val="accent1"/>
                </a:solidFill>
                <a:latin typeface="Encode Sans" pitchFamily="2" charset="0"/>
              </a:rPr>
              <a:t>be</a:t>
            </a:r>
            <a:r>
              <a:rPr lang="fr-FR" sz="1600">
                <a:solidFill>
                  <a:schemeClr val="accent1"/>
                </a:solidFill>
                <a:latin typeface="Encode Sans" pitchFamily="2" charset="0"/>
              </a:rPr>
              <a:t> </a:t>
            </a:r>
            <a:r>
              <a:rPr lang="fr-FR" sz="1600" err="1">
                <a:solidFill>
                  <a:schemeClr val="accent1"/>
                </a:solidFill>
                <a:latin typeface="Encode Sans" pitchFamily="2" charset="0"/>
              </a:rPr>
              <a:t>discussed</a:t>
            </a:r>
            <a:r>
              <a:rPr lang="fr-FR" sz="1600">
                <a:solidFill>
                  <a:schemeClr val="accent1"/>
                </a:solidFill>
                <a:latin typeface="Encode Sans" pitchFamily="2" charset="0"/>
              </a:rPr>
              <a:t> </a:t>
            </a:r>
            <a:r>
              <a:rPr lang="fr-FR" sz="1600" err="1">
                <a:solidFill>
                  <a:schemeClr val="accent1"/>
                </a:solidFill>
                <a:latin typeface="Encode Sans" pitchFamily="2" charset="0"/>
              </a:rPr>
              <a:t>during</a:t>
            </a:r>
            <a:r>
              <a:rPr lang="fr-FR" sz="1600">
                <a:solidFill>
                  <a:schemeClr val="accent1"/>
                </a:solidFill>
                <a:latin typeface="Encode Sans" pitchFamily="2" charset="0"/>
              </a:rPr>
              <a:t> the </a:t>
            </a:r>
            <a:r>
              <a:rPr lang="fr-FR" sz="1600" err="1">
                <a:solidFill>
                  <a:schemeClr val="accent1"/>
                </a:solidFill>
                <a:latin typeface="Encode Sans" pitchFamily="2" charset="0"/>
              </a:rPr>
              <a:t>Gate</a:t>
            </a:r>
            <a:r>
              <a:rPr lang="fr-FR" sz="1600">
                <a:solidFill>
                  <a:schemeClr val="accent1"/>
                </a:solidFill>
                <a:latin typeface="Encode Sans" pitchFamily="2" charset="0"/>
              </a:rPr>
              <a:t> </a:t>
            </a:r>
            <a:r>
              <a:rPr lang="fr-FR" sz="1600" err="1">
                <a:solidFill>
                  <a:schemeClr val="accent1"/>
                </a:solidFill>
                <a:latin typeface="Encode Sans" pitchFamily="2" charset="0"/>
              </a:rPr>
              <a:t>review</a:t>
            </a:r>
            <a:r>
              <a:rPr lang="fr-FR" sz="1600">
                <a:solidFill>
                  <a:schemeClr val="accent1"/>
                </a:solidFill>
                <a:latin typeface="Encode Sans" pitchFamily="2" charset="0"/>
              </a:rPr>
              <a:t>.</a:t>
            </a:r>
            <a:endParaRPr lang="en-US">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2447543296"/>
      </p:ext>
    </p:extLst>
  </p:cSld>
  <p:clrMapOvr>
    <a:masterClrMapping/>
  </p:clrMapOvr>
  <p:extLst>
    <p:ext uri="{6950BFC3-D8DA-4A85-94F7-54DA5524770B}">
      <p188:commentRel xmlns:p188="http://schemas.microsoft.com/office/powerpoint/2018/8/main" r:id="rId4"/>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5" name="Google Shape;246;p33">
            <a:extLst>
              <a:ext uri="{FF2B5EF4-FFF2-40B4-BE49-F238E27FC236}">
                <a16:creationId xmlns:a16="http://schemas.microsoft.com/office/drawing/2014/main" id="{B1B8CB73-F933-4247-8CB8-1EC8E21953EE}"/>
              </a:ext>
            </a:extLst>
          </p:cNvPr>
          <p:cNvSpPr/>
          <p:nvPr/>
        </p:nvSpPr>
        <p:spPr>
          <a:xfrm>
            <a:off x="113211" y="713111"/>
            <a:ext cx="8926286" cy="1638204"/>
          </a:xfrm>
          <a:prstGeom prst="rect">
            <a:avLst/>
          </a:prstGeom>
          <a:solidFill>
            <a:srgbClr val="D7E8F8"/>
          </a:solidFill>
          <a:ln>
            <a:solidFill>
              <a:srgbClr val="A0C9EE"/>
            </a:solidFill>
          </a:ln>
          <a:effectLst>
            <a:outerShdw blurRad="50800" dist="38100" dir="2700000" algn="tl" rotWithShape="0">
              <a:prstClr val="black">
                <a:alpha val="40000"/>
              </a:prstClr>
            </a:outerShdw>
          </a:effectLst>
        </p:spPr>
        <p:txBody>
          <a:bodyPr spcFirstLastPara="1" wrap="square" lIns="91425" tIns="45700" rIns="91425" bIns="45700" anchor="t"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accent1"/>
                </a:solidFill>
                <a:effectLst/>
                <a:uLnTx/>
                <a:uFillTx/>
                <a:latin typeface="Encode Sans" pitchFamily="2" charset="0"/>
                <a:ea typeface="+mn-ea"/>
              </a:rPr>
              <a:t>Project information </a:t>
            </a:r>
            <a:endParaRPr kumimoji="0" lang="en-US" sz="1000" b="1" i="0" u="none" strike="noStrike" kern="0" cap="none" spc="0" normalizeH="0" baseline="0" noProof="0">
              <a:ln>
                <a:noFill/>
              </a:ln>
              <a:solidFill>
                <a:schemeClr val="accent1"/>
              </a:solidFill>
              <a:effectLst/>
              <a:uLnTx/>
              <a:uFillTx/>
              <a:latin typeface="Encode Sans" pitchFamily="2" charset="0"/>
            </a:endParaRPr>
          </a:p>
        </p:txBody>
      </p:sp>
      <p:sp>
        <p:nvSpPr>
          <p:cNvPr id="18" name="Google Shape;246;p33">
            <a:extLst>
              <a:ext uri="{FF2B5EF4-FFF2-40B4-BE49-F238E27FC236}">
                <a16:creationId xmlns:a16="http://schemas.microsoft.com/office/drawing/2014/main" id="{C27F8B25-11D3-4CA5-8FDB-5C6C091919B6}"/>
              </a:ext>
            </a:extLst>
          </p:cNvPr>
          <p:cNvSpPr/>
          <p:nvPr/>
        </p:nvSpPr>
        <p:spPr>
          <a:xfrm>
            <a:off x="113210" y="2548199"/>
            <a:ext cx="8926285" cy="2008823"/>
          </a:xfrm>
          <a:prstGeom prst="rect">
            <a:avLst/>
          </a:prstGeom>
          <a:solidFill>
            <a:srgbClr val="D7E8F8"/>
          </a:solidFill>
          <a:ln>
            <a:solidFill>
              <a:srgbClr val="A0C9EE"/>
            </a:solidFill>
          </a:ln>
          <a:effectLst>
            <a:outerShdw blurRad="50800" dist="38100" dir="2700000" algn="tl" rotWithShape="0">
              <a:prstClr val="black">
                <a:alpha val="40000"/>
              </a:prstClr>
            </a:outerShdw>
          </a:effectLst>
        </p:spPr>
        <p:txBody>
          <a:bodyPr spcFirstLastPara="1" wrap="square" lIns="91425" tIns="45700" rIns="91425" bIns="45700" anchor="t"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accent1"/>
                </a:solidFill>
                <a:effectLst/>
                <a:uLnTx/>
                <a:uFillTx/>
                <a:latin typeface="Encode Sans" pitchFamily="2" charset="0"/>
                <a:ea typeface="+mn-ea"/>
              </a:rPr>
              <a:t>Application information</a:t>
            </a:r>
            <a:endParaRPr kumimoji="0" sz="1000" b="1" i="0" u="none" strike="noStrike" kern="0" cap="none" spc="0" normalizeH="0" baseline="0" noProof="0">
              <a:ln>
                <a:noFill/>
              </a:ln>
              <a:solidFill>
                <a:schemeClr val="accent1"/>
              </a:solidFill>
              <a:effectLst/>
              <a:uLnTx/>
              <a:uFillTx/>
              <a:latin typeface="Encode Sans" pitchFamily="2" charset="0"/>
            </a:endParaRPr>
          </a:p>
        </p:txBody>
      </p:sp>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Project Synthesis</a:t>
            </a:r>
            <a:endParaRPr>
              <a:latin typeface="Encode Sans" pitchFamily="2" charset="0"/>
            </a:endParaRPr>
          </a:p>
        </p:txBody>
      </p:sp>
      <p:sp>
        <p:nvSpPr>
          <p:cNvPr id="6" name="Google Shape;249;p33">
            <a:extLst>
              <a:ext uri="{FF2B5EF4-FFF2-40B4-BE49-F238E27FC236}">
                <a16:creationId xmlns:a16="http://schemas.microsoft.com/office/drawing/2014/main" id="{4AEBF790-EB9C-442F-974F-405B73EA8DB1}"/>
              </a:ext>
            </a:extLst>
          </p:cNvPr>
          <p:cNvSpPr/>
          <p:nvPr/>
        </p:nvSpPr>
        <p:spPr>
          <a:xfrm>
            <a:off x="189618" y="1089542"/>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Regional Impacts</a:t>
            </a:r>
            <a:endParaRPr kumimoji="0" lang="en-GB" sz="1100" b="0" i="0" u="none" strike="noStrike" kern="0" cap="none" spc="0" normalizeH="0" baseline="0" noProof="0">
              <a:ln>
                <a:noFill/>
              </a:ln>
              <a:solidFill>
                <a:sysClr val="windowText" lastClr="000000"/>
              </a:solidFill>
              <a:effectLst/>
              <a:uLnTx/>
              <a:uFillTx/>
              <a:latin typeface="Encode Sans" pitchFamily="2" charset="0"/>
            </a:endParaRPr>
          </a:p>
        </p:txBody>
      </p:sp>
      <p:sp>
        <p:nvSpPr>
          <p:cNvPr id="7" name="Google Shape;250;p33">
            <a:extLst>
              <a:ext uri="{FF2B5EF4-FFF2-40B4-BE49-F238E27FC236}">
                <a16:creationId xmlns:a16="http://schemas.microsoft.com/office/drawing/2014/main" id="{2B1F140B-A614-4143-9AE0-8BE12CEE711B}"/>
              </a:ext>
            </a:extLst>
          </p:cNvPr>
          <p:cNvSpPr/>
          <p:nvPr/>
        </p:nvSpPr>
        <p:spPr>
          <a:xfrm>
            <a:off x="189618" y="768496"/>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Project</a:t>
            </a:r>
            <a:endParaRPr kumimoji="0" sz="1800" b="0" i="0" u="none" strike="noStrike" kern="0" cap="none" spc="0" normalizeH="0" baseline="0" noProof="0">
              <a:ln>
                <a:noFill/>
              </a:ln>
              <a:solidFill>
                <a:sysClr val="windowText" lastClr="000000"/>
              </a:solidFill>
              <a:effectLst/>
              <a:uLnTx/>
              <a:uFillTx/>
              <a:latin typeface="Encode Sans" pitchFamily="2" charset="0"/>
            </a:endParaRPr>
          </a:p>
        </p:txBody>
      </p:sp>
      <p:sp>
        <p:nvSpPr>
          <p:cNvPr id="8" name="Google Shape;256;p33">
            <a:extLst>
              <a:ext uri="{FF2B5EF4-FFF2-40B4-BE49-F238E27FC236}">
                <a16:creationId xmlns:a16="http://schemas.microsoft.com/office/drawing/2014/main" id="{86FAFC6C-9D25-46E9-9003-B20F572873B0}"/>
              </a:ext>
            </a:extLst>
          </p:cNvPr>
          <p:cNvSpPr/>
          <p:nvPr/>
        </p:nvSpPr>
        <p:spPr>
          <a:xfrm>
            <a:off x="4581305" y="865775"/>
            <a:ext cx="1701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Documents repository </a:t>
            </a:r>
            <a:endParaRPr kumimoji="0" lang="en-GB" sz="1800" b="0" i="0" u="none" strike="noStrike" kern="0" cap="none" spc="0" normalizeH="0" baseline="0" noProof="0">
              <a:ln>
                <a:noFill/>
              </a:ln>
              <a:solidFill>
                <a:sysClr val="windowText" lastClr="000000"/>
              </a:solidFill>
              <a:effectLst/>
              <a:uLnTx/>
              <a:uFillTx/>
              <a:latin typeface="Encode Sans" pitchFamily="2" charset="0"/>
            </a:endParaRPr>
          </a:p>
        </p:txBody>
      </p:sp>
      <p:sp>
        <p:nvSpPr>
          <p:cNvPr id="9" name="Google Shape;260;p33">
            <a:extLst>
              <a:ext uri="{FF2B5EF4-FFF2-40B4-BE49-F238E27FC236}">
                <a16:creationId xmlns:a16="http://schemas.microsoft.com/office/drawing/2014/main" id="{B5C5941B-54A5-4FA3-8503-0E9157C57A33}"/>
              </a:ext>
            </a:extLst>
          </p:cNvPr>
          <p:cNvSpPr/>
          <p:nvPr/>
        </p:nvSpPr>
        <p:spPr>
          <a:xfrm>
            <a:off x="4581297" y="2879543"/>
            <a:ext cx="1701000"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SOX/CAC application</a:t>
            </a:r>
            <a:endParaRPr kumimoji="0" lang="en-GB" sz="1100" b="0" i="0" u="none" strike="noStrike" kern="0" cap="none" spc="0" normalizeH="0" baseline="0" noProof="0">
              <a:ln>
                <a:noFill/>
              </a:ln>
              <a:solidFill>
                <a:sysClr val="windowText" lastClr="000000"/>
              </a:solidFill>
              <a:effectLst/>
              <a:uLnTx/>
              <a:uFillTx/>
              <a:latin typeface="Encode Sans" pitchFamily="2" charset="0"/>
            </a:endParaRPr>
          </a:p>
        </p:txBody>
      </p:sp>
      <p:sp>
        <p:nvSpPr>
          <p:cNvPr id="10" name="Google Shape;261;p33">
            <a:extLst>
              <a:ext uri="{FF2B5EF4-FFF2-40B4-BE49-F238E27FC236}">
                <a16:creationId xmlns:a16="http://schemas.microsoft.com/office/drawing/2014/main" id="{0D4A0421-DFDD-407D-B53F-6151671082FD}"/>
              </a:ext>
            </a:extLst>
          </p:cNvPr>
          <p:cNvSpPr/>
          <p:nvPr/>
        </p:nvSpPr>
        <p:spPr>
          <a:xfrm>
            <a:off x="1875659" y="2014409"/>
            <a:ext cx="2601440" cy="334326"/>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dd/mm/</a:t>
            </a:r>
            <a:r>
              <a:rPr lang="en-GB" sz="1000" b="1" err="1">
                <a:solidFill>
                  <a:srgbClr val="7F7F7F"/>
                </a:solidFill>
                <a:highlight>
                  <a:srgbClr val="FFFF00"/>
                </a:highlight>
                <a:latin typeface="Encode Sans" pitchFamily="2" charset="0"/>
              </a:rPr>
              <a:t>yyyy</a:t>
            </a:r>
            <a:endParaRPr sz="1000" b="1">
              <a:solidFill>
                <a:srgbClr val="7F7F7F"/>
              </a:solidFill>
              <a:highlight>
                <a:srgbClr val="FFFF00"/>
              </a:highlight>
              <a:latin typeface="Encode Sans" pitchFamily="2" charset="0"/>
            </a:endParaRPr>
          </a:p>
        </p:txBody>
      </p:sp>
      <p:sp>
        <p:nvSpPr>
          <p:cNvPr id="11" name="Google Shape;262;p33">
            <a:extLst>
              <a:ext uri="{FF2B5EF4-FFF2-40B4-BE49-F238E27FC236}">
                <a16:creationId xmlns:a16="http://schemas.microsoft.com/office/drawing/2014/main" id="{23B55EAE-1DA9-468F-83D7-C4A7E1AEF9A1}"/>
              </a:ext>
            </a:extLst>
          </p:cNvPr>
          <p:cNvSpPr/>
          <p:nvPr/>
        </p:nvSpPr>
        <p:spPr>
          <a:xfrm>
            <a:off x="174662" y="2049069"/>
            <a:ext cx="1701005"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GO-LIVE Date</a:t>
            </a:r>
          </a:p>
        </p:txBody>
      </p:sp>
      <p:sp>
        <p:nvSpPr>
          <p:cNvPr id="12" name="Google Shape;264;p33">
            <a:extLst>
              <a:ext uri="{FF2B5EF4-FFF2-40B4-BE49-F238E27FC236}">
                <a16:creationId xmlns:a16="http://schemas.microsoft.com/office/drawing/2014/main" id="{E23BE929-4EC0-42EB-B26A-A75EB46D56E7}"/>
              </a:ext>
            </a:extLst>
          </p:cNvPr>
          <p:cNvSpPr/>
          <p:nvPr/>
        </p:nvSpPr>
        <p:spPr>
          <a:xfrm>
            <a:off x="189618" y="1737774"/>
            <a:ext cx="1700995"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Encode Sans" pitchFamily="2" charset="0"/>
              </a:rPr>
              <a:t>Risks Analysis</a:t>
            </a:r>
          </a:p>
        </p:txBody>
      </p:sp>
      <p:sp>
        <p:nvSpPr>
          <p:cNvPr id="13" name="Google Shape;269;p33">
            <a:extLst>
              <a:ext uri="{FF2B5EF4-FFF2-40B4-BE49-F238E27FC236}">
                <a16:creationId xmlns:a16="http://schemas.microsoft.com/office/drawing/2014/main" id="{AD1CE71C-6901-4C70-BBC5-135DF7DA50DC}"/>
              </a:ext>
            </a:extLst>
          </p:cNvPr>
          <p:cNvSpPr/>
          <p:nvPr/>
        </p:nvSpPr>
        <p:spPr>
          <a:xfrm>
            <a:off x="189618" y="2544895"/>
            <a:ext cx="170100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Main Application of the project</a:t>
            </a:r>
            <a:endParaRPr kumimoji="0" lang="en-GB" sz="1100" b="0" i="0" u="none" strike="noStrike" kern="0" cap="none" spc="0" normalizeH="0" baseline="0" noProof="0">
              <a:ln>
                <a:noFill/>
              </a:ln>
              <a:solidFill>
                <a:sysClr val="windowText" lastClr="000000"/>
              </a:solidFill>
              <a:effectLst/>
              <a:uLnTx/>
              <a:uFillTx/>
              <a:latin typeface="Encode Sans" pitchFamily="2" charset="0"/>
            </a:endParaRPr>
          </a:p>
        </p:txBody>
      </p:sp>
      <p:sp>
        <p:nvSpPr>
          <p:cNvPr id="14" name="Google Shape;282;p33">
            <a:extLst>
              <a:ext uri="{FF2B5EF4-FFF2-40B4-BE49-F238E27FC236}">
                <a16:creationId xmlns:a16="http://schemas.microsoft.com/office/drawing/2014/main" id="{6CF40953-7032-48B3-932F-60B8D3B5E6D8}"/>
              </a:ext>
            </a:extLst>
          </p:cNvPr>
          <p:cNvSpPr/>
          <p:nvPr/>
        </p:nvSpPr>
        <p:spPr>
          <a:xfrm>
            <a:off x="4581297" y="1172309"/>
            <a:ext cx="1701004"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Encode Sans" pitchFamily="2" charset="0"/>
              </a:rPr>
              <a:t>Contracts &amp; licenses</a:t>
            </a:r>
            <a:endParaRPr kumimoji="0" lang="en-US" sz="1100" b="0" i="0" u="none" strike="noStrike" kern="0" cap="none" spc="0" normalizeH="0" baseline="0" noProof="0">
              <a:ln>
                <a:noFill/>
              </a:ln>
              <a:solidFill>
                <a:sysClr val="windowText" lastClr="000000"/>
              </a:solidFill>
              <a:effectLst/>
              <a:uLnTx/>
              <a:uFillTx/>
              <a:latin typeface="Encode Sans" pitchFamily="2" charset="0"/>
            </a:endParaRPr>
          </a:p>
        </p:txBody>
      </p:sp>
      <p:sp>
        <p:nvSpPr>
          <p:cNvPr id="15" name="Google Shape;295;p33">
            <a:extLst>
              <a:ext uri="{FF2B5EF4-FFF2-40B4-BE49-F238E27FC236}">
                <a16:creationId xmlns:a16="http://schemas.microsoft.com/office/drawing/2014/main" id="{376A7B6D-B5E6-4087-8870-AEE40ACC8618}"/>
              </a:ext>
            </a:extLst>
          </p:cNvPr>
          <p:cNvSpPr/>
          <p:nvPr/>
        </p:nvSpPr>
        <p:spPr>
          <a:xfrm>
            <a:off x="189618" y="1410589"/>
            <a:ext cx="1700995"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indent="-381000">
              <a:buClrTx/>
              <a:defRPr/>
            </a:pPr>
            <a:r>
              <a:rPr kumimoji="0" lang="en-GB" sz="1100" b="1" i="0" u="none" strike="noStrike" kern="0" cap="none" spc="0" normalizeH="0" baseline="0" noProof="0">
                <a:ln>
                  <a:noFill/>
                </a:ln>
                <a:solidFill>
                  <a:srgbClr val="FFFFFF"/>
                </a:solidFill>
                <a:effectLst/>
                <a:uLnTx/>
                <a:uFillTx/>
                <a:latin typeface="Encode Sans" pitchFamily="2" charset="0"/>
              </a:rPr>
              <a:t>Development approach</a:t>
            </a:r>
            <a:endParaRPr kumimoji="0" lang="en-GB" sz="1100" b="0" i="0" u="none" strike="noStrike" kern="0" cap="none" spc="0" normalizeH="0" baseline="0" noProof="0">
              <a:ln>
                <a:noFill/>
              </a:ln>
              <a:solidFill>
                <a:sysClr val="windowText" lastClr="000000"/>
              </a:solidFill>
              <a:effectLst/>
              <a:uLnTx/>
              <a:uFillTx/>
              <a:latin typeface="Encode Sans" pitchFamily="2" charset="0"/>
            </a:endParaRPr>
          </a:p>
        </p:txBody>
      </p:sp>
      <p:sp>
        <p:nvSpPr>
          <p:cNvPr id="16" name="Google Shape;279;p33">
            <a:extLst>
              <a:ext uri="{FF2B5EF4-FFF2-40B4-BE49-F238E27FC236}">
                <a16:creationId xmlns:a16="http://schemas.microsoft.com/office/drawing/2014/main" id="{025A6DA9-294F-4FCA-875B-C538F75D9EE8}"/>
              </a:ext>
            </a:extLst>
          </p:cNvPr>
          <p:cNvSpPr/>
          <p:nvPr/>
        </p:nvSpPr>
        <p:spPr>
          <a:xfrm>
            <a:off x="6282302" y="844318"/>
            <a:ext cx="1377680" cy="322677"/>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Link</a:t>
            </a:r>
          </a:p>
        </p:txBody>
      </p:sp>
      <p:sp>
        <p:nvSpPr>
          <p:cNvPr id="19" name="Google Shape;249;p33">
            <a:extLst>
              <a:ext uri="{FF2B5EF4-FFF2-40B4-BE49-F238E27FC236}">
                <a16:creationId xmlns:a16="http://schemas.microsoft.com/office/drawing/2014/main" id="{16538803-DB73-42B3-8655-B22D91AFD87E}"/>
              </a:ext>
            </a:extLst>
          </p:cNvPr>
          <p:cNvSpPr/>
          <p:nvPr/>
        </p:nvSpPr>
        <p:spPr>
          <a:xfrm>
            <a:off x="189618" y="3190216"/>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Encode Sans" pitchFamily="2" charset="0"/>
              </a:rPr>
              <a:t>Integrity</a:t>
            </a:r>
            <a:endParaRPr kumimoji="0" lang="en-GB" sz="1100" b="0" i="0" u="none" strike="noStrike" kern="0" cap="none" spc="0" normalizeH="0" baseline="0" noProof="0" dirty="0">
              <a:ln>
                <a:noFill/>
              </a:ln>
              <a:solidFill>
                <a:sysClr val="windowText" lastClr="000000"/>
              </a:solidFill>
              <a:effectLst/>
              <a:uLnTx/>
              <a:uFillTx/>
              <a:latin typeface="Encode Sans" pitchFamily="2" charset="0"/>
            </a:endParaRPr>
          </a:p>
        </p:txBody>
      </p:sp>
      <p:sp>
        <p:nvSpPr>
          <p:cNvPr id="20" name="Google Shape;250;p33">
            <a:extLst>
              <a:ext uri="{FF2B5EF4-FFF2-40B4-BE49-F238E27FC236}">
                <a16:creationId xmlns:a16="http://schemas.microsoft.com/office/drawing/2014/main" id="{F7F152E4-1938-481C-A8FE-C15A5A50D551}"/>
              </a:ext>
            </a:extLst>
          </p:cNvPr>
          <p:cNvSpPr/>
          <p:nvPr/>
        </p:nvSpPr>
        <p:spPr>
          <a:xfrm>
            <a:off x="198922" y="3501762"/>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Encode Sans" pitchFamily="2" charset="0"/>
              </a:rPr>
              <a:t>Availability</a:t>
            </a:r>
            <a:endParaRPr kumimoji="0" sz="1800" b="0" i="0" u="none" strike="noStrike" kern="0" cap="none" spc="0" normalizeH="0" baseline="0" noProof="0" dirty="0">
              <a:ln>
                <a:noFill/>
              </a:ln>
              <a:solidFill>
                <a:sysClr val="windowText" lastClr="000000"/>
              </a:solidFill>
              <a:effectLst/>
              <a:uLnTx/>
              <a:uFillTx/>
              <a:latin typeface="Encode Sans" pitchFamily="2" charset="0"/>
            </a:endParaRPr>
          </a:p>
        </p:txBody>
      </p:sp>
      <p:sp>
        <p:nvSpPr>
          <p:cNvPr id="21" name="Google Shape;256;p33">
            <a:extLst>
              <a:ext uri="{FF2B5EF4-FFF2-40B4-BE49-F238E27FC236}">
                <a16:creationId xmlns:a16="http://schemas.microsoft.com/office/drawing/2014/main" id="{75C9B740-F9A6-448D-9747-E7BE159D1C26}"/>
              </a:ext>
            </a:extLst>
          </p:cNvPr>
          <p:cNvSpPr/>
          <p:nvPr/>
        </p:nvSpPr>
        <p:spPr>
          <a:xfrm>
            <a:off x="4581305" y="3191443"/>
            <a:ext cx="1701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indent="-381000">
              <a:buClrTx/>
              <a:defRPr/>
            </a:pPr>
            <a:r>
              <a:rPr kumimoji="0" lang="en-GB" sz="1100" b="1" i="0" u="none" strike="noStrike" kern="0" cap="none" spc="0" normalizeH="0" baseline="0" noProof="0">
                <a:ln>
                  <a:noFill/>
                </a:ln>
                <a:solidFill>
                  <a:srgbClr val="FFFFFF"/>
                </a:solidFill>
                <a:effectLst/>
                <a:uLnTx/>
                <a:uFillTx/>
                <a:latin typeface="Encode Sans" pitchFamily="2" charset="0"/>
              </a:rPr>
              <a:t>Data Privacy Severity</a:t>
            </a:r>
          </a:p>
        </p:txBody>
      </p:sp>
      <p:sp>
        <p:nvSpPr>
          <p:cNvPr id="22" name="Google Shape;260;p33">
            <a:extLst>
              <a:ext uri="{FF2B5EF4-FFF2-40B4-BE49-F238E27FC236}">
                <a16:creationId xmlns:a16="http://schemas.microsoft.com/office/drawing/2014/main" id="{3037215B-DC02-485A-AAC9-D23AB21BDA04}"/>
              </a:ext>
            </a:extLst>
          </p:cNvPr>
          <p:cNvSpPr/>
          <p:nvPr/>
        </p:nvSpPr>
        <p:spPr>
          <a:xfrm>
            <a:off x="189618" y="3823425"/>
            <a:ext cx="1700995"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Encode Sans" pitchFamily="2" charset="0"/>
              </a:rPr>
              <a:t>Traceability</a:t>
            </a:r>
            <a:endParaRPr kumimoji="0" lang="en-GB" sz="1100" b="0" i="0" u="none" strike="noStrike" kern="0" cap="none" spc="0" normalizeH="0" baseline="0" noProof="0" dirty="0">
              <a:ln>
                <a:noFill/>
              </a:ln>
              <a:solidFill>
                <a:sysClr val="windowText" lastClr="000000"/>
              </a:solidFill>
              <a:effectLst/>
              <a:uLnTx/>
              <a:uFillTx/>
              <a:latin typeface="Encode Sans" pitchFamily="2" charset="0"/>
            </a:endParaRPr>
          </a:p>
        </p:txBody>
      </p:sp>
      <p:sp>
        <p:nvSpPr>
          <p:cNvPr id="23" name="Google Shape;269;p33">
            <a:extLst>
              <a:ext uri="{FF2B5EF4-FFF2-40B4-BE49-F238E27FC236}">
                <a16:creationId xmlns:a16="http://schemas.microsoft.com/office/drawing/2014/main" id="{B19BBBD1-BE35-44FC-A19A-E17464170AAD}"/>
              </a:ext>
            </a:extLst>
          </p:cNvPr>
          <p:cNvSpPr/>
          <p:nvPr/>
        </p:nvSpPr>
        <p:spPr>
          <a:xfrm>
            <a:off x="4581297" y="3505666"/>
            <a:ext cx="170100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Cloud Hosting Type</a:t>
            </a:r>
            <a:endParaRPr kumimoji="0" lang="en-GB" sz="1100" b="0" i="0" u="none" strike="noStrike" kern="0" cap="none" spc="0" normalizeH="0" baseline="0" noProof="0">
              <a:ln>
                <a:noFill/>
              </a:ln>
              <a:solidFill>
                <a:sysClr val="windowText" lastClr="000000"/>
              </a:solidFill>
              <a:effectLst/>
              <a:uLnTx/>
              <a:uFillTx/>
              <a:latin typeface="Encode Sans" pitchFamily="2" charset="0"/>
            </a:endParaRPr>
          </a:p>
        </p:txBody>
      </p:sp>
      <p:sp>
        <p:nvSpPr>
          <p:cNvPr id="24" name="Google Shape;279;p33">
            <a:extLst>
              <a:ext uri="{FF2B5EF4-FFF2-40B4-BE49-F238E27FC236}">
                <a16:creationId xmlns:a16="http://schemas.microsoft.com/office/drawing/2014/main" id="{CC9EA7FE-2D85-44F2-8FCB-EC36EFD46C61}"/>
              </a:ext>
            </a:extLst>
          </p:cNvPr>
          <p:cNvSpPr/>
          <p:nvPr/>
        </p:nvSpPr>
        <p:spPr>
          <a:xfrm>
            <a:off x="1890622" y="3794319"/>
            <a:ext cx="2672078" cy="335412"/>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latin typeface="Encode Sans" pitchFamily="2" charset="0"/>
              </a:rPr>
              <a:t>Level</a:t>
            </a:r>
            <a:r>
              <a:rPr lang="en-GB" sz="1000" b="1">
                <a:solidFill>
                  <a:srgbClr val="00B0F0"/>
                </a:solidFill>
                <a:latin typeface="Encode Sans" pitchFamily="2" charset="0"/>
              </a:rPr>
              <a:t>* </a:t>
            </a:r>
            <a:r>
              <a:rPr lang="en-GB" sz="1000">
                <a:solidFill>
                  <a:srgbClr val="7F7F7F"/>
                </a:solidFill>
                <a:latin typeface="Encode Sans" pitchFamily="2" charset="0"/>
              </a:rPr>
              <a:t>(no change/changed from …)</a:t>
            </a:r>
          </a:p>
        </p:txBody>
      </p:sp>
      <p:sp>
        <p:nvSpPr>
          <p:cNvPr id="26" name="Google Shape;282;p33">
            <a:extLst>
              <a:ext uri="{FF2B5EF4-FFF2-40B4-BE49-F238E27FC236}">
                <a16:creationId xmlns:a16="http://schemas.microsoft.com/office/drawing/2014/main" id="{8022273E-8A15-483B-B10B-916ACF20E76F}"/>
              </a:ext>
            </a:extLst>
          </p:cNvPr>
          <p:cNvSpPr/>
          <p:nvPr/>
        </p:nvSpPr>
        <p:spPr>
          <a:xfrm>
            <a:off x="4581297" y="3819889"/>
            <a:ext cx="1701005"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RTO</a:t>
            </a:r>
            <a:endParaRPr kumimoji="0" sz="1100" b="1" i="0" u="none" strike="noStrike" kern="0" cap="none" spc="0" normalizeH="0" baseline="0" noProof="0">
              <a:ln>
                <a:noFill/>
              </a:ln>
              <a:solidFill>
                <a:srgbClr val="FFFFFF"/>
              </a:solidFill>
              <a:effectLst/>
              <a:uLnTx/>
              <a:uFillTx/>
              <a:latin typeface="Encode Sans" pitchFamily="2" charset="0"/>
            </a:endParaRPr>
          </a:p>
        </p:txBody>
      </p:sp>
      <p:sp>
        <p:nvSpPr>
          <p:cNvPr id="28" name="Google Shape;295;p33">
            <a:extLst>
              <a:ext uri="{FF2B5EF4-FFF2-40B4-BE49-F238E27FC236}">
                <a16:creationId xmlns:a16="http://schemas.microsoft.com/office/drawing/2014/main" id="{A36433CE-19EE-471E-906B-2A8CCDAEE2C8}"/>
              </a:ext>
            </a:extLst>
          </p:cNvPr>
          <p:cNvSpPr/>
          <p:nvPr/>
        </p:nvSpPr>
        <p:spPr>
          <a:xfrm>
            <a:off x="189619" y="2878214"/>
            <a:ext cx="1700995"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Encode Sans" pitchFamily="2" charset="0"/>
              </a:rPr>
              <a:t>Confidentiality</a:t>
            </a:r>
            <a:endParaRPr kumimoji="0" lang="en-GB" sz="1100" b="0" i="0" u="none" strike="noStrike" kern="0" cap="none" spc="0" normalizeH="0" baseline="0" noProof="0" dirty="0">
              <a:ln>
                <a:noFill/>
              </a:ln>
              <a:solidFill>
                <a:sysClr val="windowText" lastClr="000000"/>
              </a:solidFill>
              <a:effectLst/>
              <a:uLnTx/>
              <a:uFillTx/>
              <a:latin typeface="Encode Sans" pitchFamily="2" charset="0"/>
            </a:endParaRPr>
          </a:p>
        </p:txBody>
      </p:sp>
      <p:sp>
        <p:nvSpPr>
          <p:cNvPr id="29" name="Google Shape;296;p33">
            <a:extLst>
              <a:ext uri="{FF2B5EF4-FFF2-40B4-BE49-F238E27FC236}">
                <a16:creationId xmlns:a16="http://schemas.microsoft.com/office/drawing/2014/main" id="{F73FB425-C876-4A26-ACB3-F3DDDADA10EC}"/>
              </a:ext>
            </a:extLst>
          </p:cNvPr>
          <p:cNvSpPr/>
          <p:nvPr/>
        </p:nvSpPr>
        <p:spPr>
          <a:xfrm>
            <a:off x="1890623" y="2849571"/>
            <a:ext cx="2672077" cy="335412"/>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latin typeface="Encode Sans" pitchFamily="2" charset="0"/>
              </a:rPr>
              <a:t>Level</a:t>
            </a:r>
            <a:r>
              <a:rPr lang="en-GB" sz="1000" b="1">
                <a:solidFill>
                  <a:srgbClr val="00B0F0"/>
                </a:solidFill>
                <a:latin typeface="Encode Sans" pitchFamily="2" charset="0"/>
              </a:rPr>
              <a:t>* </a:t>
            </a:r>
            <a:r>
              <a:rPr lang="en-GB" sz="1000">
                <a:solidFill>
                  <a:srgbClr val="7F7F7F"/>
                </a:solidFill>
                <a:latin typeface="Encode Sans" pitchFamily="2" charset="0"/>
              </a:rPr>
              <a:t>(no change/changed from …)</a:t>
            </a:r>
          </a:p>
        </p:txBody>
      </p:sp>
      <p:sp>
        <p:nvSpPr>
          <p:cNvPr id="30" name="Google Shape;279;p33">
            <a:extLst>
              <a:ext uri="{FF2B5EF4-FFF2-40B4-BE49-F238E27FC236}">
                <a16:creationId xmlns:a16="http://schemas.microsoft.com/office/drawing/2014/main" id="{67AE4C1D-877F-4D2D-ADC9-00DF894183BA}"/>
              </a:ext>
            </a:extLst>
          </p:cNvPr>
          <p:cNvSpPr/>
          <p:nvPr/>
        </p:nvSpPr>
        <p:spPr>
          <a:xfrm>
            <a:off x="1899926" y="3471392"/>
            <a:ext cx="2672074" cy="336139"/>
          </a:xfrm>
          <a:prstGeom prst="rect">
            <a:avLst/>
          </a:prstGeom>
          <a:noFill/>
          <a:ln>
            <a:noFill/>
          </a:ln>
        </p:spPr>
        <p:txBody>
          <a:bodyPr spcFirstLastPara="1" wrap="square" lIns="98150" tIns="49075" rIns="98150" bIns="49075" anchor="ctr" anchorCtr="0">
            <a:noAutofit/>
          </a:bodyPr>
          <a:lstStyle/>
          <a:p>
            <a:r>
              <a:rPr lang="en-GB" sz="1000" b="1" dirty="0">
                <a:solidFill>
                  <a:srgbClr val="7F7F7F"/>
                </a:solidFill>
                <a:latin typeface="Encode Sans" pitchFamily="2" charset="0"/>
              </a:rPr>
              <a:t>Level</a:t>
            </a:r>
            <a:r>
              <a:rPr lang="en-GB" sz="1000" b="1" dirty="0">
                <a:solidFill>
                  <a:srgbClr val="00B0F0"/>
                </a:solidFill>
                <a:latin typeface="Encode Sans" pitchFamily="2" charset="0"/>
              </a:rPr>
              <a:t>* </a:t>
            </a:r>
            <a:r>
              <a:rPr lang="en-GB" sz="1000" dirty="0">
                <a:solidFill>
                  <a:srgbClr val="7F7F7F"/>
                </a:solidFill>
                <a:latin typeface="Encode Sans" pitchFamily="2" charset="0"/>
              </a:rPr>
              <a:t>(no change/changed from …)</a:t>
            </a:r>
          </a:p>
        </p:txBody>
      </p:sp>
      <p:sp>
        <p:nvSpPr>
          <p:cNvPr id="31" name="Google Shape;279;p33">
            <a:extLst>
              <a:ext uri="{FF2B5EF4-FFF2-40B4-BE49-F238E27FC236}">
                <a16:creationId xmlns:a16="http://schemas.microsoft.com/office/drawing/2014/main" id="{2B4E7D3D-991B-4D22-99CA-39F8038AF15C}"/>
              </a:ext>
            </a:extLst>
          </p:cNvPr>
          <p:cNvSpPr/>
          <p:nvPr/>
        </p:nvSpPr>
        <p:spPr>
          <a:xfrm>
            <a:off x="6282302" y="3159709"/>
            <a:ext cx="2601440" cy="337723"/>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Level</a:t>
            </a:r>
            <a:r>
              <a:rPr lang="en-GB" sz="1000" b="1">
                <a:solidFill>
                  <a:srgbClr val="00B0F0"/>
                </a:solidFill>
                <a:highlight>
                  <a:srgbClr val="FFFF00"/>
                </a:highlight>
                <a:latin typeface="Encode Sans" pitchFamily="2" charset="0"/>
              </a:rPr>
              <a:t>* </a:t>
            </a:r>
            <a:r>
              <a:rPr lang="en-GB" sz="1000">
                <a:solidFill>
                  <a:srgbClr val="7F7F7F"/>
                </a:solidFill>
                <a:highlight>
                  <a:srgbClr val="FFFF00"/>
                </a:highlight>
                <a:latin typeface="Encode Sans" pitchFamily="2" charset="0"/>
              </a:rPr>
              <a:t>(no change/changed from …)</a:t>
            </a:r>
            <a:endParaRPr lang="en-GB" sz="1000" b="1">
              <a:solidFill>
                <a:srgbClr val="7F7F7F"/>
              </a:solidFill>
              <a:highlight>
                <a:srgbClr val="FFFF00"/>
              </a:highlight>
              <a:latin typeface="Encode Sans" pitchFamily="2" charset="0"/>
            </a:endParaRPr>
          </a:p>
        </p:txBody>
      </p:sp>
      <p:sp>
        <p:nvSpPr>
          <p:cNvPr id="32" name="Google Shape;296;p33">
            <a:extLst>
              <a:ext uri="{FF2B5EF4-FFF2-40B4-BE49-F238E27FC236}">
                <a16:creationId xmlns:a16="http://schemas.microsoft.com/office/drawing/2014/main" id="{53B60C1A-C21F-4FED-9101-B73E3D4C3F9D}"/>
              </a:ext>
            </a:extLst>
          </p:cNvPr>
          <p:cNvSpPr/>
          <p:nvPr/>
        </p:nvSpPr>
        <p:spPr>
          <a:xfrm>
            <a:off x="6282302" y="3473932"/>
            <a:ext cx="2601440" cy="337723"/>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SFS Cloud / SaaS / PaaS / …</a:t>
            </a:r>
          </a:p>
        </p:txBody>
      </p:sp>
      <p:sp>
        <p:nvSpPr>
          <p:cNvPr id="33" name="Google Shape;296;p33">
            <a:extLst>
              <a:ext uri="{FF2B5EF4-FFF2-40B4-BE49-F238E27FC236}">
                <a16:creationId xmlns:a16="http://schemas.microsoft.com/office/drawing/2014/main" id="{437BF097-2618-4A63-8EB8-D5A2B7D9CCAA}"/>
              </a:ext>
            </a:extLst>
          </p:cNvPr>
          <p:cNvSpPr/>
          <p:nvPr/>
        </p:nvSpPr>
        <p:spPr>
          <a:xfrm>
            <a:off x="1890622" y="3160710"/>
            <a:ext cx="2672077" cy="336138"/>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latin typeface="Encode Sans" pitchFamily="2" charset="0"/>
              </a:rPr>
              <a:t>Level</a:t>
            </a:r>
            <a:r>
              <a:rPr lang="en-GB" sz="1000" b="1">
                <a:solidFill>
                  <a:srgbClr val="00B0F0"/>
                </a:solidFill>
                <a:latin typeface="Encode Sans" pitchFamily="2" charset="0"/>
              </a:rPr>
              <a:t>* </a:t>
            </a:r>
            <a:r>
              <a:rPr lang="en-GB" sz="1000">
                <a:solidFill>
                  <a:srgbClr val="7F7F7F"/>
                </a:solidFill>
                <a:latin typeface="Encode Sans" pitchFamily="2" charset="0"/>
              </a:rPr>
              <a:t>(no change/changed from …)</a:t>
            </a:r>
          </a:p>
        </p:txBody>
      </p:sp>
      <p:sp>
        <p:nvSpPr>
          <p:cNvPr id="35" name="Google Shape;248;p33">
            <a:extLst>
              <a:ext uri="{FF2B5EF4-FFF2-40B4-BE49-F238E27FC236}">
                <a16:creationId xmlns:a16="http://schemas.microsoft.com/office/drawing/2014/main" id="{8745609F-6150-48CF-844F-DA45DCAE2750}"/>
              </a:ext>
            </a:extLst>
          </p:cNvPr>
          <p:cNvSpPr/>
          <p:nvPr/>
        </p:nvSpPr>
        <p:spPr>
          <a:xfrm>
            <a:off x="1890623" y="1065546"/>
            <a:ext cx="2493050" cy="320403"/>
          </a:xfrm>
          <a:prstGeom prst="rect">
            <a:avLst/>
          </a:prstGeom>
          <a:noFill/>
          <a:ln>
            <a:noFill/>
          </a:ln>
        </p:spPr>
        <p:txBody>
          <a:bodyPr spcFirstLastPara="1" wrap="square" lIns="98150" tIns="49075" rIns="98150" bIns="49075" anchor="ctr" anchorCtr="0">
            <a:noAutofit/>
          </a:bodyPr>
          <a:lstStyle/>
          <a:p>
            <a:r>
              <a:rPr lang="en-GB" sz="1000" b="1" err="1">
                <a:solidFill>
                  <a:srgbClr val="7F7F7F"/>
                </a:solidFill>
                <a:highlight>
                  <a:srgbClr val="FFFF00"/>
                </a:highlight>
                <a:latin typeface="Encode Sans" pitchFamily="2" charset="0"/>
              </a:rPr>
              <a:t>JVxx</a:t>
            </a:r>
            <a:r>
              <a:rPr lang="en-GB" sz="1000" b="1">
                <a:solidFill>
                  <a:srgbClr val="7F7F7F"/>
                </a:solidFill>
                <a:highlight>
                  <a:srgbClr val="FFFF00"/>
                </a:highlight>
                <a:latin typeface="Encode Sans" pitchFamily="2" charset="0"/>
              </a:rPr>
              <a:t>, </a:t>
            </a:r>
            <a:r>
              <a:rPr lang="en-GB" sz="1000" b="1" err="1">
                <a:solidFill>
                  <a:srgbClr val="7F7F7F"/>
                </a:solidFill>
                <a:highlight>
                  <a:srgbClr val="FFFF00"/>
                </a:highlight>
                <a:latin typeface="Encode Sans" pitchFamily="2" charset="0"/>
              </a:rPr>
              <a:t>JVxx</a:t>
            </a:r>
            <a:r>
              <a:rPr lang="en-GB" sz="1000" b="1">
                <a:solidFill>
                  <a:srgbClr val="7F7F7F"/>
                </a:solidFill>
                <a:highlight>
                  <a:srgbClr val="FFFF00"/>
                </a:highlight>
                <a:latin typeface="Encode Sans" pitchFamily="2" charset="0"/>
              </a:rPr>
              <a:t>, …</a:t>
            </a:r>
          </a:p>
        </p:txBody>
      </p:sp>
      <p:sp>
        <p:nvSpPr>
          <p:cNvPr id="36" name="Google Shape;267;p33">
            <a:extLst>
              <a:ext uri="{FF2B5EF4-FFF2-40B4-BE49-F238E27FC236}">
                <a16:creationId xmlns:a16="http://schemas.microsoft.com/office/drawing/2014/main" id="{DFDC845B-D205-4808-B96E-9576728F7DB1}"/>
              </a:ext>
            </a:extLst>
          </p:cNvPr>
          <p:cNvSpPr/>
          <p:nvPr/>
        </p:nvSpPr>
        <p:spPr>
          <a:xfrm>
            <a:off x="1890623" y="1702594"/>
            <a:ext cx="2493050" cy="342719"/>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Link</a:t>
            </a:r>
            <a:endParaRPr sz="1000" b="1">
              <a:solidFill>
                <a:srgbClr val="7F7F7F"/>
              </a:solidFill>
              <a:highlight>
                <a:srgbClr val="FFFF00"/>
              </a:highlight>
              <a:latin typeface="Encode Sans" pitchFamily="2" charset="0"/>
            </a:endParaRPr>
          </a:p>
        </p:txBody>
      </p:sp>
      <p:sp>
        <p:nvSpPr>
          <p:cNvPr id="37" name="Google Shape;279;p33">
            <a:extLst>
              <a:ext uri="{FF2B5EF4-FFF2-40B4-BE49-F238E27FC236}">
                <a16:creationId xmlns:a16="http://schemas.microsoft.com/office/drawing/2014/main" id="{D2A2610F-A192-40A2-BF1F-64EDED43A8FA}"/>
              </a:ext>
            </a:extLst>
          </p:cNvPr>
          <p:cNvSpPr/>
          <p:nvPr/>
        </p:nvSpPr>
        <p:spPr>
          <a:xfrm>
            <a:off x="6282302" y="2851147"/>
            <a:ext cx="1086890" cy="334588"/>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Yes / No</a:t>
            </a:r>
          </a:p>
        </p:txBody>
      </p:sp>
      <p:sp>
        <p:nvSpPr>
          <p:cNvPr id="38" name="Google Shape;296;p33">
            <a:extLst>
              <a:ext uri="{FF2B5EF4-FFF2-40B4-BE49-F238E27FC236}">
                <a16:creationId xmlns:a16="http://schemas.microsoft.com/office/drawing/2014/main" id="{C1580B35-862F-4EE6-8B20-4C0095AA8259}"/>
              </a:ext>
            </a:extLst>
          </p:cNvPr>
          <p:cNvSpPr/>
          <p:nvPr/>
        </p:nvSpPr>
        <p:spPr>
          <a:xfrm>
            <a:off x="1890623" y="1376265"/>
            <a:ext cx="2493050" cy="336138"/>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Waterfall / Agile</a:t>
            </a:r>
            <a:endParaRPr lang="en-GB" sz="1000">
              <a:solidFill>
                <a:srgbClr val="7F7F7F"/>
              </a:solidFill>
              <a:highlight>
                <a:srgbClr val="FFFF00"/>
              </a:highlight>
              <a:latin typeface="Encode Sans" pitchFamily="2" charset="0"/>
            </a:endParaRPr>
          </a:p>
        </p:txBody>
      </p:sp>
      <p:sp>
        <p:nvSpPr>
          <p:cNvPr id="41" name="Google Shape;282;p33">
            <a:extLst>
              <a:ext uri="{FF2B5EF4-FFF2-40B4-BE49-F238E27FC236}">
                <a16:creationId xmlns:a16="http://schemas.microsoft.com/office/drawing/2014/main" id="{69D18EF4-C885-4242-8299-073DB174E556}"/>
              </a:ext>
            </a:extLst>
          </p:cNvPr>
          <p:cNvSpPr/>
          <p:nvPr/>
        </p:nvSpPr>
        <p:spPr>
          <a:xfrm>
            <a:off x="184377" y="4144441"/>
            <a:ext cx="1701005"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SLA</a:t>
            </a:r>
            <a:endParaRPr kumimoji="0" sz="1100" b="1" i="0" u="none" strike="noStrike" kern="0" cap="none" spc="0" normalizeH="0" baseline="0" noProof="0">
              <a:ln>
                <a:noFill/>
              </a:ln>
              <a:solidFill>
                <a:srgbClr val="FFFFFF"/>
              </a:solidFill>
              <a:effectLst/>
              <a:uLnTx/>
              <a:uFillTx/>
              <a:latin typeface="Encode Sans" pitchFamily="2" charset="0"/>
            </a:endParaRPr>
          </a:p>
        </p:txBody>
      </p:sp>
      <p:sp>
        <p:nvSpPr>
          <p:cNvPr id="42" name="Google Shape;283;p33">
            <a:extLst>
              <a:ext uri="{FF2B5EF4-FFF2-40B4-BE49-F238E27FC236}">
                <a16:creationId xmlns:a16="http://schemas.microsoft.com/office/drawing/2014/main" id="{6E3C6AE2-A432-43F3-95C2-054003AAE4E3}"/>
              </a:ext>
            </a:extLst>
          </p:cNvPr>
          <p:cNvSpPr/>
          <p:nvPr/>
        </p:nvSpPr>
        <p:spPr>
          <a:xfrm>
            <a:off x="1885383" y="4115335"/>
            <a:ext cx="2601441" cy="339703"/>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latin typeface="Encode Sans" pitchFamily="2" charset="0"/>
              </a:rPr>
              <a:t>Level</a:t>
            </a:r>
            <a:r>
              <a:rPr lang="en-GB" sz="1000" b="1">
                <a:solidFill>
                  <a:srgbClr val="00B0F0"/>
                </a:solidFill>
                <a:latin typeface="Encode Sans" pitchFamily="2" charset="0"/>
              </a:rPr>
              <a:t>* </a:t>
            </a:r>
            <a:r>
              <a:rPr lang="en-GB" sz="1000">
                <a:solidFill>
                  <a:srgbClr val="7F7F7F"/>
                </a:solidFill>
                <a:latin typeface="Encode Sans" pitchFamily="2" charset="0"/>
              </a:rPr>
              <a:t>(no change/changed from …)</a:t>
            </a:r>
          </a:p>
        </p:txBody>
      </p:sp>
      <p:sp>
        <p:nvSpPr>
          <p:cNvPr id="43" name="Google Shape;282;p33">
            <a:extLst>
              <a:ext uri="{FF2B5EF4-FFF2-40B4-BE49-F238E27FC236}">
                <a16:creationId xmlns:a16="http://schemas.microsoft.com/office/drawing/2014/main" id="{8EB63867-892D-4C5C-8A33-859D132A2D06}"/>
              </a:ext>
            </a:extLst>
          </p:cNvPr>
          <p:cNvSpPr/>
          <p:nvPr/>
        </p:nvSpPr>
        <p:spPr>
          <a:xfrm>
            <a:off x="4581297" y="1493953"/>
            <a:ext cx="1701004"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Encode Sans" pitchFamily="2" charset="0"/>
              </a:rPr>
              <a:t>Suppliers Involved</a:t>
            </a:r>
            <a:endParaRPr kumimoji="0" lang="en-US" sz="1100" b="0" i="0" u="none" strike="noStrike" kern="0" cap="none" spc="0" normalizeH="0" baseline="0" noProof="0">
              <a:ln>
                <a:noFill/>
              </a:ln>
              <a:solidFill>
                <a:sysClr val="windowText" lastClr="000000"/>
              </a:solidFill>
              <a:effectLst/>
              <a:uLnTx/>
              <a:uFillTx/>
              <a:latin typeface="Encode Sans" pitchFamily="2" charset="0"/>
            </a:endParaRPr>
          </a:p>
        </p:txBody>
      </p:sp>
      <p:sp>
        <p:nvSpPr>
          <p:cNvPr id="25" name="Google Shape;260;p33">
            <a:extLst>
              <a:ext uri="{FF2B5EF4-FFF2-40B4-BE49-F238E27FC236}">
                <a16:creationId xmlns:a16="http://schemas.microsoft.com/office/drawing/2014/main" id="{8911D609-1327-CCFD-199F-65F7A93673E6}"/>
              </a:ext>
            </a:extLst>
          </p:cNvPr>
          <p:cNvSpPr/>
          <p:nvPr/>
        </p:nvSpPr>
        <p:spPr>
          <a:xfrm>
            <a:off x="4581297" y="2566434"/>
            <a:ext cx="1701000"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DORA Compliance Required</a:t>
            </a:r>
            <a:endParaRPr kumimoji="0" lang="en-GB" sz="1100" b="0" i="0" u="none" strike="noStrike" kern="0" cap="none" spc="0" normalizeH="0" baseline="0" noProof="0">
              <a:ln>
                <a:noFill/>
              </a:ln>
              <a:solidFill>
                <a:sysClr val="windowText" lastClr="000000"/>
              </a:solidFill>
              <a:effectLst/>
              <a:uLnTx/>
              <a:uFillTx/>
              <a:latin typeface="Encode Sans" pitchFamily="2" charset="0"/>
            </a:endParaRPr>
          </a:p>
        </p:txBody>
      </p:sp>
      <p:sp>
        <p:nvSpPr>
          <p:cNvPr id="1152" name="Google Shape;279;p33">
            <a:extLst>
              <a:ext uri="{FF2B5EF4-FFF2-40B4-BE49-F238E27FC236}">
                <a16:creationId xmlns:a16="http://schemas.microsoft.com/office/drawing/2014/main" id="{F0913146-22D1-9276-119C-84ABDBD950CE}"/>
              </a:ext>
            </a:extLst>
          </p:cNvPr>
          <p:cNvSpPr/>
          <p:nvPr/>
        </p:nvSpPr>
        <p:spPr>
          <a:xfrm>
            <a:off x="6263701" y="2545171"/>
            <a:ext cx="1086890" cy="334588"/>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Yes / No</a:t>
            </a:r>
          </a:p>
        </p:txBody>
      </p:sp>
      <p:sp>
        <p:nvSpPr>
          <p:cNvPr id="1153" name="Google Shape;296;p33">
            <a:extLst>
              <a:ext uri="{FF2B5EF4-FFF2-40B4-BE49-F238E27FC236}">
                <a16:creationId xmlns:a16="http://schemas.microsoft.com/office/drawing/2014/main" id="{073E2A6F-4A92-18A1-9A0D-D1B6C40E8FA8}"/>
              </a:ext>
            </a:extLst>
          </p:cNvPr>
          <p:cNvSpPr/>
          <p:nvPr/>
        </p:nvSpPr>
        <p:spPr>
          <a:xfrm>
            <a:off x="1878202" y="735753"/>
            <a:ext cx="2860646" cy="336138"/>
          </a:xfrm>
          <a:prstGeom prst="rect">
            <a:avLst/>
          </a:prstGeom>
          <a:noFill/>
          <a:ln>
            <a:noFill/>
          </a:ln>
        </p:spPr>
        <p:txBody>
          <a:bodyPr spcFirstLastPara="1" wrap="square" lIns="98150" tIns="49075" rIns="98150" bIns="49075" anchor="ctr" anchorCtr="0">
            <a:noAutofit/>
          </a:bodyPr>
          <a:lstStyle/>
          <a:p>
            <a:r>
              <a:rPr lang="en-US" sz="1000" b="1">
                <a:solidFill>
                  <a:srgbClr val="7F7F7F"/>
                </a:solidFill>
                <a:highlight>
                  <a:srgbClr val="FFFF00"/>
                </a:highlight>
                <a:latin typeface="Encode Sans" pitchFamily="2" charset="0"/>
              </a:rPr>
              <a:t>Provide DIGITALME </a:t>
            </a:r>
            <a:r>
              <a:rPr lang="en-US" sz="1000" b="1">
                <a:solidFill>
                  <a:srgbClr val="7F7F7F"/>
                </a:solidFill>
                <a:highlight>
                  <a:srgbClr val="FFFF00"/>
                </a:highlight>
                <a:latin typeface="Encode Sans" pitchFamily="2" charset="0"/>
                <a:hlinkClick r:id="rId4"/>
              </a:rPr>
              <a:t>Demand</a:t>
            </a:r>
            <a:r>
              <a:rPr lang="en-US" sz="1000" b="1">
                <a:solidFill>
                  <a:srgbClr val="7F7F7F"/>
                </a:solidFill>
                <a:highlight>
                  <a:srgbClr val="FFFF00"/>
                </a:highlight>
                <a:latin typeface="Encode Sans" pitchFamily="2" charset="0"/>
              </a:rPr>
              <a:t> ID with Link here </a:t>
            </a:r>
            <a:endParaRPr lang="en-GB" sz="1000" b="1">
              <a:solidFill>
                <a:srgbClr val="7F7F7F"/>
              </a:solidFill>
              <a:highlight>
                <a:srgbClr val="FFFF00"/>
              </a:highlight>
              <a:latin typeface="Encode Sans" pitchFamily="2" charset="0"/>
            </a:endParaRPr>
          </a:p>
        </p:txBody>
      </p:sp>
      <p:sp>
        <p:nvSpPr>
          <p:cNvPr id="1154" name="Google Shape;296;p33">
            <a:extLst>
              <a:ext uri="{FF2B5EF4-FFF2-40B4-BE49-F238E27FC236}">
                <a16:creationId xmlns:a16="http://schemas.microsoft.com/office/drawing/2014/main" id="{5F83655A-42C6-19D3-2B7D-F5C85847474D}"/>
              </a:ext>
            </a:extLst>
          </p:cNvPr>
          <p:cNvSpPr/>
          <p:nvPr/>
        </p:nvSpPr>
        <p:spPr>
          <a:xfrm>
            <a:off x="6282297" y="1142951"/>
            <a:ext cx="2748492" cy="336138"/>
          </a:xfrm>
          <a:prstGeom prst="rect">
            <a:avLst/>
          </a:prstGeom>
          <a:noFill/>
          <a:ln>
            <a:noFill/>
          </a:ln>
        </p:spPr>
        <p:txBody>
          <a:bodyPr spcFirstLastPara="1" wrap="square" lIns="98150" tIns="49075" rIns="98150" bIns="49075" anchor="ctr" anchorCtr="0">
            <a:noAutofit/>
          </a:bodyPr>
          <a:lstStyle/>
          <a:p>
            <a:r>
              <a:rPr lang="en-GB" sz="1000" b="1">
                <a:solidFill>
                  <a:srgbClr val="7F7F7F"/>
                </a:solidFill>
                <a:highlight>
                  <a:srgbClr val="FFFF00"/>
                </a:highlight>
                <a:latin typeface="Encode Sans" pitchFamily="2" charset="0"/>
              </a:rPr>
              <a:t>Need for software or infrastructure licence, or other contracts such as SaaS</a:t>
            </a:r>
            <a:endParaRPr lang="en-GB" sz="1000">
              <a:solidFill>
                <a:srgbClr val="7F7F7F"/>
              </a:solidFill>
              <a:highlight>
                <a:srgbClr val="FFFF00"/>
              </a:highlight>
              <a:latin typeface="Encode Sans" pitchFamily="2" charset="0"/>
            </a:endParaRPr>
          </a:p>
        </p:txBody>
      </p:sp>
      <p:graphicFrame>
        <p:nvGraphicFramePr>
          <p:cNvPr id="1155" name="Tableau 37">
            <a:extLst>
              <a:ext uri="{FF2B5EF4-FFF2-40B4-BE49-F238E27FC236}">
                <a16:creationId xmlns:a16="http://schemas.microsoft.com/office/drawing/2014/main" id="{B63F717F-2CFA-145F-B9C9-559626B9C6BD}"/>
              </a:ext>
            </a:extLst>
          </p:cNvPr>
          <p:cNvGraphicFramePr>
            <a:graphicFrameLocks noGrp="1"/>
          </p:cNvGraphicFramePr>
          <p:nvPr/>
        </p:nvGraphicFramePr>
        <p:xfrm>
          <a:off x="6301716" y="1487952"/>
          <a:ext cx="2748492" cy="465360"/>
        </p:xfrm>
        <a:graphic>
          <a:graphicData uri="http://schemas.openxmlformats.org/drawingml/2006/table">
            <a:tbl>
              <a:tblPr firstRow="1" bandRow="1">
                <a:tableStyleId>{5C22544A-7EE6-4342-B048-85BDC9FD1C3A}</a:tableStyleId>
              </a:tblPr>
              <a:tblGrid>
                <a:gridCol w="1118893">
                  <a:extLst>
                    <a:ext uri="{9D8B030D-6E8A-4147-A177-3AD203B41FA5}">
                      <a16:colId xmlns:a16="http://schemas.microsoft.com/office/drawing/2014/main" val="264210666"/>
                    </a:ext>
                  </a:extLst>
                </a:gridCol>
                <a:gridCol w="1629599">
                  <a:extLst>
                    <a:ext uri="{9D8B030D-6E8A-4147-A177-3AD203B41FA5}">
                      <a16:colId xmlns:a16="http://schemas.microsoft.com/office/drawing/2014/main" val="920729938"/>
                    </a:ext>
                  </a:extLst>
                </a:gridCol>
              </a:tblGrid>
              <a:tr h="209050">
                <a:tc>
                  <a:txBody>
                    <a:bodyPr/>
                    <a:lstStyle/>
                    <a:p>
                      <a:pPr algn="ctr"/>
                      <a:r>
                        <a:rPr lang="en-US" sz="800"/>
                        <a:t>Supplier name</a:t>
                      </a:r>
                    </a:p>
                  </a:txBody>
                  <a:tcPr/>
                </a:tc>
                <a:tc>
                  <a:txBody>
                    <a:bodyPr/>
                    <a:lstStyle/>
                    <a:p>
                      <a:pPr algn="ctr"/>
                      <a:r>
                        <a:rPr lang="en-US" sz="800"/>
                        <a:t>Activity (PM/Design/Dev</a:t>
                      </a:r>
                    </a:p>
                  </a:txBody>
                  <a:tcPr/>
                </a:tc>
                <a:extLst>
                  <a:ext uri="{0D108BD9-81ED-4DB2-BD59-A6C34878D82A}">
                    <a16:rowId xmlns:a16="http://schemas.microsoft.com/office/drawing/2014/main" val="2140108723"/>
                  </a:ext>
                </a:extLst>
              </a:tr>
              <a:tr h="252000">
                <a:tc>
                  <a:txBody>
                    <a:bodyPr/>
                    <a:lstStyle/>
                    <a:p>
                      <a:r>
                        <a:rPr lang="en-US" sz="800" err="1">
                          <a:highlight>
                            <a:srgbClr val="FFFF00"/>
                          </a:highlight>
                        </a:rPr>
                        <a:t>Eviden</a:t>
                      </a:r>
                      <a:endParaRPr lang="en-US" sz="800">
                        <a:highlight>
                          <a:srgbClr val="FFFF00"/>
                        </a:highlight>
                      </a:endParaRPr>
                    </a:p>
                  </a:txBody>
                  <a:tcPr/>
                </a:tc>
                <a:tc>
                  <a:txBody>
                    <a:bodyPr/>
                    <a:lstStyle/>
                    <a:p>
                      <a:r>
                        <a:rPr lang="en-US" sz="800">
                          <a:highlight>
                            <a:srgbClr val="FFFF00"/>
                          </a:highlight>
                        </a:rPr>
                        <a:t>Dev</a:t>
                      </a:r>
                    </a:p>
                  </a:txBody>
                  <a:tcPr/>
                </a:tc>
                <a:extLst>
                  <a:ext uri="{0D108BD9-81ED-4DB2-BD59-A6C34878D82A}">
                    <a16:rowId xmlns:a16="http://schemas.microsoft.com/office/drawing/2014/main" val="2917734548"/>
                  </a:ext>
                </a:extLst>
              </a:tr>
            </a:tbl>
          </a:graphicData>
        </a:graphic>
      </p:graphicFrame>
      <p:sp>
        <p:nvSpPr>
          <p:cNvPr id="1162" name="ZoneTexte 58">
            <a:extLst>
              <a:ext uri="{FF2B5EF4-FFF2-40B4-BE49-F238E27FC236}">
                <a16:creationId xmlns:a16="http://schemas.microsoft.com/office/drawing/2014/main" id="{4E965629-A555-88B1-0AEC-F98882F600D9}"/>
              </a:ext>
            </a:extLst>
          </p:cNvPr>
          <p:cNvSpPr txBox="1"/>
          <p:nvPr/>
        </p:nvSpPr>
        <p:spPr>
          <a:xfrm>
            <a:off x="46012" y="4745342"/>
            <a:ext cx="6388835" cy="161583"/>
          </a:xfrm>
          <a:prstGeom prst="rect">
            <a:avLst/>
          </a:prstGeom>
          <a:noFill/>
        </p:spPr>
        <p:txBody>
          <a:bodyPr wrap="square" lIns="0" tIns="0" rIns="0" bIns="0">
            <a:spAutoFit/>
          </a:bodyPr>
          <a:lstStyle/>
          <a:p>
            <a:pPr marL="82550"/>
            <a:r>
              <a:rPr lang="en-US" sz="1050" b="1" i="1">
                <a:latin typeface="Encode Sans" pitchFamily="2" charset="0"/>
              </a:rPr>
              <a:t>To present additional information, move slide “</a:t>
            </a:r>
            <a:r>
              <a:rPr lang="en-US" sz="1050" b="1" i="1">
                <a:latin typeface="Encode Sans" pitchFamily="2" charset="0"/>
                <a:hlinkClick r:id="" action="ppaction://noaction"/>
              </a:rPr>
              <a:t>Project Synthesis - Additional information</a:t>
            </a:r>
            <a:r>
              <a:rPr lang="en-US" sz="1050" b="1" i="1">
                <a:latin typeface="Encode Sans" pitchFamily="2" charset="0"/>
              </a:rPr>
              <a:t>” here</a:t>
            </a:r>
          </a:p>
        </p:txBody>
      </p:sp>
      <p:sp>
        <p:nvSpPr>
          <p:cNvPr id="1163" name="ZoneTexte 59">
            <a:extLst>
              <a:ext uri="{FF2B5EF4-FFF2-40B4-BE49-F238E27FC236}">
                <a16:creationId xmlns:a16="http://schemas.microsoft.com/office/drawing/2014/main" id="{38C59A75-4487-BEEE-9FA3-6966EC1A0B80}"/>
              </a:ext>
            </a:extLst>
          </p:cNvPr>
          <p:cNvSpPr txBox="1"/>
          <p:nvPr/>
        </p:nvSpPr>
        <p:spPr>
          <a:xfrm>
            <a:off x="46012" y="4931408"/>
            <a:ext cx="6388835" cy="161583"/>
          </a:xfrm>
          <a:prstGeom prst="rect">
            <a:avLst/>
          </a:prstGeom>
          <a:noFill/>
        </p:spPr>
        <p:txBody>
          <a:bodyPr wrap="square" lIns="0" tIns="0" rIns="0" bIns="0">
            <a:spAutoFit/>
          </a:bodyPr>
          <a:lstStyle/>
          <a:p>
            <a:pPr marL="82550"/>
            <a:r>
              <a:rPr lang="en-US" sz="1050" b="1" i="1">
                <a:latin typeface="Encode Sans" pitchFamily="2" charset="0"/>
              </a:rPr>
              <a:t>To present multiple solutions, move slide “</a:t>
            </a:r>
            <a:r>
              <a:rPr lang="en-US" sz="1050" b="1" i="1">
                <a:latin typeface="Encode Sans" pitchFamily="2" charset="0"/>
                <a:hlinkClick r:id="" action="ppaction://noaction"/>
              </a:rPr>
              <a:t>Project Synthesis – Possible Solutions</a:t>
            </a:r>
            <a:r>
              <a:rPr lang="en-US" sz="1050" b="1" i="1">
                <a:latin typeface="Encode Sans" pitchFamily="2" charset="0"/>
              </a:rPr>
              <a:t>” here</a:t>
            </a:r>
          </a:p>
        </p:txBody>
      </p:sp>
      <p:sp>
        <p:nvSpPr>
          <p:cNvPr id="1164" name="ZoneTexte 48">
            <a:extLst>
              <a:ext uri="{FF2B5EF4-FFF2-40B4-BE49-F238E27FC236}">
                <a16:creationId xmlns:a16="http://schemas.microsoft.com/office/drawing/2014/main" id="{254E2468-266F-7427-A0D6-8EF0DBFD6228}"/>
              </a:ext>
            </a:extLst>
          </p:cNvPr>
          <p:cNvSpPr txBox="1"/>
          <p:nvPr/>
        </p:nvSpPr>
        <p:spPr>
          <a:xfrm>
            <a:off x="6590602" y="4559277"/>
            <a:ext cx="2448893" cy="553998"/>
          </a:xfrm>
          <a:prstGeom prst="rect">
            <a:avLst/>
          </a:prstGeom>
          <a:noFill/>
          <a:ln>
            <a:solidFill>
              <a:schemeClr val="tx2">
                <a:lumMod val="75000"/>
              </a:schemeClr>
            </a:solidFill>
          </a:ln>
        </p:spPr>
        <p:txBody>
          <a:bodyPr wrap="square">
            <a:spAutoFit/>
          </a:bodyPr>
          <a:lstStyle/>
          <a:p>
            <a:r>
              <a:rPr lang="en-GB" sz="1000" b="1">
                <a:solidFill>
                  <a:srgbClr val="00B0F0"/>
                </a:solidFill>
                <a:latin typeface="Encode Sans" pitchFamily="2" charset="0"/>
              </a:rPr>
              <a:t>*</a:t>
            </a:r>
            <a:r>
              <a:rPr lang="en-US" sz="1000" b="1">
                <a:solidFill>
                  <a:srgbClr val="00B0F0"/>
                </a:solidFill>
                <a:latin typeface="Encode Sans" pitchFamily="2" charset="0"/>
              </a:rPr>
              <a:t>Use level definition according to target CMDB application</a:t>
            </a:r>
            <a:r>
              <a:rPr lang="en-GB" sz="1000" b="1">
                <a:solidFill>
                  <a:srgbClr val="00B0F0"/>
                </a:solidFill>
                <a:latin typeface="Encode Sans" pitchFamily="2" charset="0"/>
              </a:rPr>
              <a:t> (specify if the level is changed or not)</a:t>
            </a:r>
          </a:p>
        </p:txBody>
      </p:sp>
      <p:sp>
        <p:nvSpPr>
          <p:cNvPr id="1165" name="ZoneTexte 58">
            <a:extLst>
              <a:ext uri="{FF2B5EF4-FFF2-40B4-BE49-F238E27FC236}">
                <a16:creationId xmlns:a16="http://schemas.microsoft.com/office/drawing/2014/main" id="{DA2E16B5-9C56-5F05-59E1-2B34720CA0CD}"/>
              </a:ext>
            </a:extLst>
          </p:cNvPr>
          <p:cNvSpPr txBox="1"/>
          <p:nvPr/>
        </p:nvSpPr>
        <p:spPr>
          <a:xfrm>
            <a:off x="46013" y="4559277"/>
            <a:ext cx="6388836" cy="161583"/>
          </a:xfrm>
          <a:prstGeom prst="rect">
            <a:avLst/>
          </a:prstGeom>
          <a:noFill/>
        </p:spPr>
        <p:txBody>
          <a:bodyPr wrap="square" lIns="0" tIns="0" rIns="0" bIns="0">
            <a:spAutoFit/>
          </a:bodyPr>
          <a:lstStyle/>
          <a:p>
            <a:pPr marL="82550"/>
            <a:r>
              <a:rPr lang="en-US" sz="1050" b="1" i="1" dirty="0">
                <a:latin typeface="Encode Sans" pitchFamily="2" charset="0"/>
              </a:rPr>
              <a:t>If the project impact more than one application, move slide “</a:t>
            </a:r>
            <a:r>
              <a:rPr lang="en-US" sz="1050" b="1" i="1" dirty="0">
                <a:latin typeface="Encode Sans" pitchFamily="2" charset="0"/>
                <a:hlinkClick r:id="" action="ppaction://noaction"/>
              </a:rPr>
              <a:t>Project Synthesis – other applications</a:t>
            </a:r>
            <a:r>
              <a:rPr lang="en-US" sz="1050" b="1" i="1" dirty="0">
                <a:latin typeface="Encode Sans" pitchFamily="2" charset="0"/>
              </a:rPr>
              <a:t>” here</a:t>
            </a:r>
          </a:p>
        </p:txBody>
      </p:sp>
      <p:sp>
        <p:nvSpPr>
          <p:cNvPr id="1166" name="Google Shape;279;p33">
            <a:extLst>
              <a:ext uri="{FF2B5EF4-FFF2-40B4-BE49-F238E27FC236}">
                <a16:creationId xmlns:a16="http://schemas.microsoft.com/office/drawing/2014/main" id="{D2869442-A21D-2A0A-1216-80F38CC0CA05}"/>
              </a:ext>
            </a:extLst>
          </p:cNvPr>
          <p:cNvSpPr/>
          <p:nvPr/>
        </p:nvSpPr>
        <p:spPr>
          <a:xfrm>
            <a:off x="1861719" y="2506539"/>
            <a:ext cx="2672074" cy="336139"/>
          </a:xfrm>
          <a:prstGeom prst="rect">
            <a:avLst/>
          </a:prstGeom>
          <a:noFill/>
          <a:ln>
            <a:noFill/>
          </a:ln>
        </p:spPr>
        <p:txBody>
          <a:bodyPr spcFirstLastPara="1" wrap="square" lIns="98150" tIns="49075" rIns="98150" bIns="49075" anchor="ctr" anchorCtr="0">
            <a:noAutofit/>
          </a:bodyPr>
          <a:lstStyle/>
          <a:p>
            <a:r>
              <a:rPr lang="en-GB" sz="1000">
                <a:solidFill>
                  <a:srgbClr val="7F7F7F"/>
                </a:solidFill>
                <a:highlight>
                  <a:srgbClr val="FFFF00"/>
                </a:highlight>
                <a:latin typeface="Encode Sans" pitchFamily="2" charset="0"/>
              </a:rPr>
              <a:t>Bus. </a:t>
            </a:r>
            <a:r>
              <a:rPr lang="en-GB" sz="1000" err="1">
                <a:solidFill>
                  <a:srgbClr val="7F7F7F"/>
                </a:solidFill>
                <a:highlight>
                  <a:srgbClr val="FFFF00"/>
                </a:highlight>
                <a:latin typeface="Encode Sans" pitchFamily="2" charset="0"/>
              </a:rPr>
              <a:t>Appilication</a:t>
            </a:r>
            <a:r>
              <a:rPr lang="en-GB" sz="1000">
                <a:solidFill>
                  <a:srgbClr val="7F7F7F"/>
                </a:solidFill>
                <a:highlight>
                  <a:srgbClr val="FFFF00"/>
                </a:highlight>
                <a:latin typeface="Encode Sans" pitchFamily="2" charset="0"/>
              </a:rPr>
              <a:t> name (New/Update/Decom)</a:t>
            </a:r>
          </a:p>
        </p:txBody>
      </p:sp>
      <p:sp>
        <p:nvSpPr>
          <p:cNvPr id="1167" name="Google Shape;282;p33">
            <a:extLst>
              <a:ext uri="{FF2B5EF4-FFF2-40B4-BE49-F238E27FC236}">
                <a16:creationId xmlns:a16="http://schemas.microsoft.com/office/drawing/2014/main" id="{918BC111-A6BA-0A6B-F451-BB3666184D41}"/>
              </a:ext>
            </a:extLst>
          </p:cNvPr>
          <p:cNvSpPr/>
          <p:nvPr/>
        </p:nvSpPr>
        <p:spPr>
          <a:xfrm>
            <a:off x="4581297" y="4147201"/>
            <a:ext cx="1701005" cy="2778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latin typeface="Encode Sans" pitchFamily="2" charset="0"/>
              </a:rPr>
              <a:t>RPO</a:t>
            </a:r>
            <a:endParaRPr kumimoji="0" sz="1100" b="1" i="0" u="none" strike="noStrike" kern="0" cap="none" spc="0" normalizeH="0" baseline="0" noProof="0">
              <a:ln>
                <a:noFill/>
              </a:ln>
              <a:solidFill>
                <a:srgbClr val="FFFFFF"/>
              </a:solidFill>
              <a:effectLst/>
              <a:uLnTx/>
              <a:uFillTx/>
              <a:latin typeface="Encode Sans" pitchFamily="2" charset="0"/>
            </a:endParaRPr>
          </a:p>
        </p:txBody>
      </p:sp>
      <p:sp>
        <p:nvSpPr>
          <p:cNvPr id="1170" name="Google Shape;296;p33">
            <a:extLst>
              <a:ext uri="{FF2B5EF4-FFF2-40B4-BE49-F238E27FC236}">
                <a16:creationId xmlns:a16="http://schemas.microsoft.com/office/drawing/2014/main" id="{48ECC143-389E-95DF-323E-16998BAE9AC3}"/>
              </a:ext>
            </a:extLst>
          </p:cNvPr>
          <p:cNvSpPr/>
          <p:nvPr/>
        </p:nvSpPr>
        <p:spPr>
          <a:xfrm>
            <a:off x="6300899" y="3828743"/>
            <a:ext cx="2493050" cy="243581"/>
          </a:xfrm>
          <a:prstGeom prst="rect">
            <a:avLst/>
          </a:prstGeom>
          <a:noFill/>
          <a:ln>
            <a:noFill/>
          </a:ln>
        </p:spPr>
        <p:txBody>
          <a:bodyPr spcFirstLastPara="1" wrap="square" lIns="73613" tIns="36806" rIns="73613" bIns="36806" anchor="ctr" anchorCtr="0">
            <a:noAutofit/>
          </a:bodyPr>
          <a:lstStyle/>
          <a:p>
            <a:r>
              <a:rPr lang="en-GB" sz="1000" b="1">
                <a:solidFill>
                  <a:srgbClr val="7F7F7F"/>
                </a:solidFill>
                <a:highlight>
                  <a:srgbClr val="FFFF00"/>
                </a:highlight>
                <a:latin typeface="Encode Sans"/>
              </a:rPr>
              <a:t>See expected value in slide comments</a:t>
            </a:r>
            <a:br>
              <a:rPr lang="en-GB" sz="1000" b="1">
                <a:solidFill>
                  <a:srgbClr val="7F7F7F"/>
                </a:solidFill>
                <a:highlight>
                  <a:srgbClr val="FFFF00"/>
                </a:highlight>
                <a:latin typeface="Encode Sans"/>
              </a:rPr>
            </a:br>
            <a:r>
              <a:rPr lang="en-GB" sz="1000" b="1">
                <a:solidFill>
                  <a:srgbClr val="7F7F7F"/>
                </a:solidFill>
                <a:highlight>
                  <a:srgbClr val="FFFF00"/>
                </a:highlight>
                <a:latin typeface="Encode Sans"/>
              </a:rPr>
              <a:t>Indicate referential value and duration</a:t>
            </a:r>
          </a:p>
        </p:txBody>
      </p:sp>
      <p:sp>
        <p:nvSpPr>
          <p:cNvPr id="1171" name="Google Shape;296;p33">
            <a:extLst>
              <a:ext uri="{FF2B5EF4-FFF2-40B4-BE49-F238E27FC236}">
                <a16:creationId xmlns:a16="http://schemas.microsoft.com/office/drawing/2014/main" id="{01BB410E-2714-3CFD-2404-8DFAF898B156}"/>
              </a:ext>
            </a:extLst>
          </p:cNvPr>
          <p:cNvSpPr/>
          <p:nvPr/>
        </p:nvSpPr>
        <p:spPr>
          <a:xfrm>
            <a:off x="6282297" y="4186808"/>
            <a:ext cx="2493050" cy="243581"/>
          </a:xfrm>
          <a:prstGeom prst="rect">
            <a:avLst/>
          </a:prstGeom>
          <a:noFill/>
          <a:ln>
            <a:noFill/>
          </a:ln>
        </p:spPr>
        <p:txBody>
          <a:bodyPr spcFirstLastPara="1" wrap="square" lIns="73613" tIns="36806" rIns="73613" bIns="36806" anchor="ctr" anchorCtr="0">
            <a:noAutofit/>
          </a:bodyPr>
          <a:lstStyle/>
          <a:p>
            <a:r>
              <a:rPr lang="en-GB" sz="1000" b="1">
                <a:solidFill>
                  <a:srgbClr val="7F7F7F"/>
                </a:solidFill>
                <a:highlight>
                  <a:srgbClr val="FFFF00"/>
                </a:highlight>
                <a:latin typeface="Encode Sans"/>
              </a:rPr>
              <a:t>See expected value in slide comments</a:t>
            </a:r>
            <a:br>
              <a:rPr lang="en-GB" sz="1000" b="1">
                <a:solidFill>
                  <a:srgbClr val="7F7F7F"/>
                </a:solidFill>
                <a:highlight>
                  <a:srgbClr val="FFFF00"/>
                </a:highlight>
                <a:latin typeface="Encode Sans"/>
              </a:rPr>
            </a:br>
            <a:r>
              <a:rPr lang="en-GB" sz="1000" b="1">
                <a:solidFill>
                  <a:srgbClr val="7F7F7F"/>
                </a:solidFill>
                <a:highlight>
                  <a:srgbClr val="FFFF00"/>
                </a:highlight>
                <a:latin typeface="Encode Sans"/>
              </a:rPr>
              <a:t>Indicate referential value and duration</a:t>
            </a:r>
          </a:p>
        </p:txBody>
      </p:sp>
    </p:spTree>
    <p:custDataLst>
      <p:tags r:id="rId1"/>
    </p:custDataLst>
    <p:extLst>
      <p:ext uri="{BB962C8B-B14F-4D97-AF65-F5344CB8AC3E}">
        <p14:creationId xmlns:p14="http://schemas.microsoft.com/office/powerpoint/2010/main" val="3423434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pic>
        <p:nvPicPr>
          <p:cNvPr id="5" name="Picture 4" descr="Are You GDPR Compliant? | Deatherage Law">
            <a:extLst>
              <a:ext uri="{FF2B5EF4-FFF2-40B4-BE49-F238E27FC236}">
                <a16:creationId xmlns:a16="http://schemas.microsoft.com/office/drawing/2014/main" id="{67947E3B-2C93-4A0B-B2AA-8BBEA0D4C3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3917" y="3565767"/>
            <a:ext cx="1326840" cy="88456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mage">
            <a:extLst>
              <a:ext uri="{FF2B5EF4-FFF2-40B4-BE49-F238E27FC236}">
                <a16:creationId xmlns:a16="http://schemas.microsoft.com/office/drawing/2014/main" id="{CC8CE7BB-5764-49B9-9DA0-5A1AE2927A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6054" y="4185922"/>
            <a:ext cx="1318019" cy="873118"/>
          </a:xfrm>
          <a:prstGeom prst="rect">
            <a:avLst/>
          </a:prstGeom>
          <a:noFill/>
          <a:extLst>
            <a:ext uri="{909E8E84-426E-40DD-AFC4-6F175D3DCCD1}">
              <a14:hiddenFill xmlns:a14="http://schemas.microsoft.com/office/drawing/2010/main">
                <a:solidFill>
                  <a:srgbClr val="FFFFFF"/>
                </a:solidFill>
              </a14:hiddenFill>
            </a:ext>
          </a:extLst>
        </p:spPr>
      </p:pic>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Data Privacy</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600" dirty="0">
                <a:solidFill>
                  <a:schemeClr val="accent1"/>
                </a:solidFill>
                <a:latin typeface="Encode Sans" pitchFamily="2" charset="0"/>
              </a:rPr>
              <a:t>Personal data:</a:t>
            </a:r>
          </a:p>
          <a:p>
            <a:pPr lvl="1"/>
            <a:r>
              <a:rPr lang="en-US" dirty="0">
                <a:solidFill>
                  <a:schemeClr val="accent1"/>
                </a:solidFill>
                <a:highlight>
                  <a:srgbClr val="FFFF00"/>
                </a:highlight>
                <a:latin typeface="Encode Sans" pitchFamily="2" charset="0"/>
              </a:rPr>
              <a:t>List personal data managed by the solution</a:t>
            </a:r>
          </a:p>
          <a:p>
            <a:pPr lvl="1"/>
            <a:r>
              <a:rPr lang="en-US" dirty="0">
                <a:solidFill>
                  <a:schemeClr val="accent1"/>
                </a:solidFill>
                <a:highlight>
                  <a:srgbClr val="FFFF00"/>
                </a:highlight>
                <a:latin typeface="Encode Sans" pitchFamily="2" charset="0"/>
              </a:rPr>
              <a:t>Link to the self-assessment (file available in the criteria list </a:t>
            </a:r>
            <a:r>
              <a:rPr lang="fr-FR" dirty="0">
                <a:highlight>
                  <a:srgbClr val="FFFF00"/>
                </a:highlight>
                <a:hlinkClick r:id="rId6"/>
              </a:rPr>
              <a:t>Gates </a:t>
            </a:r>
            <a:r>
              <a:rPr lang="fr-FR" dirty="0" err="1">
                <a:highlight>
                  <a:srgbClr val="FFFF00"/>
                </a:highlight>
                <a:hlinkClick r:id="rId6"/>
              </a:rPr>
              <a:t>Criteria</a:t>
            </a:r>
            <a:r>
              <a:rPr lang="fr-FR" dirty="0">
                <a:highlight>
                  <a:srgbClr val="FFFF00"/>
                </a:highlight>
                <a:hlinkClick r:id="rId6"/>
              </a:rPr>
              <a:t> &amp; </a:t>
            </a:r>
            <a:r>
              <a:rPr lang="fr-FR" dirty="0" err="1">
                <a:highlight>
                  <a:srgbClr val="FFFF00"/>
                </a:highlight>
                <a:hlinkClick r:id="rId6"/>
              </a:rPr>
              <a:t>Deliverables</a:t>
            </a:r>
            <a:r>
              <a:rPr lang="fr-FR" dirty="0">
                <a:highlight>
                  <a:srgbClr val="FFFF00"/>
                </a:highlight>
              </a:rPr>
              <a:t>) for </a:t>
            </a:r>
            <a:r>
              <a:rPr lang="fr-FR" dirty="0" err="1">
                <a:highlight>
                  <a:srgbClr val="FFFF00"/>
                </a:highlight>
              </a:rPr>
              <a:t>Gate</a:t>
            </a:r>
            <a:r>
              <a:rPr lang="fr-FR" dirty="0">
                <a:highlight>
                  <a:srgbClr val="FFFF00"/>
                </a:highlight>
              </a:rPr>
              <a:t> 1 </a:t>
            </a:r>
            <a:r>
              <a:rPr lang="fr-FR" dirty="0" err="1">
                <a:highlight>
                  <a:srgbClr val="FFFF00"/>
                </a:highlight>
              </a:rPr>
              <a:t>PoC</a:t>
            </a:r>
            <a:r>
              <a:rPr lang="fr-FR" dirty="0">
                <a:highlight>
                  <a:srgbClr val="FFFF00"/>
                </a:highlight>
              </a:rPr>
              <a:t> and </a:t>
            </a:r>
            <a:r>
              <a:rPr lang="fr-FR" dirty="0" err="1">
                <a:highlight>
                  <a:srgbClr val="FFFF00"/>
                </a:highlight>
              </a:rPr>
              <a:t>Gate</a:t>
            </a:r>
            <a:r>
              <a:rPr lang="fr-FR" dirty="0">
                <a:highlight>
                  <a:srgbClr val="FFFF00"/>
                </a:highlight>
              </a:rPr>
              <a:t> 2</a:t>
            </a:r>
            <a:endParaRPr lang="en-US" dirty="0">
              <a:solidFill>
                <a:schemeClr val="accent1"/>
              </a:solidFill>
              <a:highlight>
                <a:srgbClr val="FFFF00"/>
              </a:highlight>
              <a:latin typeface="Encode Sans" pitchFamily="2" charset="0"/>
            </a:endParaRPr>
          </a:p>
          <a:p>
            <a:pPr lvl="1"/>
            <a:endParaRPr lang="en-US" dirty="0">
              <a:solidFill>
                <a:schemeClr val="accent1"/>
              </a:solidFill>
              <a:latin typeface="Encode Sans" pitchFamily="2" charset="0"/>
            </a:endParaRPr>
          </a:p>
          <a:p>
            <a:pPr marL="371475" lvl="1" indent="0">
              <a:buNone/>
            </a:pPr>
            <a:endParaRPr lang="en-US" dirty="0">
              <a:solidFill>
                <a:schemeClr val="accent1"/>
              </a:solidFill>
              <a:latin typeface="Encode Sans" pitchFamily="2" charset="0"/>
            </a:endParaRPr>
          </a:p>
          <a:p>
            <a:r>
              <a:rPr lang="en-US" sz="1600" dirty="0">
                <a:solidFill>
                  <a:schemeClr val="accent1"/>
                </a:solidFill>
                <a:latin typeface="Encode Sans" pitchFamily="2" charset="0"/>
              </a:rPr>
              <a:t>Data privacy regulation to apply</a:t>
            </a:r>
            <a:r>
              <a:rPr lang="en-US" dirty="0">
                <a:solidFill>
                  <a:schemeClr val="accent1"/>
                </a:solidFill>
                <a:latin typeface="Encode Sans" pitchFamily="2" charset="0"/>
              </a:rPr>
              <a:t>:</a:t>
            </a:r>
          </a:p>
          <a:p>
            <a:pPr lvl="1"/>
            <a:r>
              <a:rPr lang="en-US" dirty="0">
                <a:solidFill>
                  <a:schemeClr val="accent1"/>
                </a:solidFill>
                <a:highlight>
                  <a:srgbClr val="FFFF00"/>
                </a:highlight>
                <a:latin typeface="Encode Sans" pitchFamily="2" charset="0"/>
              </a:rPr>
              <a:t>(EU GDPR, North America CCPA, South America, ASIA, …)</a:t>
            </a:r>
          </a:p>
          <a:p>
            <a:pPr lvl="1"/>
            <a:endParaRPr lang="en-US" dirty="0">
              <a:solidFill>
                <a:schemeClr val="accent1"/>
              </a:solidFill>
              <a:highlight>
                <a:srgbClr val="FFFF00"/>
              </a:highlight>
              <a:latin typeface="Encode Sans" pitchFamily="2" charset="0"/>
            </a:endParaRPr>
          </a:p>
          <a:p>
            <a:pPr lvl="1"/>
            <a:endParaRPr lang="en-US" dirty="0">
              <a:solidFill>
                <a:schemeClr val="accent1"/>
              </a:solidFill>
              <a:highlight>
                <a:srgbClr val="FFFF00"/>
              </a:highlight>
              <a:latin typeface="Encode Sans" pitchFamily="2" charset="0"/>
            </a:endParaRPr>
          </a:p>
          <a:p>
            <a:r>
              <a:rPr lang="en-US" dirty="0">
                <a:solidFill>
                  <a:schemeClr val="accent1"/>
                </a:solidFill>
                <a:latin typeface="Encode Sans" pitchFamily="2" charset="0"/>
              </a:rPr>
              <a:t>Other recommendation received from Data Privacy assessment :</a:t>
            </a:r>
            <a:endParaRPr lang="en-US" dirty="0">
              <a:solidFill>
                <a:schemeClr val="accent1"/>
              </a:solidFill>
              <a:highlight>
                <a:srgbClr val="FFFF00"/>
              </a:highlight>
              <a:latin typeface="Encode Sans" pitchFamily="2" charset="0"/>
            </a:endParaRPr>
          </a:p>
          <a:p>
            <a:pPr lvl="1"/>
            <a:r>
              <a:rPr lang="en-US" dirty="0">
                <a:solidFill>
                  <a:schemeClr val="accent1"/>
                </a:solidFill>
                <a:highlight>
                  <a:srgbClr val="FFFF00"/>
                </a:highlight>
                <a:latin typeface="Encode Sans" pitchFamily="2" charset="0"/>
              </a:rPr>
              <a:t>1.</a:t>
            </a:r>
          </a:p>
          <a:p>
            <a:pPr lvl="1"/>
            <a:r>
              <a:rPr lang="en-US" dirty="0">
                <a:solidFill>
                  <a:schemeClr val="accent1"/>
                </a:solidFill>
                <a:highlight>
                  <a:srgbClr val="FFFF00"/>
                </a:highlight>
                <a:latin typeface="Encode Sans" pitchFamily="2" charset="0"/>
              </a:rPr>
              <a:t>2.</a:t>
            </a:r>
          </a:p>
          <a:p>
            <a:pPr lvl="1"/>
            <a:endParaRPr lang="en-US" dirty="0">
              <a:solidFill>
                <a:schemeClr val="accent1"/>
              </a:solidFill>
              <a:highlight>
                <a:srgbClr val="FFFF00"/>
              </a:highlight>
              <a:latin typeface="Encode Sans" pitchFamily="2" charset="0"/>
            </a:endParaRPr>
          </a:p>
          <a:p>
            <a:endParaRPr lang="en-US" dirty="0">
              <a:solidFill>
                <a:schemeClr val="accent1"/>
              </a:solidFill>
              <a:latin typeface="Encode Sans" pitchFamily="2" charset="0"/>
            </a:endParaRPr>
          </a:p>
          <a:p>
            <a:pPr marL="0" indent="0">
              <a:buNone/>
            </a:pPr>
            <a:endParaRPr lang="en-US" dirty="0">
              <a:solidFill>
                <a:schemeClr val="accent1"/>
              </a:solidFill>
              <a:latin typeface="Encode Sans" pitchFamily="2" charset="0"/>
            </a:endParaRPr>
          </a:p>
        </p:txBody>
      </p:sp>
      <p:sp>
        <p:nvSpPr>
          <p:cNvPr id="2" name="ZoneTexte 1">
            <a:extLst>
              <a:ext uri="{FF2B5EF4-FFF2-40B4-BE49-F238E27FC236}">
                <a16:creationId xmlns:a16="http://schemas.microsoft.com/office/drawing/2014/main" id="{D5E3E065-DF44-48A8-94F4-F276BC752949}"/>
              </a:ext>
            </a:extLst>
          </p:cNvPr>
          <p:cNvSpPr txBox="1"/>
          <p:nvPr/>
        </p:nvSpPr>
        <p:spPr>
          <a:xfrm>
            <a:off x="5590674" y="1651141"/>
            <a:ext cx="3470083" cy="2092881"/>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solidFill>
                  <a:schemeClr val="accent1"/>
                </a:solidFill>
                <a:latin typeface="Encode Sans" pitchFamily="2" charset="0"/>
              </a:rPr>
              <a:t>Remark:</a:t>
            </a:r>
            <a:br>
              <a:rPr lang="en-US" u="none">
                <a:solidFill>
                  <a:schemeClr val="accent1"/>
                </a:solidFill>
                <a:latin typeface="Encode Sans" pitchFamily="2" charset="0"/>
              </a:rPr>
            </a:br>
            <a:r>
              <a:rPr lang="en-US" u="none">
                <a:solidFill>
                  <a:schemeClr val="accent1"/>
                </a:solidFill>
                <a:latin typeface="Encode Sans" pitchFamily="2" charset="0"/>
              </a:rPr>
              <a:t>Indicate if the application handle personal / private / privacy data, and what are the applicable laws. To be GDPR compliant, an application must have also business process that must be anticipated, like :</a:t>
            </a:r>
          </a:p>
          <a:p>
            <a:r>
              <a:rPr lang="en-US" u="none">
                <a:solidFill>
                  <a:schemeClr val="accent1"/>
                </a:solidFill>
                <a:latin typeface="Encode Sans" pitchFamily="2" charset="0"/>
              </a:rPr>
              <a:t>The end user can request all know data</a:t>
            </a:r>
          </a:p>
          <a:p>
            <a:r>
              <a:rPr lang="en-US" u="none">
                <a:solidFill>
                  <a:schemeClr val="accent1"/>
                </a:solidFill>
                <a:latin typeface="Encode Sans" pitchFamily="2" charset="0"/>
              </a:rPr>
              <a:t>He can request data deletion</a:t>
            </a:r>
          </a:p>
          <a:p>
            <a:r>
              <a:rPr lang="en-US" u="none">
                <a:solidFill>
                  <a:schemeClr val="accent1"/>
                </a:solidFill>
                <a:latin typeface="Encode Sans" pitchFamily="2" charset="0"/>
              </a:rPr>
              <a:t>Can refuse data transfer</a:t>
            </a:r>
          </a:p>
          <a:p>
            <a:r>
              <a:rPr lang="en-US" u="none">
                <a:solidFill>
                  <a:schemeClr val="accent1"/>
                </a:solidFill>
                <a:latin typeface="Encode Sans" pitchFamily="2" charset="0"/>
              </a:rPr>
              <a:t>It can be some manual processes to handle that, or the application must have embedded feature to handle them (like “click here to download all data we have about you”).</a:t>
            </a:r>
          </a:p>
          <a:p>
            <a:endParaRPr lang="en-US" u="none">
              <a:solidFill>
                <a:schemeClr val="accent1"/>
              </a:solidFill>
              <a:latin typeface="Encode Sans" pitchFamily="2" charset="0"/>
            </a:endParaRPr>
          </a:p>
          <a:p>
            <a:r>
              <a:rPr lang="en-US" u="none">
                <a:solidFill>
                  <a:schemeClr val="accent1"/>
                </a:solidFill>
                <a:latin typeface="Encode Sans" pitchFamily="2" charset="0"/>
              </a:rPr>
              <a:t>In case of doubt ask to your Data Privacy Officer</a:t>
            </a:r>
          </a:p>
        </p:txBody>
      </p:sp>
      <p:sp>
        <p:nvSpPr>
          <p:cNvPr id="3" name="TextBox 2">
            <a:extLst>
              <a:ext uri="{FF2B5EF4-FFF2-40B4-BE49-F238E27FC236}">
                <a16:creationId xmlns:a16="http://schemas.microsoft.com/office/drawing/2014/main" id="{C9E170F0-4A54-C408-A4F9-F10EA735D36F}"/>
              </a:ext>
            </a:extLst>
          </p:cNvPr>
          <p:cNvSpPr txBox="1"/>
          <p:nvPr/>
        </p:nvSpPr>
        <p:spPr>
          <a:xfrm>
            <a:off x="1240458" y="3952932"/>
            <a:ext cx="6962162" cy="523220"/>
          </a:xfrm>
          <a:prstGeom prst="rect">
            <a:avLst/>
          </a:prstGeom>
          <a:noFill/>
        </p:spPr>
        <p:txBody>
          <a:bodyPr wrap="none" rtlCol="0">
            <a:spAutoFit/>
          </a:bodyPr>
          <a:lstStyle/>
          <a:p>
            <a:r>
              <a:rPr lang="en-GB" dirty="0">
                <a:solidFill>
                  <a:srgbClr val="00B050"/>
                </a:solidFill>
              </a:rPr>
              <a:t>TO ADD – AI Act </a:t>
            </a:r>
            <a:br>
              <a:rPr lang="en-GB" dirty="0">
                <a:solidFill>
                  <a:srgbClr val="00B050"/>
                </a:solidFill>
              </a:rPr>
            </a:br>
            <a:r>
              <a:rPr lang="en-GB" dirty="0">
                <a:solidFill>
                  <a:srgbClr val="00B050"/>
                </a:solidFill>
                <a:hlinkClick r:id="rId7" tooltip="https://artificialintelligenceact.eu/">
                  <a:extLst>
                    <a:ext uri="{A12FA001-AC4F-418D-AE19-62706E023703}">
                      <ahyp:hlinkClr xmlns:ahyp="http://schemas.microsoft.com/office/drawing/2018/hyperlinkcolor" val="tx"/>
                    </a:ext>
                  </a:extLst>
                </a:hlinkClick>
              </a:rPr>
              <a:t>EU Artificial Intelligence Act | Up-to-date developments and analyses of the EU AI Act</a:t>
            </a:r>
            <a:endParaRPr lang="en-GB" dirty="0">
              <a:solidFill>
                <a:srgbClr val="00B050"/>
              </a:solidFill>
            </a:endParaRPr>
          </a:p>
        </p:txBody>
      </p:sp>
    </p:spTree>
    <p:custDataLst>
      <p:tags r:id="rId1"/>
    </p:custDataLst>
    <p:extLst>
      <p:ext uri="{BB962C8B-B14F-4D97-AF65-F5344CB8AC3E}">
        <p14:creationId xmlns:p14="http://schemas.microsoft.com/office/powerpoint/2010/main" val="2924166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DDA3B-51B3-3D11-0305-FE133FB8C9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411F7E-9CE8-F29E-830C-EF4C212FC185}"/>
              </a:ext>
            </a:extLst>
          </p:cNvPr>
          <p:cNvSpPr>
            <a:spLocks noGrp="1"/>
          </p:cNvSpPr>
          <p:nvPr>
            <p:ph type="title" idx="2"/>
          </p:nvPr>
        </p:nvSpPr>
        <p:spPr>
          <a:xfrm>
            <a:off x="221673" y="349050"/>
            <a:ext cx="6379500" cy="257100"/>
          </a:xfrm>
        </p:spPr>
        <p:txBody>
          <a:bodyPr/>
          <a:lstStyle/>
          <a:p>
            <a:r>
              <a:rPr lang="en-GB" sz="1200" cap="all"/>
              <a:t>Exit plan for SaaS Applications</a:t>
            </a:r>
          </a:p>
        </p:txBody>
      </p:sp>
      <p:sp>
        <p:nvSpPr>
          <p:cNvPr id="4" name="Title 3">
            <a:extLst>
              <a:ext uri="{FF2B5EF4-FFF2-40B4-BE49-F238E27FC236}">
                <a16:creationId xmlns:a16="http://schemas.microsoft.com/office/drawing/2014/main" id="{FA00E140-5E56-40C1-D337-5B0738710173}"/>
              </a:ext>
            </a:extLst>
          </p:cNvPr>
          <p:cNvSpPr>
            <a:spLocks noGrp="1"/>
          </p:cNvSpPr>
          <p:nvPr>
            <p:ph type="title" idx="3"/>
          </p:nvPr>
        </p:nvSpPr>
        <p:spPr/>
        <p:txBody>
          <a:bodyPr/>
          <a:lstStyle/>
          <a:p>
            <a:r>
              <a:rPr lang="en-GB">
                <a:latin typeface="Encode Sans Condensed" pitchFamily="2" charset="0"/>
              </a:rPr>
              <a:t>DORA compliance </a:t>
            </a:r>
          </a:p>
        </p:txBody>
      </p:sp>
      <p:sp>
        <p:nvSpPr>
          <p:cNvPr id="20" name="Google Shape;250;p33">
            <a:extLst>
              <a:ext uri="{FF2B5EF4-FFF2-40B4-BE49-F238E27FC236}">
                <a16:creationId xmlns:a16="http://schemas.microsoft.com/office/drawing/2014/main" id="{6DD205B4-3B76-F7C3-F628-88BCCF2C8DB8}"/>
              </a:ext>
            </a:extLst>
          </p:cNvPr>
          <p:cNvSpPr/>
          <p:nvPr/>
        </p:nvSpPr>
        <p:spPr>
          <a:xfrm>
            <a:off x="152400" y="942871"/>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defTabSz="914400" eaLnBrk="1" fontAlgn="auto" latinLnBrk="0" hangingPunct="1">
              <a:lnSpc>
                <a:spcPct val="100000"/>
              </a:lnSpc>
              <a:spcBef>
                <a:spcPts val="0"/>
              </a:spcBef>
              <a:spcAft>
                <a:spcPts val="0"/>
              </a:spcAft>
              <a:buClrTx/>
              <a:buSzTx/>
              <a:buFontTx/>
              <a:buNone/>
              <a:tabLst/>
              <a:defRPr/>
            </a:pPr>
            <a:r>
              <a:rPr lang="en-GB" sz="800" b="1">
                <a:solidFill>
                  <a:srgbClr val="FFFFFF"/>
                </a:solidFill>
                <a:latin typeface="Encode Sans Condensed" pitchFamily="2" charset="0"/>
              </a:rPr>
              <a:t>SaaS Provider Name</a:t>
            </a:r>
            <a:endParaRPr kumimoji="0" sz="800" b="0" i="0" u="none" strike="noStrike" kern="0" cap="none" spc="0" normalizeH="0" baseline="0" noProof="0">
              <a:ln>
                <a:noFill/>
              </a:ln>
              <a:solidFill>
                <a:sysClr val="windowText" lastClr="000000"/>
              </a:solidFill>
              <a:effectLst/>
              <a:uLnTx/>
              <a:uFillTx/>
              <a:latin typeface="Encode Sans Condensed" pitchFamily="2" charset="0"/>
            </a:endParaRPr>
          </a:p>
        </p:txBody>
      </p:sp>
      <p:sp>
        <p:nvSpPr>
          <p:cNvPr id="21" name="Google Shape;250;p33">
            <a:extLst>
              <a:ext uri="{FF2B5EF4-FFF2-40B4-BE49-F238E27FC236}">
                <a16:creationId xmlns:a16="http://schemas.microsoft.com/office/drawing/2014/main" id="{7CA756DA-C21A-ADF8-61AA-C35746CCC983}"/>
              </a:ext>
            </a:extLst>
          </p:cNvPr>
          <p:cNvSpPr/>
          <p:nvPr/>
        </p:nvSpPr>
        <p:spPr>
          <a:xfrm>
            <a:off x="152400" y="1242384"/>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Internal responsible person for the Third Party</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22" name="Google Shape;250;p33">
            <a:extLst>
              <a:ext uri="{FF2B5EF4-FFF2-40B4-BE49-F238E27FC236}">
                <a16:creationId xmlns:a16="http://schemas.microsoft.com/office/drawing/2014/main" id="{CD328A9C-154A-9F78-D645-EEF393760698}"/>
              </a:ext>
            </a:extLst>
          </p:cNvPr>
          <p:cNvSpPr/>
          <p:nvPr/>
        </p:nvSpPr>
        <p:spPr>
          <a:xfrm>
            <a:off x="145225" y="1539369"/>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rgbClr val="FFFFFF"/>
                </a:solidFill>
                <a:latin typeface="Encode Sans Condensed" pitchFamily="2" charset="0"/>
              </a:rPr>
              <a:t>Internal responsible person for the Exit Plan</a:t>
            </a:r>
            <a:endParaRPr kumimoji="0" sz="800" b="0" i="0" u="none" strike="noStrike" kern="0" cap="none" spc="0" normalizeH="0" baseline="0" noProof="0">
              <a:ln>
                <a:noFill/>
              </a:ln>
              <a:solidFill>
                <a:sysClr val="windowText" lastClr="000000"/>
              </a:solidFill>
              <a:effectLst/>
              <a:uLnTx/>
              <a:uFillTx/>
              <a:latin typeface="Encode Sans Condensed" pitchFamily="2" charset="0"/>
            </a:endParaRPr>
          </a:p>
        </p:txBody>
      </p:sp>
      <p:sp>
        <p:nvSpPr>
          <p:cNvPr id="23" name="Google Shape;296;p33">
            <a:extLst>
              <a:ext uri="{FF2B5EF4-FFF2-40B4-BE49-F238E27FC236}">
                <a16:creationId xmlns:a16="http://schemas.microsoft.com/office/drawing/2014/main" id="{44FBABE5-7E66-4475-63FB-F76D6B0F3ADC}"/>
              </a:ext>
            </a:extLst>
          </p:cNvPr>
          <p:cNvSpPr/>
          <p:nvPr/>
        </p:nvSpPr>
        <p:spPr>
          <a:xfrm>
            <a:off x="1834096" y="913071"/>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Provide SaaS application name …</a:t>
            </a:r>
            <a:endParaRPr lang="en-GB" sz="800">
              <a:solidFill>
                <a:srgbClr val="7F7F7F"/>
              </a:solidFill>
              <a:latin typeface="Encode Sans Condensed" pitchFamily="2" charset="0"/>
            </a:endParaRPr>
          </a:p>
        </p:txBody>
      </p:sp>
      <p:sp>
        <p:nvSpPr>
          <p:cNvPr id="24" name="Google Shape;296;p33">
            <a:extLst>
              <a:ext uri="{FF2B5EF4-FFF2-40B4-BE49-F238E27FC236}">
                <a16:creationId xmlns:a16="http://schemas.microsoft.com/office/drawing/2014/main" id="{CC880B8A-DA5D-9296-3CB8-DA642B0FD08F}"/>
              </a:ext>
            </a:extLst>
          </p:cNvPr>
          <p:cNvSpPr/>
          <p:nvPr/>
        </p:nvSpPr>
        <p:spPr>
          <a:xfrm>
            <a:off x="1834096" y="1206231"/>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Name of owner who interacts with SaaS provider…</a:t>
            </a:r>
          </a:p>
        </p:txBody>
      </p:sp>
      <p:sp>
        <p:nvSpPr>
          <p:cNvPr id="25" name="Google Shape;296;p33">
            <a:extLst>
              <a:ext uri="{FF2B5EF4-FFF2-40B4-BE49-F238E27FC236}">
                <a16:creationId xmlns:a16="http://schemas.microsoft.com/office/drawing/2014/main" id="{3E2D4749-5BA5-63A1-0BB8-C76EF09E0D9A}"/>
              </a:ext>
            </a:extLst>
          </p:cNvPr>
          <p:cNvSpPr/>
          <p:nvPr/>
        </p:nvSpPr>
        <p:spPr>
          <a:xfrm>
            <a:off x="1834096" y="1511088"/>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Application Owner name …</a:t>
            </a:r>
            <a:endParaRPr lang="en-GB" sz="800">
              <a:solidFill>
                <a:srgbClr val="7F7F7F"/>
              </a:solidFill>
              <a:latin typeface="Encode Sans Condensed" pitchFamily="2" charset="0"/>
            </a:endParaRPr>
          </a:p>
        </p:txBody>
      </p:sp>
      <p:sp>
        <p:nvSpPr>
          <p:cNvPr id="26" name="Google Shape;250;p33">
            <a:extLst>
              <a:ext uri="{FF2B5EF4-FFF2-40B4-BE49-F238E27FC236}">
                <a16:creationId xmlns:a16="http://schemas.microsoft.com/office/drawing/2014/main" id="{C7D5BE42-DF89-0695-1DCF-5D04295ED0DE}"/>
              </a:ext>
            </a:extLst>
          </p:cNvPr>
          <p:cNvSpPr/>
          <p:nvPr/>
        </p:nvSpPr>
        <p:spPr>
          <a:xfrm>
            <a:off x="4619766" y="3711005"/>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rgbClr val="FFFFFF"/>
                </a:solidFill>
                <a:latin typeface="Encode Sans Condensed" pitchFamily="2" charset="0"/>
              </a:rPr>
              <a:t>Are there subcontractors? If yes, name them</a:t>
            </a:r>
            <a:endParaRPr kumimoji="0" sz="800" b="0" i="0" u="none" strike="noStrike" kern="0" cap="none" spc="0" normalizeH="0" baseline="0" noProof="0">
              <a:ln>
                <a:noFill/>
              </a:ln>
              <a:solidFill>
                <a:sysClr val="windowText" lastClr="000000"/>
              </a:solidFill>
              <a:effectLst/>
              <a:uLnTx/>
              <a:uFillTx/>
              <a:latin typeface="Encode Sans Condensed" pitchFamily="2" charset="0"/>
            </a:endParaRPr>
          </a:p>
        </p:txBody>
      </p:sp>
      <p:sp>
        <p:nvSpPr>
          <p:cNvPr id="27" name="Google Shape;250;p33">
            <a:extLst>
              <a:ext uri="{FF2B5EF4-FFF2-40B4-BE49-F238E27FC236}">
                <a16:creationId xmlns:a16="http://schemas.microsoft.com/office/drawing/2014/main" id="{45C0B41A-2A8E-C8A2-17A6-D8D154D2E9EE}"/>
              </a:ext>
            </a:extLst>
          </p:cNvPr>
          <p:cNvSpPr/>
          <p:nvPr/>
        </p:nvSpPr>
        <p:spPr>
          <a:xfrm>
            <a:off x="152400" y="1836371"/>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Related critical or important functions</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38" name="Google Shape;296;p33">
            <a:extLst>
              <a:ext uri="{FF2B5EF4-FFF2-40B4-BE49-F238E27FC236}">
                <a16:creationId xmlns:a16="http://schemas.microsoft.com/office/drawing/2014/main" id="{8FE3CE9C-C9E5-7531-E71F-26F9B407EECF}"/>
              </a:ext>
            </a:extLst>
          </p:cNvPr>
          <p:cNvSpPr/>
          <p:nvPr/>
        </p:nvSpPr>
        <p:spPr>
          <a:xfrm>
            <a:off x="6323975" y="3705456"/>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Name of sub-contractors of SaaS provider…</a:t>
            </a:r>
            <a:endParaRPr lang="en-GB" sz="800">
              <a:solidFill>
                <a:srgbClr val="7F7F7F"/>
              </a:solidFill>
              <a:latin typeface="Encode Sans Condensed" pitchFamily="2" charset="0"/>
            </a:endParaRPr>
          </a:p>
        </p:txBody>
      </p:sp>
      <p:sp>
        <p:nvSpPr>
          <p:cNvPr id="39" name="Google Shape;296;p33">
            <a:extLst>
              <a:ext uri="{FF2B5EF4-FFF2-40B4-BE49-F238E27FC236}">
                <a16:creationId xmlns:a16="http://schemas.microsoft.com/office/drawing/2014/main" id="{7D334405-91F3-6BC9-9D04-79D47836665E}"/>
              </a:ext>
            </a:extLst>
          </p:cNvPr>
          <p:cNvSpPr/>
          <p:nvPr/>
        </p:nvSpPr>
        <p:spPr>
          <a:xfrm>
            <a:off x="1834096" y="1830624"/>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Name any critical functions that would be attached to this SaaS…</a:t>
            </a:r>
            <a:endParaRPr lang="en-GB" sz="800">
              <a:solidFill>
                <a:srgbClr val="7F7F7F"/>
              </a:solidFill>
              <a:latin typeface="Encode Sans Condensed" pitchFamily="2" charset="0"/>
            </a:endParaRPr>
          </a:p>
        </p:txBody>
      </p:sp>
      <p:sp>
        <p:nvSpPr>
          <p:cNvPr id="40" name="Google Shape;296;p33">
            <a:extLst>
              <a:ext uri="{FF2B5EF4-FFF2-40B4-BE49-F238E27FC236}">
                <a16:creationId xmlns:a16="http://schemas.microsoft.com/office/drawing/2014/main" id="{26E409B9-BFDC-3E35-8EE1-5EE4FFE401E9}"/>
              </a:ext>
            </a:extLst>
          </p:cNvPr>
          <p:cNvSpPr/>
          <p:nvPr/>
        </p:nvSpPr>
        <p:spPr>
          <a:xfrm>
            <a:off x="6323975" y="937215"/>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Provide the contract end date if known …</a:t>
            </a:r>
            <a:endParaRPr lang="en-GB" sz="800">
              <a:solidFill>
                <a:srgbClr val="7F7F7F"/>
              </a:solidFill>
              <a:latin typeface="Encode Sans Condensed" pitchFamily="2" charset="0"/>
            </a:endParaRPr>
          </a:p>
        </p:txBody>
      </p:sp>
      <p:sp>
        <p:nvSpPr>
          <p:cNvPr id="41" name="Google Shape;296;p33">
            <a:extLst>
              <a:ext uri="{FF2B5EF4-FFF2-40B4-BE49-F238E27FC236}">
                <a16:creationId xmlns:a16="http://schemas.microsoft.com/office/drawing/2014/main" id="{A5FBF912-59EA-CCE8-EEB8-9B3A62C0E683}"/>
              </a:ext>
            </a:extLst>
          </p:cNvPr>
          <p:cNvSpPr/>
          <p:nvPr/>
        </p:nvSpPr>
        <p:spPr>
          <a:xfrm>
            <a:off x="6323975" y="1244797"/>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Provide the notice period required by SaaS provider … (part of contract)</a:t>
            </a:r>
            <a:endParaRPr lang="en-GB" sz="800">
              <a:solidFill>
                <a:srgbClr val="7F7F7F"/>
              </a:solidFill>
              <a:latin typeface="Encode Sans Condensed" pitchFamily="2" charset="0"/>
            </a:endParaRPr>
          </a:p>
        </p:txBody>
      </p:sp>
      <p:sp>
        <p:nvSpPr>
          <p:cNvPr id="44" name="Google Shape;296;p33">
            <a:extLst>
              <a:ext uri="{FF2B5EF4-FFF2-40B4-BE49-F238E27FC236}">
                <a16:creationId xmlns:a16="http://schemas.microsoft.com/office/drawing/2014/main" id="{8497F192-4451-2015-8540-96582AE7492B}"/>
              </a:ext>
            </a:extLst>
          </p:cNvPr>
          <p:cNvSpPr/>
          <p:nvPr/>
        </p:nvSpPr>
        <p:spPr>
          <a:xfrm>
            <a:off x="6323975" y="1552379"/>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Yes/No … </a:t>
            </a:r>
            <a:r>
              <a:rPr lang="en-GB" sz="800" b="1">
                <a:solidFill>
                  <a:schemeClr val="bg1">
                    <a:lumMod val="50000"/>
                  </a:schemeClr>
                </a:solidFill>
                <a:highlight>
                  <a:srgbClr val="FFFF00"/>
                </a:highlight>
                <a:latin typeface="Encode Sans Condensed" pitchFamily="2" charset="0"/>
              </a:rPr>
              <a:t>choose one </a:t>
            </a:r>
            <a:endParaRPr lang="en-GB" sz="800">
              <a:solidFill>
                <a:srgbClr val="7F7F7F"/>
              </a:solidFill>
              <a:latin typeface="Encode Sans Condensed" pitchFamily="2" charset="0"/>
            </a:endParaRPr>
          </a:p>
        </p:txBody>
      </p:sp>
      <p:sp>
        <p:nvSpPr>
          <p:cNvPr id="45" name="Google Shape;296;p33">
            <a:extLst>
              <a:ext uri="{FF2B5EF4-FFF2-40B4-BE49-F238E27FC236}">
                <a16:creationId xmlns:a16="http://schemas.microsoft.com/office/drawing/2014/main" id="{EB47F4F1-5DA2-F477-7138-8294DD8F9B4F}"/>
              </a:ext>
            </a:extLst>
          </p:cNvPr>
          <p:cNvSpPr/>
          <p:nvPr/>
        </p:nvSpPr>
        <p:spPr>
          <a:xfrm>
            <a:off x="6323975" y="1859961"/>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Yes/No … </a:t>
            </a:r>
            <a:r>
              <a:rPr lang="en-GB" sz="800" b="1">
                <a:solidFill>
                  <a:schemeClr val="bg1">
                    <a:lumMod val="50000"/>
                  </a:schemeClr>
                </a:solidFill>
                <a:highlight>
                  <a:srgbClr val="FFFF00"/>
                </a:highlight>
                <a:latin typeface="Encode Sans Condensed" pitchFamily="2" charset="0"/>
              </a:rPr>
              <a:t>choose one </a:t>
            </a:r>
            <a:endParaRPr lang="en-GB" sz="800">
              <a:solidFill>
                <a:srgbClr val="7F7F7F"/>
              </a:solidFill>
              <a:latin typeface="Encode Sans Condensed" pitchFamily="2" charset="0"/>
            </a:endParaRPr>
          </a:p>
        </p:txBody>
      </p:sp>
      <p:sp>
        <p:nvSpPr>
          <p:cNvPr id="50" name="Google Shape;250;p33">
            <a:extLst>
              <a:ext uri="{FF2B5EF4-FFF2-40B4-BE49-F238E27FC236}">
                <a16:creationId xmlns:a16="http://schemas.microsoft.com/office/drawing/2014/main" id="{AD27EEEA-9D91-FBE3-9EAF-E800EFA8AC27}"/>
              </a:ext>
            </a:extLst>
          </p:cNvPr>
          <p:cNvSpPr/>
          <p:nvPr/>
        </p:nvSpPr>
        <p:spPr>
          <a:xfrm>
            <a:off x="4619766" y="937648"/>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Contract</a:t>
            </a:r>
            <a:r>
              <a:rPr lang="en-GB" sz="800" b="1">
                <a:solidFill>
                  <a:schemeClr val="bg1"/>
                </a:solidFill>
                <a:latin typeface="Encode Sans Condensed" pitchFamily="2" charset="0"/>
              </a:rPr>
              <a:t> End Date</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51" name="Google Shape;250;p33">
            <a:extLst>
              <a:ext uri="{FF2B5EF4-FFF2-40B4-BE49-F238E27FC236}">
                <a16:creationId xmlns:a16="http://schemas.microsoft.com/office/drawing/2014/main" id="{E8B841D5-298E-3608-F116-8B85C82849EB}"/>
              </a:ext>
            </a:extLst>
          </p:cNvPr>
          <p:cNvSpPr/>
          <p:nvPr/>
        </p:nvSpPr>
        <p:spPr>
          <a:xfrm>
            <a:off x="4619766" y="1245799"/>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Termination Notice period</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52" name="Google Shape;250;p33">
            <a:extLst>
              <a:ext uri="{FF2B5EF4-FFF2-40B4-BE49-F238E27FC236}">
                <a16:creationId xmlns:a16="http://schemas.microsoft.com/office/drawing/2014/main" id="{1C2AA34B-56E5-2460-3912-F7B1DE4649AF}"/>
              </a:ext>
            </a:extLst>
          </p:cNvPr>
          <p:cNvSpPr/>
          <p:nvPr/>
        </p:nvSpPr>
        <p:spPr>
          <a:xfrm>
            <a:off x="4619766" y="1553950"/>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Is exit plan in contract</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53" name="Google Shape;250;p33">
            <a:extLst>
              <a:ext uri="{FF2B5EF4-FFF2-40B4-BE49-F238E27FC236}">
                <a16:creationId xmlns:a16="http://schemas.microsoft.com/office/drawing/2014/main" id="{81BB8BB1-F91D-B7F6-22CE-E002C639C9BF}"/>
              </a:ext>
            </a:extLst>
          </p:cNvPr>
          <p:cNvSpPr/>
          <p:nvPr/>
        </p:nvSpPr>
        <p:spPr>
          <a:xfrm>
            <a:off x="4619766" y="1862101"/>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Does contract cover support during Exit</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55" name="Google Shape;250;p33">
            <a:extLst>
              <a:ext uri="{FF2B5EF4-FFF2-40B4-BE49-F238E27FC236}">
                <a16:creationId xmlns:a16="http://schemas.microsoft.com/office/drawing/2014/main" id="{B5BAB632-124C-A4F3-A153-B733EFFDA581}"/>
              </a:ext>
            </a:extLst>
          </p:cNvPr>
          <p:cNvSpPr/>
          <p:nvPr/>
        </p:nvSpPr>
        <p:spPr>
          <a:xfrm>
            <a:off x="4619766" y="2170252"/>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Will data be easy to migrate during Exit?</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56" name="Google Shape;250;p33">
            <a:extLst>
              <a:ext uri="{FF2B5EF4-FFF2-40B4-BE49-F238E27FC236}">
                <a16:creationId xmlns:a16="http://schemas.microsoft.com/office/drawing/2014/main" id="{E01E0655-DBE6-A542-AE4A-34B26D822F30}"/>
              </a:ext>
            </a:extLst>
          </p:cNvPr>
          <p:cNvSpPr/>
          <p:nvPr/>
        </p:nvSpPr>
        <p:spPr>
          <a:xfrm>
            <a:off x="151852" y="2552892"/>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Exit Readiness Levels</a:t>
            </a:r>
            <a:r>
              <a:rPr lang="en-GB" sz="800">
                <a:solidFill>
                  <a:schemeClr val="bg1"/>
                </a:solidFill>
                <a:latin typeface="Encode Sans Condensed" pitchFamily="2" charset="0"/>
              </a:rPr>
              <a:t> </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57" name="Google Shape;250;p33">
            <a:extLst>
              <a:ext uri="{FF2B5EF4-FFF2-40B4-BE49-F238E27FC236}">
                <a16:creationId xmlns:a16="http://schemas.microsoft.com/office/drawing/2014/main" id="{80ECFE92-83F5-9242-E600-C09E09AA6CF4}"/>
              </a:ext>
            </a:extLst>
          </p:cNvPr>
          <p:cNvSpPr/>
          <p:nvPr/>
        </p:nvSpPr>
        <p:spPr>
          <a:xfrm>
            <a:off x="151852" y="2870372"/>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Duration of executing the exit without an impact</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58" name="Google Shape;250;p33">
            <a:extLst>
              <a:ext uri="{FF2B5EF4-FFF2-40B4-BE49-F238E27FC236}">
                <a16:creationId xmlns:a16="http://schemas.microsoft.com/office/drawing/2014/main" id="{30B580DB-69F0-294F-1A8E-2FC320A2704F}"/>
              </a:ext>
            </a:extLst>
          </p:cNvPr>
          <p:cNvSpPr/>
          <p:nvPr/>
        </p:nvSpPr>
        <p:spPr>
          <a:xfrm>
            <a:off x="152399" y="3187852"/>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What is Substitutability of this SaaS service</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59" name="Google Shape;250;p33">
            <a:extLst>
              <a:ext uri="{FF2B5EF4-FFF2-40B4-BE49-F238E27FC236}">
                <a16:creationId xmlns:a16="http://schemas.microsoft.com/office/drawing/2014/main" id="{C0922257-E3A0-AF64-56BC-FDDC3076E6B7}"/>
              </a:ext>
            </a:extLst>
          </p:cNvPr>
          <p:cNvSpPr/>
          <p:nvPr/>
        </p:nvSpPr>
        <p:spPr>
          <a:xfrm>
            <a:off x="152400" y="3505332"/>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Possibility Of Reintegration</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60" name="Google Shape;250;p33">
            <a:extLst>
              <a:ext uri="{FF2B5EF4-FFF2-40B4-BE49-F238E27FC236}">
                <a16:creationId xmlns:a16="http://schemas.microsoft.com/office/drawing/2014/main" id="{C10E3086-862A-C8E5-DF9A-E5166F85C5A0}"/>
              </a:ext>
            </a:extLst>
          </p:cNvPr>
          <p:cNvSpPr/>
          <p:nvPr/>
        </p:nvSpPr>
        <p:spPr>
          <a:xfrm>
            <a:off x="152400" y="3822812"/>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Estimated cost of Exit </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61" name="Google Shape;250;p33">
            <a:extLst>
              <a:ext uri="{FF2B5EF4-FFF2-40B4-BE49-F238E27FC236}">
                <a16:creationId xmlns:a16="http://schemas.microsoft.com/office/drawing/2014/main" id="{7DBFB5E8-5762-93DC-5509-4524ED5F7498}"/>
              </a:ext>
            </a:extLst>
          </p:cNvPr>
          <p:cNvSpPr/>
          <p:nvPr/>
        </p:nvSpPr>
        <p:spPr>
          <a:xfrm>
            <a:off x="4619766" y="2478403"/>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SaaS Exit plan framework referred and followed</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62" name="Google Shape;250;p33">
            <a:extLst>
              <a:ext uri="{FF2B5EF4-FFF2-40B4-BE49-F238E27FC236}">
                <a16:creationId xmlns:a16="http://schemas.microsoft.com/office/drawing/2014/main" id="{B9ABE20C-7920-A25E-AD0E-C65013A794DF}"/>
              </a:ext>
            </a:extLst>
          </p:cNvPr>
          <p:cNvSpPr/>
          <p:nvPr/>
        </p:nvSpPr>
        <p:spPr>
          <a:xfrm>
            <a:off x="4619766" y="2786554"/>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Exit Likelihood</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63" name="Google Shape;250;p33">
            <a:extLst>
              <a:ext uri="{FF2B5EF4-FFF2-40B4-BE49-F238E27FC236}">
                <a16:creationId xmlns:a16="http://schemas.microsoft.com/office/drawing/2014/main" id="{F240780C-EC74-DC08-A6E7-FF6B8D70E218}"/>
              </a:ext>
            </a:extLst>
          </p:cNvPr>
          <p:cNvSpPr/>
          <p:nvPr/>
        </p:nvSpPr>
        <p:spPr>
          <a:xfrm>
            <a:off x="4619766" y="3094705"/>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Kind of exit test plan </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65" name="Google Shape;250;p33">
            <a:extLst>
              <a:ext uri="{FF2B5EF4-FFF2-40B4-BE49-F238E27FC236}">
                <a16:creationId xmlns:a16="http://schemas.microsoft.com/office/drawing/2014/main" id="{2F395551-57E6-EAE1-BAD3-5FBE4F21E0D9}"/>
              </a:ext>
            </a:extLst>
          </p:cNvPr>
          <p:cNvSpPr/>
          <p:nvPr/>
        </p:nvSpPr>
        <p:spPr>
          <a:xfrm>
            <a:off x="4619766" y="3402856"/>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Exit Plan regular testing planned </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67" name="Google Shape;296;p33">
            <a:extLst>
              <a:ext uri="{FF2B5EF4-FFF2-40B4-BE49-F238E27FC236}">
                <a16:creationId xmlns:a16="http://schemas.microsoft.com/office/drawing/2014/main" id="{5B003F47-F3F4-B7B5-D076-A8629FFF361C}"/>
              </a:ext>
            </a:extLst>
          </p:cNvPr>
          <p:cNvSpPr/>
          <p:nvPr/>
        </p:nvSpPr>
        <p:spPr>
          <a:xfrm>
            <a:off x="1853146" y="2574004"/>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Prepared/Well prepared/Very well prepared/Not Prepared …</a:t>
            </a:r>
            <a:r>
              <a:rPr lang="en-GB" sz="800" b="1">
                <a:solidFill>
                  <a:schemeClr val="bg1">
                    <a:lumMod val="50000"/>
                  </a:schemeClr>
                </a:solidFill>
                <a:highlight>
                  <a:srgbClr val="FFFF00"/>
                </a:highlight>
                <a:latin typeface="Encode Sans Condensed" pitchFamily="2" charset="0"/>
              </a:rPr>
              <a:t>choose one</a:t>
            </a:r>
          </a:p>
        </p:txBody>
      </p:sp>
      <p:sp>
        <p:nvSpPr>
          <p:cNvPr id="68" name="Google Shape;296;p33">
            <a:extLst>
              <a:ext uri="{FF2B5EF4-FFF2-40B4-BE49-F238E27FC236}">
                <a16:creationId xmlns:a16="http://schemas.microsoft.com/office/drawing/2014/main" id="{3C223017-C25C-D61F-ECCC-674C21A843D6}"/>
              </a:ext>
            </a:extLst>
          </p:cNvPr>
          <p:cNvSpPr/>
          <p:nvPr/>
        </p:nvSpPr>
        <p:spPr>
          <a:xfrm>
            <a:off x="1853146" y="2887773"/>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6 months/12 months 18 months 24 months &gt;24 month/ Unknown … </a:t>
            </a:r>
            <a:r>
              <a:rPr lang="en-GB" sz="800" b="1">
                <a:solidFill>
                  <a:schemeClr val="bg1">
                    <a:lumMod val="50000"/>
                  </a:schemeClr>
                </a:solidFill>
                <a:highlight>
                  <a:srgbClr val="FFFF00"/>
                </a:highlight>
                <a:latin typeface="Encode Sans Condensed" pitchFamily="2" charset="0"/>
              </a:rPr>
              <a:t>choose one</a:t>
            </a:r>
          </a:p>
        </p:txBody>
      </p:sp>
      <p:sp>
        <p:nvSpPr>
          <p:cNvPr id="69" name="Google Shape;296;p33">
            <a:extLst>
              <a:ext uri="{FF2B5EF4-FFF2-40B4-BE49-F238E27FC236}">
                <a16:creationId xmlns:a16="http://schemas.microsoft.com/office/drawing/2014/main" id="{3DE35904-4500-EBED-BD9D-E06152C5D095}"/>
              </a:ext>
            </a:extLst>
          </p:cNvPr>
          <p:cNvSpPr/>
          <p:nvPr/>
        </p:nvSpPr>
        <p:spPr>
          <a:xfrm>
            <a:off x="1853146" y="3201542"/>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Non substitutable/Highly complex/ Medium complexity /Easily substitutable … </a:t>
            </a:r>
            <a:r>
              <a:rPr lang="en-GB" sz="800" b="1">
                <a:solidFill>
                  <a:schemeClr val="bg1">
                    <a:lumMod val="50000"/>
                  </a:schemeClr>
                </a:solidFill>
                <a:highlight>
                  <a:srgbClr val="FFFF00"/>
                </a:highlight>
                <a:latin typeface="Encode Sans Condensed" pitchFamily="2" charset="0"/>
              </a:rPr>
              <a:t>choose one</a:t>
            </a:r>
          </a:p>
        </p:txBody>
      </p:sp>
      <p:sp>
        <p:nvSpPr>
          <p:cNvPr id="70" name="Google Shape;296;p33">
            <a:extLst>
              <a:ext uri="{FF2B5EF4-FFF2-40B4-BE49-F238E27FC236}">
                <a16:creationId xmlns:a16="http://schemas.microsoft.com/office/drawing/2014/main" id="{2D2AFF4A-06FC-2913-F462-16E3802354B1}"/>
              </a:ext>
            </a:extLst>
          </p:cNvPr>
          <p:cNvSpPr/>
          <p:nvPr/>
        </p:nvSpPr>
        <p:spPr>
          <a:xfrm>
            <a:off x="1853146" y="3515311"/>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Easy/Difficult/Highly complex … </a:t>
            </a:r>
            <a:r>
              <a:rPr lang="en-GB" sz="800" b="1">
                <a:solidFill>
                  <a:schemeClr val="bg1">
                    <a:lumMod val="50000"/>
                  </a:schemeClr>
                </a:solidFill>
                <a:highlight>
                  <a:srgbClr val="FFFF00"/>
                </a:highlight>
                <a:latin typeface="Encode Sans Condensed" pitchFamily="2" charset="0"/>
              </a:rPr>
              <a:t>choose one </a:t>
            </a:r>
          </a:p>
        </p:txBody>
      </p:sp>
      <p:sp>
        <p:nvSpPr>
          <p:cNvPr id="71" name="Google Shape;296;p33">
            <a:extLst>
              <a:ext uri="{FF2B5EF4-FFF2-40B4-BE49-F238E27FC236}">
                <a16:creationId xmlns:a16="http://schemas.microsoft.com/office/drawing/2014/main" id="{084DEDF8-205D-A01B-2930-BA016FDC2FCB}"/>
              </a:ext>
            </a:extLst>
          </p:cNvPr>
          <p:cNvSpPr/>
          <p:nvPr/>
        </p:nvSpPr>
        <p:spPr>
          <a:xfrm>
            <a:off x="1853146" y="3829080"/>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cs typeface="Arial" panose="020B0604020202020204" pitchFamily="34" charset="0"/>
              </a:rPr>
              <a:t>&lt;10k EUR 10-100k EUR 100-500k EUR 500-1M EUR &gt;1M EUR ) … </a:t>
            </a:r>
            <a:r>
              <a:rPr lang="en-GB" sz="800" b="1">
                <a:solidFill>
                  <a:schemeClr val="bg1">
                    <a:lumMod val="50000"/>
                  </a:schemeClr>
                </a:solidFill>
                <a:highlight>
                  <a:srgbClr val="FFFF00"/>
                </a:highlight>
                <a:latin typeface="Encode Sans Condensed" pitchFamily="2" charset="0"/>
                <a:cs typeface="Arial" panose="020B0604020202020204" pitchFamily="34" charset="0"/>
              </a:rPr>
              <a:t>choose one</a:t>
            </a:r>
          </a:p>
        </p:txBody>
      </p:sp>
      <p:sp>
        <p:nvSpPr>
          <p:cNvPr id="73" name="Google Shape;296;p33">
            <a:extLst>
              <a:ext uri="{FF2B5EF4-FFF2-40B4-BE49-F238E27FC236}">
                <a16:creationId xmlns:a16="http://schemas.microsoft.com/office/drawing/2014/main" id="{4315A22B-4474-75CC-929C-3C9F45151418}"/>
              </a:ext>
            </a:extLst>
          </p:cNvPr>
          <p:cNvSpPr/>
          <p:nvPr/>
        </p:nvSpPr>
        <p:spPr>
          <a:xfrm>
            <a:off x="6323975" y="2782707"/>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Not likely (&gt;12 months) Likely (&lt;12 months) Very likely (&lt;6 months)   … </a:t>
            </a:r>
            <a:r>
              <a:rPr lang="en-GB" sz="800" b="1">
                <a:solidFill>
                  <a:schemeClr val="bg1">
                    <a:lumMod val="50000"/>
                  </a:schemeClr>
                </a:solidFill>
                <a:highlight>
                  <a:srgbClr val="FFFF00"/>
                </a:highlight>
                <a:latin typeface="Encode Sans Condensed" pitchFamily="2" charset="0"/>
              </a:rPr>
              <a:t>choose one </a:t>
            </a:r>
            <a:endParaRPr lang="en-GB" sz="800" b="1">
              <a:solidFill>
                <a:schemeClr val="bg1">
                  <a:lumMod val="50000"/>
                </a:schemeClr>
              </a:solidFill>
              <a:latin typeface="Encode Sans Condensed" pitchFamily="2" charset="0"/>
            </a:endParaRPr>
          </a:p>
        </p:txBody>
      </p:sp>
      <p:sp>
        <p:nvSpPr>
          <p:cNvPr id="74" name="Google Shape;296;p33">
            <a:extLst>
              <a:ext uri="{FF2B5EF4-FFF2-40B4-BE49-F238E27FC236}">
                <a16:creationId xmlns:a16="http://schemas.microsoft.com/office/drawing/2014/main" id="{411721F2-D919-83DC-48B6-C9D281CCDBDF}"/>
              </a:ext>
            </a:extLst>
          </p:cNvPr>
          <p:cNvSpPr/>
          <p:nvPr/>
        </p:nvSpPr>
        <p:spPr>
          <a:xfrm>
            <a:off x="6323975" y="3090289"/>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Table-top/Data-export /Load/Simulation/others/not sure now – Data(</a:t>
            </a:r>
            <a:r>
              <a:rPr lang="en-GB" sz="800" b="1" err="1">
                <a:solidFill>
                  <a:schemeClr val="bg1">
                    <a:lumMod val="50000"/>
                  </a:schemeClr>
                </a:solidFill>
                <a:latin typeface="Encode Sans Condensed" pitchFamily="2" charset="0"/>
              </a:rPr>
              <a:t>export,input</a:t>
            </a:r>
            <a:r>
              <a:rPr lang="en-GB" sz="800" b="1">
                <a:solidFill>
                  <a:schemeClr val="bg1">
                    <a:lumMod val="50000"/>
                  </a:schemeClr>
                </a:solidFill>
                <a:latin typeface="Encode Sans Condensed" pitchFamily="2" charset="0"/>
              </a:rPr>
              <a:t>, access, recovery … </a:t>
            </a:r>
            <a:r>
              <a:rPr lang="en-GB" sz="800" b="1">
                <a:solidFill>
                  <a:schemeClr val="bg1">
                    <a:lumMod val="50000"/>
                  </a:schemeClr>
                </a:solidFill>
                <a:highlight>
                  <a:srgbClr val="FFFF00"/>
                </a:highlight>
                <a:latin typeface="Encode Sans Condensed" pitchFamily="2" charset="0"/>
              </a:rPr>
              <a:t>choose one </a:t>
            </a:r>
            <a:endParaRPr lang="en-GB" sz="800" b="1">
              <a:solidFill>
                <a:schemeClr val="bg1">
                  <a:lumMod val="50000"/>
                </a:schemeClr>
              </a:solidFill>
              <a:latin typeface="Encode Sans Condensed" pitchFamily="2" charset="0"/>
            </a:endParaRPr>
          </a:p>
        </p:txBody>
      </p:sp>
      <p:sp>
        <p:nvSpPr>
          <p:cNvPr id="76" name="Google Shape;296;p33">
            <a:extLst>
              <a:ext uri="{FF2B5EF4-FFF2-40B4-BE49-F238E27FC236}">
                <a16:creationId xmlns:a16="http://schemas.microsoft.com/office/drawing/2014/main" id="{7C1E2627-A9E9-3A98-9FBC-998AEAAFF596}"/>
              </a:ext>
            </a:extLst>
          </p:cNvPr>
          <p:cNvSpPr/>
          <p:nvPr/>
        </p:nvSpPr>
        <p:spPr>
          <a:xfrm>
            <a:off x="6323975" y="3397871"/>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Yes/No … </a:t>
            </a:r>
            <a:r>
              <a:rPr lang="en-GB" sz="800" b="1">
                <a:solidFill>
                  <a:srgbClr val="7F7F7F"/>
                </a:solidFill>
                <a:highlight>
                  <a:srgbClr val="FFFF00"/>
                </a:highlight>
                <a:latin typeface="Encode Sans Condensed" pitchFamily="2" charset="0"/>
              </a:rPr>
              <a:t>choose one </a:t>
            </a:r>
            <a:endParaRPr lang="en-GB" sz="800">
              <a:solidFill>
                <a:srgbClr val="7F7F7F"/>
              </a:solidFill>
              <a:highlight>
                <a:srgbClr val="FFFF00"/>
              </a:highlight>
              <a:latin typeface="Encode Sans Condensed" pitchFamily="2" charset="0"/>
            </a:endParaRPr>
          </a:p>
        </p:txBody>
      </p:sp>
      <p:sp>
        <p:nvSpPr>
          <p:cNvPr id="78" name="Google Shape;250;p33">
            <a:extLst>
              <a:ext uri="{FF2B5EF4-FFF2-40B4-BE49-F238E27FC236}">
                <a16:creationId xmlns:a16="http://schemas.microsoft.com/office/drawing/2014/main" id="{DAC24BDE-5368-78D5-9B68-27302D63FAFF}"/>
              </a:ext>
            </a:extLst>
          </p:cNvPr>
          <p:cNvSpPr/>
          <p:nvPr/>
        </p:nvSpPr>
        <p:spPr>
          <a:xfrm>
            <a:off x="152400" y="4140291"/>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rPr>
              <a:t>Exit Strategy Options Planned</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81" name="Google Shape;296;p33">
            <a:extLst>
              <a:ext uri="{FF2B5EF4-FFF2-40B4-BE49-F238E27FC236}">
                <a16:creationId xmlns:a16="http://schemas.microsoft.com/office/drawing/2014/main" id="{8B72DA19-19B4-FCE8-4AEF-C773F5858207}"/>
              </a:ext>
            </a:extLst>
          </p:cNvPr>
          <p:cNvSpPr/>
          <p:nvPr/>
        </p:nvSpPr>
        <p:spPr>
          <a:xfrm>
            <a:off x="1853146" y="4144819"/>
            <a:ext cx="3188754"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Stop providing the services/Do it ourselves again (in-sourcing)/Migrate to another service provider/ Otherwise … </a:t>
            </a:r>
            <a:r>
              <a:rPr lang="en-GB" sz="800" b="1">
                <a:solidFill>
                  <a:schemeClr val="bg1">
                    <a:lumMod val="50000"/>
                  </a:schemeClr>
                </a:solidFill>
                <a:highlight>
                  <a:srgbClr val="FFFF00"/>
                </a:highlight>
                <a:latin typeface="Encode Sans Condensed" pitchFamily="2" charset="0"/>
              </a:rPr>
              <a:t>choose one</a:t>
            </a:r>
          </a:p>
        </p:txBody>
      </p:sp>
      <p:sp>
        <p:nvSpPr>
          <p:cNvPr id="84" name="Google Shape;296;p33">
            <a:extLst>
              <a:ext uri="{FF2B5EF4-FFF2-40B4-BE49-F238E27FC236}">
                <a16:creationId xmlns:a16="http://schemas.microsoft.com/office/drawing/2014/main" id="{BA965F77-0FB1-86B1-5449-AD142D925E0B}"/>
              </a:ext>
            </a:extLst>
          </p:cNvPr>
          <p:cNvSpPr/>
          <p:nvPr/>
        </p:nvSpPr>
        <p:spPr>
          <a:xfrm>
            <a:off x="6323975" y="2167543"/>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Easy/Medium/Complex … </a:t>
            </a:r>
            <a:r>
              <a:rPr lang="en-GB" sz="800" b="1">
                <a:solidFill>
                  <a:srgbClr val="7F7F7F"/>
                </a:solidFill>
                <a:highlight>
                  <a:srgbClr val="FFFF00"/>
                </a:highlight>
                <a:latin typeface="Encode Sans Condensed" pitchFamily="2" charset="0"/>
              </a:rPr>
              <a:t>choose one</a:t>
            </a:r>
            <a:endParaRPr lang="en-GB" sz="800">
              <a:solidFill>
                <a:srgbClr val="7F7F7F"/>
              </a:solidFill>
              <a:highlight>
                <a:srgbClr val="FFFF00"/>
              </a:highlight>
              <a:latin typeface="Encode Sans Condensed" pitchFamily="2" charset="0"/>
            </a:endParaRPr>
          </a:p>
        </p:txBody>
      </p:sp>
      <p:sp>
        <p:nvSpPr>
          <p:cNvPr id="85" name="Google Shape;250;p33">
            <a:extLst>
              <a:ext uri="{FF2B5EF4-FFF2-40B4-BE49-F238E27FC236}">
                <a16:creationId xmlns:a16="http://schemas.microsoft.com/office/drawing/2014/main" id="{04E7B1C5-4B44-3EB8-03B5-BADDEC6FDDFF}"/>
              </a:ext>
            </a:extLst>
          </p:cNvPr>
          <p:cNvSpPr/>
          <p:nvPr/>
        </p:nvSpPr>
        <p:spPr>
          <a:xfrm>
            <a:off x="152400" y="4457769"/>
            <a:ext cx="1700995"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800" b="1">
                <a:solidFill>
                  <a:schemeClr val="bg1"/>
                </a:solidFill>
                <a:latin typeface="Encode Sans Condensed" pitchFamily="2" charset="0"/>
                <a:cs typeface="Arial" panose="020B0604020202020204" pitchFamily="34" charset="0"/>
              </a:rPr>
              <a:t>Substitute SaaS Application for future in market</a:t>
            </a:r>
            <a:endParaRPr kumimoji="0" sz="800" b="1" i="0" u="none" strike="noStrike" kern="0" cap="none" spc="0" normalizeH="0" baseline="0" noProof="0">
              <a:ln>
                <a:noFill/>
              </a:ln>
              <a:solidFill>
                <a:schemeClr val="bg1"/>
              </a:solidFill>
              <a:effectLst/>
              <a:uLnTx/>
              <a:uFillTx/>
              <a:latin typeface="Encode Sans Condensed" pitchFamily="2" charset="0"/>
              <a:cs typeface="Arial" panose="020B0604020202020204" pitchFamily="34" charset="0"/>
            </a:endParaRPr>
          </a:p>
        </p:txBody>
      </p:sp>
      <p:sp>
        <p:nvSpPr>
          <p:cNvPr id="88" name="Google Shape;296;p33">
            <a:extLst>
              <a:ext uri="{FF2B5EF4-FFF2-40B4-BE49-F238E27FC236}">
                <a16:creationId xmlns:a16="http://schemas.microsoft.com/office/drawing/2014/main" id="{D8F394E9-B4E1-14B9-D60C-2028CF574733}"/>
              </a:ext>
            </a:extLst>
          </p:cNvPr>
          <p:cNvSpPr/>
          <p:nvPr/>
        </p:nvSpPr>
        <p:spPr>
          <a:xfrm>
            <a:off x="1824485" y="4109276"/>
            <a:ext cx="2672077" cy="336138"/>
          </a:xfrm>
          <a:prstGeom prst="rect">
            <a:avLst/>
          </a:prstGeom>
          <a:noFill/>
          <a:ln>
            <a:noFill/>
          </a:ln>
        </p:spPr>
        <p:txBody>
          <a:bodyPr spcFirstLastPara="1" wrap="square" lIns="98150" tIns="49075" rIns="98150" bIns="49075" anchor="ctr" anchorCtr="0">
            <a:noAutofit/>
          </a:bodyPr>
          <a:lstStyle/>
          <a:p>
            <a:endParaRPr lang="en-GB" sz="800">
              <a:solidFill>
                <a:srgbClr val="7F7F7F"/>
              </a:solidFill>
              <a:latin typeface="Encode Sans Condensed" pitchFamily="2" charset="0"/>
              <a:cs typeface="Arial" panose="020B0604020202020204" pitchFamily="34" charset="0"/>
            </a:endParaRPr>
          </a:p>
        </p:txBody>
      </p:sp>
      <p:sp>
        <p:nvSpPr>
          <p:cNvPr id="89" name="Google Shape;296;p33">
            <a:extLst>
              <a:ext uri="{FF2B5EF4-FFF2-40B4-BE49-F238E27FC236}">
                <a16:creationId xmlns:a16="http://schemas.microsoft.com/office/drawing/2014/main" id="{5255B91B-1562-268B-D38A-F7EC76E85376}"/>
              </a:ext>
            </a:extLst>
          </p:cNvPr>
          <p:cNvSpPr/>
          <p:nvPr/>
        </p:nvSpPr>
        <p:spPr>
          <a:xfrm>
            <a:off x="1814798" y="4129061"/>
            <a:ext cx="2672077" cy="336138"/>
          </a:xfrm>
          <a:prstGeom prst="rect">
            <a:avLst/>
          </a:prstGeom>
          <a:noFill/>
          <a:ln>
            <a:noFill/>
          </a:ln>
        </p:spPr>
        <p:txBody>
          <a:bodyPr spcFirstLastPara="1" wrap="square" lIns="98150" tIns="49075" rIns="98150" bIns="49075" anchor="ctr" anchorCtr="0">
            <a:noAutofit/>
          </a:bodyPr>
          <a:lstStyle/>
          <a:p>
            <a:endParaRPr lang="en-GB" sz="800">
              <a:latin typeface="Encode Sans Condensed" pitchFamily="2" charset="0"/>
            </a:endParaRPr>
          </a:p>
        </p:txBody>
      </p:sp>
      <p:sp>
        <p:nvSpPr>
          <p:cNvPr id="90" name="Google Shape;296;p33">
            <a:extLst>
              <a:ext uri="{FF2B5EF4-FFF2-40B4-BE49-F238E27FC236}">
                <a16:creationId xmlns:a16="http://schemas.microsoft.com/office/drawing/2014/main" id="{78232739-2318-7F33-56AB-56CC3ACB01D2}"/>
              </a:ext>
            </a:extLst>
          </p:cNvPr>
          <p:cNvSpPr/>
          <p:nvPr/>
        </p:nvSpPr>
        <p:spPr>
          <a:xfrm>
            <a:off x="1853146" y="4456620"/>
            <a:ext cx="2736000" cy="277200"/>
          </a:xfrm>
          <a:prstGeom prst="rect">
            <a:avLst/>
          </a:prstGeom>
          <a:noFill/>
          <a:ln>
            <a:noFill/>
          </a:ln>
        </p:spPr>
        <p:txBody>
          <a:bodyPr spcFirstLastPara="1" wrap="square" lIns="98150" tIns="49075" rIns="98150" bIns="49075" anchor="ctr" anchorCtr="0">
            <a:noAutofit/>
          </a:bodyPr>
          <a:lstStyle/>
          <a:p>
            <a:r>
              <a:rPr lang="en-GB" sz="800" b="1">
                <a:solidFill>
                  <a:schemeClr val="bg1">
                    <a:lumMod val="50000"/>
                  </a:schemeClr>
                </a:solidFill>
                <a:latin typeface="Encode Sans Condensed" pitchFamily="2" charset="0"/>
              </a:rPr>
              <a:t>Provide the name of substitute application … </a:t>
            </a:r>
            <a:endParaRPr lang="en-GB" sz="800">
              <a:solidFill>
                <a:schemeClr val="bg1">
                  <a:lumMod val="50000"/>
                </a:schemeClr>
              </a:solidFill>
              <a:latin typeface="Encode Sans Condensed" pitchFamily="2" charset="0"/>
            </a:endParaRPr>
          </a:p>
        </p:txBody>
      </p:sp>
      <p:sp>
        <p:nvSpPr>
          <p:cNvPr id="92" name="Google Shape;296;p33">
            <a:extLst>
              <a:ext uri="{FF2B5EF4-FFF2-40B4-BE49-F238E27FC236}">
                <a16:creationId xmlns:a16="http://schemas.microsoft.com/office/drawing/2014/main" id="{08A6A41F-B82E-B96F-94B1-340137E369B4}"/>
              </a:ext>
            </a:extLst>
          </p:cNvPr>
          <p:cNvSpPr/>
          <p:nvPr/>
        </p:nvSpPr>
        <p:spPr>
          <a:xfrm>
            <a:off x="6323975" y="2475125"/>
            <a:ext cx="2736000" cy="277200"/>
          </a:xfrm>
          <a:prstGeom prst="rect">
            <a:avLst/>
          </a:prstGeom>
          <a:noFill/>
          <a:ln>
            <a:noFill/>
          </a:ln>
        </p:spPr>
        <p:txBody>
          <a:bodyPr spcFirstLastPara="1" wrap="square" lIns="98150" tIns="49075" rIns="98150" bIns="49075" anchor="ctr" anchorCtr="0">
            <a:noAutofit/>
          </a:bodyPr>
          <a:lstStyle/>
          <a:p>
            <a:r>
              <a:rPr lang="en-GB" sz="800" b="1">
                <a:solidFill>
                  <a:srgbClr val="7F7F7F"/>
                </a:solidFill>
                <a:latin typeface="Encode Sans Condensed" pitchFamily="2" charset="0"/>
              </a:rPr>
              <a:t>Yes/No … </a:t>
            </a:r>
            <a:r>
              <a:rPr lang="en-GB" sz="800" b="1">
                <a:solidFill>
                  <a:schemeClr val="bg1">
                    <a:lumMod val="50000"/>
                  </a:schemeClr>
                </a:solidFill>
                <a:highlight>
                  <a:srgbClr val="FFFF00"/>
                </a:highlight>
                <a:latin typeface="Encode Sans Condensed" pitchFamily="2" charset="0"/>
              </a:rPr>
              <a:t>choose one </a:t>
            </a:r>
            <a:endParaRPr lang="en-GB" sz="800">
              <a:solidFill>
                <a:srgbClr val="7F7F7F"/>
              </a:solidFill>
              <a:latin typeface="Encode Sans Condensed" pitchFamily="2" charset="0"/>
            </a:endParaRPr>
          </a:p>
        </p:txBody>
      </p:sp>
      <p:sp>
        <p:nvSpPr>
          <p:cNvPr id="2" name="Google Shape;250;p33">
            <a:extLst>
              <a:ext uri="{FF2B5EF4-FFF2-40B4-BE49-F238E27FC236}">
                <a16:creationId xmlns:a16="http://schemas.microsoft.com/office/drawing/2014/main" id="{BF2DA735-AAFA-B143-AA22-06DD3329CE27}"/>
              </a:ext>
            </a:extLst>
          </p:cNvPr>
          <p:cNvSpPr/>
          <p:nvPr/>
        </p:nvSpPr>
        <p:spPr>
          <a:xfrm>
            <a:off x="4619766" y="634296"/>
            <a:ext cx="2988000" cy="277200"/>
          </a:xfrm>
          <a:prstGeom prst="round2SameRect">
            <a:avLst>
              <a:gd name="adj1" fmla="val 16667"/>
              <a:gd name="adj2" fmla="val 0"/>
            </a:avLst>
          </a:prstGeom>
          <a:solidFill>
            <a:schemeClr val="accent1">
              <a:lumMod val="60000"/>
              <a:lumOff val="40000"/>
            </a:schemeClr>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1100" b="1" i="0" u="none" strike="noStrike" kern="0" cap="none" spc="0" normalizeH="0" baseline="0" noProof="0">
                <a:ln>
                  <a:noFill/>
                </a:ln>
                <a:solidFill>
                  <a:schemeClr val="bg1"/>
                </a:solidFill>
                <a:effectLst/>
                <a:uLnTx/>
                <a:uFillTx/>
                <a:latin typeface="Encode Sans Condensed" pitchFamily="2" charset="0"/>
              </a:rPr>
              <a:t>Contract</a:t>
            </a:r>
            <a:r>
              <a:rPr lang="en-GB" sz="1100" b="1">
                <a:solidFill>
                  <a:schemeClr val="bg1"/>
                </a:solidFill>
                <a:latin typeface="Encode Sans Condensed" pitchFamily="2" charset="0"/>
              </a:rPr>
              <a:t> Management</a:t>
            </a:r>
            <a:endParaRPr kumimoji="0" sz="1100" b="1" i="0" u="none" strike="noStrike" kern="0" cap="none" spc="0" normalizeH="0" baseline="0" noProof="0">
              <a:ln>
                <a:noFill/>
              </a:ln>
              <a:solidFill>
                <a:schemeClr val="bg1"/>
              </a:solidFill>
              <a:effectLst/>
              <a:uLnTx/>
              <a:uFillTx/>
              <a:latin typeface="Encode Sans Condensed" pitchFamily="2" charset="0"/>
            </a:endParaRPr>
          </a:p>
        </p:txBody>
      </p:sp>
      <p:sp>
        <p:nvSpPr>
          <p:cNvPr id="5" name="Google Shape;250;p33">
            <a:extLst>
              <a:ext uri="{FF2B5EF4-FFF2-40B4-BE49-F238E27FC236}">
                <a16:creationId xmlns:a16="http://schemas.microsoft.com/office/drawing/2014/main" id="{08EC73B6-585A-5C2F-32FA-3F035C386928}"/>
              </a:ext>
            </a:extLst>
          </p:cNvPr>
          <p:cNvSpPr/>
          <p:nvPr/>
        </p:nvSpPr>
        <p:spPr>
          <a:xfrm>
            <a:off x="152400" y="639479"/>
            <a:ext cx="2988000" cy="277200"/>
          </a:xfrm>
          <a:prstGeom prst="round2SameRect">
            <a:avLst>
              <a:gd name="adj1" fmla="val 16667"/>
              <a:gd name="adj2" fmla="val 0"/>
            </a:avLst>
          </a:prstGeom>
          <a:solidFill>
            <a:schemeClr val="accent1">
              <a:lumMod val="60000"/>
              <a:lumOff val="40000"/>
            </a:schemeClr>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1100" b="1" i="0" u="none" strike="noStrike" kern="0" cap="none" spc="0" normalizeH="0" baseline="0" noProof="0">
                <a:ln>
                  <a:noFill/>
                </a:ln>
                <a:solidFill>
                  <a:schemeClr val="bg1"/>
                </a:solidFill>
                <a:effectLst/>
                <a:uLnTx/>
                <a:uFillTx/>
                <a:latin typeface="Encode Sans Condensed" pitchFamily="2" charset="0"/>
              </a:rPr>
              <a:t>SaaS application specific questions</a:t>
            </a:r>
            <a:endParaRPr kumimoji="0" sz="1100" b="1" i="0" u="none" strike="noStrike" kern="0" cap="none" spc="0" normalizeH="0" baseline="0" noProof="0">
              <a:ln>
                <a:noFill/>
              </a:ln>
              <a:solidFill>
                <a:schemeClr val="bg1"/>
              </a:solidFill>
              <a:effectLst/>
              <a:uLnTx/>
              <a:uFillTx/>
              <a:latin typeface="Encode Sans Condensed" pitchFamily="2" charset="0"/>
            </a:endParaRPr>
          </a:p>
        </p:txBody>
      </p:sp>
      <p:sp>
        <p:nvSpPr>
          <p:cNvPr id="6" name="Google Shape;250;p33">
            <a:extLst>
              <a:ext uri="{FF2B5EF4-FFF2-40B4-BE49-F238E27FC236}">
                <a16:creationId xmlns:a16="http://schemas.microsoft.com/office/drawing/2014/main" id="{5788EA17-E513-2E0F-963A-D6D25D4F94CF}"/>
              </a:ext>
            </a:extLst>
          </p:cNvPr>
          <p:cNvSpPr/>
          <p:nvPr/>
        </p:nvSpPr>
        <p:spPr>
          <a:xfrm>
            <a:off x="133101" y="2228196"/>
            <a:ext cx="2988000" cy="277200"/>
          </a:xfrm>
          <a:prstGeom prst="round2SameRect">
            <a:avLst>
              <a:gd name="adj1" fmla="val 16667"/>
              <a:gd name="adj2" fmla="val 0"/>
            </a:avLst>
          </a:prstGeom>
          <a:solidFill>
            <a:schemeClr val="accent1">
              <a:lumMod val="60000"/>
              <a:lumOff val="40000"/>
            </a:schemeClr>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1100" b="1" i="0" u="none" strike="noStrike" kern="0" cap="none" spc="0" normalizeH="0" baseline="0" noProof="0">
                <a:ln>
                  <a:noFill/>
                </a:ln>
                <a:solidFill>
                  <a:schemeClr val="bg1"/>
                </a:solidFill>
                <a:effectLst/>
                <a:uLnTx/>
                <a:uFillTx/>
                <a:latin typeface="Encode Sans Condensed" pitchFamily="2" charset="0"/>
              </a:rPr>
              <a:t>SaaS Application Exit Readiness questions</a:t>
            </a:r>
            <a:endParaRPr kumimoji="0" sz="1100" b="1" i="0" u="none" strike="noStrike" kern="0" cap="none" spc="0" normalizeH="0" baseline="0" noProof="0">
              <a:ln>
                <a:noFill/>
              </a:ln>
              <a:solidFill>
                <a:schemeClr val="bg1"/>
              </a:solidFill>
              <a:effectLst/>
              <a:uLnTx/>
              <a:uFillTx/>
              <a:latin typeface="Encode Sans Condensed" pitchFamily="2" charset="0"/>
            </a:endParaRPr>
          </a:p>
        </p:txBody>
      </p:sp>
    </p:spTree>
    <p:extLst>
      <p:ext uri="{BB962C8B-B14F-4D97-AF65-F5344CB8AC3E}">
        <p14:creationId xmlns:p14="http://schemas.microsoft.com/office/powerpoint/2010/main" val="2712383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26CAC4C-CACA-0478-67AB-57938D9A574C}"/>
              </a:ext>
            </a:extLst>
          </p:cNvPr>
          <p:cNvSpPr>
            <a:spLocks noGrp="1"/>
          </p:cNvSpPr>
          <p:nvPr>
            <p:ph type="title" idx="4"/>
          </p:nvPr>
        </p:nvSpPr>
        <p:spPr>
          <a:xfrm>
            <a:off x="0" y="5053084"/>
            <a:ext cx="8846286" cy="45719"/>
          </a:xfrm>
        </p:spPr>
        <p:txBody>
          <a:bodyPr/>
          <a:lstStyle/>
          <a:p>
            <a:r>
              <a:rPr lang="en-GB" sz="800" b="0">
                <a:solidFill>
                  <a:srgbClr val="FF0000"/>
                </a:solidFill>
                <a:latin typeface="Encode Sans Condensed" pitchFamily="2" charset="0"/>
              </a:rPr>
              <a:t>* </a:t>
            </a:r>
            <a:r>
              <a:rPr lang="en-GB" sz="800">
                <a:solidFill>
                  <a:srgbClr val="FF0000"/>
                </a:solidFill>
                <a:latin typeface="Encode Sans Condensed" pitchFamily="2" charset="0"/>
              </a:rPr>
              <a:t>To minimize risks of lock-in, the mentioned services should be avoided for critical workloads whenever possible.</a:t>
            </a:r>
            <a:br>
              <a:rPr lang="en-GB" sz="800">
                <a:solidFill>
                  <a:srgbClr val="FF0000"/>
                </a:solidFill>
                <a:latin typeface="Encode Sans Condensed" pitchFamily="2" charset="0"/>
              </a:rPr>
            </a:br>
            <a:endParaRPr lang="en-GB" sz="800" b="0">
              <a:solidFill>
                <a:srgbClr val="FF0000"/>
              </a:solidFill>
              <a:latin typeface="Encode Sans Condensed" pitchFamily="2" charset="0"/>
            </a:endParaRPr>
          </a:p>
        </p:txBody>
      </p:sp>
      <p:sp>
        <p:nvSpPr>
          <p:cNvPr id="68" name="Google Shape;296;p33">
            <a:extLst>
              <a:ext uri="{FF2B5EF4-FFF2-40B4-BE49-F238E27FC236}">
                <a16:creationId xmlns:a16="http://schemas.microsoft.com/office/drawing/2014/main" id="{03EA508A-6AE6-4C8B-0A19-431688DBA2AC}"/>
              </a:ext>
            </a:extLst>
          </p:cNvPr>
          <p:cNvSpPr/>
          <p:nvPr/>
        </p:nvSpPr>
        <p:spPr>
          <a:xfrm>
            <a:off x="2059799" y="1260216"/>
            <a:ext cx="2412000" cy="277200"/>
          </a:xfrm>
          <a:prstGeom prst="rect">
            <a:avLst/>
          </a:prstGeom>
          <a:noFill/>
          <a:ln>
            <a:noFill/>
          </a:ln>
        </p:spPr>
        <p:txBody>
          <a:bodyPr spcFirstLastPara="1" wrap="square" lIns="36000" tIns="36000" rIns="36000" bIns="36000" anchor="ctr" anchorCtr="0">
            <a:noAutofit/>
          </a:bodyPr>
          <a:lstStyle/>
          <a:p>
            <a:r>
              <a:rPr lang="en-GB" sz="800" b="1">
                <a:solidFill>
                  <a:srgbClr val="7F7F7F"/>
                </a:solidFill>
                <a:latin typeface="Encode Sans Condensed" pitchFamily="2" charset="0"/>
              </a:rPr>
              <a:t>Yes/No … </a:t>
            </a:r>
            <a:r>
              <a:rPr lang="en-GB" sz="800" b="1">
                <a:solidFill>
                  <a:schemeClr val="bg1">
                    <a:lumMod val="50000"/>
                  </a:schemeClr>
                </a:solidFill>
                <a:highlight>
                  <a:srgbClr val="FFFF00"/>
                </a:highlight>
                <a:latin typeface="Encode Sans Condensed" pitchFamily="2" charset="0"/>
              </a:rPr>
              <a:t>choose one </a:t>
            </a:r>
            <a:endParaRPr lang="en-GB" sz="800">
              <a:solidFill>
                <a:srgbClr val="7F7F7F"/>
              </a:solidFill>
              <a:latin typeface="Encode Sans Condensed" pitchFamily="2" charset="0"/>
            </a:endParaRPr>
          </a:p>
        </p:txBody>
      </p:sp>
      <p:sp>
        <p:nvSpPr>
          <p:cNvPr id="69" name="Google Shape;296;p33">
            <a:extLst>
              <a:ext uri="{FF2B5EF4-FFF2-40B4-BE49-F238E27FC236}">
                <a16:creationId xmlns:a16="http://schemas.microsoft.com/office/drawing/2014/main" id="{A18ED1A5-1DAE-E6DE-845F-BE9EEC29FE3D}"/>
              </a:ext>
            </a:extLst>
          </p:cNvPr>
          <p:cNvSpPr/>
          <p:nvPr/>
        </p:nvSpPr>
        <p:spPr>
          <a:xfrm>
            <a:off x="2059799" y="959094"/>
            <a:ext cx="2412000" cy="277200"/>
          </a:xfrm>
          <a:prstGeom prst="rect">
            <a:avLst/>
          </a:prstGeom>
          <a:noFill/>
          <a:ln>
            <a:noFill/>
          </a:ln>
        </p:spPr>
        <p:txBody>
          <a:bodyPr spcFirstLastPara="1" wrap="square" lIns="36000" tIns="36000" rIns="36000" bIns="36000" anchor="ctr" anchorCtr="0">
            <a:noAutofit/>
          </a:bodyPr>
          <a:lstStyle/>
          <a:p>
            <a:r>
              <a:rPr lang="en-GB" sz="800" b="1">
                <a:solidFill>
                  <a:srgbClr val="7F7F7F"/>
                </a:solidFill>
                <a:latin typeface="Encode Sans Condensed" pitchFamily="2" charset="0"/>
              </a:rPr>
              <a:t>Yes/No … </a:t>
            </a:r>
            <a:r>
              <a:rPr lang="en-GB" sz="800" b="1">
                <a:solidFill>
                  <a:srgbClr val="7F7F7F"/>
                </a:solidFill>
                <a:highlight>
                  <a:srgbClr val="FFFF00"/>
                </a:highlight>
                <a:latin typeface="Encode Sans Condensed" pitchFamily="2" charset="0"/>
              </a:rPr>
              <a:t>choose one</a:t>
            </a:r>
            <a:endParaRPr lang="en-GB" sz="800">
              <a:solidFill>
                <a:srgbClr val="7F7F7F"/>
              </a:solidFill>
              <a:highlight>
                <a:srgbClr val="FFFF00"/>
              </a:highlight>
              <a:latin typeface="Encode Sans Condensed" pitchFamily="2" charset="0"/>
            </a:endParaRPr>
          </a:p>
        </p:txBody>
      </p:sp>
      <p:sp>
        <p:nvSpPr>
          <p:cNvPr id="72" name="Google Shape;250;p33">
            <a:extLst>
              <a:ext uri="{FF2B5EF4-FFF2-40B4-BE49-F238E27FC236}">
                <a16:creationId xmlns:a16="http://schemas.microsoft.com/office/drawing/2014/main" id="{8D6A93F1-66B4-EF18-0AD0-24C382F0EC7E}"/>
              </a:ext>
            </a:extLst>
          </p:cNvPr>
          <p:cNvSpPr/>
          <p:nvPr/>
        </p:nvSpPr>
        <p:spPr>
          <a:xfrm>
            <a:off x="43799" y="959094"/>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lang="en-GB" sz="800" b="1">
                <a:solidFill>
                  <a:schemeClr val="bg1"/>
                </a:solidFill>
                <a:latin typeface="Encode Sans Condensed" pitchFamily="2" charset="0"/>
              </a:rPr>
              <a:t>Is exit plan ready in contract (for Vendor)</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73" name="Google Shape;250;p33">
            <a:extLst>
              <a:ext uri="{FF2B5EF4-FFF2-40B4-BE49-F238E27FC236}">
                <a16:creationId xmlns:a16="http://schemas.microsoft.com/office/drawing/2014/main" id="{65C50382-1EF3-65E6-3B6C-C82AF7EEB7EA}"/>
              </a:ext>
            </a:extLst>
          </p:cNvPr>
          <p:cNvSpPr/>
          <p:nvPr/>
        </p:nvSpPr>
        <p:spPr>
          <a:xfrm>
            <a:off x="43799" y="1260216"/>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Does contract cover support during Exit</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75" name="Google Shape;250;p33">
            <a:extLst>
              <a:ext uri="{FF2B5EF4-FFF2-40B4-BE49-F238E27FC236}">
                <a16:creationId xmlns:a16="http://schemas.microsoft.com/office/drawing/2014/main" id="{11117BD5-E1D6-76E6-AE10-8F1F5431884E}"/>
              </a:ext>
            </a:extLst>
          </p:cNvPr>
          <p:cNvSpPr/>
          <p:nvPr/>
        </p:nvSpPr>
        <p:spPr>
          <a:xfrm>
            <a:off x="43799" y="2765826"/>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lang="en-GB" sz="800" b="1">
                <a:solidFill>
                  <a:schemeClr val="bg1"/>
                </a:solidFill>
                <a:latin typeface="Encode Sans Condensed" pitchFamily="2" charset="0"/>
              </a:rPr>
              <a:t>Exit Readiness Level </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79" name="Google Shape;250;p33">
            <a:extLst>
              <a:ext uri="{FF2B5EF4-FFF2-40B4-BE49-F238E27FC236}">
                <a16:creationId xmlns:a16="http://schemas.microsoft.com/office/drawing/2014/main" id="{C1A509C5-E9E4-BD45-09CE-21C3970B3BBD}"/>
              </a:ext>
            </a:extLst>
          </p:cNvPr>
          <p:cNvSpPr/>
          <p:nvPr/>
        </p:nvSpPr>
        <p:spPr>
          <a:xfrm>
            <a:off x="43799" y="4572558"/>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Estimated cost of Exit </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80" name="Google Shape;250;p33">
            <a:extLst>
              <a:ext uri="{FF2B5EF4-FFF2-40B4-BE49-F238E27FC236}">
                <a16:creationId xmlns:a16="http://schemas.microsoft.com/office/drawing/2014/main" id="{81B86BBB-C99E-BEAD-8AB9-46F4644F1180}"/>
              </a:ext>
            </a:extLst>
          </p:cNvPr>
          <p:cNvSpPr/>
          <p:nvPr/>
        </p:nvSpPr>
        <p:spPr>
          <a:xfrm>
            <a:off x="43799" y="3066948"/>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SFS Exit strategy and AWS exit plan </a:t>
            </a:r>
            <a:r>
              <a:rPr kumimoji="0" lang="en-GB" sz="800" b="1" i="0" u="none" strike="noStrike" kern="0" cap="none" spc="0" normalizeH="0" baseline="0" noProof="0" err="1">
                <a:ln>
                  <a:noFill/>
                </a:ln>
                <a:solidFill>
                  <a:schemeClr val="bg1"/>
                </a:solidFill>
                <a:effectLst/>
                <a:uLnTx/>
                <a:uFillTx/>
                <a:latin typeface="Encode Sans Condensed" pitchFamily="2" charset="0"/>
              </a:rPr>
              <a:t>reviewd</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81" name="Google Shape;250;p33">
            <a:extLst>
              <a:ext uri="{FF2B5EF4-FFF2-40B4-BE49-F238E27FC236}">
                <a16:creationId xmlns:a16="http://schemas.microsoft.com/office/drawing/2014/main" id="{E5DC4680-2BD9-FB7E-43F0-0A582E1A6B04}"/>
              </a:ext>
            </a:extLst>
          </p:cNvPr>
          <p:cNvSpPr/>
          <p:nvPr/>
        </p:nvSpPr>
        <p:spPr>
          <a:xfrm>
            <a:off x="43799" y="2464704"/>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Exit trigger likelihood – that project wants to exit CSP</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82" name="Google Shape;250;p33">
            <a:extLst>
              <a:ext uri="{FF2B5EF4-FFF2-40B4-BE49-F238E27FC236}">
                <a16:creationId xmlns:a16="http://schemas.microsoft.com/office/drawing/2014/main" id="{F826F29D-B2C6-AB7E-F2F2-D7976759EDC2}"/>
              </a:ext>
            </a:extLst>
          </p:cNvPr>
          <p:cNvSpPr/>
          <p:nvPr/>
        </p:nvSpPr>
        <p:spPr>
          <a:xfrm>
            <a:off x="43799" y="2163582"/>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Kind of exit test planned</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83" name="Google Shape;250;p33">
            <a:extLst>
              <a:ext uri="{FF2B5EF4-FFF2-40B4-BE49-F238E27FC236}">
                <a16:creationId xmlns:a16="http://schemas.microsoft.com/office/drawing/2014/main" id="{182889EE-5103-6547-4C36-E4B3E7BD40C3}"/>
              </a:ext>
            </a:extLst>
          </p:cNvPr>
          <p:cNvSpPr/>
          <p:nvPr/>
        </p:nvSpPr>
        <p:spPr>
          <a:xfrm>
            <a:off x="43799" y="3970314"/>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Estimated cost of exit plan testing</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84" name="Google Shape;250;p33">
            <a:extLst>
              <a:ext uri="{FF2B5EF4-FFF2-40B4-BE49-F238E27FC236}">
                <a16:creationId xmlns:a16="http://schemas.microsoft.com/office/drawing/2014/main" id="{5C559409-6369-4019-EEB4-5B3BBCFE31E4}"/>
              </a:ext>
            </a:extLst>
          </p:cNvPr>
          <p:cNvSpPr/>
          <p:nvPr/>
        </p:nvSpPr>
        <p:spPr>
          <a:xfrm>
            <a:off x="43799" y="4271436"/>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Exit Plan regular testing planned </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85" name="Google Shape;296;p33">
            <a:extLst>
              <a:ext uri="{FF2B5EF4-FFF2-40B4-BE49-F238E27FC236}">
                <a16:creationId xmlns:a16="http://schemas.microsoft.com/office/drawing/2014/main" id="{683301E5-5E27-EEB7-83D4-4B62DB17B4A4}"/>
              </a:ext>
            </a:extLst>
          </p:cNvPr>
          <p:cNvSpPr/>
          <p:nvPr/>
        </p:nvSpPr>
        <p:spPr>
          <a:xfrm>
            <a:off x="2059799" y="2765826"/>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Prepared/Well prepared/Very well prepared/Not Prepared … </a:t>
            </a:r>
            <a:r>
              <a:rPr lang="en-GB" sz="800" b="1">
                <a:solidFill>
                  <a:schemeClr val="bg1">
                    <a:lumMod val="50000"/>
                  </a:schemeClr>
                </a:solidFill>
                <a:highlight>
                  <a:srgbClr val="FFFF00"/>
                </a:highlight>
                <a:latin typeface="Encode Sans Condensed" pitchFamily="2" charset="0"/>
              </a:rPr>
              <a:t>choose one</a:t>
            </a:r>
          </a:p>
        </p:txBody>
      </p:sp>
      <p:sp>
        <p:nvSpPr>
          <p:cNvPr id="89" name="Google Shape;296;p33">
            <a:extLst>
              <a:ext uri="{FF2B5EF4-FFF2-40B4-BE49-F238E27FC236}">
                <a16:creationId xmlns:a16="http://schemas.microsoft.com/office/drawing/2014/main" id="{3DB789C2-3535-E928-D1A4-D1BCE5C024E1}"/>
              </a:ext>
            </a:extLst>
          </p:cNvPr>
          <p:cNvSpPr/>
          <p:nvPr/>
        </p:nvSpPr>
        <p:spPr>
          <a:xfrm>
            <a:off x="2059799" y="4572558"/>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cs typeface="Arial" panose="020B0604020202020204" pitchFamily="34" charset="0"/>
              </a:rPr>
              <a:t>&lt;10k EUR 10-100k EUR 100-500k EUR 500-1M EUR &gt;1M EUR ) … </a:t>
            </a:r>
            <a:r>
              <a:rPr lang="en-GB" sz="800" b="1">
                <a:solidFill>
                  <a:schemeClr val="bg1">
                    <a:lumMod val="50000"/>
                  </a:schemeClr>
                </a:solidFill>
                <a:highlight>
                  <a:srgbClr val="FFFF00"/>
                </a:highlight>
                <a:latin typeface="Encode Sans Condensed" pitchFamily="2" charset="0"/>
                <a:cs typeface="Arial" panose="020B0604020202020204" pitchFamily="34" charset="0"/>
              </a:rPr>
              <a:t>choose one</a:t>
            </a:r>
          </a:p>
        </p:txBody>
      </p:sp>
      <p:sp>
        <p:nvSpPr>
          <p:cNvPr id="90" name="Google Shape;296;p33">
            <a:extLst>
              <a:ext uri="{FF2B5EF4-FFF2-40B4-BE49-F238E27FC236}">
                <a16:creationId xmlns:a16="http://schemas.microsoft.com/office/drawing/2014/main" id="{46CA2AFD-BA0F-4297-D0A3-912C6221FEC0}"/>
              </a:ext>
            </a:extLst>
          </p:cNvPr>
          <p:cNvSpPr/>
          <p:nvPr/>
        </p:nvSpPr>
        <p:spPr>
          <a:xfrm>
            <a:off x="2059799" y="2464704"/>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Not likely (&gt;12 months) Likely (&lt;12 months) Very likely (&lt;6 months)   … </a:t>
            </a:r>
            <a:r>
              <a:rPr lang="en-GB" sz="800" b="1">
                <a:solidFill>
                  <a:schemeClr val="bg1">
                    <a:lumMod val="50000"/>
                  </a:schemeClr>
                </a:solidFill>
                <a:highlight>
                  <a:srgbClr val="FFFF00"/>
                </a:highlight>
                <a:latin typeface="Encode Sans Condensed" pitchFamily="2" charset="0"/>
              </a:rPr>
              <a:t>choose one</a:t>
            </a:r>
          </a:p>
        </p:txBody>
      </p:sp>
      <p:sp>
        <p:nvSpPr>
          <p:cNvPr id="91" name="Google Shape;296;p33">
            <a:extLst>
              <a:ext uri="{FF2B5EF4-FFF2-40B4-BE49-F238E27FC236}">
                <a16:creationId xmlns:a16="http://schemas.microsoft.com/office/drawing/2014/main" id="{A5EDAC7B-DC8F-D4E0-1D73-7BA8603FB3A7}"/>
              </a:ext>
            </a:extLst>
          </p:cNvPr>
          <p:cNvSpPr/>
          <p:nvPr/>
        </p:nvSpPr>
        <p:spPr>
          <a:xfrm>
            <a:off x="2059799" y="2163582"/>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Table-top/Data-export /Load/Simulation/not sure now – Data(export, input, access, recovery … </a:t>
            </a:r>
            <a:r>
              <a:rPr lang="en-GB" sz="800" b="1">
                <a:solidFill>
                  <a:schemeClr val="bg1">
                    <a:lumMod val="50000"/>
                  </a:schemeClr>
                </a:solidFill>
                <a:highlight>
                  <a:srgbClr val="FFFF00"/>
                </a:highlight>
                <a:latin typeface="Encode Sans Condensed" pitchFamily="2" charset="0"/>
              </a:rPr>
              <a:t>choose one</a:t>
            </a:r>
          </a:p>
        </p:txBody>
      </p:sp>
      <p:sp>
        <p:nvSpPr>
          <p:cNvPr id="92" name="Google Shape;296;p33">
            <a:extLst>
              <a:ext uri="{FF2B5EF4-FFF2-40B4-BE49-F238E27FC236}">
                <a16:creationId xmlns:a16="http://schemas.microsoft.com/office/drawing/2014/main" id="{7FF49DA3-A527-9B15-2BC4-1158F5784F6B}"/>
              </a:ext>
            </a:extLst>
          </p:cNvPr>
          <p:cNvSpPr/>
          <p:nvPr/>
        </p:nvSpPr>
        <p:spPr>
          <a:xfrm>
            <a:off x="2059799" y="3970314"/>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Provide the cost for exit plan testing …</a:t>
            </a:r>
            <a:endParaRPr lang="en-GB" sz="800">
              <a:solidFill>
                <a:schemeClr val="bg1">
                  <a:lumMod val="50000"/>
                </a:schemeClr>
              </a:solidFill>
              <a:latin typeface="Encode Sans Condensed" pitchFamily="2" charset="0"/>
            </a:endParaRPr>
          </a:p>
        </p:txBody>
      </p:sp>
      <p:sp>
        <p:nvSpPr>
          <p:cNvPr id="93" name="Google Shape;296;p33">
            <a:extLst>
              <a:ext uri="{FF2B5EF4-FFF2-40B4-BE49-F238E27FC236}">
                <a16:creationId xmlns:a16="http://schemas.microsoft.com/office/drawing/2014/main" id="{10B304B1-40DA-9CF0-CBE0-175924E3BB17}"/>
              </a:ext>
            </a:extLst>
          </p:cNvPr>
          <p:cNvSpPr/>
          <p:nvPr/>
        </p:nvSpPr>
        <p:spPr>
          <a:xfrm>
            <a:off x="2059799" y="4271436"/>
            <a:ext cx="2412000" cy="277200"/>
          </a:xfrm>
          <a:prstGeom prst="rect">
            <a:avLst/>
          </a:prstGeom>
          <a:noFill/>
          <a:ln>
            <a:noFill/>
          </a:ln>
        </p:spPr>
        <p:txBody>
          <a:bodyPr spcFirstLastPara="1" wrap="square" lIns="36000" tIns="36000" rIns="36000" bIns="36000" anchor="ctr" anchorCtr="0">
            <a:noAutofit/>
          </a:bodyPr>
          <a:lstStyle/>
          <a:p>
            <a:r>
              <a:rPr lang="en-GB" sz="800" b="1">
                <a:solidFill>
                  <a:srgbClr val="7F7F7F"/>
                </a:solidFill>
                <a:latin typeface="Encode Sans Condensed" pitchFamily="2" charset="0"/>
              </a:rPr>
              <a:t>Provide frequency of exit test plan …</a:t>
            </a:r>
            <a:endParaRPr lang="en-GB" sz="800">
              <a:solidFill>
                <a:srgbClr val="7F7F7F"/>
              </a:solidFill>
              <a:latin typeface="Encode Sans Condensed" pitchFamily="2" charset="0"/>
            </a:endParaRPr>
          </a:p>
        </p:txBody>
      </p:sp>
      <p:sp>
        <p:nvSpPr>
          <p:cNvPr id="94" name="Google Shape;250;p33">
            <a:extLst>
              <a:ext uri="{FF2B5EF4-FFF2-40B4-BE49-F238E27FC236}">
                <a16:creationId xmlns:a16="http://schemas.microsoft.com/office/drawing/2014/main" id="{E332968B-2DEC-9243-3A71-A6FD683A6AB8}"/>
              </a:ext>
            </a:extLst>
          </p:cNvPr>
          <p:cNvSpPr/>
          <p:nvPr/>
        </p:nvSpPr>
        <p:spPr>
          <a:xfrm>
            <a:off x="43799" y="3367322"/>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lang="en-GB" sz="800" b="1">
                <a:solidFill>
                  <a:schemeClr val="bg1"/>
                </a:solidFill>
                <a:latin typeface="Encode Sans Condensed" pitchFamily="2" charset="0"/>
              </a:rPr>
              <a:t>Exit Strategy Options Planned</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95" name="Google Shape;296;p33">
            <a:extLst>
              <a:ext uri="{FF2B5EF4-FFF2-40B4-BE49-F238E27FC236}">
                <a16:creationId xmlns:a16="http://schemas.microsoft.com/office/drawing/2014/main" id="{2B765379-FA34-317F-A3B1-2F37EFDC994B}"/>
              </a:ext>
            </a:extLst>
          </p:cNvPr>
          <p:cNvSpPr/>
          <p:nvPr/>
        </p:nvSpPr>
        <p:spPr>
          <a:xfrm>
            <a:off x="2059799" y="3367322"/>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Stop providing the services/Do it ourselves again (in-sourcing)/Migrate to another service provider/ Otherwise … </a:t>
            </a:r>
            <a:r>
              <a:rPr lang="en-GB" sz="800" b="1">
                <a:solidFill>
                  <a:schemeClr val="bg1">
                    <a:lumMod val="50000"/>
                  </a:schemeClr>
                </a:solidFill>
                <a:highlight>
                  <a:srgbClr val="FFFF00"/>
                </a:highlight>
                <a:latin typeface="Encode Sans Condensed" pitchFamily="2" charset="0"/>
              </a:rPr>
              <a:t>choose one</a:t>
            </a:r>
          </a:p>
        </p:txBody>
      </p:sp>
      <p:sp>
        <p:nvSpPr>
          <p:cNvPr id="15" name="Google Shape;250;p33">
            <a:extLst>
              <a:ext uri="{FF2B5EF4-FFF2-40B4-BE49-F238E27FC236}">
                <a16:creationId xmlns:a16="http://schemas.microsoft.com/office/drawing/2014/main" id="{C634B474-9CAB-43E3-B57A-E2B8D188069F}"/>
              </a:ext>
            </a:extLst>
          </p:cNvPr>
          <p:cNvSpPr/>
          <p:nvPr/>
        </p:nvSpPr>
        <p:spPr>
          <a:xfrm>
            <a:off x="43799" y="1561338"/>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36000" tIns="36000" rIns="36000" bIns="36000" anchor="ctr" anchorCtr="0">
            <a:noAutofit/>
          </a:bodyPr>
          <a:lstStyle/>
          <a:p>
            <a:pPr lvl="0">
              <a:buClrTx/>
              <a:defRPr/>
            </a:pPr>
            <a:r>
              <a:rPr lang="en-GB" sz="800" b="1">
                <a:solidFill>
                  <a:schemeClr val="bg1"/>
                </a:solidFill>
                <a:latin typeface="Encode Sans Condensed" pitchFamily="2" charset="0"/>
              </a:rPr>
              <a:t>Does contract cover data retrieval, transition assistance, termination timelines?</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18" name="Google Shape;296;p33">
            <a:extLst>
              <a:ext uri="{FF2B5EF4-FFF2-40B4-BE49-F238E27FC236}">
                <a16:creationId xmlns:a16="http://schemas.microsoft.com/office/drawing/2014/main" id="{1253A363-BB7D-967B-C1BB-47FED2D181AA}"/>
              </a:ext>
            </a:extLst>
          </p:cNvPr>
          <p:cNvSpPr/>
          <p:nvPr/>
        </p:nvSpPr>
        <p:spPr>
          <a:xfrm>
            <a:off x="2059799" y="1561338"/>
            <a:ext cx="2412000" cy="277200"/>
          </a:xfrm>
          <a:prstGeom prst="rect">
            <a:avLst/>
          </a:prstGeom>
          <a:noFill/>
          <a:ln>
            <a:noFill/>
          </a:ln>
        </p:spPr>
        <p:txBody>
          <a:bodyPr spcFirstLastPara="1" wrap="square" lIns="36000" tIns="36000" rIns="36000" bIns="36000" anchor="ctr" anchorCtr="0">
            <a:noAutofit/>
          </a:bodyPr>
          <a:lstStyle/>
          <a:p>
            <a:r>
              <a:rPr lang="en-GB" sz="800" b="1">
                <a:solidFill>
                  <a:srgbClr val="7F7F7F"/>
                </a:solidFill>
                <a:latin typeface="Encode Sans Condensed" pitchFamily="2" charset="0"/>
              </a:rPr>
              <a:t>Yes/No … </a:t>
            </a:r>
            <a:r>
              <a:rPr lang="en-GB" sz="800" b="1">
                <a:solidFill>
                  <a:schemeClr val="bg1">
                    <a:lumMod val="50000"/>
                  </a:schemeClr>
                </a:solidFill>
                <a:highlight>
                  <a:srgbClr val="FFFF00"/>
                </a:highlight>
                <a:latin typeface="Encode Sans Condensed" pitchFamily="2" charset="0"/>
              </a:rPr>
              <a:t>choose one</a:t>
            </a:r>
            <a:endParaRPr lang="en-GB" sz="800">
              <a:solidFill>
                <a:srgbClr val="FF0000"/>
              </a:solidFill>
              <a:latin typeface="Encode Sans Condensed" pitchFamily="2" charset="0"/>
            </a:endParaRPr>
          </a:p>
        </p:txBody>
      </p:sp>
      <p:sp>
        <p:nvSpPr>
          <p:cNvPr id="27" name="Google Shape;296;p33">
            <a:extLst>
              <a:ext uri="{FF2B5EF4-FFF2-40B4-BE49-F238E27FC236}">
                <a16:creationId xmlns:a16="http://schemas.microsoft.com/office/drawing/2014/main" id="{D23E003E-55C8-45C0-4AAF-8B8168E202D3}"/>
              </a:ext>
            </a:extLst>
          </p:cNvPr>
          <p:cNvSpPr/>
          <p:nvPr/>
        </p:nvSpPr>
        <p:spPr>
          <a:xfrm>
            <a:off x="2059799" y="3066948"/>
            <a:ext cx="2412000" cy="277200"/>
          </a:xfrm>
          <a:prstGeom prst="rect">
            <a:avLst/>
          </a:prstGeom>
          <a:noFill/>
          <a:ln>
            <a:noFill/>
          </a:ln>
        </p:spPr>
        <p:txBody>
          <a:bodyPr spcFirstLastPara="1" wrap="square" lIns="36000" tIns="36000" rIns="36000" bIns="36000" anchor="ctr" anchorCtr="0">
            <a:noAutofit/>
          </a:bodyPr>
          <a:lstStyle/>
          <a:p>
            <a:r>
              <a:rPr lang="en-GB" sz="800" b="1">
                <a:solidFill>
                  <a:srgbClr val="7F7F7F"/>
                </a:solidFill>
                <a:latin typeface="Encode Sans Condensed" pitchFamily="2" charset="0"/>
              </a:rPr>
              <a:t>Yes/No … </a:t>
            </a:r>
            <a:r>
              <a:rPr lang="en-GB" sz="800" b="1">
                <a:solidFill>
                  <a:srgbClr val="7F7F7F"/>
                </a:solidFill>
                <a:highlight>
                  <a:srgbClr val="FFFF00"/>
                </a:highlight>
                <a:latin typeface="Encode Sans Condensed" pitchFamily="2" charset="0"/>
              </a:rPr>
              <a:t>choose one</a:t>
            </a:r>
            <a:endParaRPr lang="en-GB" sz="800">
              <a:solidFill>
                <a:srgbClr val="7F7F7F"/>
              </a:solidFill>
              <a:highlight>
                <a:srgbClr val="FFFF00"/>
              </a:highlight>
              <a:latin typeface="Encode Sans Condensed" pitchFamily="2" charset="0"/>
            </a:endParaRPr>
          </a:p>
        </p:txBody>
      </p:sp>
      <p:sp>
        <p:nvSpPr>
          <p:cNvPr id="2" name="Google Shape;250;p33">
            <a:extLst>
              <a:ext uri="{FF2B5EF4-FFF2-40B4-BE49-F238E27FC236}">
                <a16:creationId xmlns:a16="http://schemas.microsoft.com/office/drawing/2014/main" id="{7F7DFE30-0845-C641-D77B-DF3DF11B599D}"/>
              </a:ext>
            </a:extLst>
          </p:cNvPr>
          <p:cNvSpPr/>
          <p:nvPr/>
        </p:nvSpPr>
        <p:spPr>
          <a:xfrm>
            <a:off x="43799" y="657972"/>
            <a:ext cx="3024000" cy="277200"/>
          </a:xfrm>
          <a:prstGeom prst="round2SameRect">
            <a:avLst>
              <a:gd name="adj1" fmla="val 16667"/>
              <a:gd name="adj2" fmla="val 0"/>
            </a:avLst>
          </a:prstGeom>
          <a:solidFill>
            <a:schemeClr val="accent1">
              <a:lumMod val="60000"/>
              <a:lumOff val="40000"/>
            </a:schemeClr>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kumimoji="0" lang="en-GB" sz="1100" b="1" i="0" u="none" strike="noStrike" kern="0" cap="none" spc="0" normalizeH="0" baseline="0" noProof="0">
                <a:ln>
                  <a:noFill/>
                </a:ln>
                <a:solidFill>
                  <a:schemeClr val="bg1"/>
                </a:solidFill>
                <a:effectLst/>
                <a:uLnTx/>
                <a:uFillTx/>
                <a:latin typeface="Encode Sans Condensed" pitchFamily="2" charset="0"/>
              </a:rPr>
              <a:t>Contract</a:t>
            </a:r>
            <a:r>
              <a:rPr lang="en-GB" sz="1100" b="1">
                <a:solidFill>
                  <a:schemeClr val="bg1"/>
                </a:solidFill>
                <a:latin typeface="Encode Sans Condensed" pitchFamily="2" charset="0"/>
              </a:rPr>
              <a:t> Management – Service provider not CSP</a:t>
            </a:r>
            <a:endParaRPr kumimoji="0" sz="1100" b="1" i="0" u="none" strike="noStrike" kern="0" cap="none" spc="0" normalizeH="0" baseline="0" noProof="0">
              <a:ln>
                <a:noFill/>
              </a:ln>
              <a:solidFill>
                <a:schemeClr val="bg1"/>
              </a:solidFill>
              <a:effectLst/>
              <a:uLnTx/>
              <a:uFillTx/>
              <a:latin typeface="Encode Sans Condensed" pitchFamily="2" charset="0"/>
            </a:endParaRPr>
          </a:p>
        </p:txBody>
      </p:sp>
      <p:sp>
        <p:nvSpPr>
          <p:cNvPr id="4" name="Google Shape;250;p33">
            <a:extLst>
              <a:ext uri="{FF2B5EF4-FFF2-40B4-BE49-F238E27FC236}">
                <a16:creationId xmlns:a16="http://schemas.microsoft.com/office/drawing/2014/main" id="{537DE4B0-8BFC-576A-1CC5-4FA508B5E8F8}"/>
              </a:ext>
            </a:extLst>
          </p:cNvPr>
          <p:cNvSpPr/>
          <p:nvPr/>
        </p:nvSpPr>
        <p:spPr>
          <a:xfrm>
            <a:off x="43799" y="1862460"/>
            <a:ext cx="3024000" cy="277200"/>
          </a:xfrm>
          <a:prstGeom prst="round2SameRect">
            <a:avLst>
              <a:gd name="adj1" fmla="val 16667"/>
              <a:gd name="adj2" fmla="val 0"/>
            </a:avLst>
          </a:prstGeom>
          <a:solidFill>
            <a:schemeClr val="accent1">
              <a:lumMod val="60000"/>
              <a:lumOff val="40000"/>
            </a:schemeClr>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1100" b="1">
                <a:solidFill>
                  <a:schemeClr val="bg1"/>
                </a:solidFill>
                <a:latin typeface="Encode Sans Condensed" pitchFamily="2" charset="0"/>
              </a:rPr>
              <a:t>Application Exit Readiness</a:t>
            </a:r>
            <a:endParaRPr kumimoji="0" sz="1100" b="1" i="0" u="none" strike="noStrike" kern="0" cap="none" spc="0" normalizeH="0" baseline="0" noProof="0">
              <a:ln>
                <a:noFill/>
              </a:ln>
              <a:solidFill>
                <a:schemeClr val="bg1"/>
              </a:solidFill>
              <a:effectLst/>
              <a:uLnTx/>
              <a:uFillTx/>
              <a:latin typeface="Encode Sans Condensed" pitchFamily="2" charset="0"/>
            </a:endParaRPr>
          </a:p>
        </p:txBody>
      </p:sp>
      <p:sp>
        <p:nvSpPr>
          <p:cNvPr id="10" name="Google Shape;250;p33">
            <a:extLst>
              <a:ext uri="{FF2B5EF4-FFF2-40B4-BE49-F238E27FC236}">
                <a16:creationId xmlns:a16="http://schemas.microsoft.com/office/drawing/2014/main" id="{668ED1E9-2ED6-C065-2A21-9911BB7A7751}"/>
              </a:ext>
            </a:extLst>
          </p:cNvPr>
          <p:cNvSpPr/>
          <p:nvPr/>
        </p:nvSpPr>
        <p:spPr>
          <a:xfrm>
            <a:off x="43799" y="3669192"/>
            <a:ext cx="3024000" cy="277200"/>
          </a:xfrm>
          <a:prstGeom prst="round2SameRect">
            <a:avLst>
              <a:gd name="adj1" fmla="val 16667"/>
              <a:gd name="adj2" fmla="val 0"/>
            </a:avLst>
          </a:prstGeom>
          <a:solidFill>
            <a:schemeClr val="accent1">
              <a:lumMod val="60000"/>
              <a:lumOff val="40000"/>
            </a:schemeClr>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1100" b="1">
                <a:solidFill>
                  <a:schemeClr val="bg1"/>
                </a:solidFill>
                <a:latin typeface="Encode Sans Condensed" pitchFamily="2" charset="0"/>
              </a:rPr>
              <a:t>Exit Cost</a:t>
            </a:r>
            <a:endParaRPr kumimoji="0" sz="1100" b="1" i="0" u="none" strike="noStrike" kern="0" cap="none" spc="0" normalizeH="0" baseline="0" noProof="0">
              <a:ln>
                <a:noFill/>
              </a:ln>
              <a:solidFill>
                <a:schemeClr val="bg1"/>
              </a:solidFill>
              <a:effectLst/>
              <a:uLnTx/>
              <a:uFillTx/>
              <a:latin typeface="Encode Sans Condensed" pitchFamily="2" charset="0"/>
            </a:endParaRPr>
          </a:p>
        </p:txBody>
      </p:sp>
      <p:sp>
        <p:nvSpPr>
          <p:cNvPr id="11" name="Google Shape;250;p33">
            <a:extLst>
              <a:ext uri="{FF2B5EF4-FFF2-40B4-BE49-F238E27FC236}">
                <a16:creationId xmlns:a16="http://schemas.microsoft.com/office/drawing/2014/main" id="{2CB8AD4A-88D2-BC60-6987-107E1E8592C4}"/>
              </a:ext>
            </a:extLst>
          </p:cNvPr>
          <p:cNvSpPr/>
          <p:nvPr/>
        </p:nvSpPr>
        <p:spPr>
          <a:xfrm>
            <a:off x="4572000" y="657972"/>
            <a:ext cx="3024000" cy="277200"/>
          </a:xfrm>
          <a:prstGeom prst="round2SameRect">
            <a:avLst>
              <a:gd name="adj1" fmla="val 16667"/>
              <a:gd name="adj2" fmla="val 0"/>
            </a:avLst>
          </a:prstGeom>
          <a:solidFill>
            <a:schemeClr val="accent1">
              <a:lumMod val="60000"/>
              <a:lumOff val="40000"/>
            </a:schemeClr>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lvl="0" indent="-381000">
              <a:buClrTx/>
              <a:defRPr/>
            </a:pPr>
            <a:r>
              <a:rPr lang="en-GB" sz="1100" b="1">
                <a:solidFill>
                  <a:schemeClr val="bg1"/>
                </a:solidFill>
                <a:latin typeface="Encode Sans Condensed" pitchFamily="2" charset="0"/>
              </a:rPr>
              <a:t>Application Specific Information </a:t>
            </a:r>
            <a:endParaRPr kumimoji="0" sz="1100" b="1" i="0" u="none" strike="noStrike" kern="0" cap="none" spc="0" normalizeH="0" baseline="0" noProof="0">
              <a:ln>
                <a:noFill/>
              </a:ln>
              <a:solidFill>
                <a:schemeClr val="bg1"/>
              </a:solidFill>
              <a:effectLst/>
              <a:uLnTx/>
              <a:uFillTx/>
              <a:latin typeface="Encode Sans Condensed" pitchFamily="2" charset="0"/>
            </a:endParaRPr>
          </a:p>
        </p:txBody>
      </p:sp>
      <p:sp>
        <p:nvSpPr>
          <p:cNvPr id="22" name="Google Shape;250;p33">
            <a:extLst>
              <a:ext uri="{FF2B5EF4-FFF2-40B4-BE49-F238E27FC236}">
                <a16:creationId xmlns:a16="http://schemas.microsoft.com/office/drawing/2014/main" id="{F2198AB2-8ECD-B851-7326-C16613DE0371}"/>
              </a:ext>
            </a:extLst>
          </p:cNvPr>
          <p:cNvSpPr/>
          <p:nvPr/>
        </p:nvSpPr>
        <p:spPr>
          <a:xfrm>
            <a:off x="4577404" y="959094"/>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a:buClrTx/>
              <a:defRPr/>
            </a:pPr>
            <a:r>
              <a:rPr lang="en-GB" sz="800" b="1">
                <a:solidFill>
                  <a:schemeClr val="bg1"/>
                </a:solidFill>
                <a:latin typeface="Encode Sans Condensed" pitchFamily="2" charset="0"/>
              </a:rPr>
              <a:t>Landing zone and CSP</a:t>
            </a:r>
          </a:p>
        </p:txBody>
      </p:sp>
      <p:sp>
        <p:nvSpPr>
          <p:cNvPr id="29" name="Google Shape;250;p33">
            <a:extLst>
              <a:ext uri="{FF2B5EF4-FFF2-40B4-BE49-F238E27FC236}">
                <a16:creationId xmlns:a16="http://schemas.microsoft.com/office/drawing/2014/main" id="{099E413E-2F82-3CB0-EB43-3BE034C7226B}"/>
              </a:ext>
            </a:extLst>
          </p:cNvPr>
          <p:cNvSpPr/>
          <p:nvPr/>
        </p:nvSpPr>
        <p:spPr>
          <a:xfrm>
            <a:off x="4577404" y="2163582"/>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lang="en-GB" sz="800" b="1">
                <a:solidFill>
                  <a:schemeClr val="bg1"/>
                </a:solidFill>
                <a:latin typeface="Encode Sans Condensed" pitchFamily="2" charset="0"/>
              </a:rPr>
              <a:t>Duration of executing the exit without an impact</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30" name="Google Shape;250;p33">
            <a:extLst>
              <a:ext uri="{FF2B5EF4-FFF2-40B4-BE49-F238E27FC236}">
                <a16:creationId xmlns:a16="http://schemas.microsoft.com/office/drawing/2014/main" id="{B1529F1A-2890-8FE7-712F-E104D1C90073}"/>
              </a:ext>
            </a:extLst>
          </p:cNvPr>
          <p:cNvSpPr/>
          <p:nvPr/>
        </p:nvSpPr>
        <p:spPr>
          <a:xfrm>
            <a:off x="4577404" y="2464704"/>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lang="en-GB" sz="800" b="1">
                <a:solidFill>
                  <a:schemeClr val="bg1"/>
                </a:solidFill>
                <a:latin typeface="Encode Sans Condensed" pitchFamily="2" charset="0"/>
              </a:rPr>
              <a:t>Are services architected to avoid vendor lock-in(containers, terraform)</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31" name="Google Shape;250;p33">
            <a:extLst>
              <a:ext uri="{FF2B5EF4-FFF2-40B4-BE49-F238E27FC236}">
                <a16:creationId xmlns:a16="http://schemas.microsoft.com/office/drawing/2014/main" id="{FC58440A-A41F-32F4-3101-45C927D2656E}"/>
              </a:ext>
            </a:extLst>
          </p:cNvPr>
          <p:cNvSpPr/>
          <p:nvPr/>
        </p:nvSpPr>
        <p:spPr>
          <a:xfrm>
            <a:off x="4577404" y="2765826"/>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lang="en-GB" sz="800" b="1">
                <a:solidFill>
                  <a:schemeClr val="bg1"/>
                </a:solidFill>
                <a:latin typeface="Encode Sans Condensed" pitchFamily="2" charset="0"/>
              </a:rPr>
              <a:t>Choose if any of these AWS services are used</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32" name="Google Shape;296;p33">
            <a:extLst>
              <a:ext uri="{FF2B5EF4-FFF2-40B4-BE49-F238E27FC236}">
                <a16:creationId xmlns:a16="http://schemas.microsoft.com/office/drawing/2014/main" id="{03BB6276-E442-397B-6A36-D26415984108}"/>
              </a:ext>
            </a:extLst>
          </p:cNvPr>
          <p:cNvSpPr/>
          <p:nvPr/>
        </p:nvSpPr>
        <p:spPr>
          <a:xfrm>
            <a:off x="6593404" y="2163582"/>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3 months/6 months/12 months 18 months 24 months &gt;24 months Unknown … </a:t>
            </a:r>
            <a:r>
              <a:rPr lang="en-GB" sz="800" b="1">
                <a:solidFill>
                  <a:schemeClr val="bg1">
                    <a:lumMod val="50000"/>
                  </a:schemeClr>
                </a:solidFill>
                <a:highlight>
                  <a:srgbClr val="FFFF00"/>
                </a:highlight>
                <a:latin typeface="Encode Sans Condensed" pitchFamily="2" charset="0"/>
              </a:rPr>
              <a:t>choose one </a:t>
            </a:r>
          </a:p>
        </p:txBody>
      </p:sp>
      <p:sp>
        <p:nvSpPr>
          <p:cNvPr id="33" name="Google Shape;296;p33">
            <a:extLst>
              <a:ext uri="{FF2B5EF4-FFF2-40B4-BE49-F238E27FC236}">
                <a16:creationId xmlns:a16="http://schemas.microsoft.com/office/drawing/2014/main" id="{B92A0647-AA3A-56FA-9859-686CE0355EFB}"/>
              </a:ext>
            </a:extLst>
          </p:cNvPr>
          <p:cNvSpPr/>
          <p:nvPr/>
        </p:nvSpPr>
        <p:spPr>
          <a:xfrm>
            <a:off x="6593404" y="2464704"/>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Non substitutable/Highly complex/ Medium complexity /Easily substitutable … </a:t>
            </a:r>
            <a:r>
              <a:rPr lang="en-GB" sz="800" b="1">
                <a:solidFill>
                  <a:schemeClr val="bg1">
                    <a:lumMod val="50000"/>
                  </a:schemeClr>
                </a:solidFill>
                <a:highlight>
                  <a:srgbClr val="FFFF00"/>
                </a:highlight>
                <a:latin typeface="Encode Sans Condensed" pitchFamily="2" charset="0"/>
              </a:rPr>
              <a:t>choose one – Risk assessment &gt;?</a:t>
            </a:r>
          </a:p>
        </p:txBody>
      </p:sp>
      <p:sp>
        <p:nvSpPr>
          <p:cNvPr id="34" name="Google Shape;296;p33">
            <a:extLst>
              <a:ext uri="{FF2B5EF4-FFF2-40B4-BE49-F238E27FC236}">
                <a16:creationId xmlns:a16="http://schemas.microsoft.com/office/drawing/2014/main" id="{D3834DE8-2CCC-3D8F-9B0E-6B44BBA6BC1A}"/>
              </a:ext>
            </a:extLst>
          </p:cNvPr>
          <p:cNvSpPr/>
          <p:nvPr/>
        </p:nvSpPr>
        <p:spPr>
          <a:xfrm>
            <a:off x="6593405" y="2765826"/>
            <a:ext cx="2412000" cy="277200"/>
          </a:xfrm>
          <a:prstGeom prst="rect">
            <a:avLst/>
          </a:prstGeom>
          <a:noFill/>
          <a:ln>
            <a:noFill/>
          </a:ln>
        </p:spPr>
        <p:txBody>
          <a:bodyPr spcFirstLastPara="1" wrap="square" lIns="36000" tIns="36000" rIns="36000" bIns="36000" anchor="ctr" anchorCtr="0">
            <a:noAutofit/>
          </a:bodyPr>
          <a:lstStyle/>
          <a:p>
            <a:r>
              <a:rPr lang="en-GB" sz="800">
                <a:solidFill>
                  <a:srgbClr val="FF0000"/>
                </a:solidFill>
                <a:latin typeface="Encode Sans Condensed" pitchFamily="2" charset="0"/>
              </a:rPr>
              <a:t>Lambda* &amp; API Gateway/*Kubernetes*/certificate*</a:t>
            </a:r>
            <a:endParaRPr lang="en-GB" sz="800" b="1">
              <a:solidFill>
                <a:srgbClr val="FF0000"/>
              </a:solidFill>
              <a:latin typeface="Encode Sans Condensed" pitchFamily="2" charset="0"/>
            </a:endParaRPr>
          </a:p>
        </p:txBody>
      </p:sp>
      <p:sp>
        <p:nvSpPr>
          <p:cNvPr id="35" name="Google Shape;250;p33">
            <a:extLst>
              <a:ext uri="{FF2B5EF4-FFF2-40B4-BE49-F238E27FC236}">
                <a16:creationId xmlns:a16="http://schemas.microsoft.com/office/drawing/2014/main" id="{E4131892-0536-0993-05E4-110182AA00A2}"/>
              </a:ext>
            </a:extLst>
          </p:cNvPr>
          <p:cNvSpPr/>
          <p:nvPr/>
        </p:nvSpPr>
        <p:spPr>
          <a:xfrm>
            <a:off x="4577404" y="3066948"/>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lang="en-GB" sz="800" b="1">
                <a:solidFill>
                  <a:schemeClr val="bg1"/>
                </a:solidFill>
                <a:latin typeface="Encode Sans Condensed" pitchFamily="2" charset="0"/>
              </a:rPr>
              <a:t>Use of open standards and containerised workload to reduce vendor lock-in</a:t>
            </a:r>
            <a:endParaRPr kumimoji="0" sz="800" b="1" i="0" u="none" strike="noStrike" kern="0" cap="none" spc="0" normalizeH="0" baseline="0" noProof="0">
              <a:ln>
                <a:noFill/>
              </a:ln>
              <a:solidFill>
                <a:schemeClr val="bg1"/>
              </a:solidFill>
              <a:effectLst/>
              <a:uLnTx/>
              <a:uFillTx/>
              <a:latin typeface="Encode Sans Condensed" pitchFamily="2" charset="0"/>
              <a:cs typeface="Arial" panose="020B0604020202020204" pitchFamily="34" charset="0"/>
            </a:endParaRPr>
          </a:p>
        </p:txBody>
      </p:sp>
      <p:sp>
        <p:nvSpPr>
          <p:cNvPr id="37" name="Google Shape;296;p33">
            <a:extLst>
              <a:ext uri="{FF2B5EF4-FFF2-40B4-BE49-F238E27FC236}">
                <a16:creationId xmlns:a16="http://schemas.microsoft.com/office/drawing/2014/main" id="{7F06F6BD-5BA1-6B15-A6D0-16B4CEEC5B26}"/>
              </a:ext>
            </a:extLst>
          </p:cNvPr>
          <p:cNvSpPr/>
          <p:nvPr/>
        </p:nvSpPr>
        <p:spPr>
          <a:xfrm>
            <a:off x="6593405" y="3066948"/>
            <a:ext cx="2412000" cy="277200"/>
          </a:xfrm>
          <a:prstGeom prst="rect">
            <a:avLst/>
          </a:prstGeom>
          <a:noFill/>
          <a:ln>
            <a:noFill/>
          </a:ln>
        </p:spPr>
        <p:txBody>
          <a:bodyPr spcFirstLastPara="1" wrap="square" lIns="36000" tIns="36000" rIns="36000" bIns="36000" anchor="ctr" anchorCtr="0">
            <a:noAutofit/>
          </a:bodyPr>
          <a:lstStyle/>
          <a:p>
            <a:r>
              <a:rPr lang="en-GB" sz="800" b="1">
                <a:solidFill>
                  <a:srgbClr val="7F7F7F"/>
                </a:solidFill>
                <a:latin typeface="Encode Sans Condensed" pitchFamily="2" charset="0"/>
              </a:rPr>
              <a:t>Yes/No … </a:t>
            </a:r>
            <a:r>
              <a:rPr lang="en-GB" sz="800" b="1">
                <a:solidFill>
                  <a:schemeClr val="bg1">
                    <a:lumMod val="50000"/>
                  </a:schemeClr>
                </a:solidFill>
                <a:highlight>
                  <a:srgbClr val="FFFF00"/>
                </a:highlight>
                <a:latin typeface="Encode Sans Condensed" pitchFamily="2" charset="0"/>
              </a:rPr>
              <a:t>choose one if No please explain </a:t>
            </a:r>
            <a:endParaRPr lang="en-GB" sz="800">
              <a:solidFill>
                <a:srgbClr val="7F7F7F"/>
              </a:solidFill>
              <a:latin typeface="Encode Sans Condensed" pitchFamily="2" charset="0"/>
            </a:endParaRPr>
          </a:p>
        </p:txBody>
      </p:sp>
      <p:sp>
        <p:nvSpPr>
          <p:cNvPr id="38" name="Google Shape;250;p33">
            <a:extLst>
              <a:ext uri="{FF2B5EF4-FFF2-40B4-BE49-F238E27FC236}">
                <a16:creationId xmlns:a16="http://schemas.microsoft.com/office/drawing/2014/main" id="{86FAE051-3430-5A42-5777-2B900D2EE49C}"/>
              </a:ext>
            </a:extLst>
          </p:cNvPr>
          <p:cNvSpPr/>
          <p:nvPr/>
        </p:nvSpPr>
        <p:spPr>
          <a:xfrm>
            <a:off x="4577404" y="1260216"/>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a:buClrTx/>
              <a:defRPr/>
            </a:pPr>
            <a:r>
              <a:rPr lang="en-GB" sz="800" b="1">
                <a:solidFill>
                  <a:schemeClr val="bg1"/>
                </a:solidFill>
                <a:latin typeface="Encode Sans Condensed" pitchFamily="2" charset="0"/>
              </a:rPr>
              <a:t>Related critical or important functions</a:t>
            </a:r>
          </a:p>
        </p:txBody>
      </p:sp>
      <p:sp>
        <p:nvSpPr>
          <p:cNvPr id="40" name="Google Shape;296;p33">
            <a:extLst>
              <a:ext uri="{FF2B5EF4-FFF2-40B4-BE49-F238E27FC236}">
                <a16:creationId xmlns:a16="http://schemas.microsoft.com/office/drawing/2014/main" id="{575FC1B6-C606-353C-35A5-E684476DA2BC}"/>
              </a:ext>
            </a:extLst>
          </p:cNvPr>
          <p:cNvSpPr/>
          <p:nvPr/>
        </p:nvSpPr>
        <p:spPr>
          <a:xfrm>
            <a:off x="6593405" y="1260216"/>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Mention all critical functions that will be integrated with this service…</a:t>
            </a:r>
            <a:endParaRPr lang="en-GB" sz="800">
              <a:solidFill>
                <a:schemeClr val="bg1">
                  <a:lumMod val="50000"/>
                </a:schemeClr>
              </a:solidFill>
              <a:latin typeface="Encode Sans Condensed" pitchFamily="2" charset="0"/>
            </a:endParaRPr>
          </a:p>
        </p:txBody>
      </p:sp>
      <p:sp>
        <p:nvSpPr>
          <p:cNvPr id="41" name="Google Shape;250;p33">
            <a:extLst>
              <a:ext uri="{FF2B5EF4-FFF2-40B4-BE49-F238E27FC236}">
                <a16:creationId xmlns:a16="http://schemas.microsoft.com/office/drawing/2014/main" id="{421A2543-3427-55D1-72B7-CCFD68EBE725}"/>
              </a:ext>
            </a:extLst>
          </p:cNvPr>
          <p:cNvSpPr/>
          <p:nvPr/>
        </p:nvSpPr>
        <p:spPr>
          <a:xfrm>
            <a:off x="4577404" y="1561338"/>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Can application be redeployed on to another CSP</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42" name="Google Shape;296;p33">
            <a:extLst>
              <a:ext uri="{FF2B5EF4-FFF2-40B4-BE49-F238E27FC236}">
                <a16:creationId xmlns:a16="http://schemas.microsoft.com/office/drawing/2014/main" id="{0D3FB075-B75E-C49C-E943-C6399C43E4A5}"/>
              </a:ext>
            </a:extLst>
          </p:cNvPr>
          <p:cNvSpPr/>
          <p:nvPr/>
        </p:nvSpPr>
        <p:spPr>
          <a:xfrm>
            <a:off x="6593405" y="3367322"/>
            <a:ext cx="2412000" cy="277200"/>
          </a:xfrm>
          <a:prstGeom prst="rect">
            <a:avLst/>
          </a:prstGeom>
          <a:noFill/>
          <a:ln>
            <a:noFill/>
          </a:ln>
        </p:spPr>
        <p:txBody>
          <a:bodyPr spcFirstLastPara="1" wrap="square" lIns="36000" tIns="36000" rIns="36000" bIns="36000" anchor="ctr" anchorCtr="0">
            <a:noAutofit/>
          </a:bodyPr>
          <a:lstStyle/>
          <a:p>
            <a:r>
              <a:rPr lang="en-GB" sz="800" b="1">
                <a:solidFill>
                  <a:schemeClr val="bg1">
                    <a:lumMod val="50000"/>
                  </a:schemeClr>
                </a:solidFill>
                <a:latin typeface="Encode Sans Condensed" pitchFamily="2" charset="0"/>
              </a:rPr>
              <a:t>Yes/No … </a:t>
            </a:r>
            <a:r>
              <a:rPr lang="en-GB" sz="800" b="1">
                <a:solidFill>
                  <a:schemeClr val="bg1">
                    <a:lumMod val="50000"/>
                  </a:schemeClr>
                </a:solidFill>
                <a:highlight>
                  <a:srgbClr val="FFFF00"/>
                </a:highlight>
                <a:latin typeface="Encode Sans Condensed" pitchFamily="2" charset="0"/>
              </a:rPr>
              <a:t>choose on </a:t>
            </a:r>
            <a:r>
              <a:rPr lang="en-GB" sz="800" b="1">
                <a:solidFill>
                  <a:srgbClr val="FF0000"/>
                </a:solidFill>
                <a:highlight>
                  <a:srgbClr val="FFFF00"/>
                </a:highlight>
                <a:latin typeface="Encode Sans Condensed" pitchFamily="2" charset="0"/>
              </a:rPr>
              <a:t>---Risk assessment</a:t>
            </a:r>
            <a:endParaRPr lang="en-GB" sz="800">
              <a:solidFill>
                <a:srgbClr val="FF0000"/>
              </a:solidFill>
              <a:latin typeface="Encode Sans Condensed" pitchFamily="2" charset="0"/>
            </a:endParaRPr>
          </a:p>
        </p:txBody>
      </p:sp>
      <p:sp>
        <p:nvSpPr>
          <p:cNvPr id="44" name="Google Shape;250;p33">
            <a:extLst>
              <a:ext uri="{FF2B5EF4-FFF2-40B4-BE49-F238E27FC236}">
                <a16:creationId xmlns:a16="http://schemas.microsoft.com/office/drawing/2014/main" id="{3C5616C1-3A07-48E5-57E9-6236CB41AA28}"/>
              </a:ext>
            </a:extLst>
          </p:cNvPr>
          <p:cNvSpPr/>
          <p:nvPr/>
        </p:nvSpPr>
        <p:spPr>
          <a:xfrm>
            <a:off x="4577404" y="3367322"/>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lang="en-GB" sz="800" b="1">
                <a:solidFill>
                  <a:schemeClr val="bg1"/>
                </a:solidFill>
                <a:latin typeface="Encode Sans Condensed" pitchFamily="2" charset="0"/>
              </a:rPr>
              <a:t>Are compliance artifacts(application audit logs, configuration) exportable and usable</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48" name="Google Shape;296;p33">
            <a:extLst>
              <a:ext uri="{FF2B5EF4-FFF2-40B4-BE49-F238E27FC236}">
                <a16:creationId xmlns:a16="http://schemas.microsoft.com/office/drawing/2014/main" id="{180A79D7-F076-E6C0-9800-4C7753733461}"/>
              </a:ext>
            </a:extLst>
          </p:cNvPr>
          <p:cNvSpPr/>
          <p:nvPr/>
        </p:nvSpPr>
        <p:spPr>
          <a:xfrm>
            <a:off x="6596066" y="959094"/>
            <a:ext cx="2412000" cy="277200"/>
          </a:xfrm>
          <a:prstGeom prst="rect">
            <a:avLst/>
          </a:prstGeom>
          <a:noFill/>
          <a:ln>
            <a:noFill/>
          </a:ln>
        </p:spPr>
        <p:txBody>
          <a:bodyPr spcFirstLastPara="1" wrap="square" lIns="36000" tIns="36000" rIns="36000" bIns="36000" anchor="ctr" anchorCtr="0">
            <a:noAutofit/>
          </a:bodyPr>
          <a:lstStyle/>
          <a:p>
            <a:endParaRPr lang="en-GB" sz="800" b="1">
              <a:solidFill>
                <a:srgbClr val="00B0F0"/>
              </a:solidFill>
              <a:latin typeface="Encode Sans Condensed" pitchFamily="2" charset="0"/>
            </a:endParaRPr>
          </a:p>
          <a:p>
            <a:r>
              <a:rPr lang="en-GB" sz="800" b="1">
                <a:solidFill>
                  <a:srgbClr val="00B0F0"/>
                </a:solidFill>
                <a:latin typeface="Encode Sans Condensed" pitchFamily="2" charset="0"/>
              </a:rPr>
              <a:t> </a:t>
            </a:r>
            <a:r>
              <a:rPr lang="en-GB" sz="800" b="1">
                <a:solidFill>
                  <a:srgbClr val="7F7F7F"/>
                </a:solidFill>
                <a:latin typeface="Encode Sans Condensed" pitchFamily="2" charset="0"/>
              </a:rPr>
              <a:t>Enter the chosen CSP with SFS landing zone….</a:t>
            </a:r>
            <a:endParaRPr lang="en-GB" sz="800">
              <a:solidFill>
                <a:srgbClr val="7F7F7F"/>
              </a:solidFill>
              <a:latin typeface="Encode Sans Condensed" pitchFamily="2" charset="0"/>
            </a:endParaRPr>
          </a:p>
          <a:p>
            <a:endParaRPr lang="en-GB" sz="800">
              <a:solidFill>
                <a:srgbClr val="7F7F7F"/>
              </a:solidFill>
              <a:latin typeface="Encode Sans Condensed" pitchFamily="2" charset="0"/>
            </a:endParaRPr>
          </a:p>
        </p:txBody>
      </p:sp>
      <p:sp>
        <p:nvSpPr>
          <p:cNvPr id="49" name="Google Shape;296;p33">
            <a:extLst>
              <a:ext uri="{FF2B5EF4-FFF2-40B4-BE49-F238E27FC236}">
                <a16:creationId xmlns:a16="http://schemas.microsoft.com/office/drawing/2014/main" id="{A3CD3C72-44B6-3FB8-9D73-AD7C62B54E7E}"/>
              </a:ext>
            </a:extLst>
          </p:cNvPr>
          <p:cNvSpPr/>
          <p:nvPr/>
        </p:nvSpPr>
        <p:spPr>
          <a:xfrm>
            <a:off x="6593404" y="1862460"/>
            <a:ext cx="2412000" cy="277200"/>
          </a:xfrm>
          <a:prstGeom prst="rect">
            <a:avLst/>
          </a:prstGeom>
          <a:noFill/>
          <a:ln>
            <a:noFill/>
          </a:ln>
        </p:spPr>
        <p:txBody>
          <a:bodyPr spcFirstLastPara="1" wrap="square" lIns="36000" tIns="36000" rIns="36000" bIns="36000" anchor="ctr" anchorCtr="0">
            <a:noAutofit/>
          </a:bodyPr>
          <a:lstStyle/>
          <a:p>
            <a:r>
              <a:rPr lang="en-GB" sz="800" b="1">
                <a:solidFill>
                  <a:srgbClr val="7F7F7F"/>
                </a:solidFill>
                <a:latin typeface="Encode Sans Condensed" pitchFamily="2" charset="0"/>
              </a:rPr>
              <a:t>Enter the ex SQL dump …etc</a:t>
            </a:r>
            <a:endParaRPr lang="en-GB" sz="800">
              <a:solidFill>
                <a:srgbClr val="7F7F7F"/>
              </a:solidFill>
              <a:latin typeface="Encode Sans Condensed" pitchFamily="2" charset="0"/>
            </a:endParaRPr>
          </a:p>
        </p:txBody>
      </p:sp>
      <p:sp>
        <p:nvSpPr>
          <p:cNvPr id="51" name="Google Shape;296;p33">
            <a:extLst>
              <a:ext uri="{FF2B5EF4-FFF2-40B4-BE49-F238E27FC236}">
                <a16:creationId xmlns:a16="http://schemas.microsoft.com/office/drawing/2014/main" id="{95F198CA-B310-019B-8B21-EE171C2B5215}"/>
              </a:ext>
            </a:extLst>
          </p:cNvPr>
          <p:cNvSpPr/>
          <p:nvPr/>
        </p:nvSpPr>
        <p:spPr>
          <a:xfrm>
            <a:off x="6593405" y="1561338"/>
            <a:ext cx="2412000" cy="277200"/>
          </a:xfrm>
          <a:prstGeom prst="rect">
            <a:avLst/>
          </a:prstGeom>
          <a:noFill/>
          <a:ln>
            <a:noFill/>
          </a:ln>
        </p:spPr>
        <p:txBody>
          <a:bodyPr spcFirstLastPara="1" wrap="square" lIns="36000" tIns="36000" rIns="36000" bIns="36000" anchor="ctr" anchorCtr="0">
            <a:noAutofit/>
          </a:bodyPr>
          <a:lstStyle/>
          <a:p>
            <a:r>
              <a:rPr lang="en-GB" sz="800" b="1">
                <a:solidFill>
                  <a:srgbClr val="7F7F7F"/>
                </a:solidFill>
                <a:latin typeface="Encode Sans Condensed" pitchFamily="2" charset="0"/>
              </a:rPr>
              <a:t>Yes/No/Unsure … </a:t>
            </a:r>
            <a:r>
              <a:rPr lang="en-GB" sz="800" b="1">
                <a:solidFill>
                  <a:schemeClr val="bg1">
                    <a:lumMod val="50000"/>
                  </a:schemeClr>
                </a:solidFill>
                <a:highlight>
                  <a:srgbClr val="FFFF00"/>
                </a:highlight>
                <a:latin typeface="Encode Sans Condensed" pitchFamily="2" charset="0"/>
              </a:rPr>
              <a:t>choose one </a:t>
            </a:r>
            <a:endParaRPr lang="en-GB" sz="800">
              <a:solidFill>
                <a:srgbClr val="7F7F7F"/>
              </a:solidFill>
              <a:latin typeface="Encode Sans Condensed" pitchFamily="2" charset="0"/>
            </a:endParaRPr>
          </a:p>
        </p:txBody>
      </p:sp>
      <p:sp>
        <p:nvSpPr>
          <p:cNvPr id="52" name="Google Shape;250;p33">
            <a:extLst>
              <a:ext uri="{FF2B5EF4-FFF2-40B4-BE49-F238E27FC236}">
                <a16:creationId xmlns:a16="http://schemas.microsoft.com/office/drawing/2014/main" id="{38D4A923-BF4B-BD9B-A602-DC10D68B90DF}"/>
              </a:ext>
            </a:extLst>
          </p:cNvPr>
          <p:cNvSpPr/>
          <p:nvPr/>
        </p:nvSpPr>
        <p:spPr>
          <a:xfrm>
            <a:off x="4577404" y="1862460"/>
            <a:ext cx="2016000"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lvl="0">
              <a:buClrTx/>
              <a:defRPr/>
            </a:pPr>
            <a:r>
              <a:rPr kumimoji="0" lang="en-GB" sz="800" b="1" i="0" u="none" strike="noStrike" kern="0" cap="none" spc="0" normalizeH="0" baseline="0" noProof="0">
                <a:ln>
                  <a:noFill/>
                </a:ln>
                <a:solidFill>
                  <a:schemeClr val="bg1"/>
                </a:solidFill>
                <a:effectLst/>
                <a:uLnTx/>
                <a:uFillTx/>
                <a:latin typeface="Encode Sans Condensed" pitchFamily="2" charset="0"/>
              </a:rPr>
              <a:t>Data migration plan </a:t>
            </a:r>
            <a:endParaRPr kumimoji="0" sz="800" b="1" i="0" u="none" strike="noStrike" kern="0" cap="none" spc="0" normalizeH="0" baseline="0" noProof="0">
              <a:ln>
                <a:noFill/>
              </a:ln>
              <a:solidFill>
                <a:schemeClr val="bg1"/>
              </a:solidFill>
              <a:effectLst/>
              <a:uLnTx/>
              <a:uFillTx/>
              <a:latin typeface="Encode Sans Condensed" pitchFamily="2" charset="0"/>
            </a:endParaRPr>
          </a:p>
        </p:txBody>
      </p:sp>
      <p:sp>
        <p:nvSpPr>
          <p:cNvPr id="8" name="Title 2">
            <a:extLst>
              <a:ext uri="{FF2B5EF4-FFF2-40B4-BE49-F238E27FC236}">
                <a16:creationId xmlns:a16="http://schemas.microsoft.com/office/drawing/2014/main" id="{E7E07AE8-2B77-2AF3-893B-B438385ADC69}"/>
              </a:ext>
            </a:extLst>
          </p:cNvPr>
          <p:cNvSpPr txBox="1">
            <a:spLocks/>
          </p:cNvSpPr>
          <p:nvPr/>
        </p:nvSpPr>
        <p:spPr>
          <a:xfrm>
            <a:off x="221673" y="349050"/>
            <a:ext cx="6379500" cy="257100"/>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1100"/>
              <a:buFont typeface="Encode Sans"/>
              <a:buNone/>
              <a:defRPr sz="1100" b="1" i="0" u="none" strike="noStrike" cap="none">
                <a:solidFill>
                  <a:srgbClr val="FFFFFF"/>
                </a:solidFill>
                <a:latin typeface="Encode Sans"/>
                <a:ea typeface="Encode Sans"/>
                <a:cs typeface="Encode Sans"/>
                <a:sym typeface="Encode Sans"/>
              </a:defRPr>
            </a:lvl1pPr>
            <a:lvl2pPr marR="0" lvl="1"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9pPr>
          </a:lstStyle>
          <a:p>
            <a:r>
              <a:rPr lang="en-GB" cap="all"/>
              <a:t>Exit Plan for make cloud applications (AWS)</a:t>
            </a:r>
            <a:endParaRPr lang="en-GB" sz="1200" cap="all"/>
          </a:p>
        </p:txBody>
      </p:sp>
    </p:spTree>
    <p:extLst>
      <p:ext uri="{BB962C8B-B14F-4D97-AF65-F5344CB8AC3E}">
        <p14:creationId xmlns:p14="http://schemas.microsoft.com/office/powerpoint/2010/main" val="3125069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idx="1"/>
          </p:nvPr>
        </p:nvSpPr>
        <p:spPr>
          <a:xfrm>
            <a:off x="327476" y="699542"/>
            <a:ext cx="8492996" cy="4032447"/>
          </a:xfrm>
        </p:spPr>
        <p:txBody>
          <a:bodyPr>
            <a:normAutofit/>
          </a:bodyPr>
          <a:lstStyle/>
          <a:p>
            <a:pPr marL="0" indent="0">
              <a:spcAft>
                <a:spcPts val="1200"/>
              </a:spcAft>
              <a:buNone/>
            </a:pPr>
            <a:r>
              <a:rPr lang="en-US" sz="1800" dirty="0">
                <a:solidFill>
                  <a:schemeClr val="accent1"/>
                </a:solidFill>
                <a:latin typeface="Encode Sans" pitchFamily="2" charset="0"/>
              </a:rPr>
              <a:t>OBJECTIVES OF THE PROJECT </a:t>
            </a:r>
          </a:p>
          <a:p>
            <a:pPr marL="987725" lvl="2" indent="0">
              <a:buNone/>
              <a:defRPr/>
            </a:pPr>
            <a:endParaRPr lang="en-US" i="1" dirty="0">
              <a:solidFill>
                <a:schemeClr val="accent1"/>
              </a:solidFill>
              <a:latin typeface="Encode Sans" pitchFamily="2" charset="0"/>
            </a:endParaRPr>
          </a:p>
          <a:p>
            <a:pPr>
              <a:defRPr/>
            </a:pPr>
            <a:r>
              <a:rPr lang="en-US" dirty="0">
                <a:solidFill>
                  <a:schemeClr val="accent1"/>
                </a:solidFill>
                <a:latin typeface="Encode Sans" pitchFamily="2" charset="0"/>
              </a:rPr>
              <a:t>Objectives: </a:t>
            </a:r>
            <a:r>
              <a:rPr lang="en-US" dirty="0">
                <a:solidFill>
                  <a:schemeClr val="accent1"/>
                </a:solidFill>
                <a:latin typeface="Encode Sans" pitchFamily="2" charset="0"/>
                <a:sym typeface="Wingdings"/>
              </a:rPr>
              <a:t></a:t>
            </a:r>
          </a:p>
          <a:p>
            <a:pPr>
              <a:defRPr/>
            </a:pPr>
            <a:endParaRPr lang="en-US" sz="1800" dirty="0">
              <a:solidFill>
                <a:schemeClr val="accent1"/>
              </a:solidFill>
              <a:latin typeface="Encode Sans" pitchFamily="2" charset="0"/>
              <a:sym typeface="Wingdings"/>
            </a:endParaRPr>
          </a:p>
          <a:p>
            <a:pPr>
              <a:defRPr/>
            </a:pPr>
            <a:endParaRPr lang="en-US" sz="1800" dirty="0">
              <a:solidFill>
                <a:schemeClr val="accent1"/>
              </a:solidFill>
              <a:latin typeface="Encode Sans" pitchFamily="2" charset="0"/>
              <a:sym typeface="Wingdings"/>
            </a:endParaRPr>
          </a:p>
          <a:p>
            <a:pPr>
              <a:defRPr/>
            </a:pPr>
            <a:endParaRPr lang="en-US" sz="1800" dirty="0">
              <a:solidFill>
                <a:schemeClr val="accent1"/>
              </a:solidFill>
              <a:latin typeface="Encode Sans" pitchFamily="2" charset="0"/>
              <a:sym typeface="Wingdings"/>
            </a:endParaRPr>
          </a:p>
          <a:p>
            <a:pPr>
              <a:defRPr/>
            </a:pPr>
            <a:endParaRPr lang="en-US" sz="1800" dirty="0">
              <a:solidFill>
                <a:schemeClr val="accent1"/>
              </a:solidFill>
              <a:latin typeface="Encode Sans" pitchFamily="2" charset="0"/>
              <a:sym typeface="Wingdings"/>
            </a:endParaRPr>
          </a:p>
          <a:p>
            <a:pPr>
              <a:defRPr/>
            </a:pPr>
            <a:r>
              <a:rPr lang="en-US" dirty="0">
                <a:solidFill>
                  <a:schemeClr val="accent1"/>
                </a:solidFill>
                <a:latin typeface="Encode Sans" pitchFamily="2" charset="0"/>
              </a:rPr>
              <a:t>Stakes: </a:t>
            </a:r>
            <a:r>
              <a:rPr lang="en-US" dirty="0">
                <a:solidFill>
                  <a:schemeClr val="accent1"/>
                </a:solidFill>
                <a:latin typeface="Encode Sans" pitchFamily="2" charset="0"/>
                <a:sym typeface="Wingdings"/>
              </a:rPr>
              <a:t></a:t>
            </a:r>
            <a:endParaRPr lang="en-US" dirty="0">
              <a:solidFill>
                <a:schemeClr val="accent1"/>
              </a:solidFill>
              <a:latin typeface="Encode Sans" pitchFamily="2" charset="0"/>
            </a:endParaRPr>
          </a:p>
          <a:p>
            <a:pPr>
              <a:defRPr/>
            </a:pPr>
            <a:endParaRPr lang="en-US" dirty="0">
              <a:solidFill>
                <a:schemeClr val="accent1"/>
              </a:solidFill>
              <a:latin typeface="Encode Sans" pitchFamily="2" charset="0"/>
            </a:endParaRPr>
          </a:p>
        </p:txBody>
      </p:sp>
      <p:sp>
        <p:nvSpPr>
          <p:cNvPr id="4" name="Titre 3"/>
          <p:cNvSpPr>
            <a:spLocks noGrp="1"/>
          </p:cNvSpPr>
          <p:nvPr>
            <p:ph type="title"/>
          </p:nvPr>
        </p:nvSpPr>
        <p:spPr/>
        <p:txBody>
          <a:bodyPr/>
          <a:lstStyle/>
          <a:p>
            <a:r>
              <a:rPr lang="en-US" sz="1800" dirty="0">
                <a:solidFill>
                  <a:schemeClr val="accent1"/>
                </a:solidFill>
                <a:latin typeface="Encode Sans" pitchFamily="2" charset="0"/>
              </a:rPr>
              <a:t>PROJECT  Summary</a:t>
            </a:r>
          </a:p>
        </p:txBody>
      </p:sp>
      <p:sp>
        <p:nvSpPr>
          <p:cNvPr id="26" name="Carré corné 25"/>
          <p:cNvSpPr/>
          <p:nvPr/>
        </p:nvSpPr>
        <p:spPr>
          <a:xfrm>
            <a:off x="2847147" y="1445208"/>
            <a:ext cx="5688632" cy="1646750"/>
          </a:xfrm>
          <a:prstGeom prst="foldedCorner">
            <a:avLst/>
          </a:prstGeom>
          <a:solidFill>
            <a:srgbClr val="FFD087"/>
          </a:solidFill>
        </p:spPr>
        <p:style>
          <a:lnRef idx="1">
            <a:schemeClr val="accent6"/>
          </a:lnRef>
          <a:fillRef idx="2">
            <a:schemeClr val="accent6"/>
          </a:fillRef>
          <a:effectRef idx="1">
            <a:schemeClr val="accent6"/>
          </a:effectRef>
          <a:fontRef idx="minor">
            <a:schemeClr val="dk1"/>
          </a:fontRef>
        </p:style>
        <p:txBody>
          <a:bodyPr tIns="36000" bIns="0" rtlCol="0" anchor="t" anchorCtr="0"/>
          <a:lstStyle/>
          <a:p>
            <a:r>
              <a:rPr lang="en-US" sz="900" b="1" u="sng" dirty="0">
                <a:solidFill>
                  <a:schemeClr val="accent1"/>
                </a:solidFill>
                <a:latin typeface="Encode Sans" pitchFamily="2" charset="0"/>
              </a:rPr>
              <a:t>Example</a:t>
            </a:r>
            <a:r>
              <a:rPr lang="en-US" sz="900" b="1" dirty="0">
                <a:solidFill>
                  <a:schemeClr val="accent1"/>
                </a:solidFill>
                <a:latin typeface="Encode Sans" pitchFamily="2" charset="0"/>
              </a:rPr>
              <a:t>:</a:t>
            </a:r>
            <a:r>
              <a:rPr lang="en-US" sz="900" dirty="0">
                <a:solidFill>
                  <a:schemeClr val="accent1"/>
                </a:solidFill>
                <a:latin typeface="Encode Sans" pitchFamily="2" charset="0"/>
              </a:rPr>
              <a:t>   </a:t>
            </a:r>
          </a:p>
        </p:txBody>
      </p:sp>
      <p:sp>
        <p:nvSpPr>
          <p:cNvPr id="28" name="Carré corné 27"/>
          <p:cNvSpPr/>
          <p:nvPr/>
        </p:nvSpPr>
        <p:spPr>
          <a:xfrm>
            <a:off x="2847147" y="3165110"/>
            <a:ext cx="5688632" cy="576064"/>
          </a:xfrm>
          <a:prstGeom prst="foldedCorner">
            <a:avLst/>
          </a:prstGeom>
          <a:solidFill>
            <a:srgbClr val="FFD087"/>
          </a:solidFill>
        </p:spPr>
        <p:style>
          <a:lnRef idx="1">
            <a:schemeClr val="accent6"/>
          </a:lnRef>
          <a:fillRef idx="2">
            <a:schemeClr val="accent6"/>
          </a:fillRef>
          <a:effectRef idx="1">
            <a:schemeClr val="accent6"/>
          </a:effectRef>
          <a:fontRef idx="minor">
            <a:schemeClr val="dk1"/>
          </a:fontRef>
        </p:style>
        <p:txBody>
          <a:bodyPr tIns="36000" bIns="0" rtlCol="0" anchor="t" anchorCtr="0"/>
          <a:lstStyle/>
          <a:p>
            <a:r>
              <a:rPr lang="en-US" sz="900" b="1" u="sng" dirty="0">
                <a:solidFill>
                  <a:schemeClr val="accent1"/>
                </a:solidFill>
                <a:latin typeface="Encode Sans" pitchFamily="2" charset="0"/>
              </a:rPr>
              <a:t>Example</a:t>
            </a:r>
            <a:r>
              <a:rPr lang="en-US" sz="900" b="1" dirty="0">
                <a:solidFill>
                  <a:schemeClr val="accent1"/>
                </a:solidFill>
                <a:latin typeface="Encode Sans" pitchFamily="2" charset="0"/>
              </a:rPr>
              <a:t>:</a:t>
            </a:r>
          </a:p>
          <a:p>
            <a:r>
              <a:rPr lang="en-US" sz="900" dirty="0">
                <a:solidFill>
                  <a:schemeClr val="accent1"/>
                </a:solidFill>
                <a:latin typeface="Encode Sans" pitchFamily="2" charset="0"/>
              </a:rPr>
              <a:t> </a:t>
            </a:r>
          </a:p>
        </p:txBody>
      </p:sp>
      <p:pic>
        <p:nvPicPr>
          <p:cNvPr id="14" name="Image 13">
            <a:extLst>
              <a:ext uri="{FF2B5EF4-FFF2-40B4-BE49-F238E27FC236}">
                <a16:creationId xmlns:a16="http://schemas.microsoft.com/office/drawing/2014/main" id="{C05593C7-5280-1E34-7011-3BB84A4C5FED}"/>
              </a:ext>
            </a:extLst>
          </p:cNvPr>
          <p:cNvPicPr>
            <a:picLocks noChangeAspect="1"/>
          </p:cNvPicPr>
          <p:nvPr/>
        </p:nvPicPr>
        <p:blipFill>
          <a:blip r:embed="rId3"/>
          <a:stretch>
            <a:fillRect/>
          </a:stretch>
        </p:blipFill>
        <p:spPr>
          <a:xfrm>
            <a:off x="3464690" y="3350594"/>
            <a:ext cx="4855065" cy="358663"/>
          </a:xfrm>
          <a:prstGeom prst="rect">
            <a:avLst/>
          </a:prstGeom>
        </p:spPr>
      </p:pic>
      <p:pic>
        <p:nvPicPr>
          <p:cNvPr id="3" name="Image 2">
            <a:extLst>
              <a:ext uri="{FF2B5EF4-FFF2-40B4-BE49-F238E27FC236}">
                <a16:creationId xmlns:a16="http://schemas.microsoft.com/office/drawing/2014/main" id="{581F61D7-1CFD-CF87-731A-19D05738A404}"/>
              </a:ext>
            </a:extLst>
          </p:cNvPr>
          <p:cNvPicPr>
            <a:picLocks noChangeAspect="1"/>
          </p:cNvPicPr>
          <p:nvPr/>
        </p:nvPicPr>
        <p:blipFill>
          <a:blip r:embed="rId4"/>
          <a:stretch>
            <a:fillRect/>
          </a:stretch>
        </p:blipFill>
        <p:spPr>
          <a:xfrm>
            <a:off x="3535028" y="1893101"/>
            <a:ext cx="4152900" cy="1069907"/>
          </a:xfrm>
          <a:prstGeom prst="rect">
            <a:avLst/>
          </a:prstGeom>
        </p:spPr>
      </p:pic>
      <p:sp>
        <p:nvSpPr>
          <p:cNvPr id="6" name="ZoneTexte 5">
            <a:extLst>
              <a:ext uri="{FF2B5EF4-FFF2-40B4-BE49-F238E27FC236}">
                <a16:creationId xmlns:a16="http://schemas.microsoft.com/office/drawing/2014/main" id="{AF1C34A8-86C5-35CA-4916-3098E16D0F1B}"/>
              </a:ext>
            </a:extLst>
          </p:cNvPr>
          <p:cNvSpPr txBox="1"/>
          <p:nvPr/>
        </p:nvSpPr>
        <p:spPr>
          <a:xfrm>
            <a:off x="4305594" y="768387"/>
            <a:ext cx="329634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u="sng" dirty="0">
                <a:latin typeface="Encode Sans" pitchFamily="2" charset="0"/>
              </a:rPr>
              <a:t>Remark</a:t>
            </a:r>
            <a:r>
              <a:rPr lang="en-US" sz="1000" dirty="0">
                <a:latin typeface="Encode Sans" pitchFamily="2" charset="0"/>
              </a:rPr>
              <a:t>: </a:t>
            </a:r>
            <a:br>
              <a:rPr lang="en-US" sz="1000" dirty="0">
                <a:latin typeface="Encode Sans" pitchFamily="2" charset="0"/>
              </a:rPr>
            </a:br>
            <a:r>
              <a:rPr lang="en-US" sz="1000" dirty="0">
                <a:latin typeface="Encode Sans" pitchFamily="2" charset="0"/>
              </a:rPr>
              <a:t>Mention here the benefits of the project</a:t>
            </a:r>
          </a:p>
        </p:txBody>
      </p:sp>
    </p:spTree>
    <p:extLst>
      <p:ext uri="{BB962C8B-B14F-4D97-AF65-F5344CB8AC3E}">
        <p14:creationId xmlns:p14="http://schemas.microsoft.com/office/powerpoint/2010/main" val="616701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Functional Architecture - DEPENDENCIES MACRO VIEW</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solidFill>
                  <a:schemeClr val="accent1"/>
                </a:solidFill>
                <a:latin typeface="Encode Sans" pitchFamily="2" charset="0"/>
              </a:rPr>
              <a:t>Functional Architecture document</a:t>
            </a:r>
            <a:r>
              <a:rPr lang="en-US" b="0">
                <a:solidFill>
                  <a:schemeClr val="accent1"/>
                </a:solidFill>
                <a:latin typeface="Encode Sans" pitchFamily="2" charset="0"/>
              </a:rPr>
              <a:t> (add here the link)</a:t>
            </a:r>
            <a:r>
              <a:rPr lang="en-US">
                <a:solidFill>
                  <a:schemeClr val="accent1"/>
                </a:solidFill>
                <a:latin typeface="Encode Sans" pitchFamily="2" charset="0"/>
              </a:rPr>
              <a:t> ​</a:t>
            </a:r>
          </a:p>
          <a:p>
            <a:pPr lvl="1"/>
            <a:r>
              <a:rPr lang="en-US">
                <a:solidFill>
                  <a:schemeClr val="accent1"/>
                </a:solidFill>
                <a:latin typeface="Encode Sans" pitchFamily="2" charset="0"/>
              </a:rPr>
              <a:t>Including list of applications decommissioning </a:t>
            </a:r>
          </a:p>
          <a:p>
            <a:pPr marL="628650" lvl="1" indent="0">
              <a:buNone/>
            </a:pPr>
            <a:r>
              <a:rPr lang="en-US">
                <a:solidFill>
                  <a:schemeClr val="accent1"/>
                </a:solidFill>
                <a:latin typeface="Encode Sans" pitchFamily="2" charset="0"/>
              </a:rPr>
              <a:t>(Application + date)​​</a:t>
            </a:r>
          </a:p>
          <a:p>
            <a:endParaRPr lang="en-US">
              <a:solidFill>
                <a:schemeClr val="accent1"/>
              </a:solidFill>
              <a:latin typeface="Encode Sans" pitchFamily="2" charset="0"/>
            </a:endParaRPr>
          </a:p>
          <a:p>
            <a:r>
              <a:rPr lang="en-US">
                <a:solidFill>
                  <a:schemeClr val="accent1"/>
                </a:solidFill>
                <a:latin typeface="Encode Sans" pitchFamily="2" charset="0"/>
              </a:rPr>
              <a:t>Functional architectural diagram </a:t>
            </a:r>
            <a:r>
              <a:rPr lang="en-US" sz="1200">
                <a:solidFill>
                  <a:schemeClr val="accent1"/>
                </a:solidFill>
                <a:latin typeface="Encode Sans" pitchFamily="2" charset="0"/>
              </a:rPr>
              <a:t>(Focus on the application interactions with other Information systems)</a:t>
            </a:r>
            <a:r>
              <a:rPr lang="en-US">
                <a:solidFill>
                  <a:schemeClr val="accent1"/>
                </a:solidFill>
                <a:latin typeface="Encode Sans" pitchFamily="2" charset="0"/>
              </a:rPr>
              <a:t>:</a:t>
            </a:r>
          </a:p>
          <a:p>
            <a:endParaRPr lang="en-US">
              <a:solidFill>
                <a:schemeClr val="accent1"/>
              </a:solidFill>
              <a:latin typeface="Encode Sans" pitchFamily="2" charset="0"/>
            </a:endParaRPr>
          </a:p>
          <a:p>
            <a:r>
              <a:rPr lang="en-US">
                <a:solidFill>
                  <a:schemeClr val="accent1"/>
                </a:solidFill>
                <a:latin typeface="Encode Sans" pitchFamily="2" charset="0"/>
              </a:rPr>
              <a:t>Macro-view:</a:t>
            </a:r>
          </a:p>
          <a:p>
            <a:pPr lvl="1"/>
            <a:r>
              <a:rPr lang="en-US">
                <a:solidFill>
                  <a:schemeClr val="accent1"/>
                </a:solidFill>
                <a:latin typeface="Encode Sans" pitchFamily="2" charset="0"/>
              </a:rPr>
              <a:t>Business functional view of the application (internal view) and add:</a:t>
            </a:r>
          </a:p>
          <a:p>
            <a:pPr lvl="2"/>
            <a:r>
              <a:rPr lang="en-US">
                <a:solidFill>
                  <a:schemeClr val="accent1"/>
                </a:solidFill>
                <a:latin typeface="Encode Sans" pitchFamily="2" charset="0"/>
              </a:rPr>
              <a:t>Isolation of critical/non-critical functions.</a:t>
            </a:r>
          </a:p>
          <a:p>
            <a:pPr lvl="1"/>
            <a:r>
              <a:rPr lang="en-US">
                <a:solidFill>
                  <a:schemeClr val="accent1"/>
                </a:solidFill>
                <a:latin typeface="Encode Sans" pitchFamily="2" charset="0"/>
              </a:rPr>
              <a:t>Functional business view of user's interactions(end user, admin, ….) and add:</a:t>
            </a:r>
          </a:p>
          <a:p>
            <a:pPr lvl="2"/>
            <a:r>
              <a:rPr lang="en-US">
                <a:solidFill>
                  <a:schemeClr val="accent1"/>
                </a:solidFill>
                <a:latin typeface="Encode Sans" pitchFamily="2" charset="0"/>
              </a:rPr>
              <a:t>User profiles (public, internal, third parties, partners, </a:t>
            </a:r>
            <a:r>
              <a:rPr lang="en-US" err="1">
                <a:solidFill>
                  <a:schemeClr val="accent1"/>
                </a:solidFill>
                <a:latin typeface="Encode Sans" pitchFamily="2" charset="0"/>
              </a:rPr>
              <a:t>etc</a:t>
            </a:r>
            <a:r>
              <a:rPr lang="en-US">
                <a:solidFill>
                  <a:schemeClr val="accent1"/>
                </a:solidFill>
                <a:latin typeface="Encode Sans" pitchFamily="2" charset="0"/>
              </a:rPr>
              <a:t>…),</a:t>
            </a:r>
          </a:p>
          <a:p>
            <a:pPr lvl="2"/>
            <a:r>
              <a:rPr lang="en-US">
                <a:solidFill>
                  <a:schemeClr val="accent1"/>
                </a:solidFill>
                <a:latin typeface="Encode Sans" pitchFamily="2" charset="0"/>
              </a:rPr>
              <a:t>User localization,</a:t>
            </a:r>
          </a:p>
          <a:p>
            <a:pPr lvl="2"/>
            <a:r>
              <a:rPr lang="en-US">
                <a:solidFill>
                  <a:schemeClr val="accent1"/>
                </a:solidFill>
                <a:latin typeface="Encode Sans" pitchFamily="2" charset="0"/>
              </a:rPr>
              <a:t>Access mode: by using a mobile, browser, …</a:t>
            </a:r>
          </a:p>
        </p:txBody>
      </p:sp>
      <p:sp>
        <p:nvSpPr>
          <p:cNvPr id="2" name="ZoneTexte 1">
            <a:extLst>
              <a:ext uri="{FF2B5EF4-FFF2-40B4-BE49-F238E27FC236}">
                <a16:creationId xmlns:a16="http://schemas.microsoft.com/office/drawing/2014/main" id="{7EA3CC87-B960-D940-8A84-5A472B4C5167}"/>
              </a:ext>
            </a:extLst>
          </p:cNvPr>
          <p:cNvSpPr txBox="1"/>
          <p:nvPr/>
        </p:nvSpPr>
        <p:spPr>
          <a:xfrm>
            <a:off x="5842814" y="825132"/>
            <a:ext cx="2774950" cy="707886"/>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solidFill>
                  <a:schemeClr val="accent1"/>
                </a:solidFill>
                <a:latin typeface="Encode Sans" pitchFamily="2" charset="0"/>
              </a:rPr>
              <a:t>Remark:</a:t>
            </a:r>
            <a:br>
              <a:rPr lang="en-US" u="none">
                <a:solidFill>
                  <a:schemeClr val="accent1"/>
                </a:solidFill>
                <a:latin typeface="Encode Sans" pitchFamily="2" charset="0"/>
              </a:rPr>
            </a:br>
            <a:r>
              <a:rPr lang="en-US" u="none">
                <a:solidFill>
                  <a:schemeClr val="accent1"/>
                </a:solidFill>
                <a:latin typeface="Encode Sans" pitchFamily="2" charset="0"/>
              </a:rPr>
              <a:t>The functional architecture must be validated by the Functional Architect before the technical gate.</a:t>
            </a:r>
          </a:p>
        </p:txBody>
      </p:sp>
    </p:spTree>
    <p:custDataLst>
      <p:tags r:id="rId1"/>
    </p:custDataLst>
    <p:extLst>
      <p:ext uri="{BB962C8B-B14F-4D97-AF65-F5344CB8AC3E}">
        <p14:creationId xmlns:p14="http://schemas.microsoft.com/office/powerpoint/2010/main" val="2310149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dirty="0">
                <a:ln>
                  <a:noFill/>
                </a:ln>
                <a:solidFill>
                  <a:prstClr val="white"/>
                </a:solidFill>
                <a:effectLst/>
                <a:uLnTx/>
                <a:uFillTx/>
                <a:latin typeface="Encode Sans"/>
                <a:ea typeface="+mj-ea"/>
                <a:cs typeface="+mj-cs"/>
              </a:rPr>
              <a:t>Solution 1 - Non-Functional Requirements (NFR)</a:t>
            </a:r>
            <a:endParaRPr dirty="0">
              <a:latin typeface="Encode Sans" pitchFamily="2" charset="0"/>
            </a:endParaRPr>
          </a:p>
        </p:txBody>
      </p:sp>
      <p:sp>
        <p:nvSpPr>
          <p:cNvPr id="5" name="Espace réservé du contenu 1">
            <a:extLst>
              <a:ext uri="{FF2B5EF4-FFF2-40B4-BE49-F238E27FC236}">
                <a16:creationId xmlns:a16="http://schemas.microsoft.com/office/drawing/2014/main" id="{1F28BC34-6B79-4464-93D1-3FB589648A46}"/>
              </a:ext>
            </a:extLst>
          </p:cNvPr>
          <p:cNvSpPr txBox="1">
            <a:spLocks/>
          </p:cNvSpPr>
          <p:nvPr/>
        </p:nvSpPr>
        <p:spPr>
          <a:xfrm>
            <a:off x="296863" y="795614"/>
            <a:ext cx="8523609" cy="4032447"/>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dirty="0">
              <a:solidFill>
                <a:schemeClr val="accent1"/>
              </a:solidFill>
              <a:latin typeface="Encode Sans" pitchFamily="2" charset="0"/>
            </a:endParaRPr>
          </a:p>
          <a:p>
            <a:r>
              <a:rPr lang="en-US" dirty="0">
                <a:solidFill>
                  <a:schemeClr val="accent1"/>
                </a:solidFill>
                <a:latin typeface="Encode Sans" pitchFamily="2" charset="0"/>
              </a:rPr>
              <a:t>Non-Functional Requirements document(s) </a:t>
            </a:r>
            <a:r>
              <a:rPr lang="en-US" b="0" dirty="0">
                <a:solidFill>
                  <a:schemeClr val="accent1"/>
                </a:solidFill>
                <a:latin typeface="Encode Sans" pitchFamily="2" charset="0"/>
              </a:rPr>
              <a:t>(</a:t>
            </a:r>
            <a:r>
              <a:rPr lang="en-US" sz="1300" b="0" dirty="0">
                <a:solidFill>
                  <a:schemeClr val="accent1"/>
                </a:solidFill>
                <a:latin typeface="Encode Sans" pitchFamily="2" charset="0"/>
              </a:rPr>
              <a:t>add here the link from the project repository</a:t>
            </a:r>
            <a:r>
              <a:rPr lang="en-US" b="0" dirty="0">
                <a:solidFill>
                  <a:schemeClr val="accent1"/>
                </a:solidFill>
                <a:latin typeface="Encode Sans" pitchFamily="2" charset="0"/>
              </a:rPr>
              <a:t>)</a:t>
            </a:r>
            <a:r>
              <a:rPr lang="en-US" dirty="0">
                <a:solidFill>
                  <a:schemeClr val="accent1"/>
                </a:solidFill>
                <a:latin typeface="Encode Sans" pitchFamily="2" charset="0"/>
              </a:rPr>
              <a:t> </a:t>
            </a:r>
          </a:p>
          <a:p>
            <a:endParaRPr lang="en-US" dirty="0">
              <a:solidFill>
                <a:schemeClr val="accent1"/>
              </a:solidFill>
              <a:latin typeface="Encode Sans" pitchFamily="2" charset="0"/>
            </a:endParaRPr>
          </a:p>
          <a:p>
            <a:r>
              <a:rPr lang="en-US" dirty="0">
                <a:solidFill>
                  <a:schemeClr val="accent1"/>
                </a:solidFill>
                <a:latin typeface="Encode Sans" pitchFamily="2" charset="0"/>
              </a:rPr>
              <a:t>Compliance with non-functional requirements:​</a:t>
            </a:r>
          </a:p>
          <a:p>
            <a:pPr lvl="1" fontAlgn="base"/>
            <a:r>
              <a:rPr lang="en-US" dirty="0">
                <a:solidFill>
                  <a:schemeClr val="accent1"/>
                </a:solidFill>
                <a:latin typeface="Encode Sans" pitchFamily="2" charset="0"/>
              </a:rPr>
              <a:t>All expected Non-Functional Requirements will be implemented</a:t>
            </a:r>
          </a:p>
          <a:p>
            <a:pPr marL="371475" lvl="1" indent="0" fontAlgn="base">
              <a:buNone/>
            </a:pPr>
            <a:r>
              <a:rPr lang="en-US" dirty="0">
                <a:solidFill>
                  <a:srgbClr val="FF0000"/>
                </a:solidFill>
                <a:latin typeface="Encode Sans" pitchFamily="2" charset="0"/>
              </a:rPr>
              <a:t>(if not, list all NFR that will not be implemented and explain why to have the approval during the gate. The project manager is engaged to implement all NFR not listed here)</a:t>
            </a:r>
          </a:p>
          <a:p>
            <a:pPr lvl="1" fontAlgn="base"/>
            <a:endParaRPr lang="en-US" dirty="0">
              <a:solidFill>
                <a:schemeClr val="accent1"/>
              </a:solidFill>
              <a:latin typeface="Encode Sans" pitchFamily="2" charset="0"/>
            </a:endParaRPr>
          </a:p>
          <a:p>
            <a:pPr lvl="1" fontAlgn="base"/>
            <a:endParaRPr lang="en-US" dirty="0">
              <a:solidFill>
                <a:schemeClr val="accent1"/>
              </a:solidFill>
              <a:latin typeface="Encode Sans" pitchFamily="2" charset="0"/>
            </a:endParaRPr>
          </a:p>
          <a:p>
            <a:pPr lvl="1" fontAlgn="base"/>
            <a:endParaRPr lang="en-US" dirty="0">
              <a:solidFill>
                <a:schemeClr val="accent1"/>
              </a:solidFill>
              <a:latin typeface="Encode Sans" pitchFamily="2" charset="0"/>
            </a:endParaRPr>
          </a:p>
          <a:p>
            <a:pPr lvl="1" fontAlgn="base"/>
            <a:endParaRPr lang="en-US" dirty="0">
              <a:solidFill>
                <a:schemeClr val="accent1"/>
              </a:solidFill>
              <a:latin typeface="Encode Sans" pitchFamily="2" charset="0"/>
            </a:endParaRPr>
          </a:p>
          <a:p>
            <a:pPr lvl="1" fontAlgn="base"/>
            <a:endParaRPr lang="en-US" dirty="0">
              <a:solidFill>
                <a:schemeClr val="accent1"/>
              </a:solidFill>
              <a:latin typeface="Encode Sans" pitchFamily="2" charset="0"/>
            </a:endParaRPr>
          </a:p>
          <a:p>
            <a:pPr lvl="1" fontAlgn="base"/>
            <a:endParaRPr lang="en-US" dirty="0">
              <a:solidFill>
                <a:schemeClr val="accent1"/>
              </a:solidFill>
              <a:latin typeface="Encode Sans" pitchFamily="2" charset="0"/>
            </a:endParaRPr>
          </a:p>
          <a:p>
            <a:pPr lvl="1" fontAlgn="base"/>
            <a:endParaRPr lang="en-US" dirty="0">
              <a:solidFill>
                <a:schemeClr val="accent1"/>
              </a:solidFill>
              <a:latin typeface="Encode Sans" pitchFamily="2" charset="0"/>
            </a:endParaRPr>
          </a:p>
          <a:p>
            <a:pPr marL="82550" indent="0" fontAlgn="base">
              <a:buFont typeface="Wingdings" panose="05000000000000000000" pitchFamily="2" charset="2"/>
              <a:buNone/>
            </a:pPr>
            <a:r>
              <a:rPr lang="en-US" sz="1400" b="0" i="1" dirty="0">
                <a:solidFill>
                  <a:schemeClr val="accent1"/>
                </a:solidFill>
                <a:latin typeface="Encode Sans" pitchFamily="2" charset="0"/>
              </a:rPr>
              <a:t>To present multiple solutions, duplicate the 5 slides referring to the solution 1</a:t>
            </a:r>
          </a:p>
        </p:txBody>
      </p:sp>
      <p:sp>
        <p:nvSpPr>
          <p:cNvPr id="2" name="ZoneTexte 1">
            <a:extLst>
              <a:ext uri="{FF2B5EF4-FFF2-40B4-BE49-F238E27FC236}">
                <a16:creationId xmlns:a16="http://schemas.microsoft.com/office/drawing/2014/main" id="{D9C1EBCF-7331-C58A-5D10-37D1A0AF22EF}"/>
              </a:ext>
            </a:extLst>
          </p:cNvPr>
          <p:cNvSpPr txBox="1"/>
          <p:nvPr/>
        </p:nvSpPr>
        <p:spPr>
          <a:xfrm>
            <a:off x="3469422" y="2715051"/>
            <a:ext cx="2726661" cy="369332"/>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900" b="1" u="none">
                <a:latin typeface="Encode Sans" pitchFamily="2" charset="0"/>
              </a:rPr>
              <a:t>Link to NFR model on Meteor-IT</a:t>
            </a:r>
          </a:p>
          <a:p>
            <a:r>
              <a:rPr lang="en-GB" sz="900">
                <a:hlinkClick r:id="rId4"/>
              </a:rPr>
              <a:t>Documentation/Non-Functional Requirements</a:t>
            </a:r>
            <a:endParaRPr lang="en-US" sz="300" u="none">
              <a:latin typeface="Encode Sans" pitchFamily="2" charset="0"/>
            </a:endParaRPr>
          </a:p>
        </p:txBody>
      </p:sp>
      <p:sp>
        <p:nvSpPr>
          <p:cNvPr id="3" name="ZoneTexte 2">
            <a:extLst>
              <a:ext uri="{FF2B5EF4-FFF2-40B4-BE49-F238E27FC236}">
                <a16:creationId xmlns:a16="http://schemas.microsoft.com/office/drawing/2014/main" id="{D23565C4-1A89-9918-07B9-A8AF6BAEF3CA}"/>
              </a:ext>
            </a:extLst>
          </p:cNvPr>
          <p:cNvSpPr txBox="1"/>
          <p:nvPr/>
        </p:nvSpPr>
        <p:spPr>
          <a:xfrm>
            <a:off x="7057877" y="2715051"/>
            <a:ext cx="1762595" cy="1754326"/>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900" b="1" u="none">
                <a:latin typeface="Encode Sans" pitchFamily="2" charset="0"/>
              </a:rPr>
              <a:t>MANDATORY</a:t>
            </a:r>
            <a:r>
              <a:rPr lang="en-US" sz="900" u="none">
                <a:latin typeface="Encode Sans" pitchFamily="2" charset="0"/>
              </a:rPr>
              <a:t>: add the link to the non-functional requirements (NFR) document(s).</a:t>
            </a:r>
          </a:p>
          <a:p>
            <a:endParaRPr lang="en-US" sz="900" u="none">
              <a:latin typeface="Encode Sans" pitchFamily="2" charset="0"/>
            </a:endParaRPr>
          </a:p>
          <a:p>
            <a:r>
              <a:rPr lang="en-US" sz="900" u="none">
                <a:latin typeface="Encode Sans" pitchFamily="2" charset="0"/>
              </a:rPr>
              <a:t>The reasons why any NFR will not be implemented must be justified.</a:t>
            </a:r>
          </a:p>
          <a:p>
            <a:endParaRPr lang="en-US" sz="900" u="none">
              <a:latin typeface="Encode Sans" pitchFamily="2" charset="0"/>
            </a:endParaRPr>
          </a:p>
          <a:p>
            <a:r>
              <a:rPr lang="en-US" sz="900" u="none">
                <a:latin typeface="Encode Sans" pitchFamily="2" charset="0"/>
              </a:rPr>
              <a:t>The choices about non implemented NFR must be validated during the TCC</a:t>
            </a:r>
          </a:p>
        </p:txBody>
      </p:sp>
    </p:spTree>
    <p:custDataLst>
      <p:tags r:id="rId1"/>
    </p:custDataLst>
    <p:extLst>
      <p:ext uri="{BB962C8B-B14F-4D97-AF65-F5344CB8AC3E}">
        <p14:creationId xmlns:p14="http://schemas.microsoft.com/office/powerpoint/2010/main" val="2920607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Enterprise Architecture - DEPENDENCIES MACRO VIEW</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solidFill>
                  <a:schemeClr val="accent1"/>
                </a:solidFill>
                <a:latin typeface="Encode Sans" pitchFamily="2" charset="0"/>
              </a:rPr>
              <a:t>Business / functional Application Flow </a:t>
            </a:r>
            <a:r>
              <a:rPr lang="en-US" b="0" dirty="0">
                <a:solidFill>
                  <a:schemeClr val="accent1"/>
                </a:solidFill>
                <a:latin typeface="Encode Sans" pitchFamily="2" charset="0"/>
              </a:rPr>
              <a:t>(</a:t>
            </a:r>
            <a:r>
              <a:rPr lang="en-US" b="0" dirty="0">
                <a:solidFill>
                  <a:schemeClr val="accent1"/>
                </a:solidFill>
                <a:highlight>
                  <a:srgbClr val="FFFF00"/>
                </a:highlight>
                <a:latin typeface="Encode Sans" pitchFamily="2" charset="0"/>
              </a:rPr>
              <a:t>add here the link described in ARIS tool and based on E</a:t>
            </a:r>
            <a:r>
              <a:rPr lang="en-US" b="0" dirty="0">
                <a:solidFill>
                  <a:schemeClr val="accent1"/>
                </a:solidFill>
                <a:highlight>
                  <a:srgbClr val="FFFF00"/>
                </a:highlight>
                <a:latin typeface="Encode Sans" pitchFamily="2" charset="0"/>
                <a:hlinkClick r:id="rId4"/>
              </a:rPr>
              <a:t>xamples</a:t>
            </a:r>
            <a:r>
              <a:rPr lang="en-US" b="0" dirty="0">
                <a:solidFill>
                  <a:schemeClr val="accent1"/>
                </a:solidFill>
                <a:latin typeface="Encode Sans" pitchFamily="2" charset="0"/>
              </a:rPr>
              <a:t>)</a:t>
            </a:r>
            <a:r>
              <a:rPr lang="en-US" dirty="0">
                <a:solidFill>
                  <a:schemeClr val="accent1"/>
                </a:solidFill>
                <a:latin typeface="Encode Sans" pitchFamily="2" charset="0"/>
              </a:rPr>
              <a:t> ​</a:t>
            </a:r>
          </a:p>
          <a:p>
            <a:endParaRPr lang="en-US" dirty="0">
              <a:solidFill>
                <a:schemeClr val="accent1"/>
              </a:solidFill>
              <a:latin typeface="Encode Sans" pitchFamily="2" charset="0"/>
              <a:hlinkClick r:id="rId5"/>
            </a:endParaRPr>
          </a:p>
          <a:p>
            <a:endParaRPr lang="en-US" dirty="0">
              <a:solidFill>
                <a:schemeClr val="accent1"/>
              </a:solidFill>
              <a:latin typeface="Encode Sans" pitchFamily="2" charset="0"/>
              <a:hlinkClick r:id="rId5"/>
            </a:endParaRPr>
          </a:p>
          <a:p>
            <a:endParaRPr lang="en-US" dirty="0">
              <a:solidFill>
                <a:schemeClr val="accent1"/>
              </a:solidFill>
              <a:latin typeface="Encode Sans" pitchFamily="2" charset="0"/>
              <a:hlinkClick r:id="rId5"/>
            </a:endParaRPr>
          </a:p>
          <a:p>
            <a:endParaRPr lang="en-US" dirty="0">
              <a:solidFill>
                <a:schemeClr val="accent1"/>
              </a:solidFill>
              <a:latin typeface="Encode Sans" pitchFamily="2" charset="0"/>
              <a:hlinkClick r:id="rId5"/>
            </a:endParaRPr>
          </a:p>
          <a:p>
            <a:r>
              <a:rPr lang="en-US" dirty="0" err="1">
                <a:solidFill>
                  <a:schemeClr val="accent1"/>
                </a:solidFill>
                <a:latin typeface="Encode Sans" pitchFamily="2" charset="0"/>
                <a:hlinkClick r:id="rId5"/>
              </a:rPr>
              <a:t>SIBS_CCT_template</a:t>
            </a:r>
            <a:r>
              <a:rPr lang="en-US" dirty="0">
                <a:solidFill>
                  <a:schemeClr val="accent1"/>
                </a:solidFill>
                <a:latin typeface="Encode Sans" pitchFamily="2" charset="0"/>
                <a:hlinkClick r:id="rId5"/>
              </a:rPr>
              <a:t>-flow-mapping</a:t>
            </a:r>
            <a:endParaRPr lang="en-US" dirty="0">
              <a:solidFill>
                <a:schemeClr val="accent1"/>
              </a:solidFill>
              <a:latin typeface="Encode Sans" pitchFamily="2" charset="0"/>
            </a:endParaRPr>
          </a:p>
          <a:p>
            <a:endParaRPr lang="en-US" dirty="0">
              <a:solidFill>
                <a:schemeClr val="accent1"/>
              </a:solidFill>
              <a:latin typeface="Encode Sans" pitchFamily="2" charset="0"/>
            </a:endParaRPr>
          </a:p>
          <a:p>
            <a:endParaRPr lang="en-US" dirty="0">
              <a:solidFill>
                <a:schemeClr val="accent1"/>
              </a:solidFill>
              <a:latin typeface="Encode Sans" pitchFamily="2" charset="0"/>
            </a:endParaRPr>
          </a:p>
          <a:p>
            <a:endParaRPr lang="en-US" dirty="0">
              <a:solidFill>
                <a:schemeClr val="accent1"/>
              </a:solidFill>
              <a:latin typeface="Encode Sans" pitchFamily="2" charset="0"/>
            </a:endParaRPr>
          </a:p>
          <a:p>
            <a:endParaRPr lang="en-US" dirty="0">
              <a:solidFill>
                <a:schemeClr val="accent1"/>
              </a:solidFill>
              <a:latin typeface="Encode Sans" pitchFamily="2" charset="0"/>
            </a:endParaRPr>
          </a:p>
        </p:txBody>
      </p:sp>
      <p:pic>
        <p:nvPicPr>
          <p:cNvPr id="2" name="Image 1">
            <a:extLst>
              <a:ext uri="{FF2B5EF4-FFF2-40B4-BE49-F238E27FC236}">
                <a16:creationId xmlns:a16="http://schemas.microsoft.com/office/drawing/2014/main" id="{D84E6316-4E8E-6724-A660-5E7EE6D87F68}"/>
              </a:ext>
            </a:extLst>
          </p:cNvPr>
          <p:cNvPicPr>
            <a:picLocks noChangeAspect="1"/>
          </p:cNvPicPr>
          <p:nvPr/>
        </p:nvPicPr>
        <p:blipFill>
          <a:blip r:embed="rId6"/>
          <a:stretch>
            <a:fillRect/>
          </a:stretch>
        </p:blipFill>
        <p:spPr>
          <a:xfrm>
            <a:off x="344309" y="4182712"/>
            <a:ext cx="8133628" cy="517437"/>
          </a:xfrm>
          <a:prstGeom prst="rect">
            <a:avLst/>
          </a:prstGeom>
        </p:spPr>
      </p:pic>
      <p:pic>
        <p:nvPicPr>
          <p:cNvPr id="6" name="Image 5">
            <a:extLst>
              <a:ext uri="{FF2B5EF4-FFF2-40B4-BE49-F238E27FC236}">
                <a16:creationId xmlns:a16="http://schemas.microsoft.com/office/drawing/2014/main" id="{9DC8B97C-B9FC-D1DC-B591-0C7A486F6C7F}"/>
              </a:ext>
            </a:extLst>
          </p:cNvPr>
          <p:cNvPicPr>
            <a:picLocks noChangeAspect="1"/>
          </p:cNvPicPr>
          <p:nvPr/>
        </p:nvPicPr>
        <p:blipFill>
          <a:blip r:embed="rId7"/>
          <a:stretch>
            <a:fillRect/>
          </a:stretch>
        </p:blipFill>
        <p:spPr>
          <a:xfrm>
            <a:off x="4502727" y="1699400"/>
            <a:ext cx="3532909" cy="1738612"/>
          </a:xfrm>
          <a:prstGeom prst="rect">
            <a:avLst/>
          </a:prstGeom>
        </p:spPr>
      </p:pic>
    </p:spTree>
    <p:custDataLst>
      <p:tags r:id="rId1"/>
    </p:custDataLst>
    <p:extLst>
      <p:ext uri="{BB962C8B-B14F-4D97-AF65-F5344CB8AC3E}">
        <p14:creationId xmlns:p14="http://schemas.microsoft.com/office/powerpoint/2010/main" val="2181112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FOR SOX / CAC APPLICATIONS</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chor="t">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solidFill>
                  <a:schemeClr val="accent1"/>
                </a:solidFill>
                <a:latin typeface="Encode Sans"/>
                <a:cs typeface="Arial"/>
              </a:rPr>
              <a:t>Stock-flow identification</a:t>
            </a:r>
          </a:p>
          <a:p>
            <a:pPr marL="371475" lvl="1" indent="0">
              <a:buNone/>
            </a:pPr>
            <a:endParaRPr lang="en-US">
              <a:solidFill>
                <a:schemeClr val="accent1"/>
              </a:solidFill>
              <a:latin typeface="Encode Sans" pitchFamily="2" charset="0"/>
            </a:endParaRPr>
          </a:p>
          <a:p>
            <a:endParaRPr lang="en-US">
              <a:solidFill>
                <a:schemeClr val="accent1"/>
              </a:solidFill>
              <a:latin typeface="Encode Sans" pitchFamily="2" charset="0"/>
            </a:endParaRPr>
          </a:p>
          <a:p>
            <a:pPr marL="0" indent="0">
              <a:buNone/>
            </a:pPr>
            <a:endParaRPr lang="en-US">
              <a:solidFill>
                <a:schemeClr val="accent1"/>
              </a:solidFill>
              <a:latin typeface="Encode Sans" pitchFamily="2" charset="0"/>
            </a:endParaRPr>
          </a:p>
        </p:txBody>
      </p:sp>
      <p:sp>
        <p:nvSpPr>
          <p:cNvPr id="2" name="ZoneTexte 1">
            <a:extLst>
              <a:ext uri="{FF2B5EF4-FFF2-40B4-BE49-F238E27FC236}">
                <a16:creationId xmlns:a16="http://schemas.microsoft.com/office/drawing/2014/main" id="{F88C9EAD-1A5E-1500-EF8A-BFE9A4F5E943}"/>
              </a:ext>
            </a:extLst>
          </p:cNvPr>
          <p:cNvSpPr txBox="1"/>
          <p:nvPr/>
        </p:nvSpPr>
        <p:spPr>
          <a:xfrm>
            <a:off x="402350" y="1090423"/>
            <a:ext cx="8215177" cy="3939540"/>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solidFill>
                  <a:schemeClr val="accent1"/>
                </a:solidFill>
                <a:latin typeface="Encode Sans"/>
              </a:rPr>
              <a:t>Stock flow control definition</a:t>
            </a:r>
            <a:r>
              <a:rPr lang="en-US" u="none">
                <a:solidFill>
                  <a:schemeClr val="accent1"/>
                </a:solidFill>
                <a:latin typeface="Encode Sans"/>
              </a:rPr>
              <a:t>:  </a:t>
            </a:r>
            <a:r>
              <a:rPr lang="en-US" u="none">
                <a:solidFill>
                  <a:schemeClr val="accent5"/>
                </a:solidFill>
                <a:latin typeface="Segoe UI"/>
                <a:cs typeface="Segoe UI"/>
              </a:rPr>
              <a:t>From a SFSE perspective, when a back-office sends a financial data flow, it is translated by a flow sent to the accounting systems and generates a variation in the balance. The stock-flow control ensures no movement is lost during automatized treatments. If a movement is lost; the variation of stock does not match with the sum of flows therefore triggering an alert at IT and business level. Stock-flow controls can be defined according to the interface (i.e. back-office, accounting systems) and at different levels (number of records, writing status, global balance…) depending on the sensitivity of the process and the business needs. More generally, stock-flow controls can be applied outside finance, like supply-chain or commercial orders processing.</a:t>
            </a:r>
          </a:p>
          <a:p>
            <a:endParaRPr lang="en-US" sz="1100" u="none">
              <a:solidFill>
                <a:srgbClr val="242424"/>
              </a:solidFill>
              <a:latin typeface="Segoe UI"/>
              <a:cs typeface="Segoe UI"/>
            </a:endParaRPr>
          </a:p>
          <a:p>
            <a:r>
              <a:rPr lang="en-US">
                <a:solidFill>
                  <a:schemeClr val="accent1"/>
                </a:solidFill>
                <a:latin typeface="Encode Sans"/>
              </a:rPr>
              <a:t>Expected</a:t>
            </a:r>
            <a:r>
              <a:rPr lang="en-US" u="none">
                <a:solidFill>
                  <a:schemeClr val="accent1"/>
                </a:solidFill>
                <a:latin typeface="Encode Sans"/>
              </a:rPr>
              <a:t>: </a:t>
            </a:r>
            <a:r>
              <a:rPr lang="en-US" u="none">
                <a:solidFill>
                  <a:schemeClr val="accent5"/>
                </a:solidFill>
                <a:latin typeface="Segoe UI" panose="020B0502040204020203" pitchFamily="34" charset="0"/>
                <a:cs typeface="Segoe UI" panose="020B0502040204020203" pitchFamily="34" charset="0"/>
              </a:rPr>
              <a:t>The stock-flow scope relies mainly on the perimeter of the works of the statutory and SOX auditors. Internal Auditors can also issue recommendations in that respect. In broad terms, the scope is the generation of the financial reporting for the shareholders. A strategy has been defined jointly to secure this perimeter by order of priority:</a:t>
            </a:r>
          </a:p>
          <a:p>
            <a:pPr marL="360000"/>
            <a:r>
              <a:rPr lang="en-US" u="none">
                <a:solidFill>
                  <a:schemeClr val="accent5"/>
                </a:solidFill>
                <a:latin typeface="Segoe UI" panose="020B0502040204020203" pitchFamily="34" charset="0"/>
                <a:cs typeface="Segoe UI" panose="020B0502040204020203" pitchFamily="34" charset="0"/>
              </a:rPr>
              <a:t>0- Sustainability of the systems involved</a:t>
            </a:r>
          </a:p>
          <a:p>
            <a:pPr marL="360000"/>
            <a:r>
              <a:rPr lang="en-US" u="none">
                <a:solidFill>
                  <a:schemeClr val="accent5"/>
                </a:solidFill>
                <a:latin typeface="Segoe UI" panose="020B0502040204020203" pitchFamily="34" charset="0"/>
                <a:cs typeface="Segoe UI" panose="020B0502040204020203" pitchFamily="34" charset="0"/>
              </a:rPr>
              <a:t>1- Securing inter-SOX application data flows including gateways: list </a:t>
            </a:r>
            <a:r>
              <a:rPr lang="en-US" u="none">
                <a:solidFill>
                  <a:schemeClr val="accent5"/>
                </a:solidFill>
                <a:latin typeface="Segoe UI" panose="020B0502040204020203" pitchFamily="34" charset="0"/>
                <a:cs typeface="Segoe UI" panose="020B0502040204020203" pitchFamily="34" charset="0"/>
                <a:hlinkClick r:id="rId4"/>
              </a:rPr>
              <a:t>here</a:t>
            </a:r>
            <a:endParaRPr lang="en-US" u="none">
              <a:solidFill>
                <a:schemeClr val="accent5"/>
              </a:solidFill>
              <a:latin typeface="Segoe UI" panose="020B0502040204020203" pitchFamily="34" charset="0"/>
              <a:cs typeface="Segoe UI" panose="020B0502040204020203" pitchFamily="34" charset="0"/>
            </a:endParaRPr>
          </a:p>
          <a:p>
            <a:pPr marL="360000"/>
            <a:r>
              <a:rPr lang="en-US" u="none">
                <a:solidFill>
                  <a:schemeClr val="accent5"/>
                </a:solidFill>
                <a:latin typeface="Segoe UI" panose="020B0502040204020203" pitchFamily="34" charset="0"/>
                <a:cs typeface="Segoe UI" panose="020B0502040204020203" pitchFamily="34" charset="0"/>
              </a:rPr>
              <a:t>2- Securing inter-IFRS9 application data flows including gateways</a:t>
            </a:r>
          </a:p>
          <a:p>
            <a:pPr marL="360000"/>
            <a:r>
              <a:rPr lang="en-US" u="none">
                <a:solidFill>
                  <a:schemeClr val="accent5"/>
                </a:solidFill>
                <a:latin typeface="Segoe UI" panose="020B0502040204020203" pitchFamily="34" charset="0"/>
                <a:cs typeface="Segoe UI" panose="020B0502040204020203" pitchFamily="34" charset="0"/>
              </a:rPr>
              <a:t>3- Securing ITD treatments related to the General Ledger: list </a:t>
            </a:r>
            <a:r>
              <a:rPr lang="en-US" u="none">
                <a:solidFill>
                  <a:schemeClr val="accent5"/>
                </a:solidFill>
                <a:latin typeface="Segoe UI" panose="020B0502040204020203" pitchFamily="34" charset="0"/>
                <a:cs typeface="Segoe UI" panose="020B0502040204020203" pitchFamily="34" charset="0"/>
                <a:hlinkClick r:id="rId5"/>
              </a:rPr>
              <a:t>here</a:t>
            </a:r>
            <a:endParaRPr lang="en-US" u="none">
              <a:solidFill>
                <a:schemeClr val="accent5"/>
              </a:solidFill>
              <a:latin typeface="Segoe UI" panose="020B0502040204020203" pitchFamily="34" charset="0"/>
              <a:cs typeface="Segoe UI" panose="020B0502040204020203" pitchFamily="34" charset="0"/>
            </a:endParaRPr>
          </a:p>
          <a:p>
            <a:pPr marL="360000"/>
            <a:r>
              <a:rPr lang="en-US" u="none">
                <a:solidFill>
                  <a:schemeClr val="accent5"/>
                </a:solidFill>
                <a:latin typeface="Segoe UI" panose="020B0502040204020203" pitchFamily="34" charset="0"/>
                <a:cs typeface="Segoe UI" panose="020B0502040204020203" pitchFamily="34" charset="0"/>
              </a:rPr>
              <a:t>4- Securing financial data flows that have led to major operational incidents (as it comes)</a:t>
            </a:r>
          </a:p>
          <a:p>
            <a:endParaRPr lang="en-US" u="none">
              <a:solidFill>
                <a:schemeClr val="accent1"/>
              </a:solidFill>
              <a:latin typeface="Encode Sans"/>
            </a:endParaRPr>
          </a:p>
          <a:p>
            <a:r>
              <a:rPr lang="en-US">
                <a:solidFill>
                  <a:schemeClr val="accent1"/>
                </a:solidFill>
                <a:latin typeface="Encode Sans"/>
              </a:rPr>
              <a:t>Description of the solution</a:t>
            </a:r>
            <a:r>
              <a:rPr lang="en-US" u="none">
                <a:solidFill>
                  <a:schemeClr val="accent1"/>
                </a:solidFill>
                <a:latin typeface="Encode Sans"/>
              </a:rPr>
              <a:t>: </a:t>
            </a:r>
            <a:r>
              <a:rPr lang="en-US" u="none">
                <a:solidFill>
                  <a:schemeClr val="accent5"/>
                </a:solidFill>
                <a:latin typeface="Segoe UI" panose="020B0502040204020203" pitchFamily="34" charset="0"/>
                <a:cs typeface="Segoe UI" panose="020B0502040204020203" pitchFamily="34" charset="0"/>
              </a:rPr>
              <a:t>The set-up of stock-flow controls uses the “Control Tower” architecture. The treatment emitting the flow creates a header and a footer with the calculated parameters to control, it also creates a control file with a good achievement status sent to the Control Tower. The treatment receiving the data flow controls the information and sends a control file with a second achievement status to the Control Tower. In case of discrepancy, the recipient creates an incident in PSASM to raise an alert at IT level. The files sent to the “Control Tower” allow in-depth investigations by the business.</a:t>
            </a:r>
          </a:p>
          <a:p>
            <a:pPr marL="360000"/>
            <a:r>
              <a:rPr lang="en-US" u="none">
                <a:solidFill>
                  <a:schemeClr val="accent5"/>
                </a:solidFill>
                <a:latin typeface="Segoe UI" panose="020B0502040204020203" pitchFamily="34" charset="0"/>
                <a:cs typeface="Segoe UI" panose="020B0502040204020203" pitchFamily="34" charset="0"/>
              </a:rPr>
              <a:t>1- “Tour de </a:t>
            </a:r>
            <a:r>
              <a:rPr lang="en-US" u="none" err="1">
                <a:solidFill>
                  <a:schemeClr val="accent5"/>
                </a:solidFill>
                <a:latin typeface="Segoe UI" panose="020B0502040204020203" pitchFamily="34" charset="0"/>
                <a:cs typeface="Segoe UI" panose="020B0502040204020203" pitchFamily="34" charset="0"/>
              </a:rPr>
              <a:t>Contrôle</a:t>
            </a:r>
            <a:r>
              <a:rPr lang="en-US" u="none">
                <a:solidFill>
                  <a:schemeClr val="accent5"/>
                </a:solidFill>
                <a:latin typeface="Segoe UI" panose="020B0502040204020203" pitchFamily="34" charset="0"/>
                <a:cs typeface="Segoe UI" panose="020B0502040204020203" pitchFamily="34" charset="0"/>
              </a:rPr>
              <a:t>” general introduction: </a:t>
            </a:r>
            <a:r>
              <a:rPr lang="en-US" u="none">
                <a:solidFill>
                  <a:schemeClr val="accent5"/>
                </a:solidFill>
                <a:latin typeface="Segoe UI" panose="020B0502040204020203" pitchFamily="34" charset="0"/>
                <a:cs typeface="Segoe UI" panose="020B0502040204020203" pitchFamily="34" charset="0"/>
                <a:hlinkClick r:id="rId6"/>
              </a:rPr>
              <a:t>here</a:t>
            </a:r>
            <a:endParaRPr lang="en-US" u="none">
              <a:solidFill>
                <a:schemeClr val="accent5"/>
              </a:solidFill>
              <a:latin typeface="Segoe UI" panose="020B0502040204020203" pitchFamily="34" charset="0"/>
              <a:cs typeface="Segoe UI" panose="020B0502040204020203" pitchFamily="34" charset="0"/>
            </a:endParaRPr>
          </a:p>
          <a:p>
            <a:pPr marL="360000"/>
            <a:r>
              <a:rPr lang="en-US" u="none">
                <a:solidFill>
                  <a:schemeClr val="accent5"/>
                </a:solidFill>
                <a:latin typeface="Segoe UI" panose="020B0502040204020203" pitchFamily="34" charset="0"/>
                <a:cs typeface="Segoe UI" panose="020B0502040204020203" pitchFamily="34" charset="0"/>
              </a:rPr>
              <a:t>2- Header and footer’s specifications by the accounting department: </a:t>
            </a:r>
            <a:r>
              <a:rPr lang="en-US" u="none">
                <a:solidFill>
                  <a:schemeClr val="accent5"/>
                </a:solidFill>
                <a:latin typeface="Segoe UI" panose="020B0502040204020203" pitchFamily="34" charset="0"/>
                <a:cs typeface="Segoe UI" panose="020B0502040204020203" pitchFamily="34" charset="0"/>
                <a:hlinkClick r:id="rId7"/>
              </a:rPr>
              <a:t>here</a:t>
            </a:r>
            <a:endParaRPr lang="en-US" u="none">
              <a:solidFill>
                <a:schemeClr val="accent5"/>
              </a:solidFill>
              <a:latin typeface="Segoe UI" panose="020B0502040204020203" pitchFamily="34" charset="0"/>
              <a:cs typeface="Segoe UI" panose="020B0502040204020203" pitchFamily="34" charset="0"/>
            </a:endParaRPr>
          </a:p>
          <a:p>
            <a:endParaRPr lang="en-US" u="none">
              <a:solidFill>
                <a:schemeClr val="accent5"/>
              </a:solidFill>
              <a:latin typeface="Encode Sans"/>
            </a:endParaRPr>
          </a:p>
          <a:p>
            <a:pPr algn="r"/>
            <a:r>
              <a:rPr lang="en-US" sz="900" i="1" u="none">
                <a:solidFill>
                  <a:schemeClr val="accent5"/>
                </a:solidFill>
                <a:latin typeface="Encode Sans"/>
              </a:rPr>
              <a:t>*financial flows include accounting, cash and prudential flows</a:t>
            </a:r>
          </a:p>
        </p:txBody>
      </p:sp>
      <p:sp>
        <p:nvSpPr>
          <p:cNvPr id="3" name="TextBox 2">
            <a:extLst>
              <a:ext uri="{FF2B5EF4-FFF2-40B4-BE49-F238E27FC236}">
                <a16:creationId xmlns:a16="http://schemas.microsoft.com/office/drawing/2014/main" id="{2E7A694D-E140-0B57-AFFB-F4BF5F292710}"/>
              </a:ext>
            </a:extLst>
          </p:cNvPr>
          <p:cNvSpPr txBox="1"/>
          <p:nvPr/>
        </p:nvSpPr>
        <p:spPr>
          <a:xfrm rot="20145027">
            <a:off x="4539221" y="458225"/>
            <a:ext cx="2175596" cy="307777"/>
          </a:xfrm>
          <a:prstGeom prst="rect">
            <a:avLst/>
          </a:prstGeom>
          <a:noFill/>
        </p:spPr>
        <p:txBody>
          <a:bodyPr wrap="none" rtlCol="0">
            <a:spAutoFit/>
          </a:bodyPr>
          <a:lstStyle/>
          <a:p>
            <a:r>
              <a:rPr lang="en-GB" dirty="0">
                <a:solidFill>
                  <a:srgbClr val="FF0000"/>
                </a:solidFill>
              </a:rPr>
              <a:t>To review with Risk team</a:t>
            </a:r>
          </a:p>
        </p:txBody>
      </p:sp>
    </p:spTree>
    <p:custDataLst>
      <p:tags r:id="rId1"/>
    </p:custDataLst>
    <p:extLst>
      <p:ext uri="{BB962C8B-B14F-4D97-AF65-F5344CB8AC3E}">
        <p14:creationId xmlns:p14="http://schemas.microsoft.com/office/powerpoint/2010/main" val="2218192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SOLUTION TO BE VALIDATED</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600">
                <a:solidFill>
                  <a:schemeClr val="accent1"/>
                </a:solidFill>
                <a:latin typeface="Encode Sans" pitchFamily="2" charset="0"/>
              </a:rPr>
              <a:t>Next slides : Solution 1</a:t>
            </a:r>
          </a:p>
          <a:p>
            <a:r>
              <a:rPr lang="en-US">
                <a:solidFill>
                  <a:schemeClr val="accent1"/>
                </a:solidFill>
                <a:highlight>
                  <a:srgbClr val="FFFF00"/>
                </a:highlight>
                <a:latin typeface="Encode Sans" pitchFamily="2" charset="0"/>
              </a:rPr>
              <a:t>Eventually, duplicate the section to present an other solution</a:t>
            </a:r>
          </a:p>
          <a:p>
            <a:pPr lvl="1"/>
            <a:endParaRPr lang="en-US">
              <a:solidFill>
                <a:schemeClr val="accent1"/>
              </a:solidFill>
              <a:latin typeface="Encode Sans" pitchFamily="2" charset="0"/>
            </a:endParaRPr>
          </a:p>
          <a:p>
            <a:endParaRPr lang="en-US">
              <a:solidFill>
                <a:schemeClr val="accent1"/>
              </a:solidFill>
              <a:latin typeface="Encode Sans" pitchFamily="2" charset="0"/>
            </a:endParaRPr>
          </a:p>
          <a:p>
            <a:pPr marL="0" indent="0">
              <a:buNone/>
            </a:pPr>
            <a:endParaRPr lang="en-US">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2309996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100" b="1" i="0" u="none" strike="noStrike" kern="1200" cap="all" spc="0" normalizeH="0" baseline="0" noProof="0">
                <a:ln>
                  <a:noFill/>
                </a:ln>
                <a:solidFill>
                  <a:prstClr val="white"/>
                </a:solidFill>
                <a:effectLst/>
                <a:uLnTx/>
                <a:uFillTx/>
                <a:latin typeface="Encode Sans"/>
                <a:ea typeface="+mj-ea"/>
                <a:cs typeface="+mj-cs"/>
              </a:rPr>
              <a:t>Enterprise Architecture – Impacted Applications Service</a:t>
            </a:r>
            <a:endParaRPr>
              <a:latin typeface="Encode Sans" pitchFamily="2" charset="0"/>
            </a:endParaRPr>
          </a:p>
        </p:txBody>
      </p:sp>
      <p:graphicFrame>
        <p:nvGraphicFramePr>
          <p:cNvPr id="3" name="Espace réservé du contenu 4">
            <a:extLst>
              <a:ext uri="{FF2B5EF4-FFF2-40B4-BE49-F238E27FC236}">
                <a16:creationId xmlns:a16="http://schemas.microsoft.com/office/drawing/2014/main" id="{4E982979-4BA0-C934-7111-AD328EE655C4}"/>
              </a:ext>
            </a:extLst>
          </p:cNvPr>
          <p:cNvGraphicFramePr>
            <a:graphicFrameLocks/>
          </p:cNvGraphicFramePr>
          <p:nvPr/>
        </p:nvGraphicFramePr>
        <p:xfrm>
          <a:off x="239159" y="747086"/>
          <a:ext cx="8665680" cy="1947749"/>
        </p:xfrm>
        <a:graphic>
          <a:graphicData uri="http://schemas.openxmlformats.org/drawingml/2006/table">
            <a:tbl>
              <a:tblPr firstRow="1" bandRow="1">
                <a:tableStyleId>{5C22544A-7EE6-4342-B048-85BDC9FD1C3A}</a:tableStyleId>
              </a:tblPr>
              <a:tblGrid>
                <a:gridCol w="917043">
                  <a:extLst>
                    <a:ext uri="{9D8B030D-6E8A-4147-A177-3AD203B41FA5}">
                      <a16:colId xmlns:a16="http://schemas.microsoft.com/office/drawing/2014/main" val="885176629"/>
                    </a:ext>
                  </a:extLst>
                </a:gridCol>
                <a:gridCol w="597619">
                  <a:extLst>
                    <a:ext uri="{9D8B030D-6E8A-4147-A177-3AD203B41FA5}">
                      <a16:colId xmlns:a16="http://schemas.microsoft.com/office/drawing/2014/main" val="558686844"/>
                    </a:ext>
                  </a:extLst>
                </a:gridCol>
                <a:gridCol w="769020">
                  <a:extLst>
                    <a:ext uri="{9D8B030D-6E8A-4147-A177-3AD203B41FA5}">
                      <a16:colId xmlns:a16="http://schemas.microsoft.com/office/drawing/2014/main" val="2031441691"/>
                    </a:ext>
                  </a:extLst>
                </a:gridCol>
                <a:gridCol w="806534">
                  <a:extLst>
                    <a:ext uri="{9D8B030D-6E8A-4147-A177-3AD203B41FA5}">
                      <a16:colId xmlns:a16="http://schemas.microsoft.com/office/drawing/2014/main" val="1810357485"/>
                    </a:ext>
                  </a:extLst>
                </a:gridCol>
                <a:gridCol w="740887">
                  <a:extLst>
                    <a:ext uri="{9D8B030D-6E8A-4147-A177-3AD203B41FA5}">
                      <a16:colId xmlns:a16="http://schemas.microsoft.com/office/drawing/2014/main" val="1039038496"/>
                    </a:ext>
                  </a:extLst>
                </a:gridCol>
                <a:gridCol w="994100">
                  <a:extLst>
                    <a:ext uri="{9D8B030D-6E8A-4147-A177-3AD203B41FA5}">
                      <a16:colId xmlns:a16="http://schemas.microsoft.com/office/drawing/2014/main" val="3825258066"/>
                    </a:ext>
                  </a:extLst>
                </a:gridCol>
                <a:gridCol w="1022235">
                  <a:extLst>
                    <a:ext uri="{9D8B030D-6E8A-4147-A177-3AD203B41FA5}">
                      <a16:colId xmlns:a16="http://schemas.microsoft.com/office/drawing/2014/main" val="3528804775"/>
                    </a:ext>
                  </a:extLst>
                </a:gridCol>
                <a:gridCol w="1022234">
                  <a:extLst>
                    <a:ext uri="{9D8B030D-6E8A-4147-A177-3AD203B41FA5}">
                      <a16:colId xmlns:a16="http://schemas.microsoft.com/office/drawing/2014/main" val="2570431230"/>
                    </a:ext>
                  </a:extLst>
                </a:gridCol>
                <a:gridCol w="1022234">
                  <a:extLst>
                    <a:ext uri="{9D8B030D-6E8A-4147-A177-3AD203B41FA5}">
                      <a16:colId xmlns:a16="http://schemas.microsoft.com/office/drawing/2014/main" val="2480532535"/>
                    </a:ext>
                  </a:extLst>
                </a:gridCol>
                <a:gridCol w="773774">
                  <a:extLst>
                    <a:ext uri="{9D8B030D-6E8A-4147-A177-3AD203B41FA5}">
                      <a16:colId xmlns:a16="http://schemas.microsoft.com/office/drawing/2014/main" val="3194406381"/>
                    </a:ext>
                  </a:extLst>
                </a:gridCol>
              </a:tblGrid>
              <a:tr h="484709">
                <a:tc>
                  <a:txBody>
                    <a:bodyPr/>
                    <a:lstStyle/>
                    <a:p>
                      <a:pPr algn="ctr" fontAlgn="base"/>
                      <a:r>
                        <a:rPr lang="en-US" sz="800" noProof="0">
                          <a:effectLst/>
                        </a:rPr>
                        <a:t>Application Service Name </a:t>
                      </a:r>
                      <a:endParaRPr lang="en-US" sz="800" b="1" i="0" noProof="0">
                        <a:solidFill>
                          <a:srgbClr val="FFFFFF"/>
                        </a:solidFill>
                        <a:effectLst/>
                      </a:endParaRPr>
                    </a:p>
                  </a:txBody>
                  <a:tcPr marL="0" marR="0" marT="0" marB="0" anchor="ctr"/>
                </a:tc>
                <a:tc>
                  <a:txBody>
                    <a:bodyPr/>
                    <a:lstStyle/>
                    <a:p>
                      <a:pPr algn="ctr" fontAlgn="base"/>
                      <a:r>
                        <a:rPr lang="en-US" sz="800" noProof="0">
                          <a:effectLst/>
                        </a:rPr>
                        <a:t>Availability ​</a:t>
                      </a:r>
                      <a:endParaRPr lang="en-US" sz="800" b="1" i="0" noProof="0">
                        <a:solidFill>
                          <a:srgbClr val="FFFFFF"/>
                        </a:solidFill>
                        <a:effectLst/>
                      </a:endParaRPr>
                    </a:p>
                  </a:txBody>
                  <a:tcPr marL="0" marR="0" marT="0" marB="0" anchor="ctr"/>
                </a:tc>
                <a:tc>
                  <a:txBody>
                    <a:bodyPr/>
                    <a:lstStyle/>
                    <a:p>
                      <a:pPr algn="ctr" fontAlgn="base"/>
                      <a:r>
                        <a:rPr lang="en-US" sz="800" noProof="0">
                          <a:effectLst/>
                        </a:rPr>
                        <a:t>Integrity </a:t>
                      </a:r>
                      <a:endParaRPr lang="en-US" sz="800" b="1" i="0" noProof="0">
                        <a:solidFill>
                          <a:srgbClr val="FFFFFF"/>
                        </a:solidFill>
                        <a:effectLst/>
                      </a:endParaRPr>
                    </a:p>
                  </a:txBody>
                  <a:tcPr marL="0" marR="0" marT="0" marB="0" anchor="ctr"/>
                </a:tc>
                <a:tc>
                  <a:txBody>
                    <a:bodyPr/>
                    <a:lstStyle/>
                    <a:p>
                      <a:pPr algn="ctr" fontAlgn="base"/>
                      <a:r>
                        <a:rPr lang="en-US" sz="800" noProof="0">
                          <a:effectLst/>
                        </a:rPr>
                        <a:t>Confidentiality</a:t>
                      </a:r>
                      <a:endParaRPr lang="en-US" sz="800" b="1" i="0" noProof="0">
                        <a:solidFill>
                          <a:srgbClr val="FFFFFF"/>
                        </a:solidFill>
                        <a:effectLst/>
                      </a:endParaRPr>
                    </a:p>
                  </a:txBody>
                  <a:tcPr marL="0" marR="0" marT="0" marB="0" anchor="ctr"/>
                </a:tc>
                <a:tc>
                  <a:txBody>
                    <a:bodyPr/>
                    <a:lstStyle/>
                    <a:p>
                      <a:pPr algn="ctr" fontAlgn="base"/>
                      <a:r>
                        <a:rPr lang="en-US" sz="800" noProof="0">
                          <a:effectLst/>
                        </a:rPr>
                        <a:t>SOX</a:t>
                      </a:r>
                      <a:endParaRPr lang="en-US" sz="800" b="1" i="0" noProof="0">
                        <a:solidFill>
                          <a:srgbClr val="FFFFFF"/>
                        </a:solidFill>
                        <a:effectLst/>
                      </a:endParaRPr>
                    </a:p>
                  </a:txBody>
                  <a:tcPr marL="0" marR="0" marT="0" marB="0" anchor="ctr"/>
                </a:tc>
                <a:tc>
                  <a:txBody>
                    <a:bodyPr/>
                    <a:lstStyle/>
                    <a:p>
                      <a:pPr algn="ctr" fontAlgn="base"/>
                      <a:r>
                        <a:rPr lang="en-US" sz="800" noProof="0">
                          <a:effectLst/>
                        </a:rPr>
                        <a:t>Data Privacy severity</a:t>
                      </a:r>
                      <a:endParaRPr lang="en-US" sz="800" b="1" i="0" noProof="0">
                        <a:solidFill>
                          <a:srgbClr val="FFFFFF"/>
                        </a:solidFill>
                        <a:effectLst/>
                      </a:endParaRPr>
                    </a:p>
                  </a:txBody>
                  <a:tcPr marL="0" marR="0" marT="0" marB="0" anchor="ctr"/>
                </a:tc>
                <a:tc>
                  <a:txBody>
                    <a:bodyPr/>
                    <a:lstStyle/>
                    <a:p>
                      <a:pPr algn="ctr" fontAlgn="base"/>
                      <a:r>
                        <a:rPr lang="en-US" sz="800" noProof="0">
                          <a:effectLst/>
                        </a:rPr>
                        <a:t>Hosting​</a:t>
                      </a:r>
                      <a:endParaRPr lang="en-US" sz="800" b="1" i="0" noProof="0">
                        <a:solidFill>
                          <a:srgbClr val="FFFFFF"/>
                        </a:solidFill>
                        <a:effectLst/>
                      </a:endParaRPr>
                    </a:p>
                  </a:txBody>
                  <a:tcPr marL="0" marR="0" marT="0" marB="0" anchor="ctr"/>
                </a:tc>
                <a:tc>
                  <a:txBody>
                    <a:bodyPr/>
                    <a:lstStyle/>
                    <a:p>
                      <a:pPr algn="ctr" fontAlgn="base"/>
                      <a:r>
                        <a:rPr lang="fr-FR" sz="800" b="1" i="0" noProof="0" err="1">
                          <a:solidFill>
                            <a:srgbClr val="FFFFFF"/>
                          </a:solidFill>
                          <a:effectLst/>
                        </a:rPr>
                        <a:t>Technology</a:t>
                      </a:r>
                      <a:endParaRPr lang="en-US" sz="800" b="1" i="0" noProof="0">
                        <a:solidFill>
                          <a:srgbClr val="FFFFFF"/>
                        </a:solidFill>
                        <a:effectLst/>
                      </a:endParaRPr>
                    </a:p>
                  </a:txBody>
                  <a:tcPr marL="0" marR="0" marT="0" marB="0" anchor="ctr"/>
                </a:tc>
                <a:tc>
                  <a:txBody>
                    <a:bodyPr/>
                    <a:lstStyle/>
                    <a:p>
                      <a:pPr algn="ctr" fontAlgn="base"/>
                      <a:r>
                        <a:rPr lang="en-US" sz="800" noProof="0">
                          <a:effectLst/>
                        </a:rPr>
                        <a:t>RTO/RPO</a:t>
                      </a:r>
                      <a:endParaRPr lang="en-US" sz="800" b="1" i="0" noProof="0">
                        <a:solidFill>
                          <a:srgbClr val="FFFFFF"/>
                        </a:solidFill>
                        <a:effectLst/>
                      </a:endParaRPr>
                    </a:p>
                  </a:txBody>
                  <a:tcPr marL="0" marR="0" marT="0" marB="0" anchor="ctr"/>
                </a:tc>
                <a:tc>
                  <a:txBody>
                    <a:bodyPr/>
                    <a:lstStyle/>
                    <a:p>
                      <a:pPr algn="ctr" fontAlgn="base"/>
                      <a:r>
                        <a:rPr lang="en-US" sz="800" b="1" i="0" noProof="0">
                          <a:solidFill>
                            <a:srgbClr val="FFFFFF"/>
                          </a:solidFill>
                          <a:effectLst/>
                        </a:rPr>
                        <a:t>SLA</a:t>
                      </a:r>
                    </a:p>
                  </a:txBody>
                  <a:tcPr marL="0" marR="0" marT="0" marB="0" anchor="ctr"/>
                </a:tc>
                <a:extLst>
                  <a:ext uri="{0D108BD9-81ED-4DB2-BD59-A6C34878D82A}">
                    <a16:rowId xmlns:a16="http://schemas.microsoft.com/office/drawing/2014/main" val="1896704351"/>
                  </a:ext>
                </a:extLst>
              </a:tr>
              <a:tr h="342900">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AWS GLZ​ Dublin</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err="1">
                          <a:solidFill>
                            <a:srgbClr val="000000"/>
                          </a:solidFill>
                          <a:effectLst/>
                          <a:highlight>
                            <a:srgbClr val="FFFF00"/>
                          </a:highlight>
                          <a:latin typeface="Arial" panose="020B0604020202020204" pitchFamily="34" charset="0"/>
                        </a:rPr>
                        <a:t>Websphere</a:t>
                      </a:r>
                      <a:r>
                        <a:rPr lang="fr-FR" sz="800" b="0" i="0" noProof="0">
                          <a:solidFill>
                            <a:srgbClr val="000000"/>
                          </a:solidFill>
                          <a:effectLst/>
                          <a:highlight>
                            <a:srgbClr val="FFFF00"/>
                          </a:highlight>
                          <a:latin typeface="Arial" panose="020B0604020202020204" pitchFamily="34" charset="0"/>
                        </a:rPr>
                        <a:t> </a:t>
                      </a:r>
                      <a:r>
                        <a:rPr lang="fr-FR" sz="800" b="0" i="0" noProof="0" err="1">
                          <a:solidFill>
                            <a:srgbClr val="000000"/>
                          </a:solidFill>
                          <a:effectLst/>
                          <a:highlight>
                            <a:srgbClr val="FFFF00"/>
                          </a:highlight>
                          <a:latin typeface="Arial" panose="020B0604020202020204" pitchFamily="34" charset="0"/>
                        </a:rPr>
                        <a:t>zOS</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extLst>
                  <a:ext uri="{0D108BD9-81ED-4DB2-BD59-A6C34878D82A}">
                    <a16:rowId xmlns:a16="http://schemas.microsoft.com/office/drawing/2014/main" val="198440742"/>
                  </a:ext>
                </a:extLst>
              </a:tr>
              <a:tr h="342900">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r>
                        <a:rPr lang="fr-FR" sz="800" b="0" i="0" noProof="0" err="1">
                          <a:solidFill>
                            <a:srgbClr val="000000"/>
                          </a:solidFill>
                          <a:effectLst/>
                          <a:highlight>
                            <a:srgbClr val="FFFF00"/>
                          </a:highlight>
                          <a:latin typeface="Arial" panose="020B0604020202020204" pitchFamily="34" charset="0"/>
                        </a:rPr>
                        <a:t>Onprem</a:t>
                      </a:r>
                      <a:r>
                        <a:rPr lang="fr-FR" sz="800" b="0" i="0" noProof="0">
                          <a:solidFill>
                            <a:srgbClr val="000000"/>
                          </a:solidFill>
                          <a:effectLst/>
                          <a:highlight>
                            <a:srgbClr val="FFFF00"/>
                          </a:highlight>
                          <a:latin typeface="Arial" panose="020B0604020202020204" pitchFamily="34" charset="0"/>
                        </a:rPr>
                        <a:t> HR</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latin typeface="Arial" panose="020B0604020202020204" pitchFamily="34" charset="0"/>
                        </a:rPr>
                        <a:t>Linux</a:t>
                      </a:r>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extLst>
                  <a:ext uri="{0D108BD9-81ED-4DB2-BD59-A6C34878D82A}">
                    <a16:rowId xmlns:a16="http://schemas.microsoft.com/office/drawing/2014/main" val="665732849"/>
                  </a:ext>
                </a:extLst>
              </a:tr>
              <a:tr h="342900">
                <a:tc>
                  <a:txBody>
                    <a:bodyPr/>
                    <a:lstStyle/>
                    <a:p>
                      <a:pPr algn="ctr" fontAlgn="auto"/>
                      <a:r>
                        <a:rPr lang="fr-FR" sz="800" b="0" i="0" noProof="0" err="1">
                          <a:solidFill>
                            <a:srgbClr val="000000"/>
                          </a:solidFill>
                          <a:effectLst/>
                          <a:highlight>
                            <a:srgbClr val="FFFF00"/>
                          </a:highlight>
                          <a:latin typeface="Arial" panose="020B0604020202020204" pitchFamily="34" charset="0"/>
                        </a:rPr>
                        <a:t>PingFederate</a:t>
                      </a:r>
                      <a:br>
                        <a:rPr lang="fr-FR" sz="800" b="0" i="0" noProof="0">
                          <a:solidFill>
                            <a:srgbClr val="000000"/>
                          </a:solidFill>
                          <a:effectLst/>
                          <a:highlight>
                            <a:srgbClr val="FFFF00"/>
                          </a:highlight>
                          <a:latin typeface="Arial" panose="020B0604020202020204" pitchFamily="34" charset="0"/>
                        </a:rPr>
                      </a:br>
                      <a:r>
                        <a:rPr lang="fr-FR" sz="800" b="0" i="0" noProof="0">
                          <a:solidFill>
                            <a:srgbClr val="000000"/>
                          </a:solidFill>
                          <a:effectLst/>
                          <a:highlight>
                            <a:srgbClr val="FFFF00"/>
                          </a:highlight>
                          <a:latin typeface="Arial" panose="020B0604020202020204" pitchFamily="34" charset="0"/>
                        </a:rPr>
                        <a:t>(</a:t>
                      </a:r>
                      <a:r>
                        <a:rPr lang="en-US" sz="800" noProof="0">
                          <a:effectLst/>
                          <a:highlight>
                            <a:srgbClr val="FFFF00"/>
                          </a:highlight>
                        </a:rPr>
                        <a:t>PASSEXT/IDP2)</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4</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4</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3</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No</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err="1">
                          <a:solidFill>
                            <a:srgbClr val="000000"/>
                          </a:solidFill>
                          <a:effectLst/>
                          <a:highlight>
                            <a:srgbClr val="FFFF00"/>
                          </a:highlight>
                          <a:latin typeface="Arial" panose="020B0604020202020204" pitchFamily="34" charset="0"/>
                        </a:rPr>
                        <a:t>Onprem</a:t>
                      </a:r>
                      <a:r>
                        <a:rPr lang="fr-FR" sz="800" b="0" i="0" noProof="0">
                          <a:solidFill>
                            <a:srgbClr val="000000"/>
                          </a:solidFill>
                          <a:effectLst/>
                          <a:highlight>
                            <a:srgbClr val="FFFF00"/>
                          </a:highlight>
                          <a:latin typeface="Arial" panose="020B0604020202020204" pitchFamily="34" charset="0"/>
                        </a:rPr>
                        <a:t> BE</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Windows</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2 / 9</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PLATINUM</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extLst>
                  <a:ext uri="{0D108BD9-81ED-4DB2-BD59-A6C34878D82A}">
                    <a16:rowId xmlns:a16="http://schemas.microsoft.com/office/drawing/2014/main" val="105128806"/>
                  </a:ext>
                </a:extLst>
              </a:tr>
              <a:tr h="342900">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extLst>
                  <a:ext uri="{0D108BD9-81ED-4DB2-BD59-A6C34878D82A}">
                    <a16:rowId xmlns:a16="http://schemas.microsoft.com/office/drawing/2014/main" val="2506956869"/>
                  </a:ext>
                </a:extLst>
              </a:tr>
            </a:tbl>
          </a:graphicData>
        </a:graphic>
      </p:graphicFrame>
      <p:graphicFrame>
        <p:nvGraphicFramePr>
          <p:cNvPr id="4" name="Espace réservé du contenu 4">
            <a:extLst>
              <a:ext uri="{FF2B5EF4-FFF2-40B4-BE49-F238E27FC236}">
                <a16:creationId xmlns:a16="http://schemas.microsoft.com/office/drawing/2014/main" id="{C1B8BA31-E49B-DD08-A863-1348AB0CAEA8}"/>
              </a:ext>
            </a:extLst>
          </p:cNvPr>
          <p:cNvGraphicFramePr>
            <a:graphicFrameLocks/>
          </p:cNvGraphicFramePr>
          <p:nvPr/>
        </p:nvGraphicFramePr>
        <p:xfrm>
          <a:off x="239158" y="3721196"/>
          <a:ext cx="8665681" cy="1170509"/>
        </p:xfrm>
        <a:graphic>
          <a:graphicData uri="http://schemas.openxmlformats.org/drawingml/2006/table">
            <a:tbl>
              <a:tblPr firstRow="1" bandRow="1">
                <a:tableStyleId>{5C22544A-7EE6-4342-B048-85BDC9FD1C3A}</a:tableStyleId>
              </a:tblPr>
              <a:tblGrid>
                <a:gridCol w="1880587">
                  <a:extLst>
                    <a:ext uri="{9D8B030D-6E8A-4147-A177-3AD203B41FA5}">
                      <a16:colId xmlns:a16="http://schemas.microsoft.com/office/drawing/2014/main" val="885176629"/>
                    </a:ext>
                  </a:extLst>
                </a:gridCol>
                <a:gridCol w="1180408">
                  <a:extLst>
                    <a:ext uri="{9D8B030D-6E8A-4147-A177-3AD203B41FA5}">
                      <a16:colId xmlns:a16="http://schemas.microsoft.com/office/drawing/2014/main" val="558686844"/>
                    </a:ext>
                  </a:extLst>
                </a:gridCol>
                <a:gridCol w="5604686">
                  <a:extLst>
                    <a:ext uri="{9D8B030D-6E8A-4147-A177-3AD203B41FA5}">
                      <a16:colId xmlns:a16="http://schemas.microsoft.com/office/drawing/2014/main" val="2031441691"/>
                    </a:ext>
                  </a:extLst>
                </a:gridCol>
              </a:tblGrid>
              <a:tr h="484709">
                <a:tc>
                  <a:txBody>
                    <a:bodyPr/>
                    <a:lstStyle/>
                    <a:p>
                      <a:pPr algn="ctr" fontAlgn="base"/>
                      <a:r>
                        <a:rPr lang="en-US" sz="900" noProof="0">
                          <a:effectLst/>
                        </a:rPr>
                        <a:t>Application Service Name </a:t>
                      </a:r>
                      <a:endParaRPr lang="en-US" sz="3600" b="1" i="0" noProof="0">
                        <a:solidFill>
                          <a:srgbClr val="FFFFFF"/>
                        </a:solidFill>
                        <a:effectLst/>
                      </a:endParaRPr>
                    </a:p>
                  </a:txBody>
                  <a:tcPr marL="0" marR="0" marT="0" marB="0" anchor="ctr"/>
                </a:tc>
                <a:tc>
                  <a:txBody>
                    <a:bodyPr/>
                    <a:lstStyle/>
                    <a:p>
                      <a:pPr algn="ctr" fontAlgn="base"/>
                      <a:r>
                        <a:rPr lang="en-US" sz="900" noProof="0">
                          <a:effectLst/>
                        </a:rPr>
                        <a:t>Forecast end date​</a:t>
                      </a:r>
                      <a:endParaRPr lang="en-US" sz="3600" b="1" i="0" noProof="0">
                        <a:solidFill>
                          <a:srgbClr val="FFFFFF"/>
                        </a:solidFill>
                        <a:effectLst/>
                      </a:endParaRPr>
                    </a:p>
                  </a:txBody>
                  <a:tcPr marL="0" marR="0" marT="0" marB="0" anchor="ctr"/>
                </a:tc>
                <a:tc>
                  <a:txBody>
                    <a:bodyPr/>
                    <a:lstStyle/>
                    <a:p>
                      <a:pPr algn="ctr" fontAlgn="base"/>
                      <a:r>
                        <a:rPr lang="en-US" sz="900" noProof="0">
                          <a:effectLst/>
                        </a:rPr>
                        <a:t>Comment </a:t>
                      </a:r>
                      <a:endParaRPr lang="en-US" sz="3600" b="1" i="0" noProof="0">
                        <a:solidFill>
                          <a:srgbClr val="FFFFFF"/>
                        </a:solidFill>
                        <a:effectLst/>
                      </a:endParaRPr>
                    </a:p>
                  </a:txBody>
                  <a:tcPr marL="0" marR="0" marT="0" marB="0" anchor="ctr"/>
                </a:tc>
                <a:extLst>
                  <a:ext uri="{0D108BD9-81ED-4DB2-BD59-A6C34878D82A}">
                    <a16:rowId xmlns:a16="http://schemas.microsoft.com/office/drawing/2014/main" val="1896704351"/>
                  </a:ext>
                </a:extLst>
              </a:tr>
              <a:tr h="342900">
                <a:tc>
                  <a:txBody>
                    <a:bodyPr/>
                    <a:lstStyle/>
                    <a:p>
                      <a:pPr algn="ctr" fontAlgn="auto"/>
                      <a:r>
                        <a:rPr lang="en-US" sz="1100" noProof="0">
                          <a:effectLst/>
                        </a:rPr>
                        <a:t>​</a:t>
                      </a:r>
                      <a:endParaRPr lang="en-US" sz="1100" b="1" i="0" noProof="0">
                        <a:solidFill>
                          <a:srgbClr val="000000"/>
                        </a:solidFill>
                        <a:effectLst/>
                        <a:latin typeface="Arial" panose="020B0604020202020204" pitchFamily="34" charset="0"/>
                      </a:endParaRPr>
                    </a:p>
                  </a:txBody>
                  <a:tcPr marL="68580" marR="68580" marT="34290" marB="34290" anchor="ctr"/>
                </a:tc>
                <a:tc>
                  <a:txBody>
                    <a:bodyPr/>
                    <a:lstStyle/>
                    <a:p>
                      <a:pPr algn="ctr" fontAlgn="auto"/>
                      <a:r>
                        <a:rPr lang="en-US" sz="1800" noProof="0">
                          <a:effectLst/>
                        </a:rPr>
                        <a:t>​</a:t>
                      </a:r>
                      <a:endParaRPr lang="en-US" sz="1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r>
                        <a:rPr lang="en-US" sz="900" noProof="0">
                          <a:effectLst/>
                        </a:rPr>
                        <a:t>​</a:t>
                      </a:r>
                      <a:endParaRPr lang="en-US" sz="900" b="0" i="0" noProof="0">
                        <a:solidFill>
                          <a:srgbClr val="000000"/>
                        </a:solidFill>
                        <a:effectLst/>
                        <a:latin typeface="Arial" panose="020B0604020202020204" pitchFamily="34" charset="0"/>
                      </a:endParaRPr>
                    </a:p>
                  </a:txBody>
                  <a:tcPr marL="68580" marR="68580" marT="34290" marB="34290" anchor="ctr"/>
                </a:tc>
                <a:extLst>
                  <a:ext uri="{0D108BD9-81ED-4DB2-BD59-A6C34878D82A}">
                    <a16:rowId xmlns:a16="http://schemas.microsoft.com/office/drawing/2014/main" val="198440742"/>
                  </a:ext>
                </a:extLst>
              </a:tr>
              <a:tr h="342900">
                <a:tc>
                  <a:txBody>
                    <a:bodyPr/>
                    <a:lstStyle/>
                    <a:p>
                      <a:pPr algn="ctr" fontAlgn="auto"/>
                      <a:endParaRPr lang="en-US" sz="1100" b="1"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1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900" b="0" i="0" noProof="0">
                        <a:solidFill>
                          <a:srgbClr val="000000"/>
                        </a:solidFill>
                        <a:effectLst/>
                        <a:latin typeface="Arial" panose="020B0604020202020204" pitchFamily="34" charset="0"/>
                      </a:endParaRPr>
                    </a:p>
                  </a:txBody>
                  <a:tcPr marL="68580" marR="68580" marT="34290" marB="34290" anchor="ctr"/>
                </a:tc>
                <a:extLst>
                  <a:ext uri="{0D108BD9-81ED-4DB2-BD59-A6C34878D82A}">
                    <a16:rowId xmlns:a16="http://schemas.microsoft.com/office/drawing/2014/main" val="665732849"/>
                  </a:ext>
                </a:extLst>
              </a:tr>
            </a:tbl>
          </a:graphicData>
        </a:graphic>
      </p:graphicFrame>
      <p:sp>
        <p:nvSpPr>
          <p:cNvPr id="5" name="Google Shape;1158;p132">
            <a:extLst>
              <a:ext uri="{FF2B5EF4-FFF2-40B4-BE49-F238E27FC236}">
                <a16:creationId xmlns:a16="http://schemas.microsoft.com/office/drawing/2014/main" id="{E473B797-4943-99E3-7A92-A1857A3C9888}"/>
              </a:ext>
            </a:extLst>
          </p:cNvPr>
          <p:cNvSpPr txBox="1">
            <a:spLocks/>
          </p:cNvSpPr>
          <p:nvPr/>
        </p:nvSpPr>
        <p:spPr>
          <a:xfrm>
            <a:off x="180677" y="3464096"/>
            <a:ext cx="6379500" cy="257100"/>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95000"/>
              </a:lnSpc>
              <a:spcBef>
                <a:spcPts val="0"/>
              </a:spcBef>
              <a:spcAft>
                <a:spcPts val="0"/>
              </a:spcAft>
              <a:buClr>
                <a:srgbClr val="FFFFFF"/>
              </a:buClr>
              <a:buSzPts val="1100"/>
              <a:buFont typeface="Encode Sans"/>
              <a:buNone/>
              <a:defRPr sz="1100" b="1" i="0" u="none" strike="noStrike" cap="none">
                <a:solidFill>
                  <a:srgbClr val="FFFFFF"/>
                </a:solidFill>
                <a:latin typeface="Encode Sans"/>
                <a:ea typeface="Encode Sans"/>
                <a:cs typeface="Encode Sans"/>
                <a:sym typeface="Encode Sans"/>
              </a:defRPr>
            </a:lvl1pPr>
            <a:lvl2pPr marR="0" lvl="1"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9pPr>
          </a:lstStyle>
          <a:p>
            <a:r>
              <a:rPr lang="fr-FR" sz="1200" kern="1200" cap="all" err="1">
                <a:solidFill>
                  <a:schemeClr val="bg2"/>
                </a:solidFill>
                <a:latin typeface="Encode Sans" pitchFamily="2" charset="0"/>
                <a:ea typeface="+mj-ea"/>
                <a:cs typeface="+mj-cs"/>
              </a:rPr>
              <a:t>Decommissionned</a:t>
            </a:r>
            <a:r>
              <a:rPr lang="fr-FR" sz="1200" kern="1200" cap="all">
                <a:solidFill>
                  <a:schemeClr val="bg2"/>
                </a:solidFill>
                <a:latin typeface="Encode Sans" pitchFamily="2" charset="0"/>
                <a:ea typeface="+mj-ea"/>
                <a:cs typeface="+mj-cs"/>
              </a:rPr>
              <a:t> applications</a:t>
            </a:r>
            <a:endParaRPr lang="en-US">
              <a:solidFill>
                <a:schemeClr val="bg2"/>
              </a:solidFill>
              <a:latin typeface="Encode Sans" pitchFamily="2" charset="0"/>
            </a:endParaRPr>
          </a:p>
        </p:txBody>
      </p:sp>
    </p:spTree>
    <p:custDataLst>
      <p:tags r:id="rId1"/>
    </p:custDataLst>
    <p:extLst>
      <p:ext uri="{BB962C8B-B14F-4D97-AF65-F5344CB8AC3E}">
        <p14:creationId xmlns:p14="http://schemas.microsoft.com/office/powerpoint/2010/main" val="1204450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Solution 1 – RISKs  (For Gate 1 PoC and Gate 2/4)</a:t>
            </a:r>
            <a:endParaRPr>
              <a:latin typeface="Encode Sans" pitchFamily="2" charset="0"/>
            </a:endParaRPr>
          </a:p>
        </p:txBody>
      </p:sp>
      <p:sp>
        <p:nvSpPr>
          <p:cNvPr id="5" name="Espace réservé du contenu 1">
            <a:extLst>
              <a:ext uri="{FF2B5EF4-FFF2-40B4-BE49-F238E27FC236}">
                <a16:creationId xmlns:a16="http://schemas.microsoft.com/office/drawing/2014/main" id="{1F28BC34-6B79-4464-93D1-3FB589648A46}"/>
              </a:ext>
            </a:extLst>
          </p:cNvPr>
          <p:cNvSpPr txBox="1">
            <a:spLocks/>
          </p:cNvSpPr>
          <p:nvPr/>
        </p:nvSpPr>
        <p:spPr>
          <a:xfrm>
            <a:off x="296863" y="795614"/>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sz="1400" b="0" i="1">
              <a:solidFill>
                <a:schemeClr val="accent1"/>
              </a:solidFill>
              <a:latin typeface="Encode Sans" pitchFamily="2" charset="0"/>
            </a:endParaRPr>
          </a:p>
        </p:txBody>
      </p:sp>
      <p:graphicFrame>
        <p:nvGraphicFramePr>
          <p:cNvPr id="2" name="Tableau 1">
            <a:extLst>
              <a:ext uri="{FF2B5EF4-FFF2-40B4-BE49-F238E27FC236}">
                <a16:creationId xmlns:a16="http://schemas.microsoft.com/office/drawing/2014/main" id="{B5146B2D-0B51-ADF7-CDF0-88A3C2DA891E}"/>
              </a:ext>
            </a:extLst>
          </p:cNvPr>
          <p:cNvGraphicFramePr>
            <a:graphicFrameLocks noGrp="1"/>
          </p:cNvGraphicFramePr>
          <p:nvPr/>
        </p:nvGraphicFramePr>
        <p:xfrm>
          <a:off x="346364" y="2247371"/>
          <a:ext cx="8451272" cy="2631440"/>
        </p:xfrm>
        <a:graphic>
          <a:graphicData uri="http://schemas.openxmlformats.org/drawingml/2006/table">
            <a:tbl>
              <a:tblPr firstRow="1" bandRow="1">
                <a:tableStyleId>{5C22544A-7EE6-4342-B048-85BDC9FD1C3A}</a:tableStyleId>
              </a:tblPr>
              <a:tblGrid>
                <a:gridCol w="1195565">
                  <a:extLst>
                    <a:ext uri="{9D8B030D-6E8A-4147-A177-3AD203B41FA5}">
                      <a16:colId xmlns:a16="http://schemas.microsoft.com/office/drawing/2014/main" val="2165160315"/>
                    </a:ext>
                  </a:extLst>
                </a:gridCol>
                <a:gridCol w="842683">
                  <a:extLst>
                    <a:ext uri="{9D8B030D-6E8A-4147-A177-3AD203B41FA5}">
                      <a16:colId xmlns:a16="http://schemas.microsoft.com/office/drawing/2014/main" val="1639002924"/>
                    </a:ext>
                  </a:extLst>
                </a:gridCol>
                <a:gridCol w="851647">
                  <a:extLst>
                    <a:ext uri="{9D8B030D-6E8A-4147-A177-3AD203B41FA5}">
                      <a16:colId xmlns:a16="http://schemas.microsoft.com/office/drawing/2014/main" val="2688043695"/>
                    </a:ext>
                  </a:extLst>
                </a:gridCol>
                <a:gridCol w="3244853">
                  <a:extLst>
                    <a:ext uri="{9D8B030D-6E8A-4147-A177-3AD203B41FA5}">
                      <a16:colId xmlns:a16="http://schemas.microsoft.com/office/drawing/2014/main" val="2040168161"/>
                    </a:ext>
                  </a:extLst>
                </a:gridCol>
                <a:gridCol w="2316524">
                  <a:extLst>
                    <a:ext uri="{9D8B030D-6E8A-4147-A177-3AD203B41FA5}">
                      <a16:colId xmlns:a16="http://schemas.microsoft.com/office/drawing/2014/main" val="4150041649"/>
                    </a:ext>
                  </a:extLst>
                </a:gridCol>
              </a:tblGrid>
              <a:tr h="370840">
                <a:tc>
                  <a:txBody>
                    <a:bodyPr/>
                    <a:lstStyle/>
                    <a:p>
                      <a:r>
                        <a:rPr lang="fr-FR" sz="1100"/>
                        <a:t>Risk </a:t>
                      </a:r>
                      <a:r>
                        <a:rPr lang="fr-FR" sz="1100" err="1"/>
                        <a:t>name</a:t>
                      </a:r>
                      <a:endParaRPr lang="en-US" sz="1100"/>
                    </a:p>
                  </a:txBody>
                  <a:tcPr/>
                </a:tc>
                <a:tc>
                  <a:txBody>
                    <a:bodyPr/>
                    <a:lstStyle/>
                    <a:p>
                      <a:r>
                        <a:rPr lang="fr-FR" sz="1100"/>
                        <a:t>Impact (0..3)</a:t>
                      </a:r>
                      <a:endParaRPr lang="en-US" sz="1100"/>
                    </a:p>
                  </a:txBody>
                  <a:tcPr/>
                </a:tc>
                <a:tc>
                  <a:txBody>
                    <a:bodyPr/>
                    <a:lstStyle/>
                    <a:p>
                      <a:r>
                        <a:rPr lang="fr-FR" sz="1100" err="1"/>
                        <a:t>Likehood</a:t>
                      </a:r>
                      <a:r>
                        <a:rPr lang="fr-FR" sz="1100"/>
                        <a:t> (0..3)</a:t>
                      </a:r>
                      <a:endParaRPr lang="en-US" sz="1100"/>
                    </a:p>
                  </a:txBody>
                  <a:tcPr/>
                </a:tc>
                <a:tc>
                  <a:txBody>
                    <a:bodyPr/>
                    <a:lstStyle/>
                    <a:p>
                      <a:r>
                        <a:rPr lang="fr-FR" sz="1100"/>
                        <a:t>Mitigation plan</a:t>
                      </a:r>
                      <a:endParaRPr lang="en-US" sz="1100"/>
                    </a:p>
                  </a:txBody>
                  <a:tcPr/>
                </a:tc>
                <a:tc>
                  <a:txBody>
                    <a:bodyPr/>
                    <a:lstStyle/>
                    <a:p>
                      <a:r>
                        <a:rPr lang="fr-FR" sz="1100" err="1"/>
                        <a:t>Comments</a:t>
                      </a:r>
                      <a:endParaRPr lang="en-US" sz="1100"/>
                    </a:p>
                  </a:txBody>
                  <a:tcPr/>
                </a:tc>
                <a:extLst>
                  <a:ext uri="{0D108BD9-81ED-4DB2-BD59-A6C34878D82A}">
                    <a16:rowId xmlns:a16="http://schemas.microsoft.com/office/drawing/2014/main" val="3522484072"/>
                  </a:ext>
                </a:extLst>
              </a:tr>
              <a:tr h="370840">
                <a:tc>
                  <a:txBody>
                    <a:bodyPr/>
                    <a:lstStyle/>
                    <a:p>
                      <a:r>
                        <a:rPr lang="fr-FR" sz="1200" err="1"/>
                        <a:t>Gen</a:t>
                      </a:r>
                      <a:r>
                        <a:rPr lang="fr-FR" sz="1200"/>
                        <a:t> AI</a:t>
                      </a:r>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000"/>
                    </a:p>
                  </a:txBody>
                  <a:tcPr/>
                </a:tc>
                <a:extLst>
                  <a:ext uri="{0D108BD9-81ED-4DB2-BD59-A6C34878D82A}">
                    <a16:rowId xmlns:a16="http://schemas.microsoft.com/office/drawing/2014/main" val="1796398201"/>
                  </a:ext>
                </a:extLst>
              </a:tr>
              <a:tr h="370840">
                <a:tc>
                  <a:txBody>
                    <a:bodyPr/>
                    <a:lstStyle/>
                    <a:p>
                      <a:r>
                        <a:rPr lang="fr-FR" sz="1200" err="1"/>
                        <a:t>Accessibility</a:t>
                      </a:r>
                      <a:r>
                        <a:rPr lang="fr-FR" sz="1200"/>
                        <a:t> ? </a:t>
                      </a:r>
                      <a:r>
                        <a:rPr lang="fr-FR" sz="1200" err="1"/>
                        <a:t>Lack</a:t>
                      </a:r>
                      <a:r>
                        <a:rPr lang="fr-FR" sz="1200"/>
                        <a:t> of </a:t>
                      </a:r>
                      <a:r>
                        <a:rPr lang="fr-FR" sz="1200" err="1"/>
                        <a:t>accessibility</a:t>
                      </a:r>
                      <a:r>
                        <a:rPr lang="fr-FR" sz="1200"/>
                        <a:t> </a:t>
                      </a:r>
                      <a:r>
                        <a:rPr lang="fr-FR" sz="1200" err="1"/>
                        <a:t>awareness</a:t>
                      </a:r>
                      <a:r>
                        <a:rPr lang="fr-FR" sz="1200"/>
                        <a:t> ? (</a:t>
                      </a:r>
                      <a:r>
                        <a:rPr lang="fr-FR" sz="1200" err="1"/>
                        <a:t>Gate</a:t>
                      </a:r>
                      <a:r>
                        <a:rPr lang="fr-FR" sz="1200"/>
                        <a:t> 2 &amp; 3)</a:t>
                      </a:r>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r>
                        <a:rPr lang="fr-FR" sz="1000"/>
                        <a:t>Applicable if </a:t>
                      </a:r>
                      <a:r>
                        <a:rPr lang="fr-FR" sz="1000" err="1"/>
                        <a:t>there</a:t>
                      </a:r>
                      <a:r>
                        <a:rPr lang="fr-FR" sz="1000"/>
                        <a:t> </a:t>
                      </a:r>
                      <a:r>
                        <a:rPr lang="fr-FR" sz="1000" err="1"/>
                        <a:t>is</a:t>
                      </a:r>
                      <a:r>
                        <a:rPr lang="fr-FR" sz="1000"/>
                        <a:t> visible interface for user (</a:t>
                      </a:r>
                      <a:r>
                        <a:rPr lang="fr-FR" sz="1000" err="1"/>
                        <a:t>Gate</a:t>
                      </a:r>
                      <a:r>
                        <a:rPr lang="fr-FR" sz="1000"/>
                        <a:t> Architecture One Pager)</a:t>
                      </a:r>
                      <a:endParaRPr lang="en-US" sz="1000"/>
                    </a:p>
                  </a:txBody>
                  <a:tcPr/>
                </a:tc>
                <a:extLst>
                  <a:ext uri="{0D108BD9-81ED-4DB2-BD59-A6C34878D82A}">
                    <a16:rowId xmlns:a16="http://schemas.microsoft.com/office/drawing/2014/main" val="94426883"/>
                  </a:ext>
                </a:extLst>
              </a:tr>
              <a:tr h="370840">
                <a:tc>
                  <a:txBody>
                    <a:bodyPr/>
                    <a:lstStyle/>
                    <a:p>
                      <a:r>
                        <a:rPr lang="fr-FR" sz="1200" err="1"/>
                        <a:t>Lack</a:t>
                      </a:r>
                      <a:r>
                        <a:rPr lang="fr-FR" sz="1200"/>
                        <a:t> of training</a:t>
                      </a:r>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000"/>
                    </a:p>
                  </a:txBody>
                  <a:tcPr/>
                </a:tc>
                <a:extLst>
                  <a:ext uri="{0D108BD9-81ED-4DB2-BD59-A6C34878D82A}">
                    <a16:rowId xmlns:a16="http://schemas.microsoft.com/office/drawing/2014/main" val="4183698169"/>
                  </a:ext>
                </a:extLst>
              </a:tr>
              <a:tr h="370840">
                <a:tc>
                  <a:txBody>
                    <a:bodyPr/>
                    <a:lstStyle/>
                    <a:p>
                      <a:r>
                        <a:rPr lang="fr-FR" sz="1200"/>
                        <a:t>Data</a:t>
                      </a:r>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000"/>
                    </a:p>
                  </a:txBody>
                  <a:tcPr/>
                </a:tc>
                <a:extLst>
                  <a:ext uri="{0D108BD9-81ED-4DB2-BD59-A6C34878D82A}">
                    <a16:rowId xmlns:a16="http://schemas.microsoft.com/office/drawing/2014/main" val="1520368789"/>
                  </a:ext>
                </a:extLst>
              </a:tr>
            </a:tbl>
          </a:graphicData>
        </a:graphic>
      </p:graphicFrame>
      <p:sp>
        <p:nvSpPr>
          <p:cNvPr id="3" name="Espace réservé du contenu 1">
            <a:extLst>
              <a:ext uri="{FF2B5EF4-FFF2-40B4-BE49-F238E27FC236}">
                <a16:creationId xmlns:a16="http://schemas.microsoft.com/office/drawing/2014/main" id="{4CD864DB-6CB0-F053-C5E6-32E0332E23D3}"/>
              </a:ext>
            </a:extLst>
          </p:cNvPr>
          <p:cNvSpPr txBox="1">
            <a:spLocks/>
          </p:cNvSpPr>
          <p:nvPr/>
        </p:nvSpPr>
        <p:spPr>
          <a:xfrm>
            <a:off x="158476" y="784404"/>
            <a:ext cx="8523609" cy="155570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fr-FR" sz="1400">
              <a:solidFill>
                <a:schemeClr val="accent1"/>
              </a:solidFill>
              <a:highlight>
                <a:srgbClr val="FFFF00"/>
              </a:highlight>
              <a:latin typeface="Encode Sans" pitchFamily="2" charset="0"/>
            </a:endParaRPr>
          </a:p>
          <a:p>
            <a:pPr marL="0" indent="0">
              <a:buNone/>
            </a:pPr>
            <a:endParaRPr lang="fr-FR" sz="1400">
              <a:solidFill>
                <a:schemeClr val="accent1"/>
              </a:solidFill>
              <a:highlight>
                <a:srgbClr val="FFFF00"/>
              </a:highlight>
              <a:latin typeface="Encode Sans" pitchFamily="2" charset="0"/>
            </a:endParaRPr>
          </a:p>
          <a:p>
            <a:pPr marL="0" indent="0">
              <a:buNone/>
            </a:pPr>
            <a:endParaRPr lang="fr-FR" sz="1400">
              <a:solidFill>
                <a:schemeClr val="accent1"/>
              </a:solidFill>
              <a:highlight>
                <a:srgbClr val="FFFF00"/>
              </a:highlight>
              <a:latin typeface="Encode Sans" pitchFamily="2" charset="0"/>
            </a:endParaRPr>
          </a:p>
          <a:p>
            <a:pPr marL="0" indent="0">
              <a:buNone/>
            </a:pPr>
            <a:endParaRPr lang="fr-FR" sz="1400">
              <a:solidFill>
                <a:schemeClr val="accent1"/>
              </a:solidFill>
              <a:highlight>
                <a:srgbClr val="FFFF00"/>
              </a:highlight>
              <a:latin typeface="Encode Sans" pitchFamily="2" charset="0"/>
            </a:endParaRPr>
          </a:p>
          <a:p>
            <a:pPr marL="0" indent="0">
              <a:buNone/>
            </a:pPr>
            <a:r>
              <a:rPr lang="fr-FR" sz="1400">
                <a:solidFill>
                  <a:schemeClr val="accent1"/>
                </a:solidFill>
                <a:highlight>
                  <a:srgbClr val="FFFF00"/>
                </a:highlight>
                <a:latin typeface="Encode Sans" pitchFamily="2" charset="0"/>
              </a:rPr>
              <a:t>Example :</a:t>
            </a:r>
            <a:endParaRPr lang="en-US" sz="1400">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144055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Costs (for Gate 1 </a:t>
            </a:r>
            <a:r>
              <a:rPr kumimoji="0" lang="en-US" sz="1200" b="1" i="0" u="none" strike="noStrike" kern="1200" cap="all" spc="0" normalizeH="0" baseline="0" noProof="0" err="1">
                <a:ln>
                  <a:noFill/>
                </a:ln>
                <a:solidFill>
                  <a:prstClr val="white"/>
                </a:solidFill>
                <a:effectLst/>
                <a:uLnTx/>
                <a:uFillTx/>
                <a:latin typeface="Encode Sans"/>
                <a:ea typeface="+mj-ea"/>
                <a:cs typeface="+mj-cs"/>
              </a:rPr>
              <a:t>Poc</a:t>
            </a:r>
            <a:r>
              <a:rPr kumimoji="0" lang="en-US" sz="1200" b="1" i="0" u="none" strike="noStrike" kern="1200" cap="all" spc="0" normalizeH="0" baseline="0" noProof="0">
                <a:ln>
                  <a:noFill/>
                </a:ln>
                <a:solidFill>
                  <a:prstClr val="white"/>
                </a:solidFill>
                <a:effectLst/>
                <a:uLnTx/>
                <a:uFillTx/>
                <a:latin typeface="Encode Sans"/>
                <a:ea typeface="+mj-ea"/>
                <a:cs typeface="+mj-cs"/>
              </a:rPr>
              <a:t> and Gate 2/4)</a:t>
            </a:r>
            <a:endParaRPr>
              <a:latin typeface="Encode Sans" pitchFamily="2" charset="0"/>
            </a:endParaRPr>
          </a:p>
        </p:txBody>
      </p:sp>
      <p:sp>
        <p:nvSpPr>
          <p:cNvPr id="5" name="Espace réservé du contenu 1">
            <a:extLst>
              <a:ext uri="{FF2B5EF4-FFF2-40B4-BE49-F238E27FC236}">
                <a16:creationId xmlns:a16="http://schemas.microsoft.com/office/drawing/2014/main" id="{5198D10D-5A9F-4272-91E8-3006A98B3E35}"/>
              </a:ext>
            </a:extLst>
          </p:cNvPr>
          <p:cNvSpPr txBox="1">
            <a:spLocks/>
          </p:cNvSpPr>
          <p:nvPr/>
        </p:nvSpPr>
        <p:spPr>
          <a:xfrm>
            <a:off x="296863" y="771550"/>
            <a:ext cx="8523609" cy="4032447"/>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a:solidFill>
                  <a:schemeClr val="bg2"/>
                </a:solidFill>
                <a:latin typeface="Encode Sans" pitchFamily="2" charset="0"/>
              </a:rPr>
              <a:t>Cost global view:</a:t>
            </a: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r>
              <a:rPr lang="en-GB">
                <a:solidFill>
                  <a:schemeClr val="bg2"/>
                </a:solidFill>
                <a:latin typeface="Encode Sans" pitchFamily="2" charset="0"/>
              </a:rPr>
              <a:t>Cloud Provider cost details </a:t>
            </a:r>
            <a:r>
              <a:rPr lang="en-GB" sz="1200" b="0">
                <a:solidFill>
                  <a:schemeClr val="bg2"/>
                </a:solidFill>
                <a:highlight>
                  <a:srgbClr val="FFFF00"/>
                </a:highlight>
                <a:latin typeface="Encode Sans" pitchFamily="2" charset="0"/>
              </a:rPr>
              <a:t>link to document with detailed Cost (see next slide)</a:t>
            </a:r>
            <a:endParaRPr lang="en-GB" b="0">
              <a:solidFill>
                <a:schemeClr val="bg2"/>
              </a:solidFill>
              <a:latin typeface="Encode Sans" pitchFamily="2" charset="0"/>
            </a:endParaRPr>
          </a:p>
          <a:p>
            <a:r>
              <a:rPr lang="en-GB">
                <a:solidFill>
                  <a:schemeClr val="bg2"/>
                </a:solidFill>
                <a:latin typeface="Encode Sans" pitchFamily="2" charset="0"/>
              </a:rPr>
              <a:t>Cost details </a:t>
            </a:r>
            <a:r>
              <a:rPr lang="en-GB" sz="1200" b="0">
                <a:solidFill>
                  <a:schemeClr val="bg2"/>
                </a:solidFill>
                <a:highlight>
                  <a:srgbClr val="FFFF00"/>
                </a:highlight>
                <a:latin typeface="Encode Sans" pitchFamily="2" charset="0"/>
              </a:rPr>
              <a:t>link to document with detailed Cost</a:t>
            </a:r>
            <a:r>
              <a:rPr lang="en-GB">
                <a:solidFill>
                  <a:schemeClr val="bg2"/>
                </a:solidFill>
                <a:latin typeface="Encode Sans" pitchFamily="2" charset="0"/>
              </a:rPr>
              <a:t>:</a:t>
            </a:r>
          </a:p>
          <a:p>
            <a:r>
              <a:rPr lang="en-US" sz="1600">
                <a:highlight>
                  <a:srgbClr val="FFFF00"/>
                </a:highlight>
              </a:rPr>
              <a:t>Gate 3 : update the planned cost if it is </a:t>
            </a:r>
            <a:r>
              <a:rPr lang="en-US" sz="1600" err="1">
                <a:highlight>
                  <a:srgbClr val="FFFF00"/>
                </a:highlight>
              </a:rPr>
              <a:t>differents</a:t>
            </a:r>
            <a:r>
              <a:rPr lang="en-US" sz="1600">
                <a:highlight>
                  <a:srgbClr val="FFFF00"/>
                </a:highlight>
              </a:rPr>
              <a:t> than in Gate 2 and highlight differences</a:t>
            </a:r>
          </a:p>
          <a:p>
            <a:endParaRPr lang="en-US">
              <a:solidFill>
                <a:schemeClr val="bg2"/>
              </a:solidFill>
              <a:latin typeface="Encode Sans" pitchFamily="2" charset="0"/>
            </a:endParaRPr>
          </a:p>
        </p:txBody>
      </p:sp>
      <p:graphicFrame>
        <p:nvGraphicFramePr>
          <p:cNvPr id="8" name="Tableau 4">
            <a:extLst>
              <a:ext uri="{FF2B5EF4-FFF2-40B4-BE49-F238E27FC236}">
                <a16:creationId xmlns:a16="http://schemas.microsoft.com/office/drawing/2014/main" id="{398E1B2C-B9AC-43EF-B334-B1E97748832F}"/>
              </a:ext>
            </a:extLst>
          </p:cNvPr>
          <p:cNvGraphicFramePr>
            <a:graphicFrameLocks noGrp="1"/>
          </p:cNvGraphicFramePr>
          <p:nvPr/>
        </p:nvGraphicFramePr>
        <p:xfrm>
          <a:off x="289932" y="1211425"/>
          <a:ext cx="8532000" cy="2156092"/>
        </p:xfrm>
        <a:graphic>
          <a:graphicData uri="http://schemas.openxmlformats.org/drawingml/2006/table">
            <a:tbl>
              <a:tblPr firstRow="1" bandRow="1"/>
              <a:tblGrid>
                <a:gridCol w="2484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152000">
                  <a:extLst>
                    <a:ext uri="{9D8B030D-6E8A-4147-A177-3AD203B41FA5}">
                      <a16:colId xmlns:a16="http://schemas.microsoft.com/office/drawing/2014/main" val="1252417788"/>
                    </a:ext>
                  </a:extLst>
                </a:gridCol>
                <a:gridCol w="1152000">
                  <a:extLst>
                    <a:ext uri="{9D8B030D-6E8A-4147-A177-3AD203B41FA5}">
                      <a16:colId xmlns:a16="http://schemas.microsoft.com/office/drawing/2014/main" val="2100904827"/>
                    </a:ext>
                  </a:extLst>
                </a:gridCol>
                <a:gridCol w="1152000">
                  <a:extLst>
                    <a:ext uri="{9D8B030D-6E8A-4147-A177-3AD203B41FA5}">
                      <a16:colId xmlns:a16="http://schemas.microsoft.com/office/drawing/2014/main" val="1527594410"/>
                    </a:ext>
                  </a:extLst>
                </a:gridCol>
                <a:gridCol w="1440000">
                  <a:extLst>
                    <a:ext uri="{9D8B030D-6E8A-4147-A177-3AD203B41FA5}">
                      <a16:colId xmlns:a16="http://schemas.microsoft.com/office/drawing/2014/main" val="3042211738"/>
                    </a:ext>
                  </a:extLst>
                </a:gridCol>
              </a:tblGrid>
              <a:tr h="447910">
                <a:tc>
                  <a:txBody>
                    <a:bodyPr/>
                    <a:lstStyle/>
                    <a:p>
                      <a:pPr marL="0" algn="l" defTabSz="457189" rtl="0" eaLnBrk="1" latinLnBrk="0" hangingPunct="1"/>
                      <a:r>
                        <a:rPr lang="en-US" sz="1200" b="1" kern="1200" noProof="0">
                          <a:solidFill>
                            <a:schemeClr val="tx1"/>
                          </a:solidFill>
                          <a:latin typeface="Encode Sans" pitchFamily="2" charset="0"/>
                          <a:ea typeface="+mn-ea"/>
                          <a:cs typeface="+mn-cs"/>
                        </a:rPr>
                        <a:t>Costs types</a:t>
                      </a:r>
                    </a:p>
                  </a:txBody>
                  <a:tcPr anchor="ctr">
                    <a:lnL w="12700" cmpd="sng">
                      <a:solidFill>
                        <a:srgbClr val="272B35"/>
                      </a:solidFill>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Q1</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Q2</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Q3</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Q4</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Next year recurrent costs</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extLst>
                  <a:ext uri="{0D108BD9-81ED-4DB2-BD59-A6C34878D82A}">
                    <a16:rowId xmlns:a16="http://schemas.microsoft.com/office/drawing/2014/main" val="2823245606"/>
                  </a:ext>
                </a:extLst>
              </a:tr>
              <a:tr h="447910">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algn="l" defTabSz="457189" rtl="0" eaLnBrk="1" latinLnBrk="0" hangingPunct="1"/>
                      <a:r>
                        <a:rPr lang="en-US" sz="1200" b="0" kern="1200" noProof="0">
                          <a:latin typeface="Encode Sans" pitchFamily="2" charset="0"/>
                        </a:rPr>
                        <a:t>IT costs</a:t>
                      </a:r>
                      <a:br>
                        <a:rPr lang="en-US" sz="1200" b="0" kern="1200" noProof="0">
                          <a:latin typeface="Encode Sans" pitchFamily="2" charset="0"/>
                        </a:rPr>
                      </a:br>
                      <a:r>
                        <a:rPr lang="en-US" sz="1200" b="0" kern="1200" noProof="0">
                          <a:latin typeface="Encode Sans" pitchFamily="2" charset="0"/>
                        </a:rPr>
                        <a:t>    Included outsourcing</a:t>
                      </a:r>
                      <a:endParaRPr lang="en-US" sz="1200" b="0" kern="1200" noProof="0">
                        <a:solidFill>
                          <a:schemeClr val="lt1"/>
                        </a:solidFill>
                        <a:latin typeface="Encode Sans" pitchFamily="2" charset="0"/>
                        <a:ea typeface="+mn-ea"/>
                        <a:cs typeface="+mn-cs"/>
                      </a:endParaRPr>
                    </a:p>
                  </a:txBody>
                  <a:tcPr anchor="ctr">
                    <a:lnL w="12700" cmpd="sng">
                      <a:solidFill>
                        <a:srgbClr val="272B35"/>
                      </a:solidFill>
                    </a:lnL>
                    <a:lnR w="12700" cmpd="sng">
                      <a:solidFill>
                        <a:srgbClr val="272B35"/>
                      </a:solidFill>
                    </a:lnR>
                    <a:lnT w="12700" cap="flat" cmpd="sng" algn="ctr">
                      <a:solidFill>
                        <a:srgbClr val="272B35"/>
                      </a:solidFill>
                      <a:prstDash val="solid"/>
                      <a:round/>
                      <a:headEnd type="none" w="med" len="med"/>
                      <a:tailEnd type="none" w="med" len="med"/>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mpd="sng">
                      <a:solidFill>
                        <a:srgbClr val="272B35"/>
                      </a:solidFill>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extLst>
                  <a:ext uri="{0D108BD9-81ED-4DB2-BD59-A6C34878D82A}">
                    <a16:rowId xmlns:a16="http://schemas.microsoft.com/office/drawing/2014/main" val="10000"/>
                  </a:ext>
                </a:extLst>
              </a:tr>
              <a:tr h="266431">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1200" kern="1200" noProof="0">
                          <a:latin typeface="Encode Sans" pitchFamily="2" charset="0"/>
                        </a:rPr>
                        <a:t>Cloud consumption</a:t>
                      </a:r>
                      <a:endParaRPr lang="en-US" sz="1200" b="1" kern="1200" noProof="0">
                        <a:solidFill>
                          <a:schemeClr val="dk1"/>
                        </a:solidFill>
                        <a:latin typeface="Encode Sans" pitchFamily="2" charset="0"/>
                        <a:ea typeface="+mn-ea"/>
                        <a:cs typeface="+mn-cs"/>
                      </a:endParaRPr>
                    </a:p>
                  </a:txBody>
                  <a:tcPr anchor="ctr">
                    <a:lnL w="12700" cmpd="sng">
                      <a:solidFill>
                        <a:srgbClr val="272B35"/>
                      </a:solidFill>
                    </a:lnL>
                    <a:lnR w="12700" cmpd="sng">
                      <a:solidFill>
                        <a:srgbClr val="272B35"/>
                      </a:solidFill>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mpd="sng">
                      <a:solidFill>
                        <a:srgbClr val="272B35"/>
                      </a:solidFill>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extLst>
                  <a:ext uri="{0D108BD9-81ED-4DB2-BD59-A6C34878D82A}">
                    <a16:rowId xmlns:a16="http://schemas.microsoft.com/office/drawing/2014/main" val="10001"/>
                  </a:ext>
                </a:extLst>
              </a:tr>
              <a:tr h="514812">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200" kern="1200" noProof="0">
                          <a:latin typeface="Encode Sans" pitchFamily="2" charset="0"/>
                        </a:rPr>
                        <a:t>Investments:</a:t>
                      </a:r>
                    </a:p>
                    <a:p>
                      <a:pPr marL="0" algn="l" defTabSz="457189" rtl="0" eaLnBrk="1" latinLnBrk="0" hangingPunct="1"/>
                      <a:r>
                        <a:rPr lang="en-US" sz="1200" kern="1200" noProof="0">
                          <a:latin typeface="Encode Sans" pitchFamily="2" charset="0"/>
                        </a:rPr>
                        <a:t>    Hardware</a:t>
                      </a:r>
                      <a:r>
                        <a:rPr lang="en-US" sz="1200" kern="1200" baseline="0" noProof="0">
                          <a:latin typeface="Encode Sans" pitchFamily="2" charset="0"/>
                        </a:rPr>
                        <a:t> costs </a:t>
                      </a:r>
                      <a:r>
                        <a:rPr lang="en-US" sz="1200" kern="1200" noProof="0">
                          <a:latin typeface="Encode Sans" pitchFamily="2" charset="0"/>
                        </a:rPr>
                        <a:t>(servers, …)</a:t>
                      </a:r>
                    </a:p>
                    <a:p>
                      <a:pPr marL="0" algn="l" defTabSz="457189" rtl="0" eaLnBrk="1" latinLnBrk="0" hangingPunct="1"/>
                      <a:r>
                        <a:rPr lang="en-US" sz="1200" kern="1200" noProof="0">
                          <a:latin typeface="Encode Sans" pitchFamily="2" charset="0"/>
                        </a:rPr>
                        <a:t>    Software license costs</a:t>
                      </a:r>
                    </a:p>
                  </a:txBody>
                  <a:tcPr anchor="ctr">
                    <a:lnL w="12700" cmpd="sng">
                      <a:solidFill>
                        <a:srgbClr val="272B35"/>
                      </a:solidFill>
                    </a:lnL>
                    <a:lnR w="12700" cmpd="sng">
                      <a:solidFill>
                        <a:srgbClr val="272B35"/>
                      </a:solidFill>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mpd="sng">
                      <a:solidFill>
                        <a:srgbClr val="272B35"/>
                      </a:solidFill>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extLst>
                  <a:ext uri="{0D108BD9-81ED-4DB2-BD59-A6C34878D82A}">
                    <a16:rowId xmlns:a16="http://schemas.microsoft.com/office/drawing/2014/main" val="10002"/>
                  </a:ext>
                </a:extLst>
              </a:tr>
              <a:tr h="327292">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200" b="1" kern="1200" noProof="0">
                          <a:latin typeface="Encode Sans" pitchFamily="2" charset="0"/>
                        </a:rPr>
                        <a:t>Total cost</a:t>
                      </a:r>
                      <a:endParaRPr lang="en-US" sz="1200" b="1" kern="1200" noProof="0">
                        <a:solidFill>
                          <a:schemeClr val="dk1"/>
                        </a:solidFill>
                        <a:latin typeface="Encode Sans" pitchFamily="2" charset="0"/>
                        <a:ea typeface="+mn-ea"/>
                        <a:cs typeface="+mn-cs"/>
                      </a:endParaRPr>
                    </a:p>
                  </a:txBody>
                  <a:tcPr anchor="ctr">
                    <a:lnL w="12700" cmpd="sng">
                      <a:solidFill>
                        <a:srgbClr val="272B35"/>
                      </a:solidFill>
                    </a:lnL>
                    <a:lnR w="12700" cmpd="sng">
                      <a:solidFill>
                        <a:srgbClr val="272B35"/>
                      </a:solidFill>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mpd="sng">
                      <a:solidFill>
                        <a:srgbClr val="272B35"/>
                      </a:solidFill>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extLst>
                  <a:ext uri="{0D108BD9-81ED-4DB2-BD59-A6C34878D82A}">
                    <a16:rowId xmlns:a16="http://schemas.microsoft.com/office/drawing/2014/main" val="10003"/>
                  </a:ext>
                </a:extLst>
              </a:tr>
            </a:tbl>
          </a:graphicData>
        </a:graphic>
      </p:graphicFrame>
      <p:sp>
        <p:nvSpPr>
          <p:cNvPr id="2" name="Rectangle: Top Corners One Rounded and One Snipped 1">
            <a:extLst>
              <a:ext uri="{FF2B5EF4-FFF2-40B4-BE49-F238E27FC236}">
                <a16:creationId xmlns:a16="http://schemas.microsoft.com/office/drawing/2014/main" id="{63197625-D4EE-86D9-4A8D-C0E12A9214FA}"/>
              </a:ext>
            </a:extLst>
          </p:cNvPr>
          <p:cNvSpPr/>
          <p:nvPr/>
        </p:nvSpPr>
        <p:spPr>
          <a:xfrm>
            <a:off x="2768600" y="948267"/>
            <a:ext cx="4622799" cy="263158"/>
          </a:xfrm>
          <a:prstGeom prst="snipRoundRect">
            <a:avLst>
              <a:gd name="adj1" fmla="val 16667"/>
              <a:gd name="adj2" fmla="val 50000"/>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err="1">
                <a:solidFill>
                  <a:schemeClr val="tx1"/>
                </a:solidFill>
              </a:rPr>
              <a:t>Year</a:t>
            </a:r>
            <a:r>
              <a:rPr lang="fr-FR">
                <a:solidFill>
                  <a:schemeClr val="tx1"/>
                </a:solidFill>
              </a:rPr>
              <a:t> 1</a:t>
            </a:r>
            <a:endParaRPr lang="en-US">
              <a:solidFill>
                <a:schemeClr val="tx1"/>
              </a:solidFill>
            </a:endParaRPr>
          </a:p>
        </p:txBody>
      </p:sp>
      <p:sp>
        <p:nvSpPr>
          <p:cNvPr id="3" name="Rectangle: Top Corners One Rounded and One Snipped 2">
            <a:extLst>
              <a:ext uri="{FF2B5EF4-FFF2-40B4-BE49-F238E27FC236}">
                <a16:creationId xmlns:a16="http://schemas.microsoft.com/office/drawing/2014/main" id="{79DECC1C-AD6E-0658-AB6D-D38A691453E0}"/>
              </a:ext>
            </a:extLst>
          </p:cNvPr>
          <p:cNvSpPr/>
          <p:nvPr/>
        </p:nvSpPr>
        <p:spPr>
          <a:xfrm>
            <a:off x="7391399" y="948267"/>
            <a:ext cx="1429803" cy="263158"/>
          </a:xfrm>
          <a:prstGeom prst="snipRoundRect">
            <a:avLst>
              <a:gd name="adj1" fmla="val 16667"/>
              <a:gd name="adj2" fmla="val 50000"/>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err="1">
                <a:solidFill>
                  <a:schemeClr val="tx1"/>
                </a:solidFill>
              </a:rPr>
              <a:t>Year</a:t>
            </a:r>
            <a:r>
              <a:rPr lang="fr-FR">
                <a:solidFill>
                  <a:schemeClr val="tx1"/>
                </a:solidFill>
              </a:rPr>
              <a:t> 2</a:t>
            </a:r>
            <a:endParaRPr lang="en-US">
              <a:solidFill>
                <a:schemeClr val="tx1"/>
              </a:solidFill>
            </a:endParaRPr>
          </a:p>
        </p:txBody>
      </p:sp>
    </p:spTree>
    <p:custDataLst>
      <p:tags r:id="rId1"/>
    </p:custDataLst>
    <p:extLst>
      <p:ext uri="{BB962C8B-B14F-4D97-AF65-F5344CB8AC3E}">
        <p14:creationId xmlns:p14="http://schemas.microsoft.com/office/powerpoint/2010/main" val="3452274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(Solution X)  - Costs</a:t>
            </a:r>
            <a:endParaRPr>
              <a:latin typeface="Encode Sans" pitchFamily="2" charset="0"/>
            </a:endParaRPr>
          </a:p>
        </p:txBody>
      </p:sp>
      <p:sp>
        <p:nvSpPr>
          <p:cNvPr id="5" name="Espace réservé du contenu 1">
            <a:extLst>
              <a:ext uri="{FF2B5EF4-FFF2-40B4-BE49-F238E27FC236}">
                <a16:creationId xmlns:a16="http://schemas.microsoft.com/office/drawing/2014/main" id="{5198D10D-5A9F-4272-91E8-3006A98B3E35}"/>
              </a:ext>
            </a:extLst>
          </p:cNvPr>
          <p:cNvSpPr txBox="1">
            <a:spLocks/>
          </p:cNvSpPr>
          <p:nvPr/>
        </p:nvSpPr>
        <p:spPr>
          <a:xfrm>
            <a:off x="296863" y="771550"/>
            <a:ext cx="8523609" cy="317561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a:solidFill>
                  <a:schemeClr val="bg2"/>
                </a:solidFill>
                <a:latin typeface="Encode Sans" pitchFamily="2" charset="0"/>
              </a:rPr>
              <a:t>Cost estimate per environment (Multi-AZ), present:</a:t>
            </a:r>
          </a:p>
          <a:p>
            <a:endParaRPr lang="en-GB">
              <a:solidFill>
                <a:schemeClr val="bg2"/>
              </a:solidFill>
              <a:latin typeface="Encode Sans" pitchFamily="2" charset="0"/>
            </a:endParaRPr>
          </a:p>
          <a:p>
            <a:pPr lvl="1"/>
            <a:r>
              <a:rPr lang="en-US">
                <a:solidFill>
                  <a:schemeClr val="bg2"/>
                </a:solidFill>
                <a:latin typeface="Encode Sans" pitchFamily="2" charset="0"/>
              </a:rPr>
              <a:t>The selected region(s),</a:t>
            </a:r>
          </a:p>
          <a:p>
            <a:pPr lvl="1"/>
            <a:r>
              <a:rPr lang="en-US">
                <a:solidFill>
                  <a:schemeClr val="bg2"/>
                </a:solidFill>
                <a:latin typeface="Encode Sans" pitchFamily="2" charset="0"/>
              </a:rPr>
              <a:t>AWS services,</a:t>
            </a:r>
          </a:p>
          <a:p>
            <a:pPr lvl="1"/>
            <a:r>
              <a:rPr lang="en-US">
                <a:solidFill>
                  <a:schemeClr val="bg2"/>
                </a:solidFill>
                <a:latin typeface="Encode Sans" pitchFamily="2" charset="0"/>
              </a:rPr>
              <a:t>Monthly costs,</a:t>
            </a:r>
          </a:p>
          <a:p>
            <a:pPr lvl="1"/>
            <a:r>
              <a:rPr lang="en-US">
                <a:solidFill>
                  <a:schemeClr val="bg2"/>
                </a:solidFill>
                <a:latin typeface="Encode Sans" pitchFamily="2" charset="0"/>
              </a:rPr>
              <a:t>Annual costs,</a:t>
            </a:r>
          </a:p>
          <a:p>
            <a:pPr lvl="1"/>
            <a:r>
              <a:rPr lang="en-US">
                <a:solidFill>
                  <a:schemeClr val="bg2"/>
                </a:solidFill>
                <a:latin typeface="Encode Sans" pitchFamily="2" charset="0"/>
              </a:rPr>
              <a:t>Currency,</a:t>
            </a:r>
          </a:p>
          <a:p>
            <a:pPr lvl="1"/>
            <a:r>
              <a:rPr lang="en-US">
                <a:solidFill>
                  <a:schemeClr val="bg2"/>
                </a:solidFill>
                <a:latin typeface="Encode Sans" pitchFamily="2" charset="0"/>
              </a:rPr>
              <a:t>Configuration summary.</a:t>
            </a:r>
            <a:br>
              <a:rPr lang="en-US">
                <a:solidFill>
                  <a:schemeClr val="bg2"/>
                </a:solidFill>
                <a:latin typeface="Encode Sans" pitchFamily="2" charset="0"/>
              </a:rPr>
            </a:br>
            <a:endParaRPr lang="en-US">
              <a:solidFill>
                <a:schemeClr val="bg2"/>
              </a:solidFill>
              <a:latin typeface="Encode Sans" pitchFamily="2" charset="0"/>
            </a:endParaRPr>
          </a:p>
          <a:p>
            <a:r>
              <a:rPr lang="en-US">
                <a:solidFill>
                  <a:schemeClr val="bg2"/>
                </a:solidFill>
                <a:latin typeface="Encode Sans" pitchFamily="2" charset="0"/>
              </a:rPr>
              <a:t>By using </a:t>
            </a:r>
            <a:r>
              <a:rPr lang="en-US" err="1">
                <a:solidFill>
                  <a:schemeClr val="bg2"/>
                </a:solidFill>
                <a:latin typeface="Encode Sans" pitchFamily="2" charset="0"/>
              </a:rPr>
              <a:t>l'AWS</a:t>
            </a:r>
            <a:r>
              <a:rPr lang="en-US">
                <a:solidFill>
                  <a:schemeClr val="bg2"/>
                </a:solidFill>
                <a:latin typeface="Encode Sans" pitchFamily="2" charset="0"/>
              </a:rPr>
              <a:t> Calculator : Link to the shared AWS calculator estimation.</a:t>
            </a:r>
            <a:br>
              <a:rPr lang="en-US">
                <a:solidFill>
                  <a:schemeClr val="bg2"/>
                </a:solidFill>
                <a:latin typeface="Encode Sans" pitchFamily="2" charset="0"/>
              </a:rPr>
            </a:br>
            <a:br>
              <a:rPr lang="en-US">
                <a:solidFill>
                  <a:schemeClr val="bg2"/>
                </a:solidFill>
                <a:latin typeface="Encode Sans" pitchFamily="2" charset="0"/>
              </a:rPr>
            </a:br>
            <a:endParaRPr lang="en-US">
              <a:solidFill>
                <a:schemeClr val="bg2"/>
              </a:solidFill>
              <a:latin typeface="Encode Sans" pitchFamily="2" charset="0"/>
            </a:endParaRPr>
          </a:p>
          <a:p>
            <a:endParaRPr lang="en-GB">
              <a:solidFill>
                <a:schemeClr val="bg2"/>
              </a:solidFill>
              <a:latin typeface="Encode Sans" pitchFamily="2" charset="0"/>
            </a:endParaRPr>
          </a:p>
          <a:p>
            <a:pPr marL="0" indent="0">
              <a:buNone/>
            </a:pPr>
            <a:endParaRPr lang="en-GB">
              <a:solidFill>
                <a:schemeClr val="bg2"/>
              </a:solidFill>
              <a:latin typeface="Encode Sans" pitchFamily="2" charset="0"/>
            </a:endParaRPr>
          </a:p>
          <a:p>
            <a:endParaRPr lang="en-GB">
              <a:solidFill>
                <a:schemeClr val="bg2"/>
              </a:solidFill>
              <a:latin typeface="Encode Sans" pitchFamily="2" charset="0"/>
            </a:endParaRPr>
          </a:p>
        </p:txBody>
      </p:sp>
      <p:graphicFrame>
        <p:nvGraphicFramePr>
          <p:cNvPr id="2" name="Tableau 1">
            <a:extLst>
              <a:ext uri="{FF2B5EF4-FFF2-40B4-BE49-F238E27FC236}">
                <a16:creationId xmlns:a16="http://schemas.microsoft.com/office/drawing/2014/main" id="{F89267A7-BF41-A2EF-993C-B052E73151DD}"/>
              </a:ext>
            </a:extLst>
          </p:cNvPr>
          <p:cNvGraphicFramePr>
            <a:graphicFrameLocks noGrp="1"/>
          </p:cNvGraphicFramePr>
          <p:nvPr/>
        </p:nvGraphicFramePr>
        <p:xfrm>
          <a:off x="535219" y="3683219"/>
          <a:ext cx="8073562" cy="1377461"/>
        </p:xfrm>
        <a:graphic>
          <a:graphicData uri="http://schemas.openxmlformats.org/drawingml/2006/table">
            <a:tbl>
              <a:tblPr/>
              <a:tblGrid>
                <a:gridCol w="462198">
                  <a:extLst>
                    <a:ext uri="{9D8B030D-6E8A-4147-A177-3AD203B41FA5}">
                      <a16:colId xmlns:a16="http://schemas.microsoft.com/office/drawing/2014/main" val="1146620878"/>
                    </a:ext>
                  </a:extLst>
                </a:gridCol>
                <a:gridCol w="1207680">
                  <a:extLst>
                    <a:ext uri="{9D8B030D-6E8A-4147-A177-3AD203B41FA5}">
                      <a16:colId xmlns:a16="http://schemas.microsoft.com/office/drawing/2014/main" val="880603594"/>
                    </a:ext>
                  </a:extLst>
                </a:gridCol>
                <a:gridCol w="335466">
                  <a:extLst>
                    <a:ext uri="{9D8B030D-6E8A-4147-A177-3AD203B41FA5}">
                      <a16:colId xmlns:a16="http://schemas.microsoft.com/office/drawing/2014/main" val="3122126727"/>
                    </a:ext>
                  </a:extLst>
                </a:gridCol>
                <a:gridCol w="350376">
                  <a:extLst>
                    <a:ext uri="{9D8B030D-6E8A-4147-A177-3AD203B41FA5}">
                      <a16:colId xmlns:a16="http://schemas.microsoft.com/office/drawing/2014/main" val="1199139720"/>
                    </a:ext>
                  </a:extLst>
                </a:gridCol>
                <a:gridCol w="342921">
                  <a:extLst>
                    <a:ext uri="{9D8B030D-6E8A-4147-A177-3AD203B41FA5}">
                      <a16:colId xmlns:a16="http://schemas.microsoft.com/office/drawing/2014/main" val="420965517"/>
                    </a:ext>
                  </a:extLst>
                </a:gridCol>
                <a:gridCol w="5374921">
                  <a:extLst>
                    <a:ext uri="{9D8B030D-6E8A-4147-A177-3AD203B41FA5}">
                      <a16:colId xmlns:a16="http://schemas.microsoft.com/office/drawing/2014/main" val="1518009022"/>
                    </a:ext>
                  </a:extLst>
                </a:gridCol>
              </a:tblGrid>
              <a:tr h="151325">
                <a:tc>
                  <a:txBody>
                    <a:bodyPr/>
                    <a:lstStyle/>
                    <a:p>
                      <a:pPr algn="l" fontAlgn="ctr"/>
                      <a:r>
                        <a:rPr lang="fr-FR" sz="700" b="1" i="0" u="none" strike="noStrike" err="1">
                          <a:solidFill>
                            <a:srgbClr val="FFFFFF"/>
                          </a:solidFill>
                          <a:effectLst/>
                          <a:latin typeface="Calibri"/>
                        </a:rPr>
                        <a:t>Region</a:t>
                      </a:r>
                      <a:r>
                        <a:rPr lang="fr-FR" sz="700" b="1" i="0" u="none" strike="noStrike">
                          <a:solidFill>
                            <a:srgbClr val="FFFFFF"/>
                          </a:solidFill>
                          <a:effectLst/>
                          <a:latin typeface="Calibri"/>
                        </a:rPr>
                        <a:t>(s)</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a:solidFill>
                            <a:srgbClr val="FFFFFF"/>
                          </a:solidFill>
                          <a:effectLst/>
                          <a:latin typeface="Calibri"/>
                        </a:rPr>
                        <a:t>Service</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err="1">
                          <a:solidFill>
                            <a:srgbClr val="FFFFFF"/>
                          </a:solidFill>
                          <a:effectLst/>
                          <a:latin typeface="Calibri"/>
                        </a:rPr>
                        <a:t>Monthly</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err="1">
                          <a:solidFill>
                            <a:srgbClr val="FFFFFF"/>
                          </a:solidFill>
                          <a:effectLst/>
                          <a:latin typeface="Calibri"/>
                        </a:rPr>
                        <a:t>Annual</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a:solidFill>
                            <a:srgbClr val="FFFFFF"/>
                          </a:solidFill>
                          <a:effectLst/>
                          <a:latin typeface="Calibri"/>
                        </a:rPr>
                        <a:t>Currency</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a:solidFill>
                            <a:srgbClr val="FFFFFF"/>
                          </a:solidFill>
                          <a:effectLst/>
                          <a:latin typeface="Calibri" panose="020F0502020204030204" pitchFamily="34" charset="0"/>
                        </a:rPr>
                        <a:t>Configuration </a:t>
                      </a:r>
                      <a:r>
                        <a:rPr lang="fr-FR" sz="700" b="1" i="0" u="none" strike="noStrike" err="1">
                          <a:solidFill>
                            <a:srgbClr val="FFFFFF"/>
                          </a:solidFill>
                          <a:effectLst/>
                          <a:latin typeface="Calibri" panose="020F0502020204030204" pitchFamily="34" charset="0"/>
                        </a:rPr>
                        <a:t>summary</a:t>
                      </a:r>
                      <a:endParaRPr lang="fr-FR" sz="700" b="1" i="0" u="none" strike="noStrike">
                        <a:solidFill>
                          <a:srgbClr val="FFFFFF"/>
                        </a:solidFill>
                        <a:effectLst/>
                        <a:latin typeface="Calibri" panose="020F0502020204030204" pitchFamily="34" charset="0"/>
                      </a:endParaRP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274155465"/>
                  </a:ext>
                </a:extLst>
              </a:tr>
              <a:tr h="119866">
                <a:tc>
                  <a:txBody>
                    <a:bodyPr/>
                    <a:lstStyle/>
                    <a:p>
                      <a:pPr algn="l" fontAlgn="ctr"/>
                      <a:r>
                        <a:rPr lang="fr-FR" sz="700" b="0" i="0" u="none" strike="noStrike">
                          <a:solidFill>
                            <a:srgbClr val="000000"/>
                          </a:solidFill>
                          <a:effectLst/>
                          <a:latin typeface="Calibri"/>
                        </a:rPr>
                        <a:t>EU (Paris)</a:t>
                      </a:r>
                    </a:p>
                  </a:txBody>
                  <a:tcPr marL="5151" marR="5151" marT="515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Application </a:t>
                      </a:r>
                      <a:r>
                        <a:rPr lang="fr-FR" sz="700" b="0" i="0" u="none" strike="noStrike" err="1">
                          <a:solidFill>
                            <a:srgbClr val="000000"/>
                          </a:solidFill>
                          <a:effectLst/>
                          <a:latin typeface="Calibri"/>
                        </a:rPr>
                        <a:t>Load</a:t>
                      </a:r>
                      <a:r>
                        <a:rPr lang="fr-FR" sz="700" b="0" i="0" u="none" strike="noStrike">
                          <a:solidFill>
                            <a:srgbClr val="000000"/>
                          </a:solidFill>
                          <a:effectLst/>
                          <a:latin typeface="Calibri"/>
                        </a:rPr>
                        <a:t> balancer</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203,59</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2443,08</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USD</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err="1">
                          <a:solidFill>
                            <a:srgbClr val="000000"/>
                          </a:solidFill>
                          <a:effectLst/>
                          <a:latin typeface="Calibri"/>
                        </a:rPr>
                        <a:t>Number</a:t>
                      </a:r>
                      <a:r>
                        <a:rPr lang="fr-FR" sz="700" b="0" i="0" u="none" strike="noStrike">
                          <a:solidFill>
                            <a:srgbClr val="000000"/>
                          </a:solidFill>
                          <a:effectLst/>
                          <a:latin typeface="Calibri"/>
                        </a:rPr>
                        <a:t> of ALB: 8</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7774752"/>
                  </a:ext>
                </a:extLst>
              </a:tr>
              <a:tr h="385880">
                <a:tc>
                  <a:txBody>
                    <a:bodyPr/>
                    <a:lstStyle/>
                    <a:p>
                      <a:pPr algn="l" fontAlgn="ctr"/>
                      <a:r>
                        <a:rPr lang="fr-FR" sz="700" b="0" i="0" u="none" strike="noStrike">
                          <a:solidFill>
                            <a:srgbClr val="000000"/>
                          </a:solidFill>
                          <a:effectLst/>
                          <a:latin typeface="Calibri"/>
                        </a:rPr>
                        <a:t>EU (Paris)</a:t>
                      </a:r>
                    </a:p>
                  </a:txBody>
                  <a:tcPr marL="5151" marR="5151" marT="515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AWS ECS </a:t>
                      </a:r>
                      <a:r>
                        <a:rPr lang="fr-FR" sz="700" b="0" i="0" u="none" strike="noStrike" err="1">
                          <a:solidFill>
                            <a:srgbClr val="000000"/>
                          </a:solidFill>
                          <a:effectLst/>
                          <a:latin typeface="Calibri"/>
                        </a:rPr>
                        <a:t>Fargate</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777,88</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9334,56</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USD</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000000"/>
                          </a:solidFill>
                          <a:effectLst/>
                          <a:latin typeface="Calibri"/>
                        </a:rPr>
                        <a:t>Operating system (Linux), CPU Architecture (x86), Average duration (24 hours), Number of service (6 services each service execute per day 3 min 9 max tasks), Amount of memory allocated (2 GB), Amount of ephemeral storage allocated for Amazon ECS (20 GB) 18x24x(cost </a:t>
                      </a:r>
                      <a:r>
                        <a:rPr lang="en-US" sz="700" b="0" i="0" u="none" strike="noStrike" err="1">
                          <a:solidFill>
                            <a:srgbClr val="000000"/>
                          </a:solidFill>
                          <a:effectLst/>
                          <a:latin typeface="Calibri"/>
                        </a:rPr>
                        <a:t>vCPU+cost</a:t>
                      </a:r>
                      <a:r>
                        <a:rPr lang="en-US" sz="700" b="0" i="0" u="none" strike="noStrike">
                          <a:solidFill>
                            <a:srgbClr val="000000"/>
                          </a:solidFill>
                          <a:effectLst/>
                          <a:latin typeface="Calibri"/>
                        </a:rPr>
                        <a:t> RAM)</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3252514"/>
                  </a:ext>
                </a:extLst>
              </a:tr>
              <a:tr h="240130">
                <a:tc>
                  <a:txBody>
                    <a:bodyPr/>
                    <a:lstStyle/>
                    <a:p>
                      <a:pPr algn="l" fontAlgn="ctr"/>
                      <a:r>
                        <a:rPr lang="fr-FR" sz="700" b="0" i="0" u="none" strike="noStrike">
                          <a:solidFill>
                            <a:srgbClr val="000000"/>
                          </a:solidFill>
                          <a:effectLst/>
                          <a:latin typeface="Calibri"/>
                        </a:rPr>
                        <a:t>EU (Paris)</a:t>
                      </a:r>
                    </a:p>
                  </a:txBody>
                  <a:tcPr marL="5151" marR="5151" marT="515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Amazon </a:t>
                      </a:r>
                      <a:r>
                        <a:rPr lang="fr-FR" sz="700" b="0" i="0" u="none" strike="noStrike" err="1">
                          <a:solidFill>
                            <a:srgbClr val="000000"/>
                          </a:solidFill>
                          <a:effectLst/>
                          <a:latin typeface="Calibri"/>
                        </a:rPr>
                        <a:t>Elastic</a:t>
                      </a:r>
                      <a:r>
                        <a:rPr lang="fr-FR" sz="700" b="0" i="0" u="none" strike="noStrike">
                          <a:solidFill>
                            <a:srgbClr val="000000"/>
                          </a:solidFill>
                          <a:effectLst/>
                          <a:latin typeface="Calibri"/>
                        </a:rPr>
                        <a:t> Container </a:t>
                      </a:r>
                      <a:r>
                        <a:rPr lang="fr-FR" sz="700" b="0" i="0" u="none" strike="noStrike" err="1">
                          <a:solidFill>
                            <a:srgbClr val="000000"/>
                          </a:solidFill>
                          <a:effectLst/>
                          <a:latin typeface="Calibri"/>
                        </a:rPr>
                        <a:t>Registry</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5,32</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63,84</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USD</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000000"/>
                          </a:solidFill>
                          <a:effectLst/>
                          <a:latin typeface="Calibri"/>
                        </a:rPr>
                        <a:t>DT Inbound: Internet (28 GB per month), DT Outbound:  Amount of data stored (28 GB per month)</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9923826"/>
                  </a:ext>
                </a:extLst>
              </a:tr>
              <a:tr h="240130">
                <a:tc>
                  <a:txBody>
                    <a:bodyPr/>
                    <a:lstStyle/>
                    <a:p>
                      <a:pPr algn="l" fontAlgn="ctr"/>
                      <a:r>
                        <a:rPr lang="fr-FR" sz="700" b="0" i="0" u="none" strike="noStrike">
                          <a:solidFill>
                            <a:srgbClr val="000000"/>
                          </a:solidFill>
                          <a:effectLst/>
                          <a:latin typeface="Calibri"/>
                        </a:rPr>
                        <a:t>EU (Paris)</a:t>
                      </a:r>
                    </a:p>
                  </a:txBody>
                  <a:tcPr marL="5151" marR="5151" marT="515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Amazon </a:t>
                      </a:r>
                      <a:r>
                        <a:rPr lang="fr-FR" sz="700" b="0" i="0" u="none" strike="noStrike" err="1">
                          <a:solidFill>
                            <a:srgbClr val="000000"/>
                          </a:solidFill>
                          <a:effectLst/>
                          <a:latin typeface="Calibri"/>
                        </a:rPr>
                        <a:t>CloudFront</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132,96</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1595,52</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USD</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000000"/>
                          </a:solidFill>
                          <a:effectLst/>
                          <a:latin typeface="Calibri" panose="020F0502020204030204" pitchFamily="34" charset="0"/>
                        </a:rPr>
                        <a:t> Data transfer out to internet (1,5 TB per month), Data transfer out to origin (30 GB per month), Number of requests (HTTPS) (1,5 million per month)</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204079"/>
                  </a:ext>
                </a:extLst>
              </a:tr>
              <a:tr h="240130">
                <a:tc>
                  <a:txBody>
                    <a:bodyPr/>
                    <a:lstStyle/>
                    <a:p>
                      <a:pPr lvl="0" algn="l">
                        <a:buNone/>
                      </a:pPr>
                      <a:r>
                        <a:rPr lang="fr-FR" sz="700" b="0" i="0" u="none" strike="noStrike">
                          <a:solidFill>
                            <a:srgbClr val="000000"/>
                          </a:solidFill>
                          <a:effectLst/>
                          <a:latin typeface="Calibri"/>
                        </a:rPr>
                        <a:t>...</a:t>
                      </a: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l">
                        <a:buNone/>
                      </a:pPr>
                      <a:endParaRPr lang="fr-FR"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r">
                        <a:buNone/>
                      </a:pPr>
                      <a:endParaRPr lang="fr-FR"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r">
                        <a:buNone/>
                      </a:pPr>
                      <a:endParaRPr lang="fr-FR"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l">
                        <a:buNone/>
                      </a:pPr>
                      <a:endParaRPr lang="fr-FR"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l">
                        <a:buNone/>
                      </a:pPr>
                      <a:endParaRPr lang="en-US"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3449967704"/>
                  </a:ext>
                </a:extLst>
              </a:tr>
            </a:tbl>
          </a:graphicData>
        </a:graphic>
      </p:graphicFrame>
      <p:sp>
        <p:nvSpPr>
          <p:cNvPr id="3" name="ZoneTexte 2">
            <a:extLst>
              <a:ext uri="{FF2B5EF4-FFF2-40B4-BE49-F238E27FC236}">
                <a16:creationId xmlns:a16="http://schemas.microsoft.com/office/drawing/2014/main" id="{52B1AED2-54E4-70CF-8AEC-48467A3D7E98}"/>
              </a:ext>
            </a:extLst>
          </p:cNvPr>
          <p:cNvSpPr txBox="1"/>
          <p:nvPr/>
        </p:nvSpPr>
        <p:spPr>
          <a:xfrm>
            <a:off x="3895110" y="3429836"/>
            <a:ext cx="781044" cy="2616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100" i="1">
                <a:solidFill>
                  <a:schemeClr val="bg1"/>
                </a:solidFill>
                <a:latin typeface="Encode Sans" pitchFamily="2" charset="0"/>
              </a:rPr>
              <a:t>Example</a:t>
            </a:r>
          </a:p>
        </p:txBody>
      </p:sp>
      <p:pic>
        <p:nvPicPr>
          <p:cNvPr id="4" name="Graphique 3" descr="Télécharger du cloud avec un remplissage uni">
            <a:extLst>
              <a:ext uri="{FF2B5EF4-FFF2-40B4-BE49-F238E27FC236}">
                <a16:creationId xmlns:a16="http://schemas.microsoft.com/office/drawing/2014/main" id="{C312B5DD-7D34-49F6-CD82-1F4F1C5DCD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65868" y="757066"/>
            <a:ext cx="387531" cy="387531"/>
          </a:xfrm>
          <a:prstGeom prst="rect">
            <a:avLst/>
          </a:prstGeom>
        </p:spPr>
      </p:pic>
      <p:sp>
        <p:nvSpPr>
          <p:cNvPr id="6" name="ZoneTexte 5">
            <a:extLst>
              <a:ext uri="{FF2B5EF4-FFF2-40B4-BE49-F238E27FC236}">
                <a16:creationId xmlns:a16="http://schemas.microsoft.com/office/drawing/2014/main" id="{91C4249E-A8EB-28A1-B395-0849F69E1916}"/>
              </a:ext>
            </a:extLst>
          </p:cNvPr>
          <p:cNvSpPr txBox="1"/>
          <p:nvPr/>
        </p:nvSpPr>
        <p:spPr>
          <a:xfrm>
            <a:off x="7460524" y="1115447"/>
            <a:ext cx="998220" cy="338554"/>
          </a:xfrm>
          <a:prstGeom prst="rect">
            <a:avLst/>
          </a:prstGeom>
          <a:noFill/>
        </p:spPr>
        <p:txBody>
          <a:bodyPr wrap="square" rtlCol="0">
            <a:spAutoFit/>
          </a:bodyPr>
          <a:lstStyle/>
          <a:p>
            <a:pPr algn="ctr"/>
            <a:r>
              <a:rPr lang="en-GB" sz="800">
                <a:solidFill>
                  <a:schemeClr val="accent1"/>
                </a:solidFill>
                <a:latin typeface="Encode Sans" pitchFamily="2" charset="0"/>
              </a:rPr>
              <a:t>CLOUD SPECIFIC</a:t>
            </a:r>
          </a:p>
        </p:txBody>
      </p:sp>
    </p:spTree>
    <p:custDataLst>
      <p:tags r:id="rId1"/>
    </p:custDataLst>
    <p:extLst>
      <p:ext uri="{BB962C8B-B14F-4D97-AF65-F5344CB8AC3E}">
        <p14:creationId xmlns:p14="http://schemas.microsoft.com/office/powerpoint/2010/main" val="2493673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dirty="0">
                <a:ln>
                  <a:noFill/>
                </a:ln>
                <a:solidFill>
                  <a:prstClr val="white"/>
                </a:solidFill>
                <a:effectLst/>
                <a:uLnTx/>
                <a:uFillTx/>
                <a:latin typeface="Encode Sans"/>
                <a:ea typeface="+mj-ea"/>
                <a:cs typeface="+mj-cs"/>
              </a:rPr>
              <a:t>(Solution X) - Timeline</a:t>
            </a:r>
            <a:endParaRPr dirty="0">
              <a:latin typeface="Encode Sans" pitchFamily="2" charset="0"/>
            </a:endParaRPr>
          </a:p>
        </p:txBody>
      </p:sp>
      <p:sp>
        <p:nvSpPr>
          <p:cNvPr id="5" name="Espace réservé du contenu 1">
            <a:extLst>
              <a:ext uri="{FF2B5EF4-FFF2-40B4-BE49-F238E27FC236}">
                <a16:creationId xmlns:a16="http://schemas.microsoft.com/office/drawing/2014/main" id="{5198D10D-5A9F-4272-91E8-3006A98B3E35}"/>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a:solidFill>
                  <a:schemeClr val="bg2"/>
                </a:solidFill>
                <a:latin typeface="Encode Sans" pitchFamily="2" charset="0"/>
              </a:rPr>
              <a:t>Macro Schedule (including key milestones, sprint duration for agile):​​​</a:t>
            </a:r>
          </a:p>
        </p:txBody>
      </p:sp>
      <p:sp>
        <p:nvSpPr>
          <p:cNvPr id="2" name="ZoneTexte 1">
            <a:extLst>
              <a:ext uri="{FF2B5EF4-FFF2-40B4-BE49-F238E27FC236}">
                <a16:creationId xmlns:a16="http://schemas.microsoft.com/office/drawing/2014/main" id="{7091B857-E3A7-934C-7B48-D82DDFF59223}"/>
              </a:ext>
            </a:extLst>
          </p:cNvPr>
          <p:cNvSpPr txBox="1"/>
          <p:nvPr/>
        </p:nvSpPr>
        <p:spPr>
          <a:xfrm>
            <a:off x="5425784" y="1303134"/>
            <a:ext cx="2725254" cy="1492716"/>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spcAft>
                <a:spcPts val="1200"/>
              </a:spcAft>
            </a:pPr>
            <a:r>
              <a:rPr lang="en-US" sz="900" u="none">
                <a:latin typeface="Encode Sans" pitchFamily="2" charset="0"/>
              </a:rPr>
              <a:t>Remark:</a:t>
            </a:r>
          </a:p>
          <a:p>
            <a:pPr marL="171450" indent="-171450"/>
            <a:r>
              <a:rPr lang="en-US" sz="900" u="none">
                <a:latin typeface="Encode Sans" pitchFamily="2" charset="0"/>
              </a:rPr>
              <a:t>Paste the schedule of the project.</a:t>
            </a:r>
          </a:p>
          <a:p>
            <a:pPr marL="171450" indent="-171450"/>
            <a:r>
              <a:rPr lang="en-US" sz="900" u="none">
                <a:latin typeface="Encode Sans" pitchFamily="2" charset="0"/>
              </a:rPr>
              <a:t>Mention the link to the schedule and its version. The schedule describes interventions of different actors involved (tasks, dates, efforts, responsible). The critical path must be highlighted. </a:t>
            </a:r>
            <a:br>
              <a:rPr lang="en-US" sz="900" u="none">
                <a:latin typeface="Encode Sans" pitchFamily="2" charset="0"/>
              </a:rPr>
            </a:br>
            <a:r>
              <a:rPr lang="en-US" sz="900" u="none">
                <a:latin typeface="Encode Sans" pitchFamily="2" charset="0"/>
                <a:sym typeface="Wingdings" panose="05000000000000000000" pitchFamily="2" charset="2"/>
              </a:rPr>
              <a:t></a:t>
            </a:r>
            <a:r>
              <a:rPr lang="en-US" sz="900" u="none">
                <a:latin typeface="Encode Sans" pitchFamily="2" charset="0"/>
              </a:rPr>
              <a:t> Do not forget to show the major milestones</a:t>
            </a:r>
            <a:r>
              <a:rPr lang="en-US" sz="900">
                <a:latin typeface="Encode Sans" pitchFamily="2" charset="0"/>
              </a:rPr>
              <a:t>.</a:t>
            </a:r>
            <a:endParaRPr lang="fr-FR" sz="1050">
              <a:latin typeface="Encode Sans" pitchFamily="2" charset="0"/>
            </a:endParaRPr>
          </a:p>
        </p:txBody>
      </p:sp>
    </p:spTree>
    <p:custDataLst>
      <p:tags r:id="rId1"/>
    </p:custDataLst>
    <p:extLst>
      <p:ext uri="{BB962C8B-B14F-4D97-AF65-F5344CB8AC3E}">
        <p14:creationId xmlns:p14="http://schemas.microsoft.com/office/powerpoint/2010/main" val="820313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Summary of the Solutions</a:t>
            </a:r>
            <a:endParaRPr>
              <a:latin typeface="Encode Sans" pitchFamily="2" charset="0"/>
            </a:endParaRPr>
          </a:p>
        </p:txBody>
      </p:sp>
      <p:graphicFrame>
        <p:nvGraphicFramePr>
          <p:cNvPr id="15" name="Tableau 4">
            <a:extLst>
              <a:ext uri="{FF2B5EF4-FFF2-40B4-BE49-F238E27FC236}">
                <a16:creationId xmlns:a16="http://schemas.microsoft.com/office/drawing/2014/main" id="{A3E03952-77D0-48E2-8449-ED8E8BD8F973}"/>
              </a:ext>
            </a:extLst>
          </p:cNvPr>
          <p:cNvGraphicFramePr>
            <a:graphicFrameLocks noGrp="1"/>
          </p:cNvGraphicFramePr>
          <p:nvPr/>
        </p:nvGraphicFramePr>
        <p:xfrm>
          <a:off x="400357" y="716882"/>
          <a:ext cx="8373756" cy="4276470"/>
        </p:xfrm>
        <a:graphic>
          <a:graphicData uri="http://schemas.openxmlformats.org/drawingml/2006/table">
            <a:tbl>
              <a:tblPr firstRow="1" bandRow="1"/>
              <a:tblGrid>
                <a:gridCol w="4548131">
                  <a:extLst>
                    <a:ext uri="{9D8B030D-6E8A-4147-A177-3AD203B41FA5}">
                      <a16:colId xmlns:a16="http://schemas.microsoft.com/office/drawing/2014/main" val="20000"/>
                    </a:ext>
                  </a:extLst>
                </a:gridCol>
                <a:gridCol w="1270342">
                  <a:extLst>
                    <a:ext uri="{9D8B030D-6E8A-4147-A177-3AD203B41FA5}">
                      <a16:colId xmlns:a16="http://schemas.microsoft.com/office/drawing/2014/main" val="20001"/>
                    </a:ext>
                  </a:extLst>
                </a:gridCol>
                <a:gridCol w="1284568">
                  <a:extLst>
                    <a:ext uri="{9D8B030D-6E8A-4147-A177-3AD203B41FA5}">
                      <a16:colId xmlns:a16="http://schemas.microsoft.com/office/drawing/2014/main" val="20002"/>
                    </a:ext>
                  </a:extLst>
                </a:gridCol>
                <a:gridCol w="1270715">
                  <a:extLst>
                    <a:ext uri="{9D8B030D-6E8A-4147-A177-3AD203B41FA5}">
                      <a16:colId xmlns:a16="http://schemas.microsoft.com/office/drawing/2014/main" val="20003"/>
                    </a:ext>
                  </a:extLst>
                </a:gridCol>
              </a:tblGrid>
              <a:tr h="28575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r>
                        <a:rPr lang="en-GB" sz="1200" noProof="0" dirty="0">
                          <a:solidFill>
                            <a:schemeClr val="bg1"/>
                          </a:solidFill>
                          <a:latin typeface="Encode Sans" pitchFamily="2" charset="0"/>
                        </a:rPr>
                        <a:t>CRITERIA</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algn="ctr"/>
                      <a:r>
                        <a:rPr lang="en-GB" sz="1200" noProof="0">
                          <a:solidFill>
                            <a:schemeClr val="bg1"/>
                          </a:solidFill>
                          <a:latin typeface="Encode Sans" pitchFamily="2" charset="0"/>
                        </a:rPr>
                        <a:t>SOLUTION 1</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algn="ctr"/>
                      <a:r>
                        <a:rPr lang="en-GB" sz="1200" noProof="0">
                          <a:solidFill>
                            <a:schemeClr val="bg1"/>
                          </a:solidFill>
                          <a:latin typeface="Encode Sans" pitchFamily="2" charset="0"/>
                        </a:rPr>
                        <a:t>SOLUTION 2</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algn="ctr"/>
                      <a:r>
                        <a:rPr lang="en-GB" sz="1200" noProof="0">
                          <a:solidFill>
                            <a:schemeClr val="bg1"/>
                          </a:solidFill>
                          <a:latin typeface="Encode Sans" pitchFamily="2" charset="0"/>
                        </a:rPr>
                        <a:t>SOLUTION 3</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extLst>
                  <a:ext uri="{0D108BD9-81ED-4DB2-BD59-A6C34878D82A}">
                    <a16:rowId xmlns:a16="http://schemas.microsoft.com/office/drawing/2014/main" val="10000"/>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Functional coverage</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1"/>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Non-Functional Requirements implementation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2"/>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Technical expertise</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3"/>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Implementation complexity</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4"/>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dirty="0">
                          <a:solidFill>
                            <a:schemeClr val="dk1"/>
                          </a:solidFill>
                          <a:latin typeface="Encode Sans" pitchFamily="2" charset="0"/>
                          <a:ea typeface="+mn-ea"/>
                          <a:cs typeface="+mn-cs"/>
                        </a:rPr>
                        <a:t>Performance and reliability</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900" b="1" i="0" u="sng" strike="noStrike" cap="none" noProof="0">
                        <a:solidFill>
                          <a:schemeClr val="dk1"/>
                        </a:solidFill>
                        <a:latin typeface="Encode Sans" pitchFamily="2" charset="0"/>
                        <a:ea typeface="+mn-ea"/>
                        <a:cs typeface="+mn-cs"/>
                        <a:sym typeface="Arial"/>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5"/>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Project costs (business and IT)</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6"/>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dirty="0">
                          <a:solidFill>
                            <a:schemeClr val="dk1"/>
                          </a:solidFill>
                          <a:latin typeface="Encode Sans" pitchFamily="2" charset="0"/>
                          <a:ea typeface="+mn-ea"/>
                          <a:cs typeface="+mn-cs"/>
                        </a:rPr>
                        <a:t>Investments:  Hardware cost (servers, …)</a:t>
                      </a:r>
                    </a:p>
                    <a:p>
                      <a:pPr marL="0" algn="l" defTabSz="457189" rtl="0" eaLnBrk="1" latinLnBrk="0" hangingPunct="1"/>
                      <a:r>
                        <a:rPr lang="en-US" sz="1100" b="0" kern="1200" noProof="0" dirty="0">
                          <a:solidFill>
                            <a:schemeClr val="dk1"/>
                          </a:solidFill>
                          <a:latin typeface="Encode Sans" pitchFamily="2" charset="0"/>
                          <a:ea typeface="+mn-ea"/>
                          <a:cs typeface="+mn-cs"/>
                        </a:rPr>
                        <a:t>                         Cost of software licenses</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900" b="1" i="0" u="sng" strike="noStrike" cap="none" noProof="0">
                        <a:solidFill>
                          <a:schemeClr val="dk1"/>
                        </a:solidFill>
                        <a:latin typeface="Encode Sans" pitchFamily="2" charset="0"/>
                        <a:ea typeface="+mn-ea"/>
                        <a:cs typeface="+mn-cs"/>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7"/>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1100" b="0" kern="1200" noProof="0">
                          <a:solidFill>
                            <a:schemeClr val="dk1"/>
                          </a:solidFill>
                          <a:latin typeface="Encode Sans" pitchFamily="2" charset="0"/>
                          <a:ea typeface="+mn-ea"/>
                          <a:cs typeface="+mn-cs"/>
                        </a:rPr>
                        <a:t>Schedule</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8"/>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1100" b="0" kern="1200" noProof="0">
                          <a:solidFill>
                            <a:schemeClr val="dk1"/>
                          </a:solidFill>
                          <a:latin typeface="Encode Sans" pitchFamily="2" charset="0"/>
                          <a:ea typeface="+mn-ea"/>
                          <a:cs typeface="+mn-cs"/>
                        </a:rPr>
                        <a:t>Cloud (cloud solution is mandatory)</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3354857989"/>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1400" b="1" kern="1200" noProof="0" dirty="0">
                          <a:solidFill>
                            <a:schemeClr val="dk1"/>
                          </a:solidFill>
                          <a:latin typeface="Encode Sans" pitchFamily="2" charset="0"/>
                          <a:ea typeface="+mn-ea"/>
                          <a:cs typeface="+mn-cs"/>
                        </a:rPr>
                        <a:t>Recommended solution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9"/>
                  </a:ext>
                </a:extLst>
              </a:tr>
            </a:tbl>
          </a:graphicData>
        </a:graphic>
      </p:graphicFrame>
      <p:pic>
        <p:nvPicPr>
          <p:cNvPr id="16" name="Picture 2">
            <a:extLst>
              <a:ext uri="{FF2B5EF4-FFF2-40B4-BE49-F238E27FC236}">
                <a16:creationId xmlns:a16="http://schemas.microsoft.com/office/drawing/2014/main" id="{FA0B0B6F-A4F0-4F54-BD07-08FB21DCAD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64369" y="1003791"/>
            <a:ext cx="407810" cy="407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a:extLst>
              <a:ext uri="{FF2B5EF4-FFF2-40B4-BE49-F238E27FC236}">
                <a16:creationId xmlns:a16="http://schemas.microsoft.com/office/drawing/2014/main" id="{6F6D7AC2-0F07-45C1-947D-AF17645E693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42122" y="1032366"/>
            <a:ext cx="365425" cy="349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a:extLst>
              <a:ext uri="{FF2B5EF4-FFF2-40B4-BE49-F238E27FC236}">
                <a16:creationId xmlns:a16="http://schemas.microsoft.com/office/drawing/2014/main" id="{5E8769F8-574F-4FDB-92C8-0EEA60427E3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64663" y="1032366"/>
            <a:ext cx="378712" cy="36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 coins arrondis 3">
            <a:extLst>
              <a:ext uri="{FF2B5EF4-FFF2-40B4-BE49-F238E27FC236}">
                <a16:creationId xmlns:a16="http://schemas.microsoft.com/office/drawing/2014/main" id="{7CA3E400-F736-42DD-85BB-504D5EEE9D42}"/>
              </a:ext>
            </a:extLst>
          </p:cNvPr>
          <p:cNvSpPr/>
          <p:nvPr/>
        </p:nvSpPr>
        <p:spPr>
          <a:xfrm>
            <a:off x="5250720" y="1490104"/>
            <a:ext cx="3218464" cy="611682"/>
          </a:xfrm>
          <a:prstGeom prst="roundRect">
            <a:avLst/>
          </a:prstGeom>
          <a:solidFill>
            <a:srgbClr val="243782"/>
          </a:solidFill>
          <a:ln w="12700" cap="flat" cmpd="sng" algn="ctr">
            <a:solidFill>
              <a:srgbClr val="243782">
                <a:shade val="50000"/>
              </a:srgbClr>
            </a:solidFill>
            <a:prstDash val="solid"/>
            <a:miter lim="800000"/>
          </a:ln>
          <a:effectLst/>
        </p:spPr>
        <p:txBody>
          <a:bodyPr rtlCol="0" anchor="t"/>
          <a:lstStyle/>
          <a:p>
            <a:pPr marL="263525" marR="0" lvl="0" indent="-263525"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a:ln>
                  <a:noFill/>
                </a:ln>
                <a:solidFill>
                  <a:prstClr val="white"/>
                </a:solidFill>
                <a:effectLst/>
                <a:uLnTx/>
                <a:uFillTx/>
                <a:latin typeface="Encode Sans ExpandedMedium" pitchFamily="2" charset="0"/>
                <a:ea typeface="+mn-ea"/>
                <a:cs typeface="+mn-cs"/>
              </a:rPr>
              <a:t>For each cell of the table, place a smiley of suitable color</a:t>
            </a:r>
            <a:endParaRPr kumimoji="0" lang="en-US" sz="1050" b="0" i="0" u="none" strike="noStrike" kern="0" cap="none" spc="0" normalizeH="0" baseline="0" noProof="0">
              <a:ln>
                <a:noFill/>
              </a:ln>
              <a:solidFill>
                <a:prstClr val="white"/>
              </a:solidFill>
              <a:effectLst/>
              <a:uLnTx/>
              <a:uFillTx/>
              <a:latin typeface="Encode Sans ExpandedMedium" pitchFamily="2" charset="0"/>
              <a:ea typeface="+mn-ea"/>
              <a:cs typeface="+mn-cs"/>
            </a:endParaRPr>
          </a:p>
        </p:txBody>
      </p:sp>
      <p:sp>
        <p:nvSpPr>
          <p:cNvPr id="2" name="ZoneTexte 1">
            <a:extLst>
              <a:ext uri="{FF2B5EF4-FFF2-40B4-BE49-F238E27FC236}">
                <a16:creationId xmlns:a16="http://schemas.microsoft.com/office/drawing/2014/main" id="{AE2643B2-413B-969B-B8AE-88AADEA2010A}"/>
              </a:ext>
            </a:extLst>
          </p:cNvPr>
          <p:cNvSpPr txBox="1"/>
          <p:nvPr/>
        </p:nvSpPr>
        <p:spPr>
          <a:xfrm>
            <a:off x="5618121" y="4147130"/>
            <a:ext cx="2725254" cy="661720"/>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spcAft>
                <a:spcPts val="1200"/>
              </a:spcAft>
            </a:pPr>
            <a:r>
              <a:rPr lang="en-US" sz="900" u="none">
                <a:latin typeface="Encode Sans" pitchFamily="2" charset="0"/>
              </a:rPr>
              <a:t>Remark:</a:t>
            </a:r>
          </a:p>
          <a:p>
            <a:r>
              <a:rPr lang="en-US" sz="900" u="none">
                <a:latin typeface="Encode Sans" pitchFamily="2" charset="0"/>
              </a:rPr>
              <a:t>Selection criteria are proposed; they can be fulfilled or withdrawn. </a:t>
            </a:r>
          </a:p>
        </p:txBody>
      </p:sp>
    </p:spTree>
    <p:custDataLst>
      <p:tags r:id="rId1"/>
    </p:custDataLst>
    <p:extLst>
      <p:ext uri="{BB962C8B-B14F-4D97-AF65-F5344CB8AC3E}">
        <p14:creationId xmlns:p14="http://schemas.microsoft.com/office/powerpoint/2010/main" val="1492422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55BA2B-75D8-BE22-B984-472CA75B35C7}"/>
              </a:ext>
            </a:extLst>
          </p:cNvPr>
          <p:cNvSpPr>
            <a:spLocks noGrp="1"/>
          </p:cNvSpPr>
          <p:nvPr>
            <p:ph type="title" idx="2"/>
          </p:nvPr>
        </p:nvSpPr>
        <p:spPr/>
        <p:txBody>
          <a:bodyPr/>
          <a:lstStyle/>
          <a:p>
            <a:r>
              <a:rPr lang="en-US" sz="1100" dirty="0"/>
              <a:t>PRESENTATION OF THE CLOUD PROJECT</a:t>
            </a:r>
            <a:endParaRPr lang="en-GB" dirty="0"/>
          </a:p>
        </p:txBody>
      </p:sp>
      <p:sp>
        <p:nvSpPr>
          <p:cNvPr id="5" name="Espace réservé du contenu 4"/>
          <p:cNvSpPr>
            <a:spLocks noGrp="1"/>
          </p:cNvSpPr>
          <p:nvPr>
            <p:ph idx="4294967295"/>
          </p:nvPr>
        </p:nvSpPr>
        <p:spPr>
          <a:xfrm>
            <a:off x="243840" y="755650"/>
            <a:ext cx="8366760" cy="3960813"/>
          </a:xfrm>
        </p:spPr>
        <p:txBody>
          <a:bodyPr vert="horz" lIns="91440" tIns="45720" rIns="91440" bIns="45720" rtlCol="0" anchor="t">
            <a:normAutofit fontScale="85000" lnSpcReduction="20000"/>
          </a:bodyPr>
          <a:lstStyle/>
          <a:p>
            <a:pPr marL="0" indent="0">
              <a:spcAft>
                <a:spcPts val="1200"/>
              </a:spcAft>
              <a:buNone/>
            </a:pPr>
            <a:r>
              <a:rPr lang="en-US" sz="1800">
                <a:latin typeface="Encode Sans" pitchFamily="2" charset="0"/>
              </a:rPr>
              <a:t>1.1 - Objective </a:t>
            </a:r>
          </a:p>
          <a:p>
            <a:pPr marL="342900" lvl="1" indent="-342900">
              <a:buFont typeface="Wingdings" panose="05000000000000000000" pitchFamily="2" charset="2"/>
              <a:buChar char="§"/>
              <a:defRPr/>
            </a:pPr>
            <a:r>
              <a:rPr lang="en-US" sz="1800">
                <a:latin typeface="Encode Sans" pitchFamily="2" charset="0"/>
              </a:rPr>
              <a:t>Positioning of the project regarding to the SFES cloud strategy:</a:t>
            </a:r>
          </a:p>
          <a:p>
            <a:pPr marL="0" lvl="1" indent="0">
              <a:buNone/>
              <a:defRPr/>
            </a:pPr>
            <a:endParaRPr lang="en-US" sz="1800">
              <a:latin typeface="Encode Sans" pitchFamily="2" charset="0"/>
            </a:endParaRPr>
          </a:p>
          <a:p>
            <a:pPr marL="603250" lvl="2" indent="-342900">
              <a:buFont typeface="Wingdings" panose="05000000000000000000" pitchFamily="2" charset="2"/>
              <a:buChar char="§"/>
              <a:defRPr/>
            </a:pPr>
            <a:r>
              <a:rPr lang="en-US" sz="1400">
                <a:latin typeface="Encode Sans" pitchFamily="2" charset="0"/>
                <a:cs typeface="Arial"/>
                <a:hlinkClick r:id="rId3"/>
              </a:rPr>
              <a:t>CLOUD ELIGIBILITY TREE </a:t>
            </a:r>
            <a:r>
              <a:rPr lang="en-US" sz="1400">
                <a:latin typeface="Encode Sans" pitchFamily="2" charset="0"/>
                <a:cs typeface="Arial"/>
              </a:rPr>
              <a:t>:  </a:t>
            </a:r>
            <a:r>
              <a:rPr lang="en-US">
                <a:solidFill>
                  <a:schemeClr val="accent6"/>
                </a:solidFill>
                <a:latin typeface="Encode Sans" pitchFamily="2" charset="0"/>
                <a:cs typeface="Arial"/>
              </a:rPr>
              <a:t>Add the diagram + Link + Document Version &amp; Date </a:t>
            </a:r>
            <a:br>
              <a:rPr lang="en-US">
                <a:latin typeface="Encode Sans" pitchFamily="2" charset="0"/>
              </a:rPr>
            </a:br>
            <a:br>
              <a:rPr lang="en-US">
                <a:latin typeface="Encode Sans" pitchFamily="2" charset="0"/>
              </a:rPr>
            </a:br>
            <a:br>
              <a:rPr lang="en-US">
                <a:latin typeface="Encode Sans" pitchFamily="2" charset="0"/>
              </a:rPr>
            </a:br>
            <a:r>
              <a:rPr lang="en-US">
                <a:latin typeface="Encode Sans" pitchFamily="2" charset="0"/>
              </a:rPr>
              <a:t>https://docinfogroupe.stellantis.com/ead/doc/ref.20373_21_06727/v.dp/pj</a:t>
            </a:r>
            <a:br>
              <a:rPr lang="en-US">
                <a:latin typeface="Encode Sans" pitchFamily="2" charset="0"/>
              </a:rPr>
            </a:br>
            <a:endParaRPr lang="en-US">
              <a:latin typeface="Encode Sans" pitchFamily="2" charset="0"/>
            </a:endParaRPr>
          </a:p>
          <a:p>
            <a:pPr marL="260350" lvl="2" indent="0">
              <a:buNone/>
              <a:defRPr/>
            </a:pPr>
            <a:br>
              <a:rPr lang="en-US">
                <a:latin typeface="Encode Sans" pitchFamily="2" charset="0"/>
              </a:rPr>
            </a:br>
            <a:endParaRPr lang="en-US">
              <a:latin typeface="Encode Sans" pitchFamily="2" charset="0"/>
            </a:endParaRPr>
          </a:p>
          <a:p>
            <a:pPr marL="260350" lvl="2" indent="0">
              <a:buNone/>
              <a:defRPr/>
            </a:pPr>
            <a:endParaRPr lang="en-US">
              <a:latin typeface="Encode Sans" pitchFamily="2" charset="0"/>
            </a:endParaRPr>
          </a:p>
          <a:p>
            <a:pPr marL="260350" lvl="2" indent="0">
              <a:buNone/>
              <a:defRPr/>
            </a:pPr>
            <a:endParaRPr lang="en-US">
              <a:latin typeface="Encode Sans" pitchFamily="2" charset="0"/>
            </a:endParaRPr>
          </a:p>
          <a:p>
            <a:pPr marL="260350" lvl="2" indent="0">
              <a:buNone/>
              <a:defRPr/>
            </a:pPr>
            <a:endParaRPr lang="en-US">
              <a:latin typeface="Encode Sans" pitchFamily="2" charset="0"/>
            </a:endParaRPr>
          </a:p>
          <a:p>
            <a:pPr marL="603250" lvl="2" indent="-342900">
              <a:buFont typeface="Wingdings" panose="05000000000000000000" pitchFamily="2" charset="2"/>
              <a:buChar char="§"/>
              <a:defRPr/>
            </a:pPr>
            <a:r>
              <a:rPr lang="en-US" sz="1500">
                <a:latin typeface="Encode Sans" pitchFamily="2" charset="0"/>
              </a:rPr>
              <a:t>Implementation typology: </a:t>
            </a:r>
            <a:r>
              <a:rPr lang="en-US" sz="1500">
                <a:solidFill>
                  <a:schemeClr val="accent6"/>
                </a:solidFill>
                <a:latin typeface="Encode Sans" pitchFamily="2" charset="0"/>
              </a:rPr>
              <a:t>New? / Replatforming? </a:t>
            </a:r>
          </a:p>
          <a:p>
            <a:pPr marL="260350" lvl="2" indent="0">
              <a:defRPr/>
            </a:pPr>
            <a:endParaRPr lang="en-US" sz="1200" strike="sngStrike">
              <a:latin typeface="Encode Sans" pitchFamily="2" charset="0"/>
            </a:endParaRPr>
          </a:p>
          <a:p>
            <a:pPr marL="603250" lvl="2" indent="-342900">
              <a:buFont typeface="Wingdings" panose="05000000000000000000" pitchFamily="2" charset="2"/>
              <a:buChar char="§"/>
              <a:defRPr/>
            </a:pPr>
            <a:endParaRPr lang="en-US" sz="1200">
              <a:latin typeface="Encode Sans" pitchFamily="2" charset="0"/>
            </a:endParaRPr>
          </a:p>
          <a:p>
            <a:pPr marL="285750" lvl="1" indent="-285750">
              <a:lnSpc>
                <a:spcPct val="120000"/>
              </a:lnSpc>
              <a:spcBef>
                <a:spcPts val="0"/>
              </a:spcBef>
              <a:buFont typeface="Wingdings" panose="05000000000000000000" pitchFamily="2" charset="2"/>
              <a:buChar char="§"/>
              <a:defRPr/>
            </a:pPr>
            <a:r>
              <a:rPr lang="en-US">
                <a:latin typeface="Encode Sans" pitchFamily="2" charset="0"/>
              </a:rPr>
              <a:t>Cloud Solution Provider: </a:t>
            </a:r>
            <a:r>
              <a:rPr lang="en-US" sz="1200">
                <a:solidFill>
                  <a:schemeClr val="accent6"/>
                </a:solidFill>
                <a:latin typeface="Encode Sans" pitchFamily="2" charset="0"/>
              </a:rPr>
              <a:t>AWS ?</a:t>
            </a:r>
          </a:p>
          <a:p>
            <a:pPr marL="457200" lvl="2" indent="0">
              <a:lnSpc>
                <a:spcPct val="120000"/>
              </a:lnSpc>
              <a:spcBef>
                <a:spcPts val="0"/>
              </a:spcBef>
              <a:defRPr/>
            </a:pPr>
            <a:br>
              <a:rPr lang="en-US">
                <a:latin typeface="Encode Sans" pitchFamily="2" charset="0"/>
              </a:rPr>
            </a:br>
            <a:r>
              <a:rPr lang="en-US" sz="1100" i="1">
                <a:solidFill>
                  <a:schemeClr val="accent6"/>
                </a:solidFill>
                <a:latin typeface="Encode Sans" pitchFamily="2" charset="0"/>
              </a:rPr>
              <a:t>If not AWS, add: </a:t>
            </a:r>
            <a:br>
              <a:rPr lang="en-US" sz="1100" i="1">
                <a:solidFill>
                  <a:schemeClr val="accent6"/>
                </a:solidFill>
                <a:latin typeface="Encode Sans" pitchFamily="2" charset="0"/>
              </a:rPr>
            </a:br>
            <a:r>
              <a:rPr lang="en-US" sz="1100" i="1">
                <a:solidFill>
                  <a:schemeClr val="accent6"/>
                </a:solidFill>
                <a:latin typeface="Encode Sans" pitchFamily="2" charset="0"/>
              </a:rPr>
              <a:t>- The justification / reason,</a:t>
            </a:r>
            <a:br>
              <a:rPr lang="en-US" sz="1100" i="1">
                <a:solidFill>
                  <a:schemeClr val="accent6"/>
                </a:solidFill>
                <a:latin typeface="Encode Sans" pitchFamily="2" charset="0"/>
              </a:rPr>
            </a:br>
            <a:endParaRPr lang="en-US" sz="800">
              <a:solidFill>
                <a:schemeClr val="accent6"/>
              </a:solidFill>
              <a:latin typeface="Encode Sans" pitchFamily="2" charset="0"/>
            </a:endParaRPr>
          </a:p>
        </p:txBody>
      </p:sp>
      <p:pic>
        <p:nvPicPr>
          <p:cNvPr id="4" name="Image 3">
            <a:extLst>
              <a:ext uri="{FF2B5EF4-FFF2-40B4-BE49-F238E27FC236}">
                <a16:creationId xmlns:a16="http://schemas.microsoft.com/office/drawing/2014/main" id="{4B26614C-D57E-F0AF-D19F-99726D386DC0}"/>
              </a:ext>
            </a:extLst>
          </p:cNvPr>
          <p:cNvPicPr>
            <a:picLocks noChangeAspect="1"/>
          </p:cNvPicPr>
          <p:nvPr/>
        </p:nvPicPr>
        <p:blipFill>
          <a:blip r:embed="rId4"/>
          <a:stretch>
            <a:fillRect/>
          </a:stretch>
        </p:blipFill>
        <p:spPr>
          <a:xfrm>
            <a:off x="4797189" y="1925482"/>
            <a:ext cx="2355780" cy="1793533"/>
          </a:xfrm>
          <a:prstGeom prst="rect">
            <a:avLst/>
          </a:prstGeom>
        </p:spPr>
      </p:pic>
    </p:spTree>
    <p:extLst>
      <p:ext uri="{BB962C8B-B14F-4D97-AF65-F5344CB8AC3E}">
        <p14:creationId xmlns:p14="http://schemas.microsoft.com/office/powerpoint/2010/main" val="2636540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Cloud (Gate 1 </a:t>
            </a:r>
            <a:r>
              <a:rPr kumimoji="0" lang="en-US" sz="1200" b="1" i="0" u="none" strike="noStrike" kern="1200" cap="all" spc="0" normalizeH="0" baseline="0" noProof="0" err="1">
                <a:ln>
                  <a:noFill/>
                </a:ln>
                <a:solidFill>
                  <a:prstClr val="white"/>
                </a:solidFill>
                <a:effectLst/>
                <a:uLnTx/>
                <a:uFillTx/>
                <a:latin typeface="Encode Sans" pitchFamily="2" charset="0"/>
                <a:ea typeface="+mj-ea"/>
                <a:cs typeface="+mj-cs"/>
              </a:rPr>
              <a:t>poc</a:t>
            </a: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 and Gate 2)</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53078"/>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dirty="0">
                <a:solidFill>
                  <a:schemeClr val="accent1"/>
                </a:solidFill>
                <a:latin typeface="Encode Sans" pitchFamily="2" charset="0"/>
              </a:rPr>
              <a:t>Cloud architecture</a:t>
            </a:r>
          </a:p>
          <a:p>
            <a:pPr lvl="1"/>
            <a:r>
              <a:rPr lang="fr-FR" dirty="0" err="1">
                <a:solidFill>
                  <a:schemeClr val="accent1"/>
                </a:solidFill>
                <a:latin typeface="Encode Sans" pitchFamily="2" charset="0"/>
              </a:rPr>
              <a:t>Selected</a:t>
            </a:r>
            <a:r>
              <a:rPr lang="fr-FR" dirty="0">
                <a:solidFill>
                  <a:schemeClr val="accent1"/>
                </a:solidFill>
                <a:latin typeface="Encode Sans" pitchFamily="2" charset="0"/>
              </a:rPr>
              <a:t> cloud provider : </a:t>
            </a:r>
            <a:r>
              <a:rPr lang="fr-FR" dirty="0">
                <a:solidFill>
                  <a:schemeClr val="accent1"/>
                </a:solidFill>
                <a:highlight>
                  <a:srgbClr val="FFFF00"/>
                </a:highlight>
                <a:latin typeface="Encode Sans" pitchFamily="2" charset="0"/>
              </a:rPr>
              <a:t>AWS / AZURE / On </a:t>
            </a:r>
            <a:r>
              <a:rPr lang="fr-FR" dirty="0" err="1">
                <a:solidFill>
                  <a:schemeClr val="accent1"/>
                </a:solidFill>
                <a:highlight>
                  <a:srgbClr val="FFFF00"/>
                </a:highlight>
                <a:latin typeface="Encode Sans" pitchFamily="2" charset="0"/>
              </a:rPr>
              <a:t>prem</a:t>
            </a:r>
            <a:endParaRPr lang="fr-FR" dirty="0">
              <a:solidFill>
                <a:schemeClr val="accent1"/>
              </a:solidFill>
              <a:highlight>
                <a:srgbClr val="FFFF00"/>
              </a:highlight>
              <a:latin typeface="Encode Sans" pitchFamily="2" charset="0"/>
            </a:endParaRPr>
          </a:p>
          <a:p>
            <a:pPr lvl="1"/>
            <a:r>
              <a:rPr lang="fr-FR" dirty="0">
                <a:solidFill>
                  <a:schemeClr val="accent1"/>
                </a:solidFill>
                <a:latin typeface="Encode Sans" pitchFamily="2" charset="0"/>
              </a:rPr>
              <a:t>Cloud Landing Zone : </a:t>
            </a:r>
            <a:r>
              <a:rPr lang="fr-FR" dirty="0">
                <a:solidFill>
                  <a:schemeClr val="accent1"/>
                </a:solidFill>
                <a:highlight>
                  <a:srgbClr val="FFFF00"/>
                </a:highlight>
                <a:latin typeface="Encode Sans" pitchFamily="2" charset="0"/>
              </a:rPr>
              <a:t>AWS Global Landing Zone ; Azure Landing Zone</a:t>
            </a:r>
          </a:p>
          <a:p>
            <a:pPr lvl="1"/>
            <a:r>
              <a:rPr lang="fr-FR" dirty="0">
                <a:solidFill>
                  <a:schemeClr val="accent1"/>
                </a:solidFill>
                <a:latin typeface="Encode Sans" pitchFamily="2" charset="0"/>
              </a:rPr>
              <a:t>Main </a:t>
            </a:r>
            <a:r>
              <a:rPr lang="fr-FR" dirty="0" err="1">
                <a:solidFill>
                  <a:schemeClr val="accent1"/>
                </a:solidFill>
                <a:latin typeface="Encode Sans" pitchFamily="2" charset="0"/>
              </a:rPr>
              <a:t>region</a:t>
            </a:r>
            <a:r>
              <a:rPr lang="fr-FR" dirty="0">
                <a:solidFill>
                  <a:schemeClr val="accent1"/>
                </a:solidFill>
                <a:latin typeface="Encode Sans" pitchFamily="2" charset="0"/>
              </a:rPr>
              <a:t> : </a:t>
            </a:r>
            <a:r>
              <a:rPr lang="fr-FR" dirty="0">
                <a:solidFill>
                  <a:schemeClr val="accent1"/>
                </a:solidFill>
                <a:highlight>
                  <a:srgbClr val="FFFF00"/>
                </a:highlight>
                <a:latin typeface="Encode Sans" pitchFamily="2" charset="0"/>
              </a:rPr>
              <a:t>eu-west-1 ; backup </a:t>
            </a:r>
            <a:r>
              <a:rPr lang="fr-FR" dirty="0" err="1">
                <a:solidFill>
                  <a:schemeClr val="accent1"/>
                </a:solidFill>
                <a:highlight>
                  <a:srgbClr val="FFFF00"/>
                </a:highlight>
                <a:latin typeface="Encode Sans" pitchFamily="2" charset="0"/>
              </a:rPr>
              <a:t>region</a:t>
            </a:r>
            <a:r>
              <a:rPr lang="fr-FR" dirty="0">
                <a:solidFill>
                  <a:schemeClr val="accent1"/>
                </a:solidFill>
                <a:highlight>
                  <a:srgbClr val="FFFF00"/>
                </a:highlight>
                <a:latin typeface="Encode Sans" pitchFamily="2" charset="0"/>
              </a:rPr>
              <a:t> if </a:t>
            </a:r>
            <a:r>
              <a:rPr lang="fr-FR" dirty="0" err="1">
                <a:solidFill>
                  <a:schemeClr val="accent1"/>
                </a:solidFill>
                <a:highlight>
                  <a:srgbClr val="FFFF00"/>
                </a:highlight>
                <a:latin typeface="Encode Sans" pitchFamily="2" charset="0"/>
              </a:rPr>
              <a:t>needed</a:t>
            </a:r>
            <a:r>
              <a:rPr lang="fr-FR" dirty="0">
                <a:solidFill>
                  <a:schemeClr val="accent1"/>
                </a:solidFill>
                <a:highlight>
                  <a:srgbClr val="FFFF00"/>
                </a:highlight>
                <a:latin typeface="Encode Sans" pitchFamily="2" charset="0"/>
              </a:rPr>
              <a:t> : eu-west-3</a:t>
            </a:r>
          </a:p>
          <a:p>
            <a:pPr lvl="1"/>
            <a:r>
              <a:rPr lang="fr-FR" dirty="0">
                <a:solidFill>
                  <a:schemeClr val="accent1"/>
                </a:solidFill>
                <a:latin typeface="Encode Sans" pitchFamily="2" charset="0"/>
              </a:rPr>
              <a:t>Network model : </a:t>
            </a:r>
            <a:r>
              <a:rPr lang="fr-FR" dirty="0">
                <a:solidFill>
                  <a:schemeClr val="accent1"/>
                </a:solidFill>
                <a:highlight>
                  <a:srgbClr val="FFFF00"/>
                </a:highlight>
                <a:latin typeface="Encode Sans" pitchFamily="2" charset="0"/>
              </a:rPr>
              <a:t>standalone</a:t>
            </a:r>
          </a:p>
          <a:p>
            <a:pPr lvl="1"/>
            <a:r>
              <a:rPr lang="fr-FR" dirty="0">
                <a:solidFill>
                  <a:schemeClr val="accent1"/>
                </a:solidFill>
                <a:latin typeface="Encode Sans" pitchFamily="2" charset="0"/>
              </a:rPr>
              <a:t>Network </a:t>
            </a:r>
            <a:r>
              <a:rPr lang="fr-FR" dirty="0" err="1">
                <a:solidFill>
                  <a:schemeClr val="accent1"/>
                </a:solidFill>
                <a:latin typeface="Encode Sans" pitchFamily="2" charset="0"/>
              </a:rPr>
              <a:t>connectivity</a:t>
            </a:r>
            <a:r>
              <a:rPr lang="fr-FR" dirty="0">
                <a:solidFill>
                  <a:schemeClr val="accent1"/>
                </a:solidFill>
                <a:latin typeface="Encode Sans" pitchFamily="2" charset="0"/>
              </a:rPr>
              <a:t> </a:t>
            </a:r>
            <a:r>
              <a:rPr lang="fr-FR" dirty="0" err="1">
                <a:solidFill>
                  <a:schemeClr val="accent1"/>
                </a:solidFill>
                <a:latin typeface="Encode Sans" pitchFamily="2" charset="0"/>
              </a:rPr>
              <a:t>with</a:t>
            </a:r>
            <a:r>
              <a:rPr lang="fr-FR" dirty="0">
                <a:solidFill>
                  <a:schemeClr val="accent1"/>
                </a:solidFill>
                <a:latin typeface="Encode Sans" pitchFamily="2" charset="0"/>
              </a:rPr>
              <a:t> on-</a:t>
            </a:r>
            <a:r>
              <a:rPr lang="fr-FR" dirty="0" err="1">
                <a:solidFill>
                  <a:schemeClr val="accent1"/>
                </a:solidFill>
                <a:latin typeface="Encode Sans" pitchFamily="2" charset="0"/>
              </a:rPr>
              <a:t>premise</a:t>
            </a:r>
            <a:r>
              <a:rPr lang="fr-FR" dirty="0">
                <a:solidFill>
                  <a:schemeClr val="accent1"/>
                </a:solidFill>
                <a:latin typeface="Encode Sans" pitchFamily="2" charset="0"/>
              </a:rPr>
              <a:t> datacenter : </a:t>
            </a:r>
            <a:r>
              <a:rPr lang="fr-FR" dirty="0">
                <a:solidFill>
                  <a:schemeClr val="accent1"/>
                </a:solidFill>
                <a:highlight>
                  <a:srgbClr val="FFFF00"/>
                </a:highlight>
                <a:latin typeface="Encode Sans" pitchFamily="2" charset="0"/>
              </a:rPr>
              <a:t>no ; via </a:t>
            </a:r>
            <a:r>
              <a:rPr lang="fr-FR" dirty="0" err="1">
                <a:solidFill>
                  <a:schemeClr val="accent1"/>
                </a:solidFill>
                <a:highlight>
                  <a:srgbClr val="FFFF00"/>
                </a:highlight>
                <a:latin typeface="Encode Sans" pitchFamily="2" charset="0"/>
              </a:rPr>
              <a:t>private</a:t>
            </a:r>
            <a:r>
              <a:rPr lang="fr-FR" dirty="0">
                <a:solidFill>
                  <a:schemeClr val="accent1"/>
                </a:solidFill>
                <a:highlight>
                  <a:srgbClr val="FFFF00"/>
                </a:highlight>
                <a:latin typeface="Encode Sans" pitchFamily="2" charset="0"/>
              </a:rPr>
              <a:t> </a:t>
            </a:r>
            <a:r>
              <a:rPr lang="fr-FR" dirty="0" err="1">
                <a:solidFill>
                  <a:schemeClr val="accent1"/>
                </a:solidFill>
                <a:highlight>
                  <a:srgbClr val="FFFF00"/>
                </a:highlight>
                <a:latin typeface="Encode Sans" pitchFamily="2" charset="0"/>
              </a:rPr>
              <a:t>endpoint</a:t>
            </a:r>
            <a:r>
              <a:rPr lang="fr-FR" dirty="0">
                <a:solidFill>
                  <a:schemeClr val="accent1"/>
                </a:solidFill>
                <a:highlight>
                  <a:srgbClr val="FFFF00"/>
                </a:highlight>
                <a:latin typeface="Encode Sans" pitchFamily="2" charset="0"/>
              </a:rPr>
              <a:t> ; </a:t>
            </a:r>
            <a:r>
              <a:rPr lang="fr-FR" dirty="0" err="1">
                <a:solidFill>
                  <a:schemeClr val="accent1"/>
                </a:solidFill>
                <a:highlight>
                  <a:srgbClr val="FFFF00"/>
                </a:highlight>
                <a:latin typeface="Encode Sans" pitchFamily="2" charset="0"/>
              </a:rPr>
              <a:t>vpn</a:t>
            </a:r>
            <a:endParaRPr lang="fr-FR" dirty="0">
              <a:solidFill>
                <a:schemeClr val="accent1"/>
              </a:solidFill>
              <a:highlight>
                <a:srgbClr val="FFFF00"/>
              </a:highlight>
              <a:latin typeface="Encode Sans" pitchFamily="2" charset="0"/>
            </a:endParaRPr>
          </a:p>
          <a:p>
            <a:r>
              <a:rPr lang="fr-FR" dirty="0" err="1">
                <a:solidFill>
                  <a:schemeClr val="accent1"/>
                </a:solidFill>
                <a:latin typeface="Encode Sans" pitchFamily="2" charset="0"/>
              </a:rPr>
              <a:t>Availability</a:t>
            </a:r>
            <a:endParaRPr lang="fr-FR" dirty="0">
              <a:solidFill>
                <a:schemeClr val="accent1"/>
              </a:solidFill>
              <a:latin typeface="Encode Sans" pitchFamily="2" charset="0"/>
            </a:endParaRPr>
          </a:p>
          <a:p>
            <a:pPr lvl="1"/>
            <a:r>
              <a:rPr lang="fr-FR" dirty="0">
                <a:solidFill>
                  <a:schemeClr val="accent1"/>
                </a:solidFill>
                <a:latin typeface="Encode Sans" pitchFamily="2" charset="0"/>
              </a:rPr>
              <a:t>SLA </a:t>
            </a:r>
            <a:r>
              <a:rPr lang="fr-FR" dirty="0" err="1">
                <a:solidFill>
                  <a:schemeClr val="accent1"/>
                </a:solidFill>
                <a:latin typeface="Encode Sans" pitchFamily="2" charset="0"/>
              </a:rPr>
              <a:t>desired</a:t>
            </a:r>
            <a:r>
              <a:rPr lang="fr-FR" dirty="0">
                <a:solidFill>
                  <a:schemeClr val="accent1"/>
                </a:solidFill>
                <a:latin typeface="Encode Sans" pitchFamily="2" charset="0"/>
              </a:rPr>
              <a:t> by the business for </a:t>
            </a:r>
            <a:r>
              <a:rPr lang="fr-FR" dirty="0" err="1">
                <a:solidFill>
                  <a:schemeClr val="accent1"/>
                </a:solidFill>
                <a:latin typeface="Encode Sans" pitchFamily="2" charset="0"/>
              </a:rPr>
              <a:t>critical</a:t>
            </a:r>
            <a:r>
              <a:rPr lang="fr-FR" dirty="0">
                <a:solidFill>
                  <a:schemeClr val="accent1"/>
                </a:solidFill>
                <a:latin typeface="Encode Sans" pitchFamily="2" charset="0"/>
              </a:rPr>
              <a:t> end-user </a:t>
            </a:r>
            <a:r>
              <a:rPr lang="fr-FR" dirty="0" err="1">
                <a:solidFill>
                  <a:schemeClr val="accent1"/>
                </a:solidFill>
                <a:latin typeface="Encode Sans" pitchFamily="2" charset="0"/>
              </a:rPr>
              <a:t>features</a:t>
            </a:r>
            <a:r>
              <a:rPr lang="fr-FR" dirty="0">
                <a:solidFill>
                  <a:schemeClr val="accent1"/>
                </a:solidFill>
                <a:latin typeface="Encode Sans" pitchFamily="2" charset="0"/>
              </a:rPr>
              <a:t> </a:t>
            </a:r>
            <a:r>
              <a:rPr lang="fr-FR" sz="1000" dirty="0">
                <a:solidFill>
                  <a:schemeClr val="accent1"/>
                </a:solidFill>
                <a:latin typeface="Encode Sans" pitchFamily="2" charset="0"/>
              </a:rPr>
              <a:t>(</a:t>
            </a:r>
            <a:r>
              <a:rPr lang="fr-FR" sz="1000" dirty="0" err="1">
                <a:solidFill>
                  <a:schemeClr val="accent1"/>
                </a:solidFill>
                <a:latin typeface="Encode Sans" pitchFamily="2" charset="0"/>
              </a:rPr>
              <a:t>planned</a:t>
            </a:r>
            <a:r>
              <a:rPr lang="fr-FR" sz="1000" dirty="0">
                <a:solidFill>
                  <a:schemeClr val="accent1"/>
                </a:solidFill>
                <a:latin typeface="Encode Sans" pitchFamily="2" charset="0"/>
              </a:rPr>
              <a:t> </a:t>
            </a:r>
            <a:r>
              <a:rPr lang="fr-FR" sz="1000" dirty="0" err="1">
                <a:solidFill>
                  <a:schemeClr val="accent1"/>
                </a:solidFill>
                <a:latin typeface="Encode Sans" pitchFamily="2" charset="0"/>
              </a:rPr>
              <a:t>downtime</a:t>
            </a:r>
            <a:r>
              <a:rPr lang="fr-FR" sz="1000" dirty="0">
                <a:solidFill>
                  <a:schemeClr val="accent1"/>
                </a:solidFill>
                <a:latin typeface="Encode Sans" pitchFamily="2" charset="0"/>
              </a:rPr>
              <a:t> must </a:t>
            </a:r>
            <a:r>
              <a:rPr lang="fr-FR" sz="1000" dirty="0" err="1">
                <a:solidFill>
                  <a:schemeClr val="accent1"/>
                </a:solidFill>
                <a:latin typeface="Encode Sans" pitchFamily="2" charset="0"/>
              </a:rPr>
              <a:t>be</a:t>
            </a:r>
            <a:r>
              <a:rPr lang="fr-FR" sz="1000" dirty="0">
                <a:solidFill>
                  <a:schemeClr val="accent1"/>
                </a:solidFill>
                <a:latin typeface="Encode Sans" pitchFamily="2" charset="0"/>
              </a:rPr>
              <a:t> </a:t>
            </a:r>
            <a:r>
              <a:rPr lang="fr-FR" sz="1000" dirty="0" err="1">
                <a:solidFill>
                  <a:schemeClr val="accent1"/>
                </a:solidFill>
                <a:latin typeface="Encode Sans" pitchFamily="2" charset="0"/>
              </a:rPr>
              <a:t>counted</a:t>
            </a:r>
            <a:r>
              <a:rPr lang="fr-FR" sz="1000" dirty="0">
                <a:solidFill>
                  <a:schemeClr val="accent1"/>
                </a:solidFill>
                <a:latin typeface="Encode Sans" pitchFamily="2" charset="0"/>
              </a:rPr>
              <a:t> as </a:t>
            </a:r>
            <a:r>
              <a:rPr lang="fr-FR" sz="1000" dirty="0" err="1">
                <a:solidFill>
                  <a:schemeClr val="accent1"/>
                </a:solidFill>
                <a:latin typeface="Encode Sans" pitchFamily="2" charset="0"/>
              </a:rPr>
              <a:t>unavailability</a:t>
            </a:r>
            <a:r>
              <a:rPr lang="fr-FR" sz="1000" dirty="0">
                <a:solidFill>
                  <a:schemeClr val="accent1"/>
                </a:solidFill>
                <a:latin typeface="Encode Sans" pitchFamily="2" charset="0"/>
              </a:rPr>
              <a:t>)</a:t>
            </a:r>
            <a:r>
              <a:rPr lang="fr-FR" dirty="0">
                <a:solidFill>
                  <a:schemeClr val="accent1"/>
                </a:solidFill>
                <a:latin typeface="Encode Sans" pitchFamily="2" charset="0"/>
              </a:rPr>
              <a:t>: </a:t>
            </a:r>
            <a:r>
              <a:rPr lang="fr-FR" dirty="0">
                <a:solidFill>
                  <a:schemeClr val="accent1"/>
                </a:solidFill>
                <a:highlight>
                  <a:srgbClr val="FFFF00"/>
                </a:highlight>
                <a:latin typeface="Encode Sans" pitchFamily="2" charset="0"/>
              </a:rPr>
              <a:t>99.95%</a:t>
            </a:r>
          </a:p>
          <a:p>
            <a:pPr lvl="1"/>
            <a:r>
              <a:rPr lang="fr-FR" dirty="0">
                <a:solidFill>
                  <a:schemeClr val="accent1"/>
                </a:solidFill>
                <a:latin typeface="Encode Sans" pitchFamily="2" charset="0"/>
              </a:rPr>
              <a:t>SLA </a:t>
            </a:r>
            <a:r>
              <a:rPr lang="fr-FR" dirty="0" err="1">
                <a:solidFill>
                  <a:schemeClr val="accent1"/>
                </a:solidFill>
                <a:latin typeface="Encode Sans" pitchFamily="2" charset="0"/>
              </a:rPr>
              <a:t>provided</a:t>
            </a:r>
            <a:r>
              <a:rPr lang="fr-FR" dirty="0">
                <a:solidFill>
                  <a:schemeClr val="accent1"/>
                </a:solidFill>
                <a:latin typeface="Encode Sans" pitchFamily="2" charset="0"/>
              </a:rPr>
              <a:t> by the cloud infrastructure for </a:t>
            </a:r>
            <a:r>
              <a:rPr lang="fr-FR" dirty="0" err="1">
                <a:solidFill>
                  <a:schemeClr val="accent1"/>
                </a:solidFill>
                <a:latin typeface="Encode Sans" pitchFamily="2" charset="0"/>
              </a:rPr>
              <a:t>critical</a:t>
            </a:r>
            <a:r>
              <a:rPr lang="fr-FR" dirty="0">
                <a:solidFill>
                  <a:schemeClr val="accent1"/>
                </a:solidFill>
                <a:latin typeface="Encode Sans" pitchFamily="2" charset="0"/>
              </a:rPr>
              <a:t> end-user </a:t>
            </a:r>
            <a:r>
              <a:rPr lang="fr-FR" dirty="0" err="1">
                <a:solidFill>
                  <a:schemeClr val="accent1"/>
                </a:solidFill>
                <a:latin typeface="Encode Sans" pitchFamily="2" charset="0"/>
              </a:rPr>
              <a:t>features</a:t>
            </a:r>
            <a:r>
              <a:rPr lang="fr-FR" dirty="0">
                <a:solidFill>
                  <a:schemeClr val="accent1"/>
                </a:solidFill>
                <a:latin typeface="Encode Sans" pitchFamily="2" charset="0"/>
              </a:rPr>
              <a:t> : </a:t>
            </a:r>
            <a:r>
              <a:rPr lang="fr-FR" dirty="0">
                <a:solidFill>
                  <a:schemeClr val="accent1"/>
                </a:solidFill>
                <a:highlight>
                  <a:srgbClr val="FFFF00"/>
                </a:highlight>
                <a:latin typeface="Encode Sans" pitchFamily="2" charset="0"/>
              </a:rPr>
              <a:t>99.95%</a:t>
            </a:r>
          </a:p>
          <a:p>
            <a:r>
              <a:rPr lang="fr-FR" dirty="0" err="1">
                <a:solidFill>
                  <a:schemeClr val="accent1"/>
                </a:solidFill>
                <a:latin typeface="Encode Sans" pitchFamily="2" charset="0"/>
              </a:rPr>
              <a:t>Environments</a:t>
            </a:r>
            <a:endParaRPr lang="fr-FR" dirty="0">
              <a:solidFill>
                <a:schemeClr val="accent1"/>
              </a:solidFill>
              <a:latin typeface="Encode Sans" pitchFamily="2" charset="0"/>
            </a:endParaRPr>
          </a:p>
          <a:p>
            <a:pPr lvl="1"/>
            <a:r>
              <a:rPr lang="fr-FR" dirty="0">
                <a:solidFill>
                  <a:schemeClr val="accent1"/>
                </a:solidFill>
                <a:latin typeface="Encode Sans" pitchFamily="2" charset="0"/>
              </a:rPr>
              <a:t>New cloud </a:t>
            </a:r>
            <a:r>
              <a:rPr lang="fr-FR" dirty="0" err="1">
                <a:solidFill>
                  <a:schemeClr val="accent1"/>
                </a:solidFill>
                <a:latin typeface="Encode Sans" pitchFamily="2" charset="0"/>
              </a:rPr>
              <a:t>accounts</a:t>
            </a:r>
            <a:r>
              <a:rPr lang="fr-FR" dirty="0">
                <a:solidFill>
                  <a:schemeClr val="accent1"/>
                </a:solidFill>
                <a:latin typeface="Encode Sans" pitchFamily="2" charset="0"/>
              </a:rPr>
              <a:t> </a:t>
            </a:r>
            <a:r>
              <a:rPr lang="fr-FR" dirty="0" err="1">
                <a:solidFill>
                  <a:schemeClr val="accent1"/>
                </a:solidFill>
                <a:latin typeface="Encode Sans" pitchFamily="2" charset="0"/>
              </a:rPr>
              <a:t>needed</a:t>
            </a:r>
            <a:r>
              <a:rPr lang="fr-FR" dirty="0">
                <a:solidFill>
                  <a:schemeClr val="accent1"/>
                </a:solidFill>
                <a:latin typeface="Encode Sans" pitchFamily="2" charset="0"/>
              </a:rPr>
              <a:t> : </a:t>
            </a:r>
            <a:r>
              <a:rPr lang="fr-FR" dirty="0">
                <a:solidFill>
                  <a:schemeClr val="accent1"/>
                </a:solidFill>
                <a:highlight>
                  <a:srgbClr val="FFFF00"/>
                </a:highlight>
                <a:latin typeface="Encode Sans" pitchFamily="2" charset="0"/>
              </a:rPr>
              <a:t>PROD + Non-Prod</a:t>
            </a:r>
          </a:p>
          <a:p>
            <a:pPr marL="371475" lvl="1" indent="0">
              <a:buNone/>
            </a:pPr>
            <a:endParaRPr lang="fr-FR" dirty="0">
              <a:solidFill>
                <a:schemeClr val="accent1"/>
              </a:solidFill>
              <a:latin typeface="Encode Sans" pitchFamily="2" charset="0"/>
            </a:endParaRPr>
          </a:p>
          <a:p>
            <a:pPr lvl="1"/>
            <a:endParaRPr lang="en-US" dirty="0">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4101835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Cloud : Build &amp; Run organization</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6484987"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err="1">
                <a:solidFill>
                  <a:schemeClr val="accent1"/>
                </a:solidFill>
                <a:latin typeface="Encode Sans" pitchFamily="2" charset="0"/>
              </a:rPr>
              <a:t>Build</a:t>
            </a:r>
            <a:r>
              <a:rPr lang="fr-FR">
                <a:solidFill>
                  <a:schemeClr val="accent1"/>
                </a:solidFill>
                <a:latin typeface="Encode Sans" pitchFamily="2" charset="0"/>
              </a:rPr>
              <a:t> </a:t>
            </a:r>
            <a:r>
              <a:rPr lang="fr-FR" err="1">
                <a:solidFill>
                  <a:schemeClr val="accent1"/>
                </a:solidFill>
                <a:latin typeface="Encode Sans" pitchFamily="2" charset="0"/>
              </a:rPr>
              <a:t>organization</a:t>
            </a:r>
            <a:endParaRPr lang="fr-FR">
              <a:solidFill>
                <a:schemeClr val="accent1"/>
              </a:solidFill>
              <a:latin typeface="Encode Sans" pitchFamily="2" charset="0"/>
            </a:endParaRPr>
          </a:p>
          <a:p>
            <a:pPr lvl="1"/>
            <a:r>
              <a:rPr lang="fr-FR" err="1">
                <a:solidFill>
                  <a:schemeClr val="accent1"/>
                </a:solidFill>
                <a:highlight>
                  <a:srgbClr val="FFFF00"/>
                </a:highlight>
                <a:latin typeface="Encode Sans" pitchFamily="2" charset="0"/>
              </a:rPr>
              <a:t>Which</a:t>
            </a:r>
            <a:r>
              <a:rPr lang="fr-FR">
                <a:solidFill>
                  <a:schemeClr val="accent1"/>
                </a:solidFill>
                <a:highlight>
                  <a:srgbClr val="FFFF00"/>
                </a:highlight>
                <a:latin typeface="Encode Sans" pitchFamily="2" charset="0"/>
              </a:rPr>
              <a:t> team </a:t>
            </a:r>
            <a:r>
              <a:rPr lang="fr-FR" err="1">
                <a:solidFill>
                  <a:schemeClr val="accent1"/>
                </a:solidFill>
                <a:highlight>
                  <a:srgbClr val="FFFF00"/>
                </a:highlight>
                <a:latin typeface="Encode Sans" pitchFamily="2" charset="0"/>
              </a:rPr>
              <a:t>will</a:t>
            </a:r>
            <a:r>
              <a:rPr lang="fr-FR">
                <a:solidFill>
                  <a:schemeClr val="accent1"/>
                </a:solidFill>
                <a:highlight>
                  <a:srgbClr val="FFFF00"/>
                </a:highlight>
                <a:latin typeface="Encode Sans" pitchFamily="2" charset="0"/>
              </a:rPr>
              <a:t> do the </a:t>
            </a:r>
            <a:r>
              <a:rPr lang="fr-FR" err="1">
                <a:solidFill>
                  <a:schemeClr val="accent1"/>
                </a:solidFill>
                <a:highlight>
                  <a:srgbClr val="FFFF00"/>
                </a:highlight>
                <a:latin typeface="Encode Sans" pitchFamily="2" charset="0"/>
              </a:rPr>
              <a:t>build</a:t>
            </a:r>
            <a:r>
              <a:rPr lang="fr-FR">
                <a:solidFill>
                  <a:schemeClr val="accent1"/>
                </a:solidFill>
                <a:highlight>
                  <a:srgbClr val="FFFF00"/>
                </a:highlight>
                <a:latin typeface="Encode Sans" pitchFamily="2" charset="0"/>
              </a:rPr>
              <a:t> phase</a:t>
            </a:r>
          </a:p>
          <a:p>
            <a:pPr lvl="1"/>
            <a:r>
              <a:rPr lang="fr-FR" err="1">
                <a:solidFill>
                  <a:schemeClr val="accent1"/>
                </a:solidFill>
                <a:highlight>
                  <a:srgbClr val="FFFF00"/>
                </a:highlight>
                <a:latin typeface="Encode Sans" pitchFamily="2" charset="0"/>
              </a:rPr>
              <a:t>Confirm</a:t>
            </a:r>
            <a:r>
              <a:rPr lang="fr-FR">
                <a:solidFill>
                  <a:schemeClr val="accent1"/>
                </a:solidFill>
                <a:highlight>
                  <a:srgbClr val="FFFF00"/>
                </a:highlight>
                <a:latin typeface="Encode Sans" pitchFamily="2" charset="0"/>
              </a:rPr>
              <a:t> usage of </a:t>
            </a:r>
            <a:r>
              <a:rPr lang="fr-FR" err="1">
                <a:solidFill>
                  <a:schemeClr val="accent1"/>
                </a:solidFill>
                <a:highlight>
                  <a:srgbClr val="FFFF00"/>
                </a:highlight>
                <a:latin typeface="Encode Sans" pitchFamily="2" charset="0"/>
              </a:rPr>
              <a:t>Terraform</a:t>
            </a:r>
            <a:r>
              <a:rPr lang="fr-FR">
                <a:solidFill>
                  <a:schemeClr val="accent1"/>
                </a:solidFill>
                <a:highlight>
                  <a:srgbClr val="FFFF00"/>
                </a:highlight>
                <a:latin typeface="Encode Sans" pitchFamily="2" charset="0"/>
              </a:rPr>
              <a:t> or </a:t>
            </a:r>
            <a:r>
              <a:rPr lang="fr-FR" err="1">
                <a:solidFill>
                  <a:schemeClr val="accent1"/>
                </a:solidFill>
                <a:highlight>
                  <a:srgbClr val="FFFF00"/>
                </a:highlight>
                <a:latin typeface="Encode Sans" pitchFamily="2" charset="0"/>
              </a:rPr>
              <a:t>other</a:t>
            </a:r>
            <a:r>
              <a:rPr lang="fr-FR">
                <a:solidFill>
                  <a:schemeClr val="accent1"/>
                </a:solidFill>
                <a:highlight>
                  <a:srgbClr val="FFFF00"/>
                </a:highlight>
                <a:latin typeface="Encode Sans" pitchFamily="2" charset="0"/>
              </a:rPr>
              <a:t> </a:t>
            </a:r>
            <a:r>
              <a:rPr lang="fr-FR" err="1">
                <a:solidFill>
                  <a:schemeClr val="accent1"/>
                </a:solidFill>
                <a:highlight>
                  <a:srgbClr val="FFFF00"/>
                </a:highlight>
                <a:latin typeface="Encode Sans" pitchFamily="2" charset="0"/>
              </a:rPr>
              <a:t>IaC</a:t>
            </a:r>
            <a:r>
              <a:rPr lang="fr-FR">
                <a:solidFill>
                  <a:schemeClr val="accent1"/>
                </a:solidFill>
                <a:highlight>
                  <a:srgbClr val="FFFF00"/>
                </a:highlight>
                <a:latin typeface="Encode Sans" pitchFamily="2" charset="0"/>
              </a:rPr>
              <a:t> </a:t>
            </a:r>
            <a:r>
              <a:rPr lang="fr-FR" err="1">
                <a:solidFill>
                  <a:schemeClr val="accent1"/>
                </a:solidFill>
                <a:highlight>
                  <a:srgbClr val="FFFF00"/>
                </a:highlight>
                <a:latin typeface="Encode Sans" pitchFamily="2" charset="0"/>
              </a:rPr>
              <a:t>tool</a:t>
            </a:r>
            <a:endParaRPr lang="fr-FR">
              <a:solidFill>
                <a:schemeClr val="accent1"/>
              </a:solidFill>
              <a:highlight>
                <a:srgbClr val="FFFF00"/>
              </a:highlight>
              <a:latin typeface="Encode Sans" pitchFamily="2" charset="0"/>
            </a:endParaRPr>
          </a:p>
          <a:p>
            <a:endParaRPr lang="fr-FR">
              <a:solidFill>
                <a:schemeClr val="accent1"/>
              </a:solidFill>
              <a:highlight>
                <a:srgbClr val="FFFF00"/>
              </a:highlight>
              <a:latin typeface="Encode Sans" pitchFamily="2" charset="0"/>
            </a:endParaRPr>
          </a:p>
          <a:p>
            <a:r>
              <a:rPr lang="fr-FR">
                <a:solidFill>
                  <a:schemeClr val="accent1"/>
                </a:solidFill>
                <a:latin typeface="Encode Sans" pitchFamily="2" charset="0"/>
              </a:rPr>
              <a:t>Run </a:t>
            </a:r>
            <a:r>
              <a:rPr lang="fr-FR" err="1">
                <a:solidFill>
                  <a:schemeClr val="accent1"/>
                </a:solidFill>
                <a:latin typeface="Encode Sans" pitchFamily="2" charset="0"/>
              </a:rPr>
              <a:t>organization</a:t>
            </a:r>
            <a:endParaRPr lang="fr-FR">
              <a:solidFill>
                <a:schemeClr val="accent1"/>
              </a:solidFill>
              <a:latin typeface="Encode Sans" pitchFamily="2" charset="0"/>
            </a:endParaRPr>
          </a:p>
          <a:p>
            <a:pPr lvl="1"/>
            <a:r>
              <a:rPr lang="fr-FR" err="1">
                <a:solidFill>
                  <a:schemeClr val="accent1"/>
                </a:solidFill>
                <a:highlight>
                  <a:srgbClr val="FFFF00"/>
                </a:highlight>
                <a:latin typeface="Encode Sans" pitchFamily="2" charset="0"/>
              </a:rPr>
              <a:t>Which</a:t>
            </a:r>
            <a:r>
              <a:rPr lang="fr-FR">
                <a:solidFill>
                  <a:schemeClr val="accent1"/>
                </a:solidFill>
                <a:highlight>
                  <a:srgbClr val="FFFF00"/>
                </a:highlight>
                <a:latin typeface="Encode Sans" pitchFamily="2" charset="0"/>
              </a:rPr>
              <a:t> team </a:t>
            </a:r>
            <a:r>
              <a:rPr lang="fr-FR" err="1">
                <a:solidFill>
                  <a:schemeClr val="accent1"/>
                </a:solidFill>
                <a:highlight>
                  <a:srgbClr val="FFFF00"/>
                </a:highlight>
                <a:latin typeface="Encode Sans" pitchFamily="2" charset="0"/>
              </a:rPr>
              <a:t>will</a:t>
            </a:r>
            <a:r>
              <a:rPr lang="fr-FR">
                <a:solidFill>
                  <a:schemeClr val="accent1"/>
                </a:solidFill>
                <a:highlight>
                  <a:srgbClr val="FFFF00"/>
                </a:highlight>
                <a:latin typeface="Encode Sans" pitchFamily="2" charset="0"/>
              </a:rPr>
              <a:t> do the </a:t>
            </a:r>
            <a:r>
              <a:rPr lang="fr-FR" err="1">
                <a:solidFill>
                  <a:schemeClr val="accent1"/>
                </a:solidFill>
                <a:highlight>
                  <a:srgbClr val="FFFF00"/>
                </a:highlight>
                <a:latin typeface="Encode Sans" pitchFamily="2" charset="0"/>
              </a:rPr>
              <a:t>build</a:t>
            </a:r>
            <a:r>
              <a:rPr lang="fr-FR">
                <a:solidFill>
                  <a:schemeClr val="accent1"/>
                </a:solidFill>
                <a:highlight>
                  <a:srgbClr val="FFFF00"/>
                </a:highlight>
                <a:latin typeface="Encode Sans" pitchFamily="2" charset="0"/>
              </a:rPr>
              <a:t> phase</a:t>
            </a:r>
          </a:p>
          <a:p>
            <a:pPr lvl="1"/>
            <a:r>
              <a:rPr lang="fr-FR" err="1">
                <a:solidFill>
                  <a:schemeClr val="accent1"/>
                </a:solidFill>
                <a:highlight>
                  <a:srgbClr val="FFFF00"/>
                </a:highlight>
                <a:latin typeface="Encode Sans" pitchFamily="2" charset="0"/>
              </a:rPr>
              <a:t>Confirm</a:t>
            </a:r>
            <a:r>
              <a:rPr lang="fr-FR">
                <a:solidFill>
                  <a:schemeClr val="accent1"/>
                </a:solidFill>
                <a:highlight>
                  <a:srgbClr val="FFFF00"/>
                </a:highlight>
                <a:latin typeface="Encode Sans" pitchFamily="2" charset="0"/>
              </a:rPr>
              <a:t> usage of </a:t>
            </a:r>
            <a:r>
              <a:rPr lang="fr-FR" err="1">
                <a:solidFill>
                  <a:schemeClr val="accent1"/>
                </a:solidFill>
                <a:highlight>
                  <a:srgbClr val="FFFF00"/>
                </a:highlight>
                <a:latin typeface="Encode Sans" pitchFamily="2" charset="0"/>
              </a:rPr>
              <a:t>Terraform</a:t>
            </a:r>
            <a:r>
              <a:rPr lang="fr-FR">
                <a:solidFill>
                  <a:schemeClr val="accent1"/>
                </a:solidFill>
                <a:highlight>
                  <a:srgbClr val="FFFF00"/>
                </a:highlight>
                <a:latin typeface="Encode Sans" pitchFamily="2" charset="0"/>
              </a:rPr>
              <a:t> or </a:t>
            </a:r>
            <a:r>
              <a:rPr lang="fr-FR" err="1">
                <a:solidFill>
                  <a:schemeClr val="accent1"/>
                </a:solidFill>
                <a:highlight>
                  <a:srgbClr val="FFFF00"/>
                </a:highlight>
                <a:latin typeface="Encode Sans" pitchFamily="2" charset="0"/>
              </a:rPr>
              <a:t>other</a:t>
            </a:r>
            <a:r>
              <a:rPr lang="fr-FR">
                <a:solidFill>
                  <a:schemeClr val="accent1"/>
                </a:solidFill>
                <a:highlight>
                  <a:srgbClr val="FFFF00"/>
                </a:highlight>
                <a:latin typeface="Encode Sans" pitchFamily="2" charset="0"/>
              </a:rPr>
              <a:t> </a:t>
            </a:r>
            <a:r>
              <a:rPr lang="fr-FR" err="1">
                <a:solidFill>
                  <a:schemeClr val="accent1"/>
                </a:solidFill>
                <a:highlight>
                  <a:srgbClr val="FFFF00"/>
                </a:highlight>
                <a:latin typeface="Encode Sans" pitchFamily="2" charset="0"/>
              </a:rPr>
              <a:t>IaC</a:t>
            </a:r>
            <a:r>
              <a:rPr lang="fr-FR">
                <a:solidFill>
                  <a:schemeClr val="accent1"/>
                </a:solidFill>
                <a:highlight>
                  <a:srgbClr val="FFFF00"/>
                </a:highlight>
                <a:latin typeface="Encode Sans" pitchFamily="2" charset="0"/>
              </a:rPr>
              <a:t> </a:t>
            </a:r>
            <a:r>
              <a:rPr lang="fr-FR" err="1">
                <a:solidFill>
                  <a:schemeClr val="accent1"/>
                </a:solidFill>
                <a:highlight>
                  <a:srgbClr val="FFFF00"/>
                </a:highlight>
                <a:latin typeface="Encode Sans" pitchFamily="2" charset="0"/>
              </a:rPr>
              <a:t>tool</a:t>
            </a:r>
            <a:endParaRPr lang="fr-FR">
              <a:solidFill>
                <a:schemeClr val="accent1"/>
              </a:solidFill>
              <a:highlight>
                <a:srgbClr val="FFFF00"/>
              </a:highlight>
              <a:latin typeface="Encode Sans" pitchFamily="2" charset="0"/>
            </a:endParaRPr>
          </a:p>
          <a:p>
            <a:pPr lvl="1"/>
            <a:endParaRPr lang="fr-FR">
              <a:solidFill>
                <a:schemeClr val="accent1"/>
              </a:solidFill>
              <a:highlight>
                <a:srgbClr val="FFFF00"/>
              </a:highlight>
              <a:latin typeface="Encode Sans" pitchFamily="2" charset="0"/>
            </a:endParaRPr>
          </a:p>
          <a:p>
            <a:r>
              <a:rPr lang="fr-FR">
                <a:solidFill>
                  <a:schemeClr val="accent1"/>
                </a:solidFill>
                <a:latin typeface="Encode Sans" pitchFamily="2" charset="0"/>
              </a:rPr>
              <a:t>Cloud Operating Model</a:t>
            </a:r>
          </a:p>
          <a:p>
            <a:pPr lvl="1"/>
            <a:r>
              <a:rPr lang="fr-FR" err="1">
                <a:solidFill>
                  <a:schemeClr val="accent1"/>
                </a:solidFill>
                <a:highlight>
                  <a:srgbClr val="FFFF00"/>
                </a:highlight>
                <a:latin typeface="Encode Sans" pitchFamily="2" charset="0"/>
              </a:rPr>
              <a:t>Describe</a:t>
            </a:r>
            <a:r>
              <a:rPr lang="fr-FR">
                <a:solidFill>
                  <a:schemeClr val="accent1"/>
                </a:solidFill>
                <a:highlight>
                  <a:srgbClr val="FFFF00"/>
                </a:highlight>
                <a:latin typeface="Encode Sans" pitchFamily="2" charset="0"/>
              </a:rPr>
              <a:t> the cloud operating model applicable for </a:t>
            </a:r>
            <a:r>
              <a:rPr lang="fr-FR" err="1">
                <a:solidFill>
                  <a:schemeClr val="accent1"/>
                </a:solidFill>
                <a:highlight>
                  <a:srgbClr val="FFFF00"/>
                </a:highlight>
                <a:latin typeface="Encode Sans" pitchFamily="2" charset="0"/>
              </a:rPr>
              <a:t>your</a:t>
            </a:r>
            <a:r>
              <a:rPr lang="fr-FR">
                <a:solidFill>
                  <a:schemeClr val="accent1"/>
                </a:solidFill>
                <a:highlight>
                  <a:srgbClr val="FFFF00"/>
                </a:highlight>
                <a:latin typeface="Encode Sans" pitchFamily="2" charset="0"/>
              </a:rPr>
              <a:t> </a:t>
            </a:r>
            <a:r>
              <a:rPr lang="fr-FR" err="1">
                <a:solidFill>
                  <a:schemeClr val="accent1"/>
                </a:solidFill>
                <a:highlight>
                  <a:srgbClr val="FFFF00"/>
                </a:highlight>
                <a:latin typeface="Encode Sans" pitchFamily="2" charset="0"/>
              </a:rPr>
              <a:t>product</a:t>
            </a:r>
            <a:r>
              <a:rPr lang="fr-FR">
                <a:solidFill>
                  <a:schemeClr val="accent1"/>
                </a:solidFill>
                <a:highlight>
                  <a:srgbClr val="FFFF00"/>
                </a:highlight>
                <a:latin typeface="Encode Sans" pitchFamily="2" charset="0"/>
              </a:rPr>
              <a:t>, for </a:t>
            </a:r>
            <a:r>
              <a:rPr lang="fr-FR" err="1">
                <a:solidFill>
                  <a:schemeClr val="accent1"/>
                </a:solidFill>
                <a:highlight>
                  <a:srgbClr val="FFFF00"/>
                </a:highlight>
                <a:latin typeface="Encode Sans" pitchFamily="2" charset="0"/>
              </a:rPr>
              <a:t>Build</a:t>
            </a:r>
            <a:r>
              <a:rPr lang="fr-FR">
                <a:solidFill>
                  <a:schemeClr val="accent1"/>
                </a:solidFill>
                <a:highlight>
                  <a:srgbClr val="FFFF00"/>
                </a:highlight>
                <a:latin typeface="Encode Sans" pitchFamily="2" charset="0"/>
              </a:rPr>
              <a:t> phase</a:t>
            </a:r>
          </a:p>
          <a:p>
            <a:pPr lvl="2"/>
            <a:r>
              <a:rPr lang="fr-FR">
                <a:solidFill>
                  <a:schemeClr val="accent1"/>
                </a:solidFill>
                <a:highlight>
                  <a:srgbClr val="FFFF00"/>
                </a:highlight>
                <a:latin typeface="Encode Sans" pitchFamily="2" charset="0"/>
              </a:rPr>
              <a:t>And for Run phase (</a:t>
            </a:r>
            <a:r>
              <a:rPr lang="fr-FR" err="1">
                <a:solidFill>
                  <a:schemeClr val="accent1"/>
                </a:solidFill>
                <a:highlight>
                  <a:srgbClr val="FFFF00"/>
                </a:highlight>
                <a:latin typeface="Encode Sans" pitchFamily="2" charset="0"/>
              </a:rPr>
              <a:t>Gate</a:t>
            </a:r>
            <a:r>
              <a:rPr lang="fr-FR">
                <a:solidFill>
                  <a:schemeClr val="accent1"/>
                </a:solidFill>
                <a:highlight>
                  <a:srgbClr val="FFFF00"/>
                </a:highlight>
                <a:latin typeface="Encode Sans" pitchFamily="2" charset="0"/>
              </a:rPr>
              <a:t> 3 and </a:t>
            </a:r>
            <a:r>
              <a:rPr lang="fr-FR" err="1">
                <a:solidFill>
                  <a:schemeClr val="accent1"/>
                </a:solidFill>
                <a:highlight>
                  <a:srgbClr val="FFFF00"/>
                </a:highlight>
                <a:latin typeface="Encode Sans" pitchFamily="2" charset="0"/>
              </a:rPr>
              <a:t>Gate</a:t>
            </a:r>
            <a:r>
              <a:rPr lang="fr-FR">
                <a:solidFill>
                  <a:schemeClr val="accent1"/>
                </a:solidFill>
                <a:highlight>
                  <a:srgbClr val="FFFF00"/>
                </a:highlight>
                <a:latin typeface="Encode Sans" pitchFamily="2" charset="0"/>
              </a:rPr>
              <a:t> 4)</a:t>
            </a:r>
          </a:p>
          <a:p>
            <a:pPr lvl="1"/>
            <a:r>
              <a:rPr lang="fr-FR" err="1">
                <a:solidFill>
                  <a:schemeClr val="accent1"/>
                </a:solidFill>
                <a:highlight>
                  <a:srgbClr val="FFFF00"/>
                </a:highlight>
                <a:latin typeface="Encode Sans" pitchFamily="2" charset="0"/>
              </a:rPr>
              <a:t>Based</a:t>
            </a:r>
            <a:r>
              <a:rPr lang="fr-FR">
                <a:solidFill>
                  <a:schemeClr val="accent1"/>
                </a:solidFill>
                <a:highlight>
                  <a:srgbClr val="FFFF00"/>
                </a:highlight>
                <a:latin typeface="Encode Sans" pitchFamily="2" charset="0"/>
              </a:rPr>
              <a:t> on recommandations </a:t>
            </a:r>
            <a:r>
              <a:rPr lang="fr-FR" err="1">
                <a:solidFill>
                  <a:schemeClr val="accent1"/>
                </a:solidFill>
                <a:highlight>
                  <a:srgbClr val="FFFF00"/>
                </a:highlight>
                <a:latin typeface="Encode Sans" pitchFamily="2" charset="0"/>
              </a:rPr>
              <a:t>from</a:t>
            </a:r>
            <a:r>
              <a:rPr lang="fr-FR">
                <a:solidFill>
                  <a:schemeClr val="accent1"/>
                </a:solidFill>
                <a:highlight>
                  <a:srgbClr val="FFFF00"/>
                </a:highlight>
                <a:latin typeface="Encode Sans" pitchFamily="2" charset="0"/>
              </a:rPr>
              <a:t> GDP_CCOE or the </a:t>
            </a:r>
            <a:r>
              <a:rPr lang="fr-FR" err="1">
                <a:solidFill>
                  <a:schemeClr val="accent1"/>
                </a:solidFill>
                <a:highlight>
                  <a:srgbClr val="FFFF00"/>
                </a:highlight>
                <a:latin typeface="Encode Sans" pitchFamily="2" charset="0"/>
              </a:rPr>
              <a:t>example</a:t>
            </a:r>
            <a:r>
              <a:rPr lang="fr-FR">
                <a:solidFill>
                  <a:schemeClr val="accent1"/>
                </a:solidFill>
                <a:highlight>
                  <a:srgbClr val="FFFF00"/>
                </a:highlight>
                <a:latin typeface="Encode Sans" pitchFamily="2" charset="0"/>
              </a:rPr>
              <a:t> </a:t>
            </a:r>
            <a:r>
              <a:rPr lang="fr-FR">
                <a:solidFill>
                  <a:schemeClr val="accent1"/>
                </a:solidFill>
                <a:highlight>
                  <a:srgbClr val="FFFF00"/>
                </a:highlight>
                <a:latin typeface="Encode Sans" pitchFamily="2" charset="0"/>
                <a:sym typeface="Wingdings" panose="05000000000000000000" pitchFamily="2" charset="2"/>
              </a:rPr>
              <a:t></a:t>
            </a:r>
            <a:endParaRPr lang="fr-FR">
              <a:solidFill>
                <a:schemeClr val="accent1"/>
              </a:solidFill>
              <a:highlight>
                <a:srgbClr val="FFFF00"/>
              </a:highlight>
              <a:latin typeface="Encode Sans" pitchFamily="2" charset="0"/>
            </a:endParaRPr>
          </a:p>
          <a:p>
            <a:pPr lvl="1"/>
            <a:endParaRPr lang="fr-FR">
              <a:solidFill>
                <a:schemeClr val="accent1"/>
              </a:solidFill>
              <a:highlight>
                <a:srgbClr val="FFFF00"/>
              </a:highlight>
              <a:latin typeface="Encode Sans" pitchFamily="2" charset="0"/>
            </a:endParaRPr>
          </a:p>
          <a:p>
            <a:endParaRPr lang="fr-FR">
              <a:solidFill>
                <a:schemeClr val="accent1"/>
              </a:solidFill>
              <a:latin typeface="Encode Sans" pitchFamily="2" charset="0"/>
            </a:endParaRPr>
          </a:p>
          <a:p>
            <a:pPr lvl="2"/>
            <a:endParaRPr lang="fr-FR">
              <a:solidFill>
                <a:schemeClr val="accent1"/>
              </a:solidFill>
              <a:highlight>
                <a:srgbClr val="FFFF00"/>
              </a:highlight>
              <a:latin typeface="Encode Sans" pitchFamily="2" charset="0"/>
            </a:endParaRPr>
          </a:p>
          <a:p>
            <a:pPr lvl="2"/>
            <a:endParaRPr lang="fr-FR">
              <a:solidFill>
                <a:schemeClr val="accent1"/>
              </a:solidFill>
              <a:latin typeface="Encode Sans" pitchFamily="2" charset="0"/>
            </a:endParaRPr>
          </a:p>
          <a:p>
            <a:pPr marL="371475" lvl="1" indent="0">
              <a:buNone/>
            </a:pPr>
            <a:endParaRPr lang="fr-FR">
              <a:solidFill>
                <a:schemeClr val="accent1"/>
              </a:solidFill>
              <a:latin typeface="Encode Sans" pitchFamily="2" charset="0"/>
            </a:endParaRPr>
          </a:p>
          <a:p>
            <a:pPr marL="371475" lvl="1" indent="0">
              <a:buNone/>
            </a:pPr>
            <a:endParaRPr lang="fr-FR">
              <a:solidFill>
                <a:schemeClr val="accent1"/>
              </a:solidFill>
              <a:latin typeface="Encode Sans" pitchFamily="2" charset="0"/>
            </a:endParaRPr>
          </a:p>
          <a:p>
            <a:pPr lvl="1"/>
            <a:endParaRPr lang="en-US">
              <a:solidFill>
                <a:schemeClr val="accent1"/>
              </a:solidFill>
              <a:latin typeface="Encode Sans" pitchFamily="2" charset="0"/>
            </a:endParaRPr>
          </a:p>
        </p:txBody>
      </p:sp>
      <p:pic>
        <p:nvPicPr>
          <p:cNvPr id="1026" name="Picture 2">
            <a:extLst>
              <a:ext uri="{FF2B5EF4-FFF2-40B4-BE49-F238E27FC236}">
                <a16:creationId xmlns:a16="http://schemas.microsoft.com/office/drawing/2014/main" id="{06B1FFA1-3636-09DB-DFB0-BDB9C7B08AE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7040"/>
          <a:stretch/>
        </p:blipFill>
        <p:spPr bwMode="auto">
          <a:xfrm>
            <a:off x="5155407" y="1655599"/>
            <a:ext cx="3252885" cy="1378341"/>
          </a:xfrm>
          <a:prstGeom prst="rect">
            <a:avLst/>
          </a:prstGeom>
          <a:solidFill>
            <a:srgbClr val="FFFF00"/>
          </a:solidFill>
          <a:ln>
            <a:solidFill>
              <a:srgbClr val="FFFF00"/>
            </a:solidFill>
          </a:ln>
        </p:spPr>
      </p:pic>
    </p:spTree>
    <p:custDataLst>
      <p:tags r:id="rId1"/>
    </p:custDataLst>
    <p:extLst>
      <p:ext uri="{BB962C8B-B14F-4D97-AF65-F5344CB8AC3E}">
        <p14:creationId xmlns:p14="http://schemas.microsoft.com/office/powerpoint/2010/main" val="638583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technical Architecture – global description of solutions</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a:solidFill>
                  <a:schemeClr val="accent1"/>
                </a:solidFill>
                <a:latin typeface="Encode Sans" pitchFamily="2" charset="0"/>
              </a:rPr>
              <a:t>Explain the main aspect of each solution</a:t>
            </a:r>
          </a:p>
          <a:p>
            <a:endParaRPr lang="en-US">
              <a:solidFill>
                <a:schemeClr val="accent1"/>
              </a:solidFill>
              <a:latin typeface="Encode Sans" pitchFamily="2" charset="0"/>
            </a:endParaRPr>
          </a:p>
          <a:p>
            <a:endParaRPr lang="en-US">
              <a:solidFill>
                <a:schemeClr val="accent1"/>
              </a:solidFill>
              <a:latin typeface="Encode Sans" pitchFamily="2" charset="0"/>
            </a:endParaRPr>
          </a:p>
        </p:txBody>
      </p:sp>
      <p:sp>
        <p:nvSpPr>
          <p:cNvPr id="3" name="ZoneTexte 2">
            <a:extLst>
              <a:ext uri="{FF2B5EF4-FFF2-40B4-BE49-F238E27FC236}">
                <a16:creationId xmlns:a16="http://schemas.microsoft.com/office/drawing/2014/main" id="{C2638DF3-5971-0C92-D256-3A040DEB1C2C}"/>
              </a:ext>
            </a:extLst>
          </p:cNvPr>
          <p:cNvSpPr txBox="1"/>
          <p:nvPr/>
        </p:nvSpPr>
        <p:spPr>
          <a:xfrm>
            <a:off x="863599" y="1511300"/>
            <a:ext cx="7317509" cy="1200329"/>
          </a:xfrm>
          <a:prstGeom prst="rect">
            <a:avLst/>
          </a:prstGeom>
          <a:noFill/>
        </p:spPr>
        <p:txBody>
          <a:bodyPr wrap="square" rtlCol="0">
            <a:spAutoFit/>
          </a:bodyPr>
          <a:lstStyle/>
          <a:p>
            <a:r>
              <a:rPr lang="en-US" sz="1200">
                <a:solidFill>
                  <a:schemeClr val="accent1"/>
                </a:solidFill>
                <a:latin typeface="Encode Sans" pitchFamily="2" charset="0"/>
              </a:rPr>
              <a:t>Describe the criteria that led to the solution(s) being proposed (IT strategy, project dependency, architecture, etc.)</a:t>
            </a:r>
          </a:p>
          <a:p>
            <a:endParaRPr lang="en-US" sz="1200">
              <a:solidFill>
                <a:schemeClr val="accent1"/>
              </a:solidFill>
              <a:latin typeface="Encode Sans" pitchFamily="2" charset="0"/>
            </a:endParaRPr>
          </a:p>
          <a:p>
            <a:r>
              <a:rPr lang="en-US" sz="1200">
                <a:solidFill>
                  <a:schemeClr val="accent1"/>
                </a:solidFill>
                <a:latin typeface="Encode Sans" pitchFamily="2" charset="0"/>
              </a:rPr>
              <a:t>Describe the elements common to all the solutions</a:t>
            </a:r>
          </a:p>
          <a:p>
            <a:endParaRPr lang="en-GB" sz="1200">
              <a:solidFill>
                <a:schemeClr val="accent1"/>
              </a:solidFill>
              <a:latin typeface="Encode Sans" pitchFamily="2" charset="0"/>
            </a:endParaRPr>
          </a:p>
          <a:p>
            <a:r>
              <a:rPr lang="en-US" sz="1200">
                <a:solidFill>
                  <a:schemeClr val="accent1"/>
                </a:solidFill>
                <a:latin typeface="Encode Sans" pitchFamily="2" charset="0"/>
              </a:rPr>
              <a:t>Provide a macro description of each solution.</a:t>
            </a:r>
            <a:endParaRPr lang="en-GB" sz="1200">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3094379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1AAF2EF-18EE-5295-225A-7A569457DC0B}"/>
              </a:ext>
            </a:extLst>
          </p:cNvPr>
          <p:cNvSpPr>
            <a:spLocks noGrp="1"/>
          </p:cNvSpPr>
          <p:nvPr>
            <p:ph type="title" idx="2"/>
          </p:nvPr>
        </p:nvSpPr>
        <p:spPr/>
        <p:txBody>
          <a:bodyPr/>
          <a:lstStyle/>
          <a:p>
            <a:r>
              <a:rPr kumimoji="0" lang="en-US" sz="1100" b="1" i="0" u="none" strike="noStrike" kern="1200" cap="all" spc="0" normalizeH="0" baseline="0" noProof="0" dirty="0">
                <a:ln>
                  <a:noFill/>
                </a:ln>
                <a:solidFill>
                  <a:prstClr val="white"/>
                </a:solidFill>
                <a:effectLst/>
                <a:uLnTx/>
                <a:uFillTx/>
                <a:latin typeface="Encode Sans"/>
                <a:ea typeface="+mj-ea"/>
                <a:cs typeface="+mj-cs"/>
              </a:rPr>
              <a:t>(Solution X)  - </a:t>
            </a:r>
            <a:r>
              <a:rPr lang="en-US" sz="1100" dirty="0">
                <a:latin typeface="Arial"/>
                <a:cs typeface="Arial"/>
              </a:rPr>
              <a:t>TECHNICAL DESCRIPTION OF THE SOLUTIONS</a:t>
            </a:r>
            <a:endParaRPr lang="en-GB" dirty="0"/>
          </a:p>
        </p:txBody>
      </p:sp>
      <p:sp>
        <p:nvSpPr>
          <p:cNvPr id="8" name="Espace réservé du contenu 1">
            <a:extLst>
              <a:ext uri="{FF2B5EF4-FFF2-40B4-BE49-F238E27FC236}">
                <a16:creationId xmlns:a16="http://schemas.microsoft.com/office/drawing/2014/main" id="{71BF4A0C-84D8-1F68-CD5E-4E4B83101715}"/>
              </a:ext>
            </a:extLst>
          </p:cNvPr>
          <p:cNvSpPr txBox="1">
            <a:spLocks/>
          </p:cNvSpPr>
          <p:nvPr/>
        </p:nvSpPr>
        <p:spPr>
          <a:xfrm>
            <a:off x="217991" y="893545"/>
            <a:ext cx="8523609" cy="1002419"/>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dirty="0">
                <a:solidFill>
                  <a:schemeClr val="accent1"/>
                </a:solidFill>
                <a:latin typeface="Encode Sans" pitchFamily="2" charset="0"/>
              </a:rPr>
              <a:t>Technical stack:</a:t>
            </a:r>
            <a:br>
              <a:rPr lang="en-US" sz="1400" dirty="0">
                <a:solidFill>
                  <a:schemeClr val="accent1"/>
                </a:solidFill>
                <a:latin typeface="Encode Sans" pitchFamily="2" charset="0"/>
              </a:rPr>
            </a:br>
            <a:endParaRPr lang="en-US" sz="1400" dirty="0">
              <a:solidFill>
                <a:schemeClr val="accent1"/>
              </a:solidFill>
              <a:latin typeface="Encode Sans" pitchFamily="2" charset="0"/>
            </a:endParaRPr>
          </a:p>
          <a:p>
            <a:pPr lvl="1"/>
            <a:r>
              <a:rPr lang="en-US" sz="1200" dirty="0">
                <a:solidFill>
                  <a:schemeClr val="accent1"/>
                </a:solidFill>
                <a:latin typeface="Encode Sans" pitchFamily="2" charset="0"/>
              </a:rPr>
              <a:t>List all the products, framework, OS with the versions:</a:t>
            </a:r>
            <a:br>
              <a:rPr lang="en-US" sz="1200" dirty="0">
                <a:solidFill>
                  <a:schemeClr val="accent1"/>
                </a:solidFill>
                <a:latin typeface="Encode Sans" pitchFamily="2" charset="0"/>
              </a:rPr>
            </a:br>
            <a:endParaRPr lang="en-US" sz="900" dirty="0">
              <a:solidFill>
                <a:schemeClr val="accent1"/>
              </a:solidFill>
              <a:latin typeface="Encode Sans" pitchFamily="2" charset="0"/>
            </a:endParaRPr>
          </a:p>
          <a:p>
            <a:pPr lvl="1"/>
            <a:endParaRPr lang="en-US" sz="900" dirty="0">
              <a:solidFill>
                <a:schemeClr val="accent1"/>
              </a:solidFill>
              <a:latin typeface="Encode Sans" pitchFamily="2" charset="0"/>
            </a:endParaRPr>
          </a:p>
          <a:p>
            <a:pPr lvl="1"/>
            <a:endParaRPr lang="en-US" sz="900" dirty="0">
              <a:solidFill>
                <a:schemeClr val="accent1"/>
              </a:solidFill>
              <a:latin typeface="Encode Sans" pitchFamily="2" charset="0"/>
            </a:endParaRPr>
          </a:p>
          <a:p>
            <a:pPr marL="371475" lvl="1" indent="0">
              <a:buNone/>
            </a:pPr>
            <a:endParaRPr lang="en-US" sz="900" dirty="0">
              <a:solidFill>
                <a:schemeClr val="accent1"/>
              </a:solidFill>
              <a:latin typeface="Encode Sans" pitchFamily="2" charset="0"/>
            </a:endParaRPr>
          </a:p>
        </p:txBody>
      </p:sp>
      <p:graphicFrame>
        <p:nvGraphicFramePr>
          <p:cNvPr id="7" name="Tableau 6">
            <a:extLst>
              <a:ext uri="{FF2B5EF4-FFF2-40B4-BE49-F238E27FC236}">
                <a16:creationId xmlns:a16="http://schemas.microsoft.com/office/drawing/2014/main" id="{872F0DFE-64D2-562E-02B5-E522E9C0660F}"/>
              </a:ext>
            </a:extLst>
          </p:cNvPr>
          <p:cNvGraphicFramePr>
            <a:graphicFrameLocks noGrp="1"/>
          </p:cNvGraphicFramePr>
          <p:nvPr/>
        </p:nvGraphicFramePr>
        <p:xfrm>
          <a:off x="402350" y="1895964"/>
          <a:ext cx="6475095" cy="1752600"/>
        </p:xfrm>
        <a:graphic>
          <a:graphicData uri="http://schemas.openxmlformats.org/drawingml/2006/table">
            <a:tbl>
              <a:tblPr firstRow="1" firstCol="1" bandRow="1">
                <a:tableStyleId>{5C22544A-7EE6-4342-B048-85BDC9FD1C3A}</a:tableStyleId>
              </a:tblPr>
              <a:tblGrid>
                <a:gridCol w="1617345">
                  <a:extLst>
                    <a:ext uri="{9D8B030D-6E8A-4147-A177-3AD203B41FA5}">
                      <a16:colId xmlns:a16="http://schemas.microsoft.com/office/drawing/2014/main" val="3242958509"/>
                    </a:ext>
                  </a:extLst>
                </a:gridCol>
                <a:gridCol w="989965">
                  <a:extLst>
                    <a:ext uri="{9D8B030D-6E8A-4147-A177-3AD203B41FA5}">
                      <a16:colId xmlns:a16="http://schemas.microsoft.com/office/drawing/2014/main" val="3303089963"/>
                    </a:ext>
                  </a:extLst>
                </a:gridCol>
                <a:gridCol w="3867785">
                  <a:extLst>
                    <a:ext uri="{9D8B030D-6E8A-4147-A177-3AD203B41FA5}">
                      <a16:colId xmlns:a16="http://schemas.microsoft.com/office/drawing/2014/main" val="1575146228"/>
                    </a:ext>
                  </a:extLst>
                </a:gridCol>
              </a:tblGrid>
              <a:tr h="0">
                <a:tc>
                  <a:txBody>
                    <a:bodyPr/>
                    <a:lstStyle/>
                    <a:p>
                      <a:pPr algn="just">
                        <a:spcBef>
                          <a:spcPts val="200"/>
                        </a:spcBef>
                        <a:spcAft>
                          <a:spcPts val="400"/>
                        </a:spcAft>
                      </a:pPr>
                      <a:r>
                        <a:rPr lang="en-US" sz="1100" dirty="0">
                          <a:effectLst/>
                          <a:latin typeface="Encode Sans" pitchFamily="2" charset="0"/>
                        </a:rPr>
                        <a:t>Element</a:t>
                      </a:r>
                      <a:endParaRPr lang="fr-FR" sz="1200" dirty="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en-US" sz="1100">
                          <a:effectLst/>
                          <a:latin typeface="Encode Sans" pitchFamily="2" charset="0"/>
                        </a:rPr>
                        <a:t>Value</a:t>
                      </a:r>
                      <a:endParaRPr lang="fr-FR" sz="120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en-US" sz="1100">
                          <a:effectLst/>
                          <a:latin typeface="Encode Sans" pitchFamily="2" charset="0"/>
                        </a:rPr>
                        <a:t>Comments</a:t>
                      </a:r>
                      <a:endParaRPr lang="fr-FR" sz="120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82785310"/>
                  </a:ext>
                </a:extLst>
              </a:tr>
              <a:tr h="0">
                <a:tc>
                  <a:txBody>
                    <a:bodyPr/>
                    <a:lstStyle/>
                    <a:p>
                      <a:pPr algn="l">
                        <a:spcBef>
                          <a:spcPts val="200"/>
                        </a:spcBef>
                        <a:spcAft>
                          <a:spcPts val="400"/>
                        </a:spcAft>
                      </a:pPr>
                      <a:r>
                        <a:rPr lang="en-US" sz="1100">
                          <a:effectLst/>
                          <a:latin typeface="Encode Sans" pitchFamily="2" charset="0"/>
                        </a:rPr>
                        <a:t>CMS</a:t>
                      </a:r>
                      <a:endParaRPr lang="fr-FR" sz="120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en-US" sz="1100">
                          <a:solidFill>
                            <a:schemeClr val="accent1"/>
                          </a:solidFill>
                          <a:effectLst/>
                          <a:latin typeface="Encode Sans" pitchFamily="2" charset="0"/>
                        </a:rPr>
                        <a:t>Drupal XX*</a:t>
                      </a:r>
                      <a:endPar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en-US" sz="1100">
                          <a:solidFill>
                            <a:schemeClr val="accent1"/>
                          </a:solidFill>
                          <a:effectLst/>
                          <a:latin typeface="Encode Sans" pitchFamily="2" charset="0"/>
                        </a:rPr>
                        <a:t>Latest Drupal XX* LTS version</a:t>
                      </a:r>
                      <a:endPar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05253257"/>
                  </a:ext>
                </a:extLst>
              </a:tr>
              <a:tr h="0">
                <a:tc>
                  <a:txBody>
                    <a:bodyPr/>
                    <a:lstStyle/>
                    <a:p>
                      <a:pPr algn="l">
                        <a:spcBef>
                          <a:spcPts val="200"/>
                        </a:spcBef>
                        <a:spcAft>
                          <a:spcPts val="400"/>
                        </a:spcAft>
                      </a:pPr>
                      <a:r>
                        <a:rPr lang="en-US" sz="1100">
                          <a:effectLst/>
                          <a:latin typeface="Encode Sans" pitchFamily="2" charset="0"/>
                        </a:rPr>
                        <a:t>Back-End Framework</a:t>
                      </a:r>
                      <a:endParaRPr lang="fr-FR" sz="120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en-US" sz="1100">
                          <a:solidFill>
                            <a:schemeClr val="accent1"/>
                          </a:solidFill>
                          <a:effectLst/>
                          <a:latin typeface="Encode Sans" pitchFamily="2" charset="0"/>
                        </a:rPr>
                        <a:t>Symfony XX*</a:t>
                      </a:r>
                      <a:endPar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en-US" sz="1100">
                          <a:solidFill>
                            <a:schemeClr val="accent1"/>
                          </a:solidFill>
                          <a:effectLst/>
                          <a:latin typeface="Encode Sans" pitchFamily="2" charset="0"/>
                        </a:rPr>
                        <a:t>Latest Symfony XX* LTS version</a:t>
                      </a:r>
                      <a:endPar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76826639"/>
                  </a:ext>
                </a:extLst>
              </a:tr>
              <a:tr h="0">
                <a:tc>
                  <a:txBody>
                    <a:bodyPr/>
                    <a:lstStyle/>
                    <a:p>
                      <a:pPr algn="l">
                        <a:spcBef>
                          <a:spcPts val="200"/>
                        </a:spcBef>
                        <a:spcAft>
                          <a:spcPts val="400"/>
                        </a:spcAft>
                      </a:pPr>
                      <a:r>
                        <a:rPr lang="en-US" sz="1100">
                          <a:effectLst/>
                          <a:latin typeface="Encode Sans" pitchFamily="2" charset="0"/>
                        </a:rPr>
                        <a:t>Front-End Framework</a:t>
                      </a:r>
                      <a:endParaRPr lang="fr-FR" sz="120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en-US" sz="1100">
                          <a:solidFill>
                            <a:schemeClr val="accent1"/>
                          </a:solidFill>
                          <a:effectLst/>
                          <a:latin typeface="Encode Sans" pitchFamily="2" charset="0"/>
                        </a:rPr>
                        <a:t>Angular XX*</a:t>
                      </a:r>
                      <a:endPar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en-US" sz="1100">
                          <a:solidFill>
                            <a:schemeClr val="accent1"/>
                          </a:solidFill>
                          <a:effectLst/>
                          <a:latin typeface="Encode Sans" pitchFamily="2" charset="0"/>
                        </a:rPr>
                        <a:t>Latest Angular XX* LTS version</a:t>
                      </a:r>
                      <a:endPar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19256391"/>
                  </a:ext>
                </a:extLst>
              </a:tr>
              <a:tr h="0">
                <a:tc>
                  <a:txBody>
                    <a:bodyPr/>
                    <a:lstStyle/>
                    <a:p>
                      <a:pPr algn="l">
                        <a:spcBef>
                          <a:spcPts val="200"/>
                        </a:spcBef>
                        <a:spcAft>
                          <a:spcPts val="400"/>
                        </a:spcAft>
                      </a:pPr>
                      <a:r>
                        <a:rPr lang="fr-FR" sz="1200" dirty="0">
                          <a:effectLst/>
                          <a:latin typeface="Encode Sans" pitchFamily="2" charset="0"/>
                          <a:ea typeface="Times New Roman" panose="02020603050405020304" pitchFamily="18" charset="0"/>
                          <a:cs typeface="Times New Roman" panose="02020603050405020304" pitchFamily="18" charset="0"/>
                        </a:rPr>
                        <a:t>Dev </a:t>
                      </a:r>
                      <a:r>
                        <a:rPr lang="fr-FR" sz="1200" dirty="0" err="1">
                          <a:effectLst/>
                          <a:latin typeface="Encode Sans" pitchFamily="2" charset="0"/>
                          <a:ea typeface="Times New Roman" panose="02020603050405020304" pitchFamily="18" charset="0"/>
                          <a:cs typeface="Times New Roman" panose="02020603050405020304" pitchFamily="18" charset="0"/>
                        </a:rPr>
                        <a:t>language</a:t>
                      </a:r>
                      <a:endParaRPr lang="fr-FR" sz="1200" dirty="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rPr>
                        <a:t>PHP XX*</a:t>
                      </a:r>
                    </a:p>
                  </a:txBody>
                  <a:tcPr marL="68580" marR="68580" marT="0" marB="0"/>
                </a:tc>
                <a:tc>
                  <a:txBody>
                    <a:bodyPr/>
                    <a:lstStyle/>
                    <a:p>
                      <a:pPr algn="just">
                        <a:spcBef>
                          <a:spcPts val="200"/>
                        </a:spcBef>
                        <a:spcAft>
                          <a:spcPts val="400"/>
                        </a:spcAft>
                      </a:pPr>
                      <a:r>
                        <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rPr>
                        <a:t>…</a:t>
                      </a:r>
                    </a:p>
                  </a:txBody>
                  <a:tcPr marL="68580" marR="68580" marT="0" marB="0"/>
                </a:tc>
                <a:extLst>
                  <a:ext uri="{0D108BD9-81ED-4DB2-BD59-A6C34878D82A}">
                    <a16:rowId xmlns:a16="http://schemas.microsoft.com/office/drawing/2014/main" val="921208564"/>
                  </a:ext>
                </a:extLst>
              </a:tr>
              <a:tr h="0">
                <a:tc>
                  <a:txBody>
                    <a:bodyPr/>
                    <a:lstStyle/>
                    <a:p>
                      <a:pPr algn="l">
                        <a:spcBef>
                          <a:spcPts val="200"/>
                        </a:spcBef>
                        <a:spcAft>
                          <a:spcPts val="400"/>
                        </a:spcAft>
                      </a:pPr>
                      <a:r>
                        <a:rPr lang="fr-FR" sz="1200" err="1">
                          <a:effectLst/>
                          <a:latin typeface="Encode Sans" pitchFamily="2" charset="0"/>
                          <a:ea typeface="Times New Roman" panose="02020603050405020304" pitchFamily="18" charset="0"/>
                          <a:cs typeface="Times New Roman" panose="02020603050405020304" pitchFamily="18" charset="0"/>
                        </a:rPr>
                        <a:t>Database</a:t>
                      </a:r>
                      <a:endParaRPr lang="fr-FR" sz="120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r>
                        <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rPr>
                        <a:t>MySQL XX*</a:t>
                      </a:r>
                    </a:p>
                  </a:txBody>
                  <a:tcPr marL="68580" marR="68580" marT="0" marB="0"/>
                </a:tc>
                <a:tc>
                  <a:txBody>
                    <a:bodyPr/>
                    <a:lstStyle/>
                    <a:p>
                      <a:pPr marL="0" marR="0" lvl="0" indent="0" algn="just" defTabSz="914400" rtl="0" eaLnBrk="1" fontAlgn="auto" latinLnBrk="0" hangingPunct="1">
                        <a:lnSpc>
                          <a:spcPct val="100000"/>
                        </a:lnSpc>
                        <a:spcBef>
                          <a:spcPts val="200"/>
                        </a:spcBef>
                        <a:spcAft>
                          <a:spcPts val="400"/>
                        </a:spcAft>
                        <a:buClr>
                          <a:srgbClr val="000000"/>
                        </a:buClr>
                        <a:buSzTx/>
                        <a:buFont typeface="Arial"/>
                        <a:buNone/>
                        <a:tabLst/>
                        <a:defRPr/>
                      </a:pPr>
                      <a:r>
                        <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rPr>
                        <a:t>…</a:t>
                      </a:r>
                    </a:p>
                  </a:txBody>
                  <a:tcPr marL="68580" marR="68580" marT="0" marB="0"/>
                </a:tc>
                <a:extLst>
                  <a:ext uri="{0D108BD9-81ED-4DB2-BD59-A6C34878D82A}">
                    <a16:rowId xmlns:a16="http://schemas.microsoft.com/office/drawing/2014/main" val="2465989255"/>
                  </a:ext>
                </a:extLst>
              </a:tr>
              <a:tr h="0">
                <a:tc>
                  <a:txBody>
                    <a:bodyPr/>
                    <a:lstStyle/>
                    <a:p>
                      <a:pPr algn="l">
                        <a:spcBef>
                          <a:spcPts val="200"/>
                        </a:spcBef>
                        <a:spcAft>
                          <a:spcPts val="400"/>
                        </a:spcAft>
                      </a:pPr>
                      <a:r>
                        <a:rPr lang="fr-FR" sz="1200">
                          <a:effectLst/>
                          <a:latin typeface="Encode Sans" pitchFamily="2" charset="0"/>
                          <a:ea typeface="Times New Roman" panose="02020603050405020304" pitchFamily="18" charset="0"/>
                          <a:cs typeface="Times New Roman" panose="02020603050405020304" pitchFamily="18" charset="0"/>
                        </a:rPr>
                        <a:t>OS</a:t>
                      </a:r>
                    </a:p>
                  </a:txBody>
                  <a:tcPr marL="68580" marR="68580" marT="0" marB="0"/>
                </a:tc>
                <a:tc>
                  <a:txBody>
                    <a:bodyPr/>
                    <a:lstStyle/>
                    <a:p>
                      <a:pPr algn="just">
                        <a:spcBef>
                          <a:spcPts val="200"/>
                        </a:spcBef>
                        <a:spcAft>
                          <a:spcPts val="400"/>
                        </a:spcAft>
                      </a:pPr>
                      <a:r>
                        <a:rPr lang="en-US" sz="1100" kern="1200">
                          <a:solidFill>
                            <a:schemeClr val="accent1"/>
                          </a:solidFill>
                          <a:effectLst/>
                          <a:latin typeface="Encode Sans" pitchFamily="2" charset="0"/>
                          <a:ea typeface="+mn-ea"/>
                          <a:cs typeface="+mn-cs"/>
                        </a:rPr>
                        <a:t>Debian XX*</a:t>
                      </a:r>
                      <a:endParaRPr lang="fr-FR" sz="1100" kern="1200">
                        <a:solidFill>
                          <a:schemeClr val="accent1"/>
                        </a:solidFill>
                        <a:effectLst/>
                        <a:latin typeface="Encode Sans" pitchFamily="2" charset="0"/>
                        <a:ea typeface="+mn-ea"/>
                        <a:cs typeface="+mn-cs"/>
                      </a:endParaRPr>
                    </a:p>
                  </a:txBody>
                  <a:tcPr marL="68580" marR="68580" marT="0" marB="0"/>
                </a:tc>
                <a:tc>
                  <a:txBody>
                    <a:bodyPr/>
                    <a:lstStyle/>
                    <a:p>
                      <a:pPr algn="just">
                        <a:spcBef>
                          <a:spcPts val="200"/>
                        </a:spcBef>
                        <a:spcAft>
                          <a:spcPts val="400"/>
                        </a:spcAft>
                      </a:pPr>
                      <a:r>
                        <a:rPr lang="en-US" sz="1200">
                          <a:solidFill>
                            <a:schemeClr val="accent1"/>
                          </a:solidFill>
                          <a:effectLst/>
                          <a:latin typeface="Encode Sans" pitchFamily="2" charset="0"/>
                          <a:ea typeface="Times New Roman" panose="02020603050405020304" pitchFamily="18" charset="0"/>
                          <a:cs typeface="Times New Roman" panose="02020603050405020304" pitchFamily="18" charset="0"/>
                        </a:rPr>
                        <a:t>Based on Debian XX* Official Image with minimalist installation</a:t>
                      </a:r>
                      <a:endParaRPr lang="fr-FR" sz="1200">
                        <a:solidFill>
                          <a:schemeClr val="accent1"/>
                        </a:solidFill>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10057624"/>
                  </a:ext>
                </a:extLst>
              </a:tr>
              <a:tr h="0">
                <a:tc>
                  <a:txBody>
                    <a:bodyPr/>
                    <a:lstStyle/>
                    <a:p>
                      <a:pPr algn="l">
                        <a:spcBef>
                          <a:spcPts val="200"/>
                        </a:spcBef>
                        <a:spcAft>
                          <a:spcPts val="400"/>
                        </a:spcAft>
                      </a:pPr>
                      <a:endParaRPr lang="fr-FR" sz="120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200"/>
                        </a:spcBef>
                        <a:spcAft>
                          <a:spcPts val="400"/>
                        </a:spcAft>
                      </a:pPr>
                      <a:endParaRPr lang="fr-FR" sz="1100" kern="1200">
                        <a:solidFill>
                          <a:schemeClr val="dk1"/>
                        </a:solidFill>
                        <a:effectLst/>
                        <a:latin typeface="Encode Sans" pitchFamily="2" charset="0"/>
                        <a:ea typeface="+mn-ea"/>
                        <a:cs typeface="+mn-cs"/>
                      </a:endParaRPr>
                    </a:p>
                  </a:txBody>
                  <a:tcPr marL="68580" marR="68580" marT="0" marB="0"/>
                </a:tc>
                <a:tc>
                  <a:txBody>
                    <a:bodyPr/>
                    <a:lstStyle/>
                    <a:p>
                      <a:pPr algn="just">
                        <a:spcBef>
                          <a:spcPts val="200"/>
                        </a:spcBef>
                        <a:spcAft>
                          <a:spcPts val="400"/>
                        </a:spcAft>
                      </a:pPr>
                      <a:endParaRPr lang="fr-FR" sz="1200">
                        <a:effectLst/>
                        <a:latin typeface="Encode Sans"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78141959"/>
                  </a:ext>
                </a:extLst>
              </a:tr>
            </a:tbl>
          </a:graphicData>
        </a:graphic>
      </p:graphicFrame>
      <p:sp>
        <p:nvSpPr>
          <p:cNvPr id="4" name="ZoneTexte 3">
            <a:extLst>
              <a:ext uri="{FF2B5EF4-FFF2-40B4-BE49-F238E27FC236}">
                <a16:creationId xmlns:a16="http://schemas.microsoft.com/office/drawing/2014/main" id="{135577A0-E1B1-04CD-6EA1-5F38C9714C4F}"/>
              </a:ext>
            </a:extLst>
          </p:cNvPr>
          <p:cNvSpPr txBox="1"/>
          <p:nvPr/>
        </p:nvSpPr>
        <p:spPr>
          <a:xfrm>
            <a:off x="5126355" y="790473"/>
            <a:ext cx="3799654" cy="101566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dirty="0">
                <a:latin typeface="Encode Sans" pitchFamily="2" charset="0"/>
              </a:rPr>
              <a:t>Here is an example for a LAMP application with CMS</a:t>
            </a:r>
          </a:p>
          <a:p>
            <a:r>
              <a:rPr lang="en-US" sz="1000" dirty="0">
                <a:latin typeface="Encode Sans" pitchFamily="2" charset="0"/>
              </a:rPr>
              <a:t>Check the appropriate software stack with architecture team</a:t>
            </a:r>
          </a:p>
          <a:p>
            <a:endParaRPr lang="en-US" sz="1000" dirty="0">
              <a:latin typeface="Encode Sans" pitchFamily="2" charset="0"/>
            </a:endParaRPr>
          </a:p>
          <a:p>
            <a:r>
              <a:rPr lang="en-US" sz="1000" dirty="0">
                <a:latin typeface="Encode Sans" pitchFamily="2" charset="0"/>
              </a:rPr>
              <a:t>XX* appropriate version for the relative software</a:t>
            </a:r>
          </a:p>
          <a:p>
            <a:endParaRPr lang="en-US" sz="1000" dirty="0">
              <a:latin typeface="Encode Sans" pitchFamily="2" charset="0"/>
            </a:endParaRPr>
          </a:p>
          <a:p>
            <a:r>
              <a:rPr lang="en-US" sz="1000" b="1" dirty="0">
                <a:latin typeface="Encode Sans" pitchFamily="2" charset="0"/>
              </a:rPr>
              <a:t>TO BE COMPLETED AT GATE 3</a:t>
            </a:r>
          </a:p>
        </p:txBody>
      </p:sp>
      <p:sp>
        <p:nvSpPr>
          <p:cNvPr id="9" name="TextBox 8">
            <a:extLst>
              <a:ext uri="{FF2B5EF4-FFF2-40B4-BE49-F238E27FC236}">
                <a16:creationId xmlns:a16="http://schemas.microsoft.com/office/drawing/2014/main" id="{856CC797-897B-C0D1-1A19-63187253ECF5}"/>
              </a:ext>
            </a:extLst>
          </p:cNvPr>
          <p:cNvSpPr txBox="1"/>
          <p:nvPr/>
        </p:nvSpPr>
        <p:spPr>
          <a:xfrm>
            <a:off x="328789" y="4431594"/>
            <a:ext cx="572064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72B35"/>
                </a:solidFill>
                <a:latin typeface="Encode Sans"/>
              </a:rPr>
              <a:t>​</a:t>
            </a:r>
            <a:r>
              <a:rPr lang="en-US" sz="1200" b="1">
                <a:solidFill>
                  <a:srgbClr val="243782"/>
                </a:solidFill>
                <a:latin typeface="Encode Sans"/>
              </a:rPr>
              <a:t>All the software and libraries will be upgraded at least once a year</a:t>
            </a:r>
            <a:endParaRPr lang="en-US" b="1"/>
          </a:p>
        </p:txBody>
      </p:sp>
    </p:spTree>
    <p:extLst>
      <p:ext uri="{BB962C8B-B14F-4D97-AF65-F5344CB8AC3E}">
        <p14:creationId xmlns:p14="http://schemas.microsoft.com/office/powerpoint/2010/main" val="4036051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lang="en-US" sz="1200" kern="1200" cap="all">
                <a:solidFill>
                  <a:prstClr val="white"/>
                </a:solidFill>
                <a:ea typeface="+mj-ea"/>
                <a:cs typeface="+mj-cs"/>
              </a:rPr>
              <a:t>Applications Flows technical diagram for Gate 2 or Gate 1 PoC</a:t>
            </a:r>
            <a:endParaRPr>
              <a:latin typeface="Encode Sans" pitchFamily="2" charset="0"/>
            </a:endParaRPr>
          </a:p>
        </p:txBody>
      </p:sp>
      <p:sp>
        <p:nvSpPr>
          <p:cNvPr id="3" name="ZoneTexte 2">
            <a:extLst>
              <a:ext uri="{FF2B5EF4-FFF2-40B4-BE49-F238E27FC236}">
                <a16:creationId xmlns:a16="http://schemas.microsoft.com/office/drawing/2014/main" id="{A5382141-57A4-B0FE-0211-8868E0062AE8}"/>
              </a:ext>
            </a:extLst>
          </p:cNvPr>
          <p:cNvSpPr txBox="1"/>
          <p:nvPr/>
        </p:nvSpPr>
        <p:spPr>
          <a:xfrm>
            <a:off x="402350" y="1592826"/>
            <a:ext cx="8383062" cy="338554"/>
          </a:xfrm>
          <a:prstGeom prst="rect">
            <a:avLst/>
          </a:prstGeom>
          <a:noFill/>
        </p:spPr>
        <p:txBody>
          <a:bodyPr wrap="square" rtlCol="0">
            <a:spAutoFit/>
          </a:bodyPr>
          <a:lstStyle/>
          <a:p>
            <a:pPr>
              <a:spcBef>
                <a:spcPts val="1200"/>
              </a:spcBef>
            </a:pPr>
            <a:r>
              <a:rPr lang="fr-FR" sz="1600" dirty="0">
                <a:highlight>
                  <a:srgbClr val="FFFF00"/>
                </a:highlight>
              </a:rPr>
              <a:t>Insert </a:t>
            </a:r>
            <a:r>
              <a:rPr lang="fr-FR" sz="1600" dirty="0" err="1">
                <a:highlight>
                  <a:srgbClr val="FFFF00"/>
                </a:highlight>
              </a:rPr>
              <a:t>here</a:t>
            </a:r>
            <a:r>
              <a:rPr lang="fr-FR" sz="1600" dirty="0">
                <a:highlight>
                  <a:srgbClr val="FFFF00"/>
                </a:highlight>
              </a:rPr>
              <a:t> </a:t>
            </a:r>
            <a:r>
              <a:rPr lang="fr-FR" sz="1600" dirty="0" err="1">
                <a:highlight>
                  <a:srgbClr val="FFFF00"/>
                </a:highlight>
              </a:rPr>
              <a:t>your</a:t>
            </a:r>
            <a:r>
              <a:rPr lang="fr-FR" sz="1600" dirty="0">
                <a:highlight>
                  <a:srgbClr val="FFFF00"/>
                </a:highlight>
              </a:rPr>
              <a:t> data flow applicative </a:t>
            </a:r>
            <a:r>
              <a:rPr lang="fr-FR" sz="1600" dirty="0" err="1">
                <a:highlight>
                  <a:srgbClr val="FFFF00"/>
                </a:highlight>
              </a:rPr>
              <a:t>diagram</a:t>
            </a:r>
            <a:r>
              <a:rPr lang="fr-FR" sz="1600" dirty="0">
                <a:highlight>
                  <a:srgbClr val="FFFF00"/>
                </a:highlight>
              </a:rPr>
              <a:t> - Based on </a:t>
            </a:r>
            <a:r>
              <a:rPr lang="fr-FR" sz="1600" dirty="0" err="1">
                <a:highlight>
                  <a:srgbClr val="FFFF00"/>
                </a:highlight>
                <a:hlinkClick r:id="rId4"/>
              </a:rPr>
              <a:t>Example</a:t>
            </a:r>
            <a:r>
              <a:rPr lang="fr-FR" sz="1600" dirty="0" err="1">
                <a:highlight>
                  <a:srgbClr val="FFFF00"/>
                </a:highlight>
              </a:rPr>
              <a:t>s</a:t>
            </a:r>
            <a:endParaRPr lang="en-US" sz="1600" dirty="0"/>
          </a:p>
        </p:txBody>
      </p:sp>
      <p:sp>
        <p:nvSpPr>
          <p:cNvPr id="5" name="TextBox 4">
            <a:extLst>
              <a:ext uri="{FF2B5EF4-FFF2-40B4-BE49-F238E27FC236}">
                <a16:creationId xmlns:a16="http://schemas.microsoft.com/office/drawing/2014/main" id="{63153D32-428D-1A25-07AC-6F67AA22F7FE}"/>
              </a:ext>
            </a:extLst>
          </p:cNvPr>
          <p:cNvSpPr txBox="1"/>
          <p:nvPr/>
        </p:nvSpPr>
        <p:spPr>
          <a:xfrm>
            <a:off x="402350" y="854162"/>
            <a:ext cx="7678236" cy="307777"/>
          </a:xfrm>
          <a:prstGeom prst="rect">
            <a:avLst/>
          </a:prstGeom>
          <a:noFill/>
        </p:spPr>
        <p:txBody>
          <a:bodyPr wrap="square">
            <a:spAutoFit/>
          </a:bodyPr>
          <a:lstStyle/>
          <a:p>
            <a:r>
              <a:rPr lang="en-US" dirty="0">
                <a:solidFill>
                  <a:schemeClr val="accent1"/>
                </a:solidFill>
                <a:highlight>
                  <a:srgbClr val="FFFF00"/>
                </a:highlight>
                <a:latin typeface="Encode Sans" pitchFamily="2" charset="0"/>
              </a:rPr>
              <a:t>Insert Technical Architecture document</a:t>
            </a:r>
            <a:r>
              <a:rPr lang="en-US" b="0" dirty="0">
                <a:solidFill>
                  <a:schemeClr val="accent1"/>
                </a:solidFill>
                <a:highlight>
                  <a:srgbClr val="FFFF00"/>
                </a:highlight>
                <a:latin typeface="Encode Sans" pitchFamily="2" charset="0"/>
              </a:rPr>
              <a:t> link here - </a:t>
            </a:r>
            <a:r>
              <a:rPr lang="en-US" b="0" dirty="0">
                <a:solidFill>
                  <a:schemeClr val="accent1"/>
                </a:solidFill>
                <a:highlight>
                  <a:srgbClr val="FFFF00"/>
                </a:highlight>
                <a:latin typeface="Encode Sans" pitchFamily="2" charset="0"/>
                <a:hlinkClick r:id="rId5"/>
              </a:rPr>
              <a:t>Example</a:t>
            </a:r>
            <a:endParaRPr lang="en-US" dirty="0">
              <a:solidFill>
                <a:schemeClr val="accent1"/>
              </a:solidFill>
              <a:highlight>
                <a:srgbClr val="FFFF00"/>
              </a:highlight>
              <a:latin typeface="Encode Sans" pitchFamily="2" charset="0"/>
            </a:endParaRPr>
          </a:p>
        </p:txBody>
      </p:sp>
    </p:spTree>
    <p:custDataLst>
      <p:tags r:id="rId1"/>
    </p:custDataLst>
    <p:extLst>
      <p:ext uri="{BB962C8B-B14F-4D97-AF65-F5344CB8AC3E}">
        <p14:creationId xmlns:p14="http://schemas.microsoft.com/office/powerpoint/2010/main" val="1487663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fontScale="90000"/>
          </a:bodyPr>
          <a:lstStyle/>
          <a:p>
            <a:r>
              <a:rPr lang="en-US" sz="1500"/>
              <a:t>AVAILABILITY, SLA</a:t>
            </a:r>
          </a:p>
        </p:txBody>
      </p:sp>
      <p:sp>
        <p:nvSpPr>
          <p:cNvPr id="6" name="Rectangle 5"/>
          <p:cNvSpPr/>
          <p:nvPr/>
        </p:nvSpPr>
        <p:spPr>
          <a:xfrm>
            <a:off x="325502" y="756000"/>
            <a:ext cx="8492996" cy="3323987"/>
          </a:xfrm>
          <a:prstGeom prst="rect">
            <a:avLst/>
          </a:prstGeom>
        </p:spPr>
        <p:txBody>
          <a:bodyPr wrap="square" lIns="91440" tIns="45720" rIns="91440" bIns="45720" anchor="t">
            <a:spAutoFit/>
          </a:bodyPr>
          <a:lstStyle/>
          <a:p>
            <a:pPr>
              <a:spcAft>
                <a:spcPts val="1200"/>
              </a:spcAft>
              <a:buClr>
                <a:srgbClr val="29385E"/>
              </a:buClr>
              <a:buSzPct val="120000"/>
            </a:pPr>
            <a:r>
              <a:rPr lang="en-US" sz="900" u="sng">
                <a:solidFill>
                  <a:schemeClr val="accent1"/>
                </a:solidFill>
                <a:latin typeface="Encode Sans" pitchFamily="2" charset="0"/>
              </a:rPr>
              <a:t>Remark</a:t>
            </a:r>
            <a:r>
              <a:rPr lang="en-US" sz="900">
                <a:solidFill>
                  <a:schemeClr val="accent1"/>
                </a:solidFill>
                <a:latin typeface="Encode Sans" pitchFamily="2" charset="0"/>
              </a:rPr>
              <a:t>: Depending of business requirements in terms of application’s availability, there will be an impact on the design and choice of product, architecture and managed services.</a:t>
            </a:r>
          </a:p>
          <a:p>
            <a:pPr>
              <a:spcAft>
                <a:spcPts val="1200"/>
              </a:spcAft>
              <a:buClr>
                <a:srgbClr val="29385E"/>
              </a:buClr>
              <a:buSzPct val="120000"/>
            </a:pPr>
            <a:endParaRPr lang="en-US" sz="900"/>
          </a:p>
          <a:p>
            <a:pPr marL="800100" lvl="1" indent="-342900">
              <a:spcAft>
                <a:spcPts val="600"/>
              </a:spcAft>
              <a:buClr>
                <a:srgbClr val="29385E"/>
              </a:buClr>
              <a:buSzPct val="120000"/>
              <a:buFont typeface="Wingdings" panose="05000000000000000000" pitchFamily="2" charset="2"/>
              <a:buChar char="§"/>
            </a:pPr>
            <a:r>
              <a:rPr lang="en-US">
                <a:solidFill>
                  <a:schemeClr val="accent1"/>
                </a:solidFill>
                <a:latin typeface="Encode Sans" pitchFamily="2" charset="0"/>
                <a:cs typeface="Arial" panose="020B0604020202020204" pitchFamily="34" charset="0"/>
              </a:rPr>
              <a:t>Application global SLA: </a:t>
            </a:r>
            <a:r>
              <a:rPr lang="en-US" err="1">
                <a:solidFill>
                  <a:schemeClr val="accent1"/>
                </a:solidFill>
                <a:latin typeface="Encode Sans" pitchFamily="2" charset="0"/>
                <a:cs typeface="Arial" panose="020B0604020202020204" pitchFamily="34" charset="0"/>
              </a:rPr>
              <a:t>xxxx</a:t>
            </a:r>
            <a:r>
              <a:rPr lang="en-US">
                <a:solidFill>
                  <a:schemeClr val="accent1"/>
                </a:solidFill>
                <a:latin typeface="Encode Sans" pitchFamily="2" charset="0"/>
                <a:cs typeface="Arial" panose="020B0604020202020204" pitchFamily="34" charset="0"/>
              </a:rPr>
              <a:t>,</a:t>
            </a:r>
          </a:p>
          <a:p>
            <a:pPr marL="800100" lvl="1" indent="-342900">
              <a:spcAft>
                <a:spcPts val="600"/>
              </a:spcAft>
              <a:buClr>
                <a:srgbClr val="29385E"/>
              </a:buClr>
              <a:buSzPct val="120000"/>
              <a:buFont typeface="Wingdings" panose="05000000000000000000" pitchFamily="2" charset="2"/>
              <a:buChar char="§"/>
            </a:pPr>
            <a:endParaRPr lang="en-US">
              <a:solidFill>
                <a:schemeClr val="accent1"/>
              </a:solidFill>
              <a:latin typeface="Encode Sans" pitchFamily="2" charset="0"/>
              <a:cs typeface="Arial" panose="020B0604020202020204" pitchFamily="34" charset="0"/>
            </a:endParaRPr>
          </a:p>
          <a:p>
            <a:pPr marL="800100" lvl="1" indent="-342900">
              <a:spcAft>
                <a:spcPts val="600"/>
              </a:spcAft>
              <a:buClr>
                <a:srgbClr val="29385E"/>
              </a:buClr>
              <a:buSzPct val="120000"/>
              <a:buFont typeface="Wingdings" panose="05000000000000000000" pitchFamily="2" charset="2"/>
              <a:buChar char="§"/>
            </a:pPr>
            <a:r>
              <a:rPr lang="en-US">
                <a:solidFill>
                  <a:schemeClr val="accent1"/>
                </a:solidFill>
                <a:latin typeface="Encode Sans" pitchFamily="2" charset="0"/>
                <a:cs typeface="Arial" panose="020B0604020202020204" pitchFamily="34" charset="0"/>
              </a:rPr>
              <a:t>Required SLA per environment,</a:t>
            </a:r>
            <a:br>
              <a:rPr lang="en-US">
                <a:solidFill>
                  <a:schemeClr val="accent1"/>
                </a:solidFill>
                <a:latin typeface="Encode Sans" pitchFamily="2" charset="0"/>
                <a:cs typeface="Arial" panose="020B0604020202020204" pitchFamily="34" charset="0"/>
              </a:rPr>
            </a:br>
            <a:endParaRPr lang="en-US">
              <a:solidFill>
                <a:schemeClr val="accent1"/>
              </a:solidFill>
              <a:latin typeface="Encode Sans" pitchFamily="2" charset="0"/>
              <a:cs typeface="Arial" panose="020B0604020202020204" pitchFamily="34" charset="0"/>
            </a:endParaRPr>
          </a:p>
          <a:p>
            <a:pPr marL="800100" lvl="1" indent="-342900">
              <a:spcAft>
                <a:spcPts val="600"/>
              </a:spcAft>
              <a:buClr>
                <a:srgbClr val="29385E"/>
              </a:buClr>
              <a:buSzPct val="120000"/>
              <a:buFont typeface="Wingdings" panose="05000000000000000000" pitchFamily="2" charset="2"/>
              <a:buChar char="§"/>
            </a:pPr>
            <a:r>
              <a:rPr lang="en-US">
                <a:solidFill>
                  <a:schemeClr val="accent1"/>
                </a:solidFill>
                <a:latin typeface="Encode Sans" pitchFamily="2" charset="0"/>
                <a:cs typeface="Arial" panose="020B0604020202020204" pitchFamily="34" charset="0"/>
                <a:sym typeface="Wingdings"/>
              </a:rPr>
              <a:t>SLA per functions/services from critical and non critical functions: </a:t>
            </a:r>
            <a:r>
              <a:rPr lang="en-US" err="1">
                <a:solidFill>
                  <a:schemeClr val="accent1"/>
                </a:solidFill>
                <a:latin typeface="Encode Sans" pitchFamily="2" charset="0"/>
                <a:cs typeface="Arial" panose="020B0604020202020204" pitchFamily="34" charset="0"/>
                <a:sym typeface="Wingdings"/>
              </a:rPr>
              <a:t>xxxx</a:t>
            </a:r>
            <a:r>
              <a:rPr lang="en-US">
                <a:solidFill>
                  <a:schemeClr val="accent1"/>
                </a:solidFill>
                <a:latin typeface="Encode Sans" pitchFamily="2" charset="0"/>
                <a:cs typeface="Arial" panose="020B0604020202020204" pitchFamily="34" charset="0"/>
                <a:sym typeface="Wingdings"/>
              </a:rPr>
              <a:t>,</a:t>
            </a:r>
            <a:br>
              <a:rPr lang="en-US">
                <a:solidFill>
                  <a:schemeClr val="accent1"/>
                </a:solidFill>
                <a:latin typeface="Encode Sans" pitchFamily="2" charset="0"/>
                <a:cs typeface="Arial" panose="020B0604020202020204" pitchFamily="34" charset="0"/>
                <a:sym typeface="Wingdings"/>
              </a:rPr>
            </a:br>
            <a:endParaRPr lang="en-US">
              <a:solidFill>
                <a:schemeClr val="accent1"/>
              </a:solidFill>
              <a:latin typeface="Encode Sans" pitchFamily="2" charset="0"/>
              <a:cs typeface="Arial" panose="020B0604020202020204" pitchFamily="34" charset="0"/>
              <a:sym typeface="Wingdings"/>
            </a:endParaRPr>
          </a:p>
          <a:p>
            <a:pPr marL="800100" lvl="1" indent="-342900">
              <a:spcAft>
                <a:spcPts val="600"/>
              </a:spcAft>
              <a:buClr>
                <a:srgbClr val="29385E"/>
              </a:buClr>
              <a:buSzPct val="120000"/>
              <a:buFont typeface="Wingdings" panose="05000000000000000000" pitchFamily="2" charset="2"/>
              <a:buChar char="§"/>
            </a:pPr>
            <a:r>
              <a:rPr lang="en-US">
                <a:solidFill>
                  <a:schemeClr val="accent1"/>
                </a:solidFill>
                <a:latin typeface="Encode Sans" pitchFamily="2" charset="0"/>
                <a:cs typeface="Arial" panose="020B0604020202020204" pitchFamily="34" charset="0"/>
                <a:sym typeface="Wingdings"/>
              </a:rPr>
              <a:t>Ranges of interruptions authorized per environment (maintenance): </a:t>
            </a:r>
            <a:r>
              <a:rPr lang="en-US" err="1">
                <a:solidFill>
                  <a:schemeClr val="accent1"/>
                </a:solidFill>
                <a:latin typeface="Encode Sans" pitchFamily="2" charset="0"/>
                <a:cs typeface="Arial" panose="020B0604020202020204" pitchFamily="34" charset="0"/>
                <a:sym typeface="Wingdings"/>
              </a:rPr>
              <a:t>xxxx</a:t>
            </a:r>
            <a:r>
              <a:rPr lang="en-US">
                <a:solidFill>
                  <a:schemeClr val="accent1"/>
                </a:solidFill>
                <a:latin typeface="Encode Sans" pitchFamily="2" charset="0"/>
                <a:cs typeface="Arial" panose="020B0604020202020204" pitchFamily="34" charset="0"/>
                <a:sym typeface="Wingdings"/>
              </a:rPr>
              <a:t>,</a:t>
            </a:r>
            <a:br>
              <a:rPr lang="en-US">
                <a:solidFill>
                  <a:schemeClr val="accent1"/>
                </a:solidFill>
                <a:latin typeface="Encode Sans" pitchFamily="2" charset="0"/>
                <a:cs typeface="Arial" panose="020B0604020202020204" pitchFamily="34" charset="0"/>
                <a:sym typeface="Wingdings"/>
              </a:rPr>
            </a:br>
            <a:endParaRPr lang="en-US">
              <a:solidFill>
                <a:schemeClr val="accent1"/>
              </a:solidFill>
              <a:latin typeface="Encode Sans" pitchFamily="2" charset="0"/>
              <a:cs typeface="Arial" panose="020B0604020202020204" pitchFamily="34" charset="0"/>
              <a:sym typeface="Wingdings"/>
            </a:endParaRPr>
          </a:p>
          <a:p>
            <a:pPr marL="800100" lvl="1" indent="-342900">
              <a:spcAft>
                <a:spcPts val="600"/>
              </a:spcAft>
              <a:buClr>
                <a:srgbClr val="29385E"/>
              </a:buClr>
              <a:buSzPct val="120000"/>
              <a:buFont typeface="Wingdings" panose="05000000000000000000" pitchFamily="2" charset="2"/>
              <a:buChar char="§"/>
            </a:pPr>
            <a:r>
              <a:rPr lang="en-US">
                <a:solidFill>
                  <a:schemeClr val="accent1"/>
                </a:solidFill>
                <a:latin typeface="Encode Sans" pitchFamily="2" charset="0"/>
                <a:cs typeface="Arial" panose="020B0604020202020204" pitchFamily="34" charset="0"/>
                <a:sym typeface="Wingdings"/>
              </a:rPr>
              <a:t>Ranges of service shutdowns per environment: </a:t>
            </a:r>
            <a:r>
              <a:rPr lang="en-US" err="1">
                <a:solidFill>
                  <a:schemeClr val="accent1"/>
                </a:solidFill>
                <a:latin typeface="Encode Sans" pitchFamily="2" charset="0"/>
                <a:cs typeface="Arial" panose="020B0604020202020204" pitchFamily="34" charset="0"/>
                <a:sym typeface="Wingdings"/>
              </a:rPr>
              <a:t>xxxx</a:t>
            </a:r>
            <a:r>
              <a:rPr lang="en-US">
                <a:solidFill>
                  <a:schemeClr val="accent1"/>
                </a:solidFill>
                <a:latin typeface="Encode Sans" pitchFamily="2" charset="0"/>
                <a:cs typeface="Arial" panose="020B0604020202020204" pitchFamily="34" charset="0"/>
                <a:sym typeface="Wingdings"/>
              </a:rPr>
              <a:t>.</a:t>
            </a:r>
            <a:br>
              <a:rPr lang="en-US" sz="1200">
                <a:solidFill>
                  <a:schemeClr val="accent1"/>
                </a:solidFill>
                <a:latin typeface="Encode Sans" pitchFamily="2" charset="0"/>
                <a:cs typeface="Arial" panose="020B0604020202020204" pitchFamily="34" charset="0"/>
                <a:sym typeface="Wingdings"/>
              </a:rPr>
            </a:br>
            <a:endParaRPr lang="en-US" sz="1200">
              <a:solidFill>
                <a:schemeClr val="accent1"/>
              </a:solidFill>
              <a:latin typeface="Encode Sans" pitchFamily="2" charset="0"/>
              <a:cs typeface="Arial" panose="020B0604020202020204" pitchFamily="34" charset="0"/>
              <a:sym typeface="Wingdings"/>
            </a:endParaRPr>
          </a:p>
        </p:txBody>
      </p:sp>
    </p:spTree>
    <p:extLst>
      <p:ext uri="{BB962C8B-B14F-4D97-AF65-F5344CB8AC3E}">
        <p14:creationId xmlns:p14="http://schemas.microsoft.com/office/powerpoint/2010/main" val="20762413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DATA summary</a:t>
            </a:r>
            <a:endParaRPr>
              <a:latin typeface="Encode Sans" pitchFamily="2" charset="0"/>
            </a:endParaRPr>
          </a:p>
        </p:txBody>
      </p:sp>
      <p:sp>
        <p:nvSpPr>
          <p:cNvPr id="5" name="Espace réservé du contenu 1">
            <a:extLst>
              <a:ext uri="{FF2B5EF4-FFF2-40B4-BE49-F238E27FC236}">
                <a16:creationId xmlns:a16="http://schemas.microsoft.com/office/drawing/2014/main" id="{1F28BC34-6B79-4464-93D1-3FB589648A46}"/>
              </a:ext>
            </a:extLst>
          </p:cNvPr>
          <p:cNvSpPr txBox="1">
            <a:spLocks/>
          </p:cNvSpPr>
          <p:nvPr/>
        </p:nvSpPr>
        <p:spPr>
          <a:xfrm>
            <a:off x="296863" y="795614"/>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n-US" sz="1400" b="0" i="1">
              <a:solidFill>
                <a:schemeClr val="accent1"/>
              </a:solidFill>
              <a:latin typeface="Encode Sans" pitchFamily="2" charset="0"/>
            </a:endParaRPr>
          </a:p>
        </p:txBody>
      </p:sp>
      <p:graphicFrame>
        <p:nvGraphicFramePr>
          <p:cNvPr id="7" name="Tabella 3">
            <a:extLst>
              <a:ext uri="{FF2B5EF4-FFF2-40B4-BE49-F238E27FC236}">
                <a16:creationId xmlns:a16="http://schemas.microsoft.com/office/drawing/2014/main" id="{175AFDF4-46EF-8802-A7DF-8CF9EAFB0E28}"/>
              </a:ext>
            </a:extLst>
          </p:cNvPr>
          <p:cNvGraphicFramePr>
            <a:graphicFrameLocks noGrp="1"/>
          </p:cNvGraphicFramePr>
          <p:nvPr/>
        </p:nvGraphicFramePr>
        <p:xfrm>
          <a:off x="127359" y="852693"/>
          <a:ext cx="8889281" cy="1402769"/>
        </p:xfrm>
        <a:graphic>
          <a:graphicData uri="http://schemas.openxmlformats.org/drawingml/2006/table">
            <a:tbl>
              <a:tblPr firstRow="1" bandRow="1">
                <a:tableStyleId>{2D5ABB26-0587-4C30-8999-92F81FD0307C}</a:tableStyleId>
              </a:tblPr>
              <a:tblGrid>
                <a:gridCol w="931798">
                  <a:extLst>
                    <a:ext uri="{9D8B030D-6E8A-4147-A177-3AD203B41FA5}">
                      <a16:colId xmlns:a16="http://schemas.microsoft.com/office/drawing/2014/main" val="2401822197"/>
                    </a:ext>
                  </a:extLst>
                </a:gridCol>
                <a:gridCol w="1464247">
                  <a:extLst>
                    <a:ext uri="{9D8B030D-6E8A-4147-A177-3AD203B41FA5}">
                      <a16:colId xmlns:a16="http://schemas.microsoft.com/office/drawing/2014/main" val="1784212087"/>
                    </a:ext>
                  </a:extLst>
                </a:gridCol>
                <a:gridCol w="1569673">
                  <a:extLst>
                    <a:ext uri="{9D8B030D-6E8A-4147-A177-3AD203B41FA5}">
                      <a16:colId xmlns:a16="http://schemas.microsoft.com/office/drawing/2014/main" val="3039200589"/>
                    </a:ext>
                  </a:extLst>
                </a:gridCol>
                <a:gridCol w="1960493">
                  <a:extLst>
                    <a:ext uri="{9D8B030D-6E8A-4147-A177-3AD203B41FA5}">
                      <a16:colId xmlns:a16="http://schemas.microsoft.com/office/drawing/2014/main" val="2180687232"/>
                    </a:ext>
                  </a:extLst>
                </a:gridCol>
                <a:gridCol w="2963070">
                  <a:extLst>
                    <a:ext uri="{9D8B030D-6E8A-4147-A177-3AD203B41FA5}">
                      <a16:colId xmlns:a16="http://schemas.microsoft.com/office/drawing/2014/main" val="1411218034"/>
                    </a:ext>
                  </a:extLst>
                </a:gridCol>
              </a:tblGrid>
              <a:tr h="244529">
                <a:tc gridSpan="4">
                  <a:txBody>
                    <a:bodyPr/>
                    <a:lstStyle/>
                    <a:p>
                      <a:pPr marL="0" lvl="0" indent="0" algn="l" rtl="0">
                        <a:lnSpc>
                          <a:spcPct val="105000"/>
                        </a:lnSpc>
                        <a:spcBef>
                          <a:spcPts val="0"/>
                        </a:spcBef>
                        <a:spcAft>
                          <a:spcPts val="0"/>
                        </a:spcAft>
                        <a:buSzPts val="1600"/>
                        <a:buNone/>
                      </a:pPr>
                      <a:r>
                        <a:rPr lang="en-GB" sz="800" b="1">
                          <a:solidFill>
                            <a:schemeClr val="bg1"/>
                          </a:solidFill>
                          <a:latin typeface="Encode Sans"/>
                          <a:sym typeface="Encode Sans"/>
                        </a:rPr>
                        <a:t>People &amp; Organization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43782"/>
                    </a:solidFill>
                  </a:tcPr>
                </a:tc>
                <a:tc hMerge="1">
                  <a:txBody>
                    <a:bodyPr/>
                    <a:lstStyle/>
                    <a:p>
                      <a:pPr algn="ctr"/>
                      <a:endParaRPr lang="en-GB" sz="1400" b="0" i="0" u="none" strike="noStrike" cap="none">
                        <a:solidFill>
                          <a:schemeClr val="dk1"/>
                        </a:solidFill>
                        <a:latin typeface="Encode Sans" panose="020B0604020202020204" charset="0"/>
                        <a:ea typeface="+mn-e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GB" sz="1400" b="0" i="0" u="none" strike="noStrike" kern="1200" cap="none">
                        <a:solidFill>
                          <a:schemeClr val="dk1"/>
                        </a:solidFill>
                        <a:latin typeface="Encode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685800" rtl="0" eaLnBrk="1" fontAlgn="auto" latinLnBrk="0" hangingPunct="1">
                        <a:lnSpc>
                          <a:spcPct val="105000"/>
                        </a:lnSpc>
                        <a:spcBef>
                          <a:spcPts val="0"/>
                        </a:spcBef>
                        <a:spcAft>
                          <a:spcPts val="0"/>
                        </a:spcAft>
                        <a:buClrTx/>
                        <a:buSzPts val="1600"/>
                        <a:buFontTx/>
                        <a:buNone/>
                        <a:tabLst/>
                        <a:defRPr/>
                      </a:pPr>
                      <a:endParaRPr lang="en-GB" sz="900" b="1">
                        <a:solidFill>
                          <a:schemeClr val="bg1"/>
                        </a:solidFill>
                        <a:latin typeface="+mn-lt"/>
                        <a:sym typeface="Encode San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43782"/>
                    </a:solidFill>
                  </a:tcPr>
                </a:tc>
                <a:extLst>
                  <a:ext uri="{0D108BD9-81ED-4DB2-BD59-A6C34878D82A}">
                    <a16:rowId xmlns:a16="http://schemas.microsoft.com/office/drawing/2014/main" val="2816679851"/>
                  </a:ext>
                </a:extLst>
              </a:tr>
              <a:tr h="388620">
                <a:tc gridSpan="4">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GB" sz="1100" b="0" i="0" u="none" strike="noStrike" kern="1200" cap="none">
                        <a:solidFill>
                          <a:schemeClr val="accent6"/>
                        </a:solidFill>
                        <a:latin typeface="+mn-lt"/>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GB" sz="1400" b="0" i="0" u="none" strike="noStrike" cap="none">
                        <a:solidFill>
                          <a:schemeClr val="dk1"/>
                        </a:solidFill>
                        <a:latin typeface="Encode Sans" panose="020B0604020202020204" charset="0"/>
                        <a:ea typeface="+mn-e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GB" sz="1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GB" sz="1400" b="0" i="0" u="none" strike="noStrike" cap="none">
                        <a:solidFill>
                          <a:schemeClr val="dk1"/>
                        </a:solidFill>
                        <a:latin typeface="Encode Sans" panose="020B0604020202020204" charset="0"/>
                        <a:ea typeface="+mn-e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GB" sz="1100" b="0" i="0" u="none" strike="sngStrike" kern="1200" cap="none">
                        <a:solidFill>
                          <a:schemeClr val="accent6"/>
                        </a:solidFill>
                        <a:latin typeface="+mn-lt"/>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6513774"/>
                  </a:ext>
                </a:extLst>
              </a:tr>
              <a:tr h="3429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900" b="0" i="0" u="none" strike="noStrike" cap="none">
                          <a:solidFill>
                            <a:schemeClr val="dk1"/>
                          </a:solidFill>
                          <a:latin typeface="+mn-lt"/>
                          <a:ea typeface="+mn-ea"/>
                          <a:cs typeface="+mn-cs"/>
                          <a:sym typeface="Arial"/>
                        </a:rPr>
                        <a:t>Business Owner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b="0" i="0" u="none" strike="noStrike" cap="none">
                          <a:solidFill>
                            <a:schemeClr val="dk1"/>
                          </a:solidFill>
                          <a:latin typeface="Encode Sans" panose="020B0604020202020204" charset="0"/>
                          <a:ea typeface="+mn-ea"/>
                          <a:cs typeface="+mn-cs"/>
                          <a:sym typeface="Arial"/>
                        </a:rPr>
                        <a:t>TBD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900" b="0" i="0" u="none" strike="noStrike" cap="none">
                          <a:solidFill>
                            <a:schemeClr val="dk1"/>
                          </a:solidFill>
                          <a:latin typeface="+mn-lt"/>
                          <a:ea typeface="+mn-ea"/>
                          <a:cs typeface="+mn-cs"/>
                          <a:sym typeface="Arial"/>
                        </a:rPr>
                        <a:t>Business Data manager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b="0" i="0" u="none" strike="noStrike" cap="none">
                          <a:solidFill>
                            <a:schemeClr val="dk1"/>
                          </a:solidFill>
                          <a:latin typeface="Encode Sans" panose="020B0604020202020204" charset="0"/>
                          <a:ea typeface="+mn-ea"/>
                          <a:cs typeface="+mn-cs"/>
                          <a:sym typeface="Arial"/>
                        </a:rPr>
                        <a:t>TBD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a:r>
                        <a:rPr lang="en-GB" sz="1100" b="0" i="0" u="none" strike="noStrike" cap="none">
                          <a:solidFill>
                            <a:schemeClr val="dk1"/>
                          </a:solidFill>
                          <a:latin typeface="Encode Sans"/>
                          <a:ea typeface="+mn-ea"/>
                          <a:cs typeface="+mn-cs"/>
                          <a:sym typeface="Arial"/>
                        </a:rPr>
                        <a:t>The solution proposed is the target one: Yes/No</a:t>
                      </a:r>
                    </a:p>
                    <a:p>
                      <a:pPr algn="l"/>
                      <a:endParaRPr lang="en-GB" sz="800" b="0" i="0" u="none" strike="noStrike" cap="none">
                        <a:solidFill>
                          <a:schemeClr val="dk1"/>
                        </a:solidFill>
                        <a:latin typeface="Encode Sans" panose="020B0604020202020204" charset="0"/>
                        <a:ea typeface="+mn-ea"/>
                        <a:cs typeface="+mn-cs"/>
                        <a:sym typeface="Arial"/>
                      </a:endParaRPr>
                    </a:p>
                    <a:p>
                      <a:pPr algn="l"/>
                      <a:r>
                        <a:rPr lang="en-GB" sz="800" b="0" i="0" u="none" strike="noStrike" cap="none">
                          <a:solidFill>
                            <a:schemeClr val="dk1"/>
                          </a:solidFill>
                          <a:latin typeface="Encode Sans"/>
                          <a:ea typeface="+mn-ea"/>
                          <a:cs typeface="+mn-cs"/>
                          <a:sym typeface="Arial"/>
                        </a:rPr>
                        <a:t>(if temporary solution, target solution to be presented too with planning)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4341225"/>
                  </a:ext>
                </a:extLst>
              </a:tr>
              <a:tr h="422910">
                <a:tc>
                  <a:txBody>
                    <a:bodyPr/>
                    <a:lstStyle/>
                    <a:p>
                      <a:pPr marL="0" marR="0" lvl="0" indent="0" algn="l" defTabSz="914400" rtl="0" eaLnBrk="1" fontAlgn="auto" latinLnBrk="0" hangingPunct="1">
                        <a:lnSpc>
                          <a:spcPct val="105000"/>
                        </a:lnSpc>
                        <a:spcBef>
                          <a:spcPts val="0"/>
                        </a:spcBef>
                        <a:spcAft>
                          <a:spcPts val="0"/>
                        </a:spcAft>
                        <a:buClr>
                          <a:srgbClr val="000000"/>
                        </a:buClr>
                        <a:buSzPts val="1600"/>
                        <a:buFont typeface="Arial"/>
                        <a:buNone/>
                        <a:tabLst/>
                        <a:defRPr/>
                      </a:pPr>
                      <a:r>
                        <a:rPr lang="en-GB" sz="900" b="0" i="0" u="none" strike="noStrike" cap="none">
                          <a:solidFill>
                            <a:schemeClr val="dk1"/>
                          </a:solidFill>
                          <a:latin typeface="Encode Sans"/>
                          <a:ea typeface="+mn-ea"/>
                          <a:cs typeface="+mn-cs"/>
                          <a:sym typeface="Arial"/>
                        </a:rPr>
                        <a:t>ICT Lead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b="0" i="0" u="none" strike="noStrike" cap="none">
                          <a:solidFill>
                            <a:schemeClr val="dk1"/>
                          </a:solidFill>
                          <a:latin typeface="Encode Sans" panose="020B0604020202020204" charset="0"/>
                          <a:ea typeface="+mn-ea"/>
                          <a:cs typeface="+mn-cs"/>
                          <a:sym typeface="Arial"/>
                        </a:rPr>
                        <a:t>TBD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900" b="0" i="0" u="none" strike="noStrike" cap="none">
                          <a:solidFill>
                            <a:schemeClr val="dk1"/>
                          </a:solidFill>
                          <a:latin typeface="Encode Sans"/>
                          <a:ea typeface="+mn-ea"/>
                          <a:cs typeface="+mn-cs"/>
                          <a:sym typeface="Arial"/>
                        </a:rPr>
                        <a:t>Data Product Manager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900" b="0" i="0" u="none" strike="noStrike" cap="none">
                          <a:solidFill>
                            <a:schemeClr val="dk1"/>
                          </a:solidFill>
                          <a:latin typeface="Encode Sans"/>
                          <a:ea typeface="+mn-ea"/>
                          <a:cs typeface="+mn-cs"/>
                          <a:sym typeface="Arial"/>
                        </a:rPr>
                        <a:t>Data Product Owner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b="0" i="0" u="none" strike="noStrike" cap="none">
                          <a:solidFill>
                            <a:schemeClr val="dk1"/>
                          </a:solidFill>
                          <a:latin typeface="Encode Sans" panose="020B0604020202020204" charset="0"/>
                          <a:ea typeface="+mn-ea"/>
                          <a:cs typeface="+mn-cs"/>
                          <a:sym typeface="Arial"/>
                        </a:rPr>
                        <a:t>TBD</a:t>
                      </a:r>
                    </a:p>
                    <a:p>
                      <a:pPr algn="ctr"/>
                      <a:r>
                        <a:rPr lang="en-GB" sz="1100" b="0" i="0" u="none" strike="noStrike" cap="none">
                          <a:solidFill>
                            <a:schemeClr val="dk1"/>
                          </a:solidFill>
                          <a:latin typeface="Encode Sans" panose="020B0604020202020204" charset="0"/>
                          <a:ea typeface="+mn-ea"/>
                          <a:cs typeface="+mn-cs"/>
                          <a:sym typeface="Arial"/>
                        </a:rPr>
                        <a:t>TBD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GB" sz="1400" b="0" i="0" u="none" strike="noStrike" cap="none">
                        <a:solidFill>
                          <a:schemeClr val="dk1"/>
                        </a:solidFill>
                        <a:latin typeface="Encode Sans" panose="020B0604020202020204" charset="0"/>
                        <a:ea typeface="+mn-e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3464957"/>
                  </a:ext>
                </a:extLst>
              </a:tr>
            </a:tbl>
          </a:graphicData>
        </a:graphic>
      </p:graphicFrame>
      <p:graphicFrame>
        <p:nvGraphicFramePr>
          <p:cNvPr id="8" name="Table 7">
            <a:extLst>
              <a:ext uri="{FF2B5EF4-FFF2-40B4-BE49-F238E27FC236}">
                <a16:creationId xmlns:a16="http://schemas.microsoft.com/office/drawing/2014/main" id="{015DC80E-255F-098B-8C25-E07BCE79E221}"/>
              </a:ext>
            </a:extLst>
          </p:cNvPr>
          <p:cNvGraphicFramePr>
            <a:graphicFrameLocks noGrp="1"/>
          </p:cNvGraphicFramePr>
          <p:nvPr/>
        </p:nvGraphicFramePr>
        <p:xfrm>
          <a:off x="96924" y="3204886"/>
          <a:ext cx="8889281" cy="1143000"/>
        </p:xfrm>
        <a:graphic>
          <a:graphicData uri="http://schemas.openxmlformats.org/drawingml/2006/table">
            <a:tbl>
              <a:tblPr firstRow="1" bandRow="1"/>
              <a:tblGrid>
                <a:gridCol w="1010428">
                  <a:extLst>
                    <a:ext uri="{9D8B030D-6E8A-4147-A177-3AD203B41FA5}">
                      <a16:colId xmlns:a16="http://schemas.microsoft.com/office/drawing/2014/main" val="1896327440"/>
                    </a:ext>
                  </a:extLst>
                </a:gridCol>
                <a:gridCol w="1599326">
                  <a:extLst>
                    <a:ext uri="{9D8B030D-6E8A-4147-A177-3AD203B41FA5}">
                      <a16:colId xmlns:a16="http://schemas.microsoft.com/office/drawing/2014/main" val="1410165416"/>
                    </a:ext>
                  </a:extLst>
                </a:gridCol>
                <a:gridCol w="1301778">
                  <a:extLst>
                    <a:ext uri="{9D8B030D-6E8A-4147-A177-3AD203B41FA5}">
                      <a16:colId xmlns:a16="http://schemas.microsoft.com/office/drawing/2014/main" val="1335088512"/>
                    </a:ext>
                  </a:extLst>
                </a:gridCol>
                <a:gridCol w="1605525">
                  <a:extLst>
                    <a:ext uri="{9D8B030D-6E8A-4147-A177-3AD203B41FA5}">
                      <a16:colId xmlns:a16="http://schemas.microsoft.com/office/drawing/2014/main" val="1592290165"/>
                    </a:ext>
                  </a:extLst>
                </a:gridCol>
                <a:gridCol w="1686112">
                  <a:extLst>
                    <a:ext uri="{9D8B030D-6E8A-4147-A177-3AD203B41FA5}">
                      <a16:colId xmlns:a16="http://schemas.microsoft.com/office/drawing/2014/main" val="193485421"/>
                    </a:ext>
                  </a:extLst>
                </a:gridCol>
                <a:gridCol w="1686112">
                  <a:extLst>
                    <a:ext uri="{9D8B030D-6E8A-4147-A177-3AD203B41FA5}">
                      <a16:colId xmlns:a16="http://schemas.microsoft.com/office/drawing/2014/main" val="1735328789"/>
                    </a:ext>
                  </a:extLst>
                </a:gridCol>
              </a:tblGrid>
              <a:tr h="388620">
                <a:tc>
                  <a:txBody>
                    <a:bodyPr/>
                    <a:lstStyle/>
                    <a:p>
                      <a:pPr algn="ctr" fontAlgn="base"/>
                      <a:r>
                        <a:rPr lang="en-US" sz="900">
                          <a:effectLst/>
                        </a:rPr>
                        <a:t>Business Domain​</a:t>
                      </a:r>
                      <a:endParaRPr lang="en-US" sz="900" b="1">
                        <a:solidFill>
                          <a:srgbClr val="FFFFFF"/>
                        </a:solidFill>
                        <a:effectLst/>
                      </a:endParaRPr>
                    </a:p>
                  </a:txBody>
                  <a:tcPr marL="68580" marR="68580" marT="34290" marB="34290" anchor="ctr"/>
                </a:tc>
                <a:tc>
                  <a:txBody>
                    <a:bodyPr/>
                    <a:lstStyle/>
                    <a:p>
                      <a:pPr algn="ctr" fontAlgn="base"/>
                      <a:r>
                        <a:rPr lang="en-US" sz="1100">
                          <a:effectLst/>
                        </a:rPr>
                        <a:t>Initiative</a:t>
                      </a:r>
                      <a:endParaRPr lang="en-US" sz="1100" b="1">
                        <a:solidFill>
                          <a:srgbClr val="FFFFFF"/>
                        </a:solidFill>
                        <a:effectLst/>
                      </a:endParaRPr>
                    </a:p>
                  </a:txBody>
                  <a:tcPr marL="68580" marR="68580" marT="34290" marB="34290" anchor="ctr"/>
                </a:tc>
                <a:tc>
                  <a:txBody>
                    <a:bodyPr/>
                    <a:lstStyle/>
                    <a:p>
                      <a:pPr algn="ctr" fontAlgn="base"/>
                      <a:r>
                        <a:rPr lang="en-US" sz="1100">
                          <a:effectLst/>
                        </a:rPr>
                        <a:t>Data PM</a:t>
                      </a:r>
                      <a:endParaRPr lang="en-US" sz="1100" b="1">
                        <a:solidFill>
                          <a:srgbClr val="FFFFFF"/>
                        </a:solidFill>
                        <a:effectLst/>
                      </a:endParaRPr>
                    </a:p>
                  </a:txBody>
                  <a:tcPr marL="68580" marR="68580" marT="34290" marB="34290" anchor="ctr"/>
                </a:tc>
                <a:tc>
                  <a:txBody>
                    <a:bodyPr/>
                    <a:lstStyle/>
                    <a:p>
                      <a:pPr algn="ctr" fontAlgn="base"/>
                      <a:r>
                        <a:rPr lang="en-US" sz="1100" err="1">
                          <a:effectLst/>
                        </a:rPr>
                        <a:t>GoLive</a:t>
                      </a:r>
                      <a:r>
                        <a:rPr lang="en-US" sz="1100">
                          <a:effectLst/>
                        </a:rPr>
                        <a:t> date</a:t>
                      </a:r>
                      <a:endParaRPr lang="en-US" sz="1100" b="1">
                        <a:solidFill>
                          <a:srgbClr val="FFFFFF"/>
                        </a:solidFill>
                        <a:effectLst/>
                      </a:endParaRPr>
                    </a:p>
                  </a:txBody>
                  <a:tcPr marL="68580" marR="68580" marT="34290" marB="34290" anchor="ctr"/>
                </a:tc>
                <a:tc>
                  <a:txBody>
                    <a:bodyPr/>
                    <a:lstStyle/>
                    <a:p>
                      <a:pPr algn="ctr" fontAlgn="base"/>
                      <a:r>
                        <a:rPr lang="en-US" sz="1100">
                          <a:effectLst/>
                        </a:rPr>
                        <a:t>Milestones for Architecture​</a:t>
                      </a:r>
                      <a:endParaRPr lang="en-US" sz="1100" b="1">
                        <a:solidFill>
                          <a:srgbClr val="FFFFFF"/>
                        </a:solidFill>
                        <a:effectLst/>
                      </a:endParaRPr>
                    </a:p>
                  </a:txBody>
                  <a:tcPr marL="68580" marR="68580" marT="34290" marB="34290" anchor="ct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lang="fr-FR" sz="1100" kern="1200">
                          <a:solidFill>
                            <a:schemeClr val="tx1"/>
                          </a:solidFill>
                          <a:effectLst/>
                          <a:latin typeface="+mn-lt"/>
                          <a:ea typeface="+mn-ea"/>
                          <a:cs typeface="+mn-cs"/>
                        </a:rPr>
                        <a:t>Data P</a:t>
                      </a:r>
                      <a:r>
                        <a:rPr lang="en-US" sz="1100" kern="1200" err="1">
                          <a:solidFill>
                            <a:schemeClr val="tx1"/>
                          </a:solidFill>
                          <a:effectLst/>
                          <a:latin typeface="+mn-lt"/>
                          <a:ea typeface="+mn-ea"/>
                          <a:cs typeface="+mn-cs"/>
                        </a:rPr>
                        <a:t>roducts</a:t>
                      </a:r>
                      <a:endParaRPr lang="en-US" sz="1100" kern="1200">
                        <a:solidFill>
                          <a:schemeClr val="tx1"/>
                        </a:solidFill>
                        <a:effectLst/>
                        <a:latin typeface="+mn-lt"/>
                        <a:ea typeface="+mn-ea"/>
                        <a:cs typeface="+mn-cs"/>
                      </a:endParaRPr>
                    </a:p>
                  </a:txBody>
                  <a:tcPr marL="68580" marR="68580" marT="34290" marB="34290" anchor="ctr"/>
                </a:tc>
                <a:extLst>
                  <a:ext uri="{0D108BD9-81ED-4DB2-BD59-A6C34878D82A}">
                    <a16:rowId xmlns:a16="http://schemas.microsoft.com/office/drawing/2014/main" val="2926338123"/>
                  </a:ext>
                </a:extLst>
              </a:tr>
              <a:tr h="708660">
                <a:tc>
                  <a:txBody>
                    <a:bodyPr/>
                    <a:lstStyle/>
                    <a:p>
                      <a:pPr algn="ctr" fontAlgn="base"/>
                      <a:r>
                        <a:rPr lang="en-US" sz="1100">
                          <a:effectLst/>
                        </a:rPr>
                        <a:t>Engineering​</a:t>
                      </a:r>
                      <a:endParaRPr lang="en-US" sz="800">
                        <a:solidFill>
                          <a:srgbClr val="272B35"/>
                        </a:solidFill>
                        <a:effectLst/>
                      </a:endParaRPr>
                    </a:p>
                  </a:txBody>
                  <a:tcPr marL="68580" marR="68580" marT="34290" marB="34290" anchor="ctr">
                    <a:solidFill>
                      <a:schemeClr val="bg1">
                        <a:lumMod val="95000"/>
                      </a:schemeClr>
                    </a:solidFill>
                  </a:tcPr>
                </a:tc>
                <a:tc>
                  <a:txBody>
                    <a:bodyPr/>
                    <a:lstStyle/>
                    <a:p>
                      <a:pPr algn="ctr" fontAlgn="base"/>
                      <a:r>
                        <a:rPr lang="en-US" sz="1100">
                          <a:effectLst/>
                        </a:rPr>
                        <a:t>Global  Lakehouse​</a:t>
                      </a:r>
                      <a:endParaRPr lang="en-US" sz="800">
                        <a:solidFill>
                          <a:srgbClr val="272B35"/>
                        </a:solidFill>
                        <a:effectLst/>
                      </a:endParaRPr>
                    </a:p>
                  </a:txBody>
                  <a:tcPr marL="68580" marR="68580" marT="34290" marB="34290" anchor="ctr">
                    <a:solidFill>
                      <a:schemeClr val="bg1">
                        <a:lumMod val="95000"/>
                      </a:schemeClr>
                    </a:solidFill>
                  </a:tcPr>
                </a:tc>
                <a:tc>
                  <a:txBody>
                    <a:bodyPr/>
                    <a:lstStyle/>
                    <a:p>
                      <a:pPr algn="ctr" fontAlgn="base"/>
                      <a:r>
                        <a:rPr lang="en-US" sz="1100">
                          <a:effectLst/>
                        </a:rPr>
                        <a:t>​TBD</a:t>
                      </a:r>
                      <a:endParaRPr lang="en-US" sz="800">
                        <a:solidFill>
                          <a:srgbClr val="272B35"/>
                        </a:solidFill>
                        <a:effectLst/>
                      </a:endParaRPr>
                    </a:p>
                  </a:txBody>
                  <a:tcPr marL="68580" marR="68580" marT="34290" marB="34290" anchor="ctr">
                    <a:solidFill>
                      <a:schemeClr val="bg1">
                        <a:lumMod val="95000"/>
                      </a:schemeClr>
                    </a:solidFill>
                  </a:tcPr>
                </a:tc>
                <a:tc>
                  <a:txBody>
                    <a:bodyPr/>
                    <a:lstStyle/>
                    <a:p>
                      <a:pPr algn="ctr" fontAlgn="base"/>
                      <a:r>
                        <a:rPr lang="en-US" sz="1100">
                          <a:effectLst/>
                        </a:rPr>
                        <a:t>1° wave: xxx​</a:t>
                      </a:r>
                      <a:endParaRPr lang="en-US" sz="800">
                        <a:effectLst/>
                      </a:endParaRPr>
                    </a:p>
                    <a:p>
                      <a:pPr algn="ctr" fontAlgn="base"/>
                      <a:r>
                        <a:rPr lang="en-US" sz="1100">
                          <a:effectLst/>
                        </a:rPr>
                        <a:t>Last go-live: xxx</a:t>
                      </a:r>
                      <a:endParaRPr lang="en-US" sz="800">
                        <a:solidFill>
                          <a:srgbClr val="272B35"/>
                        </a:solidFill>
                        <a:effectLst/>
                      </a:endParaRPr>
                    </a:p>
                  </a:txBody>
                  <a:tcPr marL="68580" marR="68580" marT="34290" marB="34290" anchor="ctr">
                    <a:solidFill>
                      <a:schemeClr val="bg1">
                        <a:lumMod val="95000"/>
                      </a:schemeClr>
                    </a:solidFill>
                  </a:tcPr>
                </a:tc>
                <a:tc>
                  <a:txBody>
                    <a:bodyPr/>
                    <a:lstStyle/>
                    <a:p>
                      <a:pPr algn="ctr" fontAlgn="base"/>
                      <a:r>
                        <a:rPr lang="en-US" sz="1100">
                          <a:effectLst/>
                        </a:rPr>
                        <a:t>End of Scope: 01/01/2099</a:t>
                      </a:r>
                    </a:p>
                    <a:p>
                      <a:pPr marL="0" marR="0" lvl="0" indent="0" algn="ctr" defTabSz="685800" rtl="0" eaLnBrk="1" fontAlgn="base" latinLnBrk="0" hangingPunct="1">
                        <a:lnSpc>
                          <a:spcPct val="100000"/>
                        </a:lnSpc>
                        <a:spcBef>
                          <a:spcPts val="0"/>
                        </a:spcBef>
                        <a:spcAft>
                          <a:spcPts val="0"/>
                        </a:spcAft>
                        <a:buClrTx/>
                        <a:buSzTx/>
                        <a:buFontTx/>
                        <a:buNone/>
                        <a:tabLst/>
                        <a:defRPr/>
                      </a:pPr>
                      <a:r>
                        <a:rPr lang="en-US" sz="1100">
                          <a:effectLst/>
                        </a:rPr>
                        <a:t>End of Design: 01/01/2099</a:t>
                      </a:r>
                    </a:p>
                  </a:txBody>
                  <a:tcPr marL="68580" marR="68580" marT="34290" marB="34290" anchor="ctr">
                    <a:solidFill>
                      <a:schemeClr val="bg1">
                        <a:lumMod val="95000"/>
                      </a:schemeClr>
                    </a:solidFill>
                  </a:tcPr>
                </a:tc>
                <a:tc>
                  <a:txBody>
                    <a:bodyPr/>
                    <a:lstStyle/>
                    <a:p>
                      <a:pPr marL="0" marR="0" lvl="0" indent="0" algn="ctr" defTabSz="685800" rtl="0" eaLnBrk="1" fontAlgn="base"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err="1">
                          <a:ln>
                            <a:noFill/>
                          </a:ln>
                          <a:solidFill>
                            <a:srgbClr val="243782"/>
                          </a:solidFill>
                          <a:effectLst/>
                          <a:uLnTx/>
                          <a:uFillTx/>
                          <a:latin typeface="+mn-lt"/>
                          <a:ea typeface="+mn-ea"/>
                          <a:cs typeface="+mn-cs"/>
                        </a:rPr>
                        <a:t>Datasets</a:t>
                      </a:r>
                      <a:r>
                        <a:rPr kumimoji="0" lang="fr-FR" sz="1100" b="0" i="0" u="none" strike="noStrike" kern="1200" cap="none" spc="0" normalizeH="0" baseline="0" noProof="0">
                          <a:ln>
                            <a:noFill/>
                          </a:ln>
                          <a:solidFill>
                            <a:srgbClr val="243782"/>
                          </a:solidFill>
                          <a:effectLst/>
                          <a:uLnTx/>
                          <a:uFillTx/>
                          <a:latin typeface="+mn-lt"/>
                          <a:ea typeface="+mn-ea"/>
                          <a:cs typeface="+mn-cs"/>
                        </a:rPr>
                        <a:t>, </a:t>
                      </a:r>
                      <a:r>
                        <a:rPr kumimoji="0" lang="fr-FR" sz="1100" b="0" i="0" u="none" strike="noStrike" kern="1200" cap="none" spc="0" normalizeH="0" baseline="0" noProof="0" err="1">
                          <a:ln>
                            <a:noFill/>
                          </a:ln>
                          <a:solidFill>
                            <a:srgbClr val="243782"/>
                          </a:solidFill>
                          <a:effectLst/>
                          <a:uLnTx/>
                          <a:uFillTx/>
                          <a:latin typeface="+mn-lt"/>
                          <a:ea typeface="+mn-ea"/>
                          <a:cs typeface="+mn-cs"/>
                        </a:rPr>
                        <a:t>Dashboards</a:t>
                      </a:r>
                      <a:r>
                        <a:rPr kumimoji="0" lang="fr-FR" sz="1100" b="0" i="0" u="none" strike="noStrike" kern="1200" cap="none" spc="0" normalizeH="0" baseline="0" noProof="0">
                          <a:ln>
                            <a:noFill/>
                          </a:ln>
                          <a:solidFill>
                            <a:srgbClr val="243782"/>
                          </a:solidFill>
                          <a:effectLst/>
                          <a:uLnTx/>
                          <a:uFillTx/>
                          <a:latin typeface="+mn-lt"/>
                          <a:ea typeface="+mn-ea"/>
                          <a:cs typeface="+mn-cs"/>
                        </a:rPr>
                        <a:t>, app, …</a:t>
                      </a:r>
                    </a:p>
                  </a:txBody>
                  <a:tcPr marL="68580" marR="68580" marT="34290" marB="34290" anchor="ctr">
                    <a:solidFill>
                      <a:schemeClr val="bg1">
                        <a:lumMod val="95000"/>
                      </a:schemeClr>
                    </a:solidFill>
                  </a:tcPr>
                </a:tc>
                <a:extLst>
                  <a:ext uri="{0D108BD9-81ED-4DB2-BD59-A6C34878D82A}">
                    <a16:rowId xmlns:a16="http://schemas.microsoft.com/office/drawing/2014/main" val="2367739011"/>
                  </a:ext>
                </a:extLst>
              </a:tr>
            </a:tbl>
          </a:graphicData>
        </a:graphic>
      </p:graphicFrame>
      <p:graphicFrame>
        <p:nvGraphicFramePr>
          <p:cNvPr id="2" name="Tabella 3">
            <a:extLst>
              <a:ext uri="{FF2B5EF4-FFF2-40B4-BE49-F238E27FC236}">
                <a16:creationId xmlns:a16="http://schemas.microsoft.com/office/drawing/2014/main" id="{548827FF-98E8-74D3-2AFD-C393B02ACDF0}"/>
              </a:ext>
            </a:extLst>
          </p:cNvPr>
          <p:cNvGraphicFramePr>
            <a:graphicFrameLocks noGrp="1"/>
          </p:cNvGraphicFramePr>
          <p:nvPr/>
        </p:nvGraphicFramePr>
        <p:xfrm>
          <a:off x="127358" y="2341012"/>
          <a:ext cx="8889281" cy="801379"/>
        </p:xfrm>
        <a:graphic>
          <a:graphicData uri="http://schemas.openxmlformats.org/drawingml/2006/table">
            <a:tbl>
              <a:tblPr firstRow="1" bandRow="1">
                <a:tableStyleId>{2D5ABB26-0587-4C30-8999-92F81FD0307C}</a:tableStyleId>
              </a:tblPr>
              <a:tblGrid>
                <a:gridCol w="8889281">
                  <a:extLst>
                    <a:ext uri="{9D8B030D-6E8A-4147-A177-3AD203B41FA5}">
                      <a16:colId xmlns:a16="http://schemas.microsoft.com/office/drawing/2014/main" val="2401822197"/>
                    </a:ext>
                  </a:extLst>
                </a:gridCol>
              </a:tblGrid>
              <a:tr h="123427">
                <a:tc>
                  <a:txBody>
                    <a:bodyPr/>
                    <a:lstStyle/>
                    <a:p>
                      <a:pPr marL="0" indent="0"/>
                      <a:r>
                        <a:rPr lang="en-GB" sz="900" b="1">
                          <a:solidFill>
                            <a:schemeClr val="bg1"/>
                          </a:solidFill>
                          <a:latin typeface="Encode Sans"/>
                        </a:rPr>
                        <a:t>Proposed Solution Highlights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43782"/>
                    </a:solidFill>
                  </a:tcPr>
                </a:tc>
                <a:extLst>
                  <a:ext uri="{0D108BD9-81ED-4DB2-BD59-A6C34878D82A}">
                    <a16:rowId xmlns:a16="http://schemas.microsoft.com/office/drawing/2014/main" val="2816679851"/>
                  </a:ext>
                </a:extLst>
              </a:tr>
              <a:tr h="572779">
                <a:tc>
                  <a:txBody>
                    <a:bodyPr/>
                    <a:lstStyle/>
                    <a:p>
                      <a:pPr marL="0" marR="0" lvl="0" indent="0" algn="l" defTabSz="914400" rtl="0" eaLnBrk="1" fontAlgn="auto" latinLnBrk="0" hangingPunct="1">
                        <a:lnSpc>
                          <a:spcPct val="105000"/>
                        </a:lnSpc>
                        <a:spcBef>
                          <a:spcPts val="0"/>
                        </a:spcBef>
                        <a:spcAft>
                          <a:spcPts val="0"/>
                        </a:spcAft>
                        <a:buClr>
                          <a:srgbClr val="000000"/>
                        </a:buClr>
                        <a:buSzPts val="1600"/>
                        <a:buFont typeface="Arial"/>
                        <a:buNone/>
                        <a:tabLst/>
                        <a:defRPr/>
                      </a:pPr>
                      <a:r>
                        <a:rPr lang="en-GB" sz="900" b="0" i="0" u="none" strike="noStrike" cap="none">
                          <a:solidFill>
                            <a:schemeClr val="dk1"/>
                          </a:solidFill>
                          <a:latin typeface="Encode Sans"/>
                          <a:ea typeface="+mn-ea"/>
                          <a:cs typeface="+mn-cs"/>
                          <a:sym typeface="Arial"/>
                        </a:rPr>
                        <a:t>Short description of the technical solution and the data technologies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6513774"/>
                  </a:ext>
                </a:extLst>
              </a:tr>
            </a:tbl>
          </a:graphicData>
        </a:graphic>
      </p:graphicFrame>
      <p:sp>
        <p:nvSpPr>
          <p:cNvPr id="4" name="ZoneTexte 3">
            <a:extLst>
              <a:ext uri="{FF2B5EF4-FFF2-40B4-BE49-F238E27FC236}">
                <a16:creationId xmlns:a16="http://schemas.microsoft.com/office/drawing/2014/main" id="{6F2043D1-6079-76AA-868E-639A0B43154C}"/>
              </a:ext>
            </a:extLst>
          </p:cNvPr>
          <p:cNvSpPr txBox="1"/>
          <p:nvPr/>
        </p:nvSpPr>
        <p:spPr>
          <a:xfrm>
            <a:off x="157795" y="3227941"/>
            <a:ext cx="816428" cy="1107996"/>
          </a:xfrm>
          <a:prstGeom prst="rect">
            <a:avLst/>
          </a:prstGeom>
          <a:noFill/>
        </p:spPr>
        <p:txBody>
          <a:bodyPr wrap="square" rtlCol="0">
            <a:spAutoFit/>
          </a:bodyPr>
          <a:lstStyle/>
          <a:p>
            <a:pPr algn="ctr"/>
            <a:r>
              <a:rPr lang="fr-FR" sz="1100">
                <a:highlight>
                  <a:srgbClr val="FFFF00"/>
                </a:highlight>
              </a:rPr>
              <a:t>Business </a:t>
            </a:r>
            <a:r>
              <a:rPr lang="fr-FR" sz="1100" err="1">
                <a:highlight>
                  <a:srgbClr val="FFFF00"/>
                </a:highlight>
              </a:rPr>
              <a:t>domain</a:t>
            </a:r>
            <a:r>
              <a:rPr lang="fr-FR" sz="1100">
                <a:highlight>
                  <a:srgbClr val="FFFF00"/>
                </a:highlight>
              </a:rPr>
              <a:t> (</a:t>
            </a:r>
            <a:r>
              <a:rPr lang="fr-FR" sz="1100" err="1">
                <a:highlight>
                  <a:srgbClr val="FFFF00"/>
                </a:highlight>
              </a:rPr>
              <a:t>bank</a:t>
            </a:r>
            <a:r>
              <a:rPr lang="fr-FR" sz="1100">
                <a:highlight>
                  <a:srgbClr val="FFFF00"/>
                </a:highlight>
              </a:rPr>
              <a:t> , </a:t>
            </a:r>
            <a:r>
              <a:rPr lang="fr-FR" sz="1100" err="1">
                <a:highlight>
                  <a:srgbClr val="FFFF00"/>
                </a:highlight>
              </a:rPr>
              <a:t>Insurance</a:t>
            </a:r>
            <a:r>
              <a:rPr lang="fr-FR" sz="1100">
                <a:highlight>
                  <a:srgbClr val="FFFF00"/>
                </a:highlight>
              </a:rPr>
              <a:t>), BCM and JV</a:t>
            </a:r>
          </a:p>
        </p:txBody>
      </p:sp>
      <p:sp>
        <p:nvSpPr>
          <p:cNvPr id="6" name="ZoneTexte 5">
            <a:extLst>
              <a:ext uri="{FF2B5EF4-FFF2-40B4-BE49-F238E27FC236}">
                <a16:creationId xmlns:a16="http://schemas.microsoft.com/office/drawing/2014/main" id="{7C051A06-16B8-CBBD-DB75-9A96A6E06726}"/>
              </a:ext>
            </a:extLst>
          </p:cNvPr>
          <p:cNvSpPr txBox="1"/>
          <p:nvPr/>
        </p:nvSpPr>
        <p:spPr>
          <a:xfrm>
            <a:off x="96924" y="1867350"/>
            <a:ext cx="816428" cy="430887"/>
          </a:xfrm>
          <a:prstGeom prst="rect">
            <a:avLst/>
          </a:prstGeom>
          <a:noFill/>
        </p:spPr>
        <p:txBody>
          <a:bodyPr wrap="square" rtlCol="0">
            <a:spAutoFit/>
          </a:bodyPr>
          <a:lstStyle/>
          <a:p>
            <a:pPr algn="ctr"/>
            <a:r>
              <a:rPr lang="fr-FR" sz="1100">
                <a:highlight>
                  <a:srgbClr val="FFFF00"/>
                </a:highlight>
              </a:rPr>
              <a:t>SIBS </a:t>
            </a:r>
            <a:r>
              <a:rPr lang="fr-FR" sz="1100" err="1">
                <a:highlight>
                  <a:srgbClr val="FFFF00"/>
                </a:highlight>
              </a:rPr>
              <a:t>tribe</a:t>
            </a:r>
            <a:r>
              <a:rPr lang="fr-FR" sz="1100">
                <a:highlight>
                  <a:srgbClr val="FFFF00"/>
                </a:highlight>
              </a:rPr>
              <a:t> lead</a:t>
            </a:r>
          </a:p>
        </p:txBody>
      </p:sp>
      <p:sp>
        <p:nvSpPr>
          <p:cNvPr id="9" name="ZoneTexte 8">
            <a:extLst>
              <a:ext uri="{FF2B5EF4-FFF2-40B4-BE49-F238E27FC236}">
                <a16:creationId xmlns:a16="http://schemas.microsoft.com/office/drawing/2014/main" id="{0E73C50F-E1D3-E343-51CC-8A2C69C231DF}"/>
              </a:ext>
            </a:extLst>
          </p:cNvPr>
          <p:cNvSpPr txBox="1"/>
          <p:nvPr/>
        </p:nvSpPr>
        <p:spPr>
          <a:xfrm>
            <a:off x="1143726" y="3641598"/>
            <a:ext cx="1419859" cy="769441"/>
          </a:xfrm>
          <a:prstGeom prst="rect">
            <a:avLst/>
          </a:prstGeom>
          <a:noFill/>
        </p:spPr>
        <p:txBody>
          <a:bodyPr wrap="square" rtlCol="0">
            <a:spAutoFit/>
          </a:bodyPr>
          <a:lstStyle/>
          <a:p>
            <a:pPr algn="ctr"/>
            <a:r>
              <a:rPr lang="fr-FR" sz="1100">
                <a:highlight>
                  <a:srgbClr val="FFFF00"/>
                </a:highlight>
              </a:rPr>
              <a:t>Bank, </a:t>
            </a:r>
            <a:r>
              <a:rPr lang="fr-FR" sz="1100" err="1">
                <a:highlight>
                  <a:srgbClr val="FFFF00"/>
                </a:highlight>
              </a:rPr>
              <a:t>Insurance</a:t>
            </a:r>
            <a:r>
              <a:rPr lang="fr-FR" sz="1100">
                <a:highlight>
                  <a:srgbClr val="FFFF00"/>
                </a:highlight>
              </a:rPr>
              <a:t> </a:t>
            </a:r>
            <a:r>
              <a:rPr lang="fr-FR" sz="1100" err="1">
                <a:highlight>
                  <a:srgbClr val="FFFF00"/>
                </a:highlight>
              </a:rPr>
              <a:t>lakehouse</a:t>
            </a:r>
            <a:r>
              <a:rPr lang="fr-FR" sz="1100">
                <a:highlight>
                  <a:srgbClr val="FFFF00"/>
                </a:highlight>
              </a:rPr>
              <a:t> or LSI or Risk DWH, Ins DWH, ..</a:t>
            </a:r>
          </a:p>
        </p:txBody>
      </p:sp>
      <p:sp>
        <p:nvSpPr>
          <p:cNvPr id="10" name="ZoneTexte 9">
            <a:extLst>
              <a:ext uri="{FF2B5EF4-FFF2-40B4-BE49-F238E27FC236}">
                <a16:creationId xmlns:a16="http://schemas.microsoft.com/office/drawing/2014/main" id="{BC0EC5B6-542A-1CAA-E4F0-081475BC66A4}"/>
              </a:ext>
            </a:extLst>
          </p:cNvPr>
          <p:cNvSpPr txBox="1"/>
          <p:nvPr/>
        </p:nvSpPr>
        <p:spPr>
          <a:xfrm>
            <a:off x="5740903" y="-23103"/>
            <a:ext cx="2081893" cy="307777"/>
          </a:xfrm>
          <a:prstGeom prst="rect">
            <a:avLst/>
          </a:prstGeom>
          <a:noFill/>
        </p:spPr>
        <p:txBody>
          <a:bodyPr wrap="square" rtlCol="0">
            <a:spAutoFit/>
          </a:bodyPr>
          <a:lstStyle/>
          <a:p>
            <a:pPr algn="ctr"/>
            <a:r>
              <a:rPr lang="fr-FR" err="1">
                <a:solidFill>
                  <a:srgbClr val="C00000"/>
                </a:solidFill>
              </a:rPr>
              <a:t>Revised</a:t>
            </a:r>
            <a:r>
              <a:rPr lang="fr-FR">
                <a:solidFill>
                  <a:srgbClr val="C00000"/>
                </a:solidFill>
              </a:rPr>
              <a:t> by JOA</a:t>
            </a:r>
          </a:p>
        </p:txBody>
      </p:sp>
    </p:spTree>
    <p:custDataLst>
      <p:tags r:id="rId1"/>
    </p:custDataLst>
    <p:extLst>
      <p:ext uri="{BB962C8B-B14F-4D97-AF65-F5344CB8AC3E}">
        <p14:creationId xmlns:p14="http://schemas.microsoft.com/office/powerpoint/2010/main" val="3257509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296;g205e559f898_0_142">
            <a:extLst>
              <a:ext uri="{FF2B5EF4-FFF2-40B4-BE49-F238E27FC236}">
                <a16:creationId xmlns:a16="http://schemas.microsoft.com/office/drawing/2014/main" id="{40DDEA80-79BA-2B0A-3AE5-C7565D301614}"/>
              </a:ext>
            </a:extLst>
          </p:cNvPr>
          <p:cNvSpPr txBox="1">
            <a:spLocks/>
          </p:cNvSpPr>
          <p:nvPr/>
        </p:nvSpPr>
        <p:spPr>
          <a:xfrm>
            <a:off x="200025" y="121907"/>
            <a:ext cx="8781300" cy="419302"/>
          </a:xfrm>
          <a:prstGeom prst="rect">
            <a:avLst/>
          </a:prstGeom>
        </p:spPr>
        <p:txBody>
          <a:bodyPr spcFirstLastPara="1" wrap="square" lIns="68569" tIns="34275" rIns="68569" bIns="34275" anchor="t" anchorCtr="0">
            <a:noAutofit/>
          </a:bodyPr>
          <a:lstStyle>
            <a:lvl1pPr algn="l" defTabSz="685800" rtl="0" eaLnBrk="1" latinLnBrk="0" hangingPunct="1">
              <a:lnSpc>
                <a:spcPct val="95000"/>
              </a:lnSpc>
              <a:spcBef>
                <a:spcPct val="0"/>
              </a:spcBef>
              <a:buNone/>
              <a:defRPr sz="2600" b="1" kern="1200" cap="none" baseline="0">
                <a:solidFill>
                  <a:schemeClr val="tx2"/>
                </a:solidFill>
                <a:latin typeface="+mn-lt"/>
                <a:ea typeface="+mj-ea"/>
                <a:cs typeface="+mj-cs"/>
              </a:defRPr>
            </a:lvl1pPr>
          </a:lstStyle>
          <a:p>
            <a:pPr defTabSz="514350">
              <a:spcBef>
                <a:spcPts val="0"/>
              </a:spcBef>
              <a:buClrTx/>
            </a:pPr>
            <a:r>
              <a:rPr lang="fr-FR" sz="1350">
                <a:solidFill>
                  <a:srgbClr val="243782"/>
                </a:solidFill>
                <a:latin typeface="Encode Sans"/>
              </a:rPr>
              <a:t>[PROJECT NAME] – </a:t>
            </a:r>
            <a:r>
              <a:rPr lang="fr-FR" sz="1350" err="1">
                <a:solidFill>
                  <a:srgbClr val="243782"/>
                </a:solidFill>
                <a:latin typeface="Encode Sans"/>
              </a:rPr>
              <a:t>Functional</a:t>
            </a:r>
            <a:r>
              <a:rPr lang="fr-FR" sz="1350">
                <a:solidFill>
                  <a:srgbClr val="243782"/>
                </a:solidFill>
                <a:latin typeface="Encode Sans"/>
              </a:rPr>
              <a:t> OBJECTS for [data platform]</a:t>
            </a:r>
            <a:endParaRPr lang="en-US" sz="1350">
              <a:solidFill>
                <a:srgbClr val="243782"/>
              </a:solidFill>
              <a:latin typeface="Encode Sans"/>
            </a:endParaRPr>
          </a:p>
          <a:p>
            <a:pPr defTabSz="514350">
              <a:spcBef>
                <a:spcPts val="0"/>
              </a:spcBef>
              <a:buClrTx/>
            </a:pPr>
            <a:r>
              <a:rPr lang="en-US" sz="1350" b="0">
                <a:solidFill>
                  <a:srgbClr val="202124"/>
                </a:solidFill>
                <a:latin typeface="Encode Sans"/>
              </a:rPr>
              <a:t>Functional objects &amp; sources</a:t>
            </a:r>
          </a:p>
        </p:txBody>
      </p:sp>
      <p:graphicFrame>
        <p:nvGraphicFramePr>
          <p:cNvPr id="2" name="Tableau 1">
            <a:extLst>
              <a:ext uri="{FF2B5EF4-FFF2-40B4-BE49-F238E27FC236}">
                <a16:creationId xmlns:a16="http://schemas.microsoft.com/office/drawing/2014/main" id="{7D007523-2D16-AEA5-45F6-7B376197B549}"/>
              </a:ext>
            </a:extLst>
          </p:cNvPr>
          <p:cNvGraphicFramePr>
            <a:graphicFrameLocks noGrp="1"/>
          </p:cNvGraphicFramePr>
          <p:nvPr/>
        </p:nvGraphicFramePr>
        <p:xfrm>
          <a:off x="22035" y="919487"/>
          <a:ext cx="9096941" cy="3743103"/>
        </p:xfrm>
        <a:graphic>
          <a:graphicData uri="http://schemas.openxmlformats.org/drawingml/2006/table">
            <a:tbl>
              <a:tblPr firstRow="1" bandRow="1">
                <a:tableStyleId>{5C22544A-7EE6-4342-B048-85BDC9FD1C3A}</a:tableStyleId>
              </a:tblPr>
              <a:tblGrid>
                <a:gridCol w="872151">
                  <a:extLst>
                    <a:ext uri="{9D8B030D-6E8A-4147-A177-3AD203B41FA5}">
                      <a16:colId xmlns:a16="http://schemas.microsoft.com/office/drawing/2014/main" val="1984982011"/>
                    </a:ext>
                  </a:extLst>
                </a:gridCol>
                <a:gridCol w="584553">
                  <a:extLst>
                    <a:ext uri="{9D8B030D-6E8A-4147-A177-3AD203B41FA5}">
                      <a16:colId xmlns:a16="http://schemas.microsoft.com/office/drawing/2014/main" val="2818490235"/>
                    </a:ext>
                  </a:extLst>
                </a:gridCol>
                <a:gridCol w="500654">
                  <a:extLst>
                    <a:ext uri="{9D8B030D-6E8A-4147-A177-3AD203B41FA5}">
                      <a16:colId xmlns:a16="http://schemas.microsoft.com/office/drawing/2014/main" val="3706769002"/>
                    </a:ext>
                  </a:extLst>
                </a:gridCol>
                <a:gridCol w="672607">
                  <a:extLst>
                    <a:ext uri="{9D8B030D-6E8A-4147-A177-3AD203B41FA5}">
                      <a16:colId xmlns:a16="http://schemas.microsoft.com/office/drawing/2014/main" val="111426945"/>
                    </a:ext>
                  </a:extLst>
                </a:gridCol>
                <a:gridCol w="602648">
                  <a:extLst>
                    <a:ext uri="{9D8B030D-6E8A-4147-A177-3AD203B41FA5}">
                      <a16:colId xmlns:a16="http://schemas.microsoft.com/office/drawing/2014/main" val="2364882982"/>
                    </a:ext>
                  </a:extLst>
                </a:gridCol>
                <a:gridCol w="510529">
                  <a:extLst>
                    <a:ext uri="{9D8B030D-6E8A-4147-A177-3AD203B41FA5}">
                      <a16:colId xmlns:a16="http://schemas.microsoft.com/office/drawing/2014/main" val="1025413100"/>
                    </a:ext>
                  </a:extLst>
                </a:gridCol>
                <a:gridCol w="467479">
                  <a:extLst>
                    <a:ext uri="{9D8B030D-6E8A-4147-A177-3AD203B41FA5}">
                      <a16:colId xmlns:a16="http://schemas.microsoft.com/office/drawing/2014/main" val="2931915245"/>
                    </a:ext>
                  </a:extLst>
                </a:gridCol>
                <a:gridCol w="534873">
                  <a:extLst>
                    <a:ext uri="{9D8B030D-6E8A-4147-A177-3AD203B41FA5}">
                      <a16:colId xmlns:a16="http://schemas.microsoft.com/office/drawing/2014/main" val="2285277453"/>
                    </a:ext>
                  </a:extLst>
                </a:gridCol>
                <a:gridCol w="699449">
                  <a:extLst>
                    <a:ext uri="{9D8B030D-6E8A-4147-A177-3AD203B41FA5}">
                      <a16:colId xmlns:a16="http://schemas.microsoft.com/office/drawing/2014/main" val="1891307175"/>
                    </a:ext>
                  </a:extLst>
                </a:gridCol>
                <a:gridCol w="1062888">
                  <a:extLst>
                    <a:ext uri="{9D8B030D-6E8A-4147-A177-3AD203B41FA5}">
                      <a16:colId xmlns:a16="http://schemas.microsoft.com/office/drawing/2014/main" val="795155202"/>
                    </a:ext>
                  </a:extLst>
                </a:gridCol>
                <a:gridCol w="462606">
                  <a:extLst>
                    <a:ext uri="{9D8B030D-6E8A-4147-A177-3AD203B41FA5}">
                      <a16:colId xmlns:a16="http://schemas.microsoft.com/office/drawing/2014/main" val="2868595932"/>
                    </a:ext>
                  </a:extLst>
                </a:gridCol>
                <a:gridCol w="511138">
                  <a:extLst>
                    <a:ext uri="{9D8B030D-6E8A-4147-A177-3AD203B41FA5}">
                      <a16:colId xmlns:a16="http://schemas.microsoft.com/office/drawing/2014/main" val="2804903246"/>
                    </a:ext>
                  </a:extLst>
                </a:gridCol>
                <a:gridCol w="528017">
                  <a:extLst>
                    <a:ext uri="{9D8B030D-6E8A-4147-A177-3AD203B41FA5}">
                      <a16:colId xmlns:a16="http://schemas.microsoft.com/office/drawing/2014/main" val="1450266362"/>
                    </a:ext>
                  </a:extLst>
                </a:gridCol>
                <a:gridCol w="493729">
                  <a:extLst>
                    <a:ext uri="{9D8B030D-6E8A-4147-A177-3AD203B41FA5}">
                      <a16:colId xmlns:a16="http://schemas.microsoft.com/office/drawing/2014/main" val="2262797929"/>
                    </a:ext>
                  </a:extLst>
                </a:gridCol>
                <a:gridCol w="593620">
                  <a:extLst>
                    <a:ext uri="{9D8B030D-6E8A-4147-A177-3AD203B41FA5}">
                      <a16:colId xmlns:a16="http://schemas.microsoft.com/office/drawing/2014/main" val="3676007303"/>
                    </a:ext>
                  </a:extLst>
                </a:gridCol>
              </a:tblGrid>
              <a:tr h="295138">
                <a:tc gridSpan="7">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1" kern="1200" noProof="0">
                          <a:solidFill>
                            <a:schemeClr val="lt1"/>
                          </a:solidFill>
                          <a:latin typeface="+mn-lt"/>
                          <a:ea typeface="+mn-ea"/>
                          <a:cs typeface="+mn-cs"/>
                        </a:rPr>
                        <a:t>Functional</a:t>
                      </a:r>
                      <a:r>
                        <a:rPr lang="en-US" sz="1200" noProof="0"/>
                        <a:t> Objects</a:t>
                      </a:r>
                    </a:p>
                  </a:txBody>
                  <a:tcPr marL="68580" marR="68580" marT="34290" marB="34290" anchor="ctr">
                    <a:solidFill>
                      <a:schemeClr val="accent1"/>
                    </a:solidFill>
                  </a:tcPr>
                </a:tc>
                <a:tc hMerge="1">
                  <a:txBody>
                    <a:bodyPr/>
                    <a:lstStyle/>
                    <a:p>
                      <a:endParaRPr lang="en-US"/>
                    </a:p>
                  </a:txBody>
                  <a:tcPr/>
                </a:tc>
                <a:tc hMerge="1">
                  <a:txBody>
                    <a:bodyPr/>
                    <a:lstStyle/>
                    <a:p>
                      <a:endParaRPr lang="en-US"/>
                    </a:p>
                  </a:txBody>
                  <a:tcPr/>
                </a:tc>
                <a:tc hMerge="1">
                  <a:txBody>
                    <a:bodyPr/>
                    <a:lstStyle/>
                    <a:p>
                      <a:pPr algn="ctr"/>
                      <a:endParaRPr lang="en-US" sz="1100" noProof="0"/>
                    </a:p>
                  </a:txBody>
                  <a:tcPr anchor="ctr">
                    <a:solidFill>
                      <a:schemeClr val="accent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noProof="0"/>
                    </a:p>
                  </a:txBody>
                  <a:tcPr anchor="ctr">
                    <a:solidFill>
                      <a:schemeClr val="accent1"/>
                    </a:solidFill>
                  </a:tcPr>
                </a:tc>
                <a:tc hMerge="1">
                  <a:txBody>
                    <a:bodyPr/>
                    <a:lstStyle/>
                    <a:p>
                      <a:pPr marL="0" lvl="0" indent="0" algn="ctr" defTabSz="685800">
                        <a:lnSpc>
                          <a:spcPct val="100000"/>
                        </a:lnSpc>
                        <a:spcBef>
                          <a:spcPts val="0"/>
                        </a:spcBef>
                        <a:spcAft>
                          <a:spcPts val="0"/>
                        </a:spcAft>
                        <a:buNone/>
                        <a:tabLst/>
                        <a:defRPr/>
                      </a:pPr>
                      <a:endParaRPr lang="en-US" sz="1600" noProof="0"/>
                    </a:p>
                  </a:txBody>
                  <a:tcPr anchor="ctr">
                    <a:solidFill>
                      <a:schemeClr val="accent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600" noProof="0"/>
                    </a:p>
                  </a:txBody>
                  <a:tcPr anchor="ctr">
                    <a:solidFill>
                      <a:schemeClr val="accent1"/>
                    </a:solidFill>
                  </a:tcPr>
                </a:tc>
                <a:tc gridSpan="8">
                  <a:txBody>
                    <a:bodyPr/>
                    <a:lstStyle/>
                    <a:p>
                      <a:pPr algn="ctr"/>
                      <a:r>
                        <a:rPr lang="fr-FR" sz="1200" noProof="0"/>
                        <a:t>Data Sources (applications)</a:t>
                      </a:r>
                      <a:endParaRPr lang="en-US" sz="1200" noProof="0"/>
                    </a:p>
                  </a:txBody>
                  <a:tcPr marL="68580" marR="68580" marT="34290" marB="34290" anchor="ctr">
                    <a:solidFill>
                      <a:schemeClr val="accent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noProof="0"/>
                    </a:p>
                  </a:txBody>
                  <a:tcPr anchor="ctr">
                    <a:solidFill>
                      <a:schemeClr val="accent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kern="1200" noProof="0">
                        <a:solidFill>
                          <a:schemeClr val="lt1"/>
                        </a:solidFill>
                        <a:latin typeface="+mn-lt"/>
                        <a:ea typeface="+mn-ea"/>
                        <a:cs typeface="+mn-cs"/>
                      </a:endParaRPr>
                    </a:p>
                  </a:txBody>
                  <a:tcPr anchor="ctr">
                    <a:solidFill>
                      <a:schemeClr val="accent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kern="1200" noProof="0">
                        <a:solidFill>
                          <a:schemeClr val="lt1"/>
                        </a:solidFill>
                        <a:latin typeface="+mn-lt"/>
                        <a:ea typeface="+mn-ea"/>
                        <a:cs typeface="+mn-cs"/>
                      </a:endParaRPr>
                    </a:p>
                  </a:txBody>
                  <a:tcPr anchor="ctr">
                    <a:solidFill>
                      <a:schemeClr val="accent1"/>
                    </a:solidFill>
                  </a:tcPr>
                </a:tc>
                <a:tc hMerge="1">
                  <a:txBody>
                    <a:bodyPr/>
                    <a:lstStyle/>
                    <a:p>
                      <a:pPr algn="ctr"/>
                      <a:endParaRPr lang="en-US" sz="1000"/>
                    </a:p>
                  </a:txBody>
                  <a:tcPr anchor="ctr">
                    <a:solidFill>
                      <a:schemeClr val="accent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noProof="0"/>
                    </a:p>
                  </a:txBody>
                  <a:tcPr anchor="ctr">
                    <a:solidFill>
                      <a:schemeClr val="accent1"/>
                    </a:solidFill>
                  </a:tcPr>
                </a:tc>
                <a:tc hMerge="1">
                  <a:txBody>
                    <a:bodyPr/>
                    <a:lstStyle/>
                    <a:p>
                      <a:pPr algn="ctr"/>
                      <a:endParaRPr lang="en-US" sz="1600" noProof="0"/>
                    </a:p>
                  </a:txBody>
                  <a:tcPr anchor="ctr">
                    <a:solidFill>
                      <a:schemeClr val="accent1"/>
                    </a:solidFill>
                  </a:tcPr>
                </a:tc>
                <a:extLst>
                  <a:ext uri="{0D108BD9-81ED-4DB2-BD59-A6C34878D82A}">
                    <a16:rowId xmlns:a16="http://schemas.microsoft.com/office/drawing/2014/main" val="3827520607"/>
                  </a:ext>
                </a:extLst>
              </a:tr>
              <a:tr h="538141">
                <a:tc>
                  <a:txBody>
                    <a:bodyPr/>
                    <a:lstStyle/>
                    <a:p>
                      <a:pPr algn="ctr"/>
                      <a:r>
                        <a:rPr lang="en-US" sz="700" b="1" noProof="0">
                          <a:solidFill>
                            <a:schemeClr val="bg1"/>
                          </a:solidFill>
                        </a:rPr>
                        <a:t>Object Name</a:t>
                      </a:r>
                    </a:p>
                    <a:p>
                      <a:pPr algn="ctr"/>
                      <a:r>
                        <a:rPr lang="en-US" sz="700" b="1" noProof="0">
                          <a:solidFill>
                            <a:schemeClr val="bg1"/>
                          </a:solidFill>
                        </a:rPr>
                        <a:t>(from Enterprise Data Model)</a:t>
                      </a:r>
                    </a:p>
                  </a:txBody>
                  <a:tcPr marL="68580" marR="68580" marT="34290" marB="34290" anchor="ctr">
                    <a:solidFill>
                      <a:schemeClr val="accent1"/>
                    </a:solidFill>
                  </a:tcPr>
                </a:tc>
                <a:tc>
                  <a:txBody>
                    <a:bodyPr/>
                    <a:lstStyle/>
                    <a:p>
                      <a:pPr algn="ctr"/>
                      <a:r>
                        <a:rPr lang="en-US" sz="700" b="1" noProof="0">
                          <a:solidFill>
                            <a:schemeClr val="bg1"/>
                          </a:solidFill>
                        </a:rPr>
                        <a:t>Business owner</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noProof="0">
                          <a:solidFill>
                            <a:schemeClr val="bg1"/>
                          </a:solidFill>
                        </a:rPr>
                        <a:t>History depth</a:t>
                      </a:r>
                    </a:p>
                  </a:txBody>
                  <a:tcPr marL="68580" marR="68580" marT="34290" marB="34290" anchor="ctr">
                    <a:solidFill>
                      <a:schemeClr val="accent1"/>
                    </a:solidFill>
                  </a:tcPr>
                </a:tc>
                <a:tc>
                  <a:txBody>
                    <a:bodyPr/>
                    <a:lstStyle/>
                    <a:p>
                      <a:pPr algn="ctr"/>
                      <a:r>
                        <a:rPr lang="en-US" sz="700" b="1" noProof="0">
                          <a:solidFill>
                            <a:schemeClr val="bg1"/>
                          </a:solidFill>
                        </a:rPr>
                        <a:t>Status</a:t>
                      </a:r>
                    </a:p>
                  </a:txBody>
                  <a:tcPr marL="68580" marR="68580" marT="34290" marB="34290" anchor="ctr">
                    <a:solidFill>
                      <a:schemeClr val="accent1"/>
                    </a:solidFill>
                  </a:tcPr>
                </a:tc>
                <a:tc>
                  <a:txBody>
                    <a:bodyPr/>
                    <a:lstStyle/>
                    <a:p>
                      <a:pPr algn="ctr"/>
                      <a:r>
                        <a:rPr lang="en-US" sz="700" b="1" noProof="0">
                          <a:solidFill>
                            <a:schemeClr val="bg1"/>
                          </a:solidFill>
                        </a:rPr>
                        <a:t>Data model</a:t>
                      </a:r>
                    </a:p>
                  </a:txBody>
                  <a:tcPr marL="68580" marR="68580" marT="34290" marB="34290" anchor="ctr">
                    <a:solidFill>
                      <a:schemeClr val="accent1"/>
                    </a:solidFill>
                  </a:tcPr>
                </a:tc>
                <a:tc>
                  <a:txBody>
                    <a:bodyPr/>
                    <a:lstStyle/>
                    <a:p>
                      <a:pPr lvl="0" algn="ctr">
                        <a:lnSpc>
                          <a:spcPct val="100000"/>
                        </a:lnSpc>
                        <a:spcBef>
                          <a:spcPts val="0"/>
                        </a:spcBef>
                        <a:spcAft>
                          <a:spcPts val="0"/>
                        </a:spcAft>
                        <a:buNone/>
                      </a:pPr>
                      <a:r>
                        <a:rPr lang="en-US" sz="700" b="1" i="0" u="none" strike="noStrike" noProof="0">
                          <a:solidFill>
                            <a:schemeClr val="bg1"/>
                          </a:solidFill>
                          <a:latin typeface="Encode Sans"/>
                        </a:rPr>
                        <a:t>Confidentiality</a:t>
                      </a:r>
                      <a:endParaRPr lang="en-US" sz="700" b="0" i="0" u="none" strike="noStrike" noProof="0">
                        <a:solidFill>
                          <a:srgbClr val="272B35"/>
                        </a:solidFill>
                        <a:latin typeface="Encode Sans"/>
                      </a:endParaRPr>
                    </a:p>
                  </a:txBody>
                  <a:tcPr marL="68580" marR="68580" marT="34290" marB="34290" anchor="ctr">
                    <a:solidFill>
                      <a:schemeClr val="accent1"/>
                    </a:solidFill>
                  </a:tcPr>
                </a:tc>
                <a:tc>
                  <a:txBody>
                    <a:bodyPr/>
                    <a:lstStyle/>
                    <a:p>
                      <a:pPr algn="ctr"/>
                      <a:r>
                        <a:rPr lang="en-US" sz="600" b="1" i="0" u="none" strike="noStrike" noProof="0">
                          <a:solidFill>
                            <a:schemeClr val="bg1"/>
                          </a:solidFill>
                          <a:latin typeface="Encode Sans"/>
                        </a:rPr>
                        <a:t>Personal data (Y/N)</a:t>
                      </a:r>
                      <a:endParaRPr lang="en-US" sz="600"/>
                    </a:p>
                  </a:txBody>
                  <a:tcPr marL="68580" marR="68580" marT="34290" marB="34290" anchor="ctr">
                    <a:solidFill>
                      <a:schemeClr val="accent1"/>
                    </a:solidFill>
                  </a:tcPr>
                </a:tc>
                <a:tc>
                  <a:txBody>
                    <a:bodyPr/>
                    <a:lstStyle/>
                    <a:p>
                      <a:pPr algn="ctr"/>
                      <a:r>
                        <a:rPr lang="en-US" sz="700" b="1" noProof="0">
                          <a:solidFill>
                            <a:schemeClr val="bg1"/>
                          </a:solidFill>
                        </a:rPr>
                        <a:t>Region / </a:t>
                      </a:r>
                    </a:p>
                    <a:p>
                      <a:pPr algn="ctr"/>
                      <a:r>
                        <a:rPr lang="en-US" sz="700" b="1" noProof="0">
                          <a:solidFill>
                            <a:schemeClr val="bg1"/>
                          </a:solidFill>
                        </a:rPr>
                        <a:t>Brand</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noProof="0">
                          <a:solidFill>
                            <a:schemeClr val="bg1"/>
                          </a:solidFill>
                        </a:rPr>
                        <a:t>Source Name</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kern="1200" noProof="0">
                          <a:solidFill>
                            <a:schemeClr val="bg1"/>
                          </a:solidFill>
                          <a:latin typeface="+mn-lt"/>
                          <a:ea typeface="+mn-ea"/>
                          <a:cs typeface="+mn-cs"/>
                        </a:rPr>
                        <a:t>Source ingestion status</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1" kern="1200" noProof="0">
                          <a:solidFill>
                            <a:schemeClr val="bg1"/>
                          </a:solidFill>
                          <a:latin typeface="+mn-lt"/>
                          <a:ea typeface="+mn-ea"/>
                          <a:cs typeface="+mn-cs"/>
                        </a:rPr>
                        <a:t>Flows already ingested</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1" kern="1200" noProof="0">
                          <a:solidFill>
                            <a:schemeClr val="bg1"/>
                          </a:solidFill>
                          <a:latin typeface="+mn-lt"/>
                          <a:ea typeface="+mn-ea"/>
                          <a:cs typeface="+mn-cs"/>
                        </a:rPr>
                        <a:t>New flows to be ingested</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kern="1200" noProof="0">
                          <a:solidFill>
                            <a:schemeClr val="bg1"/>
                          </a:solidFill>
                          <a:latin typeface="+mn-lt"/>
                          <a:ea typeface="+mn-ea"/>
                          <a:cs typeface="+mn-cs"/>
                        </a:rPr>
                        <a:t>Retention Period</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kern="1200" noProof="0">
                          <a:solidFill>
                            <a:schemeClr val="bg1"/>
                          </a:solidFill>
                          <a:latin typeface="+mn-lt"/>
                          <a:ea typeface="+mn-ea"/>
                          <a:cs typeface="+mn-cs"/>
                        </a:rPr>
                        <a:t>Disposal Action</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noProof="0">
                          <a:solidFill>
                            <a:schemeClr val="bg1"/>
                          </a:solidFill>
                        </a:rPr>
                        <a:t>Start of Event</a:t>
                      </a:r>
                    </a:p>
                  </a:txBody>
                  <a:tcPr marL="68580" marR="68580" marT="34290" marB="34290" anchor="ctr">
                    <a:solidFill>
                      <a:schemeClr val="accent1"/>
                    </a:solidFill>
                  </a:tcPr>
                </a:tc>
                <a:extLst>
                  <a:ext uri="{0D108BD9-81ED-4DB2-BD59-A6C34878D82A}">
                    <a16:rowId xmlns:a16="http://schemas.microsoft.com/office/drawing/2014/main" val="2432059275"/>
                  </a:ext>
                </a:extLst>
              </a:tr>
              <a:tr h="297180">
                <a:tc rowSpan="2">
                  <a:txBody>
                    <a:bodyPr/>
                    <a:lstStyle/>
                    <a:p>
                      <a:r>
                        <a:rPr lang="fr-FR" sz="800"/>
                        <a:t>Dealers sites</a:t>
                      </a:r>
                    </a:p>
                  </a:txBody>
                  <a:tcPr marL="68580" marR="68580" marT="34290" marB="34290">
                    <a:solidFill>
                      <a:schemeClr val="accent5">
                        <a:lumMod val="10000"/>
                        <a:lumOff val="90000"/>
                      </a:schemeClr>
                    </a:solidFill>
                  </a:tcPr>
                </a:tc>
                <a:tc rowSpan="2">
                  <a:txBody>
                    <a:bodyPr/>
                    <a:lstStyle/>
                    <a:p>
                      <a:r>
                        <a:rPr lang="fr-FR" sz="800"/>
                        <a:t>Sales &amp; Marketing</a:t>
                      </a:r>
                      <a:endParaRPr lang="en-US" sz="800"/>
                    </a:p>
                  </a:txBody>
                  <a:tcPr marL="68580" marR="68580" marT="34290" marB="34290">
                    <a:solidFill>
                      <a:schemeClr val="accent5">
                        <a:lumMod val="10000"/>
                        <a:lumOff val="90000"/>
                      </a:schemeClr>
                    </a:solidFill>
                  </a:tcPr>
                </a:tc>
                <a:tc rowSpan="2">
                  <a:txBody>
                    <a:bodyPr/>
                    <a:lstStyle/>
                    <a:p>
                      <a:r>
                        <a:rPr lang="fr-FR" sz="800"/>
                        <a:t>Jan 2020</a:t>
                      </a:r>
                    </a:p>
                  </a:txBody>
                  <a:tcPr marL="68580" marR="68580" marT="34290" marB="34290">
                    <a:solidFill>
                      <a:schemeClr val="accent5">
                        <a:lumMod val="10000"/>
                        <a:lumOff val="90000"/>
                      </a:schemeClr>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800"/>
                        <a:t>New</a:t>
                      </a:r>
                    </a:p>
                  </a:txBody>
                  <a:tcPr marL="68580" marR="68580" marT="34290" marB="34290">
                    <a:solidFill>
                      <a:schemeClr val="accent5">
                        <a:lumMod val="10000"/>
                        <a:lumOff val="90000"/>
                      </a:schemeClr>
                    </a:solidFill>
                  </a:tcPr>
                </a:tc>
                <a:tc rowSpan="2">
                  <a:txBody>
                    <a:bodyPr/>
                    <a:lstStyle/>
                    <a:p>
                      <a:pPr lvl="0" algn="l">
                        <a:lnSpc>
                          <a:spcPct val="100000"/>
                        </a:lnSpc>
                        <a:spcBef>
                          <a:spcPts val="0"/>
                        </a:spcBef>
                        <a:spcAft>
                          <a:spcPts val="0"/>
                        </a:spcAft>
                        <a:buNone/>
                      </a:pPr>
                      <a:r>
                        <a:rPr lang="en-US" sz="800" b="0" i="0" u="none" strike="noStrike" noProof="0">
                          <a:solidFill>
                            <a:srgbClr val="272B35"/>
                          </a:solidFill>
                          <a:latin typeface="+mn-lt"/>
                        </a:rPr>
                        <a:t>LINK or </a:t>
                      </a:r>
                      <a:endParaRPr lang="en-US" sz="800"/>
                    </a:p>
                    <a:p>
                      <a:pPr lvl="0" algn="l">
                        <a:lnSpc>
                          <a:spcPct val="100000"/>
                        </a:lnSpc>
                        <a:spcBef>
                          <a:spcPts val="0"/>
                        </a:spcBef>
                        <a:spcAft>
                          <a:spcPts val="0"/>
                        </a:spcAft>
                        <a:buNone/>
                      </a:pPr>
                      <a:r>
                        <a:rPr lang="en-US" sz="800" b="0" i="0" u="none" strike="noStrike" noProof="0">
                          <a:solidFill>
                            <a:srgbClr val="272B35"/>
                          </a:solidFill>
                          <a:latin typeface="+mn-lt"/>
                        </a:rPr>
                        <a:t>availability date</a:t>
                      </a:r>
                    </a:p>
                    <a:p>
                      <a:endParaRPr lang="en-US" sz="800" noProof="0"/>
                    </a:p>
                  </a:txBody>
                  <a:tcPr marL="68580" marR="68580" marT="34290" marB="34290">
                    <a:solidFill>
                      <a:schemeClr val="accent5">
                        <a:lumMod val="10000"/>
                        <a:lumOff val="90000"/>
                      </a:schemeClr>
                    </a:solidFill>
                  </a:tcPr>
                </a:tc>
                <a:tc rowSpan="2">
                  <a:txBody>
                    <a:bodyPr/>
                    <a:lstStyle/>
                    <a:p>
                      <a:pPr lvl="0" algn="ctr">
                        <a:buNone/>
                      </a:pPr>
                      <a:r>
                        <a:rPr lang="en-US" sz="800" noProof="0"/>
                        <a:t>C2</a:t>
                      </a:r>
                    </a:p>
                  </a:txBody>
                  <a:tcPr marL="68580" marR="68580" marT="34290" marB="34290">
                    <a:solidFill>
                      <a:schemeClr val="accent5">
                        <a:lumMod val="10000"/>
                        <a:lumOff val="90000"/>
                      </a:schemeClr>
                    </a:solidFill>
                  </a:tcPr>
                </a:tc>
                <a:tc rowSpan="2">
                  <a:txBody>
                    <a:bodyPr/>
                    <a:lstStyle/>
                    <a:p>
                      <a:r>
                        <a:rPr lang="fr-FR" sz="800" noProof="0"/>
                        <a:t>N</a:t>
                      </a:r>
                      <a:endParaRPr lang="en-US" sz="800"/>
                    </a:p>
                  </a:txBody>
                  <a:tcPr marL="68580" marR="68580" marT="34290" marB="34290">
                    <a:solidFill>
                      <a:schemeClr val="accent5">
                        <a:lumMod val="10000"/>
                        <a:lumOff val="90000"/>
                      </a:schemeClr>
                    </a:solidFill>
                  </a:tcPr>
                </a:tc>
                <a:tc>
                  <a:txBody>
                    <a:bodyPr/>
                    <a:lstStyle/>
                    <a:p>
                      <a:r>
                        <a:rPr lang="fr-FR" sz="800"/>
                        <a:t>EP</a:t>
                      </a:r>
                      <a:endParaRPr lang="en-US" sz="800"/>
                    </a:p>
                  </a:txBody>
                  <a:tcPr marL="68580" marR="68580" marT="34290" marB="34290">
                    <a:solidFill>
                      <a:schemeClr val="accent5">
                        <a:lumMod val="10000"/>
                        <a:lumOff val="90000"/>
                      </a:schemeClr>
                    </a:solidFill>
                  </a:tcPr>
                </a:tc>
                <a:tc>
                  <a:txBody>
                    <a:bodyPr/>
                    <a:lstStyle/>
                    <a:p>
                      <a:r>
                        <a:rPr lang="fr-FR" sz="800"/>
                        <a:t>ARCAD</a:t>
                      </a:r>
                      <a:endParaRPr lang="en-US" sz="800"/>
                    </a:p>
                  </a:txBody>
                  <a:tcPr marL="68580" marR="68580" marT="34290" marB="34290">
                    <a:solidFill>
                      <a:schemeClr val="accent5">
                        <a:lumMod val="10000"/>
                        <a:lumOff val="90000"/>
                      </a:schemeClr>
                    </a:solidFill>
                  </a:tcPr>
                </a:tc>
                <a:tc>
                  <a:txBody>
                    <a:bodyPr/>
                    <a:lstStyle/>
                    <a:p>
                      <a:r>
                        <a:rPr lang="fr-FR" sz="800" err="1"/>
                        <a:t>Ingested</a:t>
                      </a:r>
                      <a:r>
                        <a:rPr lang="fr-FR" sz="800"/>
                        <a:t> in SL </a:t>
                      </a:r>
                      <a:r>
                        <a:rPr lang="fr-FR" sz="800" err="1"/>
                        <a:t>only</a:t>
                      </a:r>
                      <a:endParaRPr lang="fr-FR" sz="800"/>
                    </a:p>
                  </a:txBody>
                  <a:tcPr marL="68580" marR="68580" marT="34290" marB="34290">
                    <a:solidFill>
                      <a:schemeClr val="accent5">
                        <a:lumMod val="10000"/>
                        <a:lumOff val="90000"/>
                      </a:schemeClr>
                    </a:solidFill>
                  </a:tcPr>
                </a:tc>
                <a:tc>
                  <a:txBody>
                    <a:bodyPr/>
                    <a:lstStyle/>
                    <a:p>
                      <a:pPr algn="ctr"/>
                      <a:r>
                        <a:rPr lang="fr-FR" sz="800"/>
                        <a:t>1</a:t>
                      </a:r>
                    </a:p>
                  </a:txBody>
                  <a:tcPr marL="68580" marR="68580" marT="34290" marB="34290">
                    <a:solidFill>
                      <a:schemeClr val="accent5">
                        <a:lumMod val="10000"/>
                        <a:lumOff val="90000"/>
                      </a:schemeClr>
                    </a:solidFill>
                  </a:tcPr>
                </a:tc>
                <a:tc>
                  <a:txBody>
                    <a:bodyPr/>
                    <a:lstStyle/>
                    <a:p>
                      <a:pPr algn="ctr"/>
                      <a:r>
                        <a:rPr lang="fr-FR" sz="800"/>
                        <a:t>0</a:t>
                      </a:r>
                      <a:endParaRPr lang="en-US" sz="800"/>
                    </a:p>
                  </a:txBody>
                  <a:tcPr marL="68580" marR="68580" marT="34290" marB="34290">
                    <a:solidFill>
                      <a:schemeClr val="accent5">
                        <a:lumMod val="10000"/>
                        <a:lumOff val="90000"/>
                      </a:schemeClr>
                    </a:solidFill>
                  </a:tcPr>
                </a:tc>
                <a:tc>
                  <a:txBody>
                    <a:bodyPr/>
                    <a:lstStyle/>
                    <a:p>
                      <a:r>
                        <a:rPr lang="fr-FR" sz="800"/>
                        <a:t>5 </a:t>
                      </a:r>
                      <a:r>
                        <a:rPr lang="fr-FR" sz="800" err="1"/>
                        <a:t>Years</a:t>
                      </a:r>
                      <a:endParaRPr lang="fr-FR" sz="800"/>
                    </a:p>
                  </a:txBody>
                  <a:tcPr marL="68580" marR="68580" marT="34290" marB="34290">
                    <a:solidFill>
                      <a:schemeClr val="accent5">
                        <a:lumMod val="10000"/>
                        <a:lumOff val="90000"/>
                      </a:schemeClr>
                    </a:solidFill>
                  </a:tcPr>
                </a:tc>
                <a:tc>
                  <a:txBody>
                    <a:bodyPr/>
                    <a:lstStyle/>
                    <a:p>
                      <a:r>
                        <a:rPr lang="fr-FR" sz="800" err="1"/>
                        <a:t>Deletion</a:t>
                      </a:r>
                      <a:endParaRPr lang="en-US" sz="800"/>
                    </a:p>
                  </a:txBody>
                  <a:tcPr marL="68580" marR="68580" marT="34290" marB="34290">
                    <a:solidFill>
                      <a:schemeClr val="accent5">
                        <a:lumMod val="10000"/>
                        <a:lumOff val="9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800"/>
                        <a:t>End of </a:t>
                      </a:r>
                      <a:r>
                        <a:rPr lang="fr-FR" sz="800" err="1"/>
                        <a:t>Contract</a:t>
                      </a:r>
                      <a:endParaRPr lang="en-US" sz="800"/>
                    </a:p>
                  </a:txBody>
                  <a:tcPr marL="68580" marR="68580" marT="34290" marB="34290">
                    <a:solidFill>
                      <a:schemeClr val="accent5">
                        <a:lumMod val="10000"/>
                        <a:lumOff val="90000"/>
                      </a:schemeClr>
                    </a:solidFill>
                  </a:tcPr>
                </a:tc>
                <a:extLst>
                  <a:ext uri="{0D108BD9-81ED-4DB2-BD59-A6C34878D82A}">
                    <a16:rowId xmlns:a16="http://schemas.microsoft.com/office/drawing/2014/main" val="1943253979"/>
                  </a:ext>
                </a:extLst>
              </a:tr>
              <a:tr h="525780">
                <a:tc vMerge="1">
                  <a:txBody>
                    <a:bodyPr/>
                    <a:lstStyle/>
                    <a:p>
                      <a:endParaRPr lang="en-US" sz="1000"/>
                    </a:p>
                  </a:txBody>
                  <a:tcPr/>
                </a:tc>
                <a:tc vMerge="1">
                  <a:txBody>
                    <a:bodyPr/>
                    <a:lstStyle/>
                    <a:p>
                      <a:endParaRPr lang="en-US" sz="1000" u="sng"/>
                    </a:p>
                  </a:txBody>
                  <a:tcPr/>
                </a:tc>
                <a:tc vMerge="1">
                  <a:txBody>
                    <a:bodyPr/>
                    <a:lstStyle/>
                    <a:p>
                      <a:endParaRPr lang="en-US" sz="1000" u="sng"/>
                    </a:p>
                  </a:txBody>
                  <a:tcPr/>
                </a:tc>
                <a:tc vMerge="1">
                  <a:txBody>
                    <a:bodyPr/>
                    <a:lstStyle/>
                    <a:p>
                      <a:endParaRPr lang="en-US" sz="1000" u="sng"/>
                    </a:p>
                  </a:txBody>
                  <a:tcPr/>
                </a:tc>
                <a:tc vMerge="1">
                  <a:txBody>
                    <a:bodyPr/>
                    <a:lstStyle/>
                    <a:p>
                      <a:endParaRPr lang="en-US" sz="1000" u="sng"/>
                    </a:p>
                  </a:txBody>
                  <a:tcPr/>
                </a:tc>
                <a:tc vMerge="1">
                  <a:txBody>
                    <a:bodyPr/>
                    <a:lstStyle/>
                    <a:p>
                      <a:endParaRPr lang="fr-FR"/>
                    </a:p>
                  </a:txBody>
                  <a:tcPr/>
                </a:tc>
                <a:tc vMerge="1">
                  <a:txBody>
                    <a:bodyPr/>
                    <a:lstStyle/>
                    <a:p>
                      <a:endParaRPr lang="en-US"/>
                    </a:p>
                  </a:txBody>
                  <a:tcPr/>
                </a:tc>
                <a:tc>
                  <a:txBody>
                    <a:bodyPr/>
                    <a:lstStyle/>
                    <a:p>
                      <a:r>
                        <a:rPr lang="fr-FR" sz="800" u="sng" err="1"/>
                        <a:t>xF</a:t>
                      </a:r>
                      <a:r>
                        <a:rPr lang="fr-FR" sz="800" u="sng"/>
                        <a:t> EE</a:t>
                      </a:r>
                      <a:endParaRPr lang="en-US" sz="800" u="sng"/>
                    </a:p>
                  </a:txBody>
                  <a:tcPr marL="68580" marR="68580" marT="34290" marB="34290">
                    <a:solidFill>
                      <a:schemeClr val="accent5">
                        <a:lumMod val="10000"/>
                        <a:lumOff val="90000"/>
                      </a:schemeClr>
                    </a:solidFill>
                  </a:tcPr>
                </a:tc>
                <a:tc>
                  <a:txBody>
                    <a:bodyPr/>
                    <a:lstStyle/>
                    <a:p>
                      <a:r>
                        <a:rPr lang="fr-FR" sz="800"/>
                        <a:t>WEBDAC</a:t>
                      </a:r>
                      <a:endParaRPr lang="en-US" sz="800"/>
                    </a:p>
                  </a:txBody>
                  <a:tcPr marL="68580" marR="68580" marT="34290" marB="34290">
                    <a:solidFill>
                      <a:schemeClr val="accent5">
                        <a:lumMod val="10000"/>
                        <a:lumOff val="90000"/>
                      </a:schemeClr>
                    </a:solidFill>
                  </a:tcPr>
                </a:tc>
                <a:tc>
                  <a:txBody>
                    <a:bodyPr/>
                    <a:lstStyle/>
                    <a:p>
                      <a:r>
                        <a:rPr lang="fr-FR" sz="800"/>
                        <a:t>Data </a:t>
                      </a:r>
                      <a:r>
                        <a:rPr lang="fr-FR" sz="800" err="1"/>
                        <a:t>already</a:t>
                      </a:r>
                      <a:r>
                        <a:rPr lang="fr-FR" sz="800"/>
                        <a:t> </a:t>
                      </a:r>
                      <a:r>
                        <a:rPr lang="fr-FR" sz="800" err="1"/>
                        <a:t>ingested</a:t>
                      </a:r>
                      <a:r>
                        <a:rPr lang="fr-FR" sz="800"/>
                        <a:t> </a:t>
                      </a:r>
                      <a:r>
                        <a:rPr lang="fr-FR" sz="800" err="1"/>
                        <a:t>from</a:t>
                      </a:r>
                      <a:r>
                        <a:rPr lang="fr-FR" sz="800"/>
                        <a:t> the sources, but new data </a:t>
                      </a:r>
                      <a:r>
                        <a:rPr lang="fr-FR" sz="800" err="1"/>
                        <a:t>required</a:t>
                      </a:r>
                      <a:endParaRPr lang="fr-FR" sz="800"/>
                    </a:p>
                  </a:txBody>
                  <a:tcPr marL="68580" marR="68580" marT="34290" marB="34290">
                    <a:solidFill>
                      <a:schemeClr val="accent5">
                        <a:lumMod val="10000"/>
                        <a:lumOff val="90000"/>
                      </a:schemeClr>
                    </a:solidFill>
                  </a:tcPr>
                </a:tc>
                <a:tc>
                  <a:txBody>
                    <a:bodyPr/>
                    <a:lstStyle/>
                    <a:p>
                      <a:pPr algn="ctr"/>
                      <a:r>
                        <a:rPr lang="fr-FR" sz="800"/>
                        <a:t>0</a:t>
                      </a:r>
                    </a:p>
                  </a:txBody>
                  <a:tcPr marL="68580" marR="68580" marT="34290" marB="34290">
                    <a:solidFill>
                      <a:schemeClr val="accent5">
                        <a:lumMod val="10000"/>
                        <a:lumOff val="90000"/>
                      </a:schemeClr>
                    </a:solidFill>
                  </a:tcPr>
                </a:tc>
                <a:tc>
                  <a:txBody>
                    <a:bodyPr/>
                    <a:lstStyle/>
                    <a:p>
                      <a:pPr algn="ctr"/>
                      <a:r>
                        <a:rPr lang="fr-FR" sz="800"/>
                        <a:t>1</a:t>
                      </a:r>
                      <a:endParaRPr lang="en-US" sz="800"/>
                    </a:p>
                  </a:txBody>
                  <a:tcPr marL="68580" marR="68580" marT="34290" marB="34290">
                    <a:solidFill>
                      <a:schemeClr val="accent5">
                        <a:lumMod val="10000"/>
                        <a:lumOff val="90000"/>
                      </a:schemeClr>
                    </a:solidFill>
                  </a:tcPr>
                </a:tc>
                <a:tc>
                  <a:txBody>
                    <a:bodyPr/>
                    <a:lstStyle/>
                    <a:p>
                      <a:r>
                        <a:rPr lang="fr-FR" sz="800"/>
                        <a:t>10 </a:t>
                      </a:r>
                      <a:r>
                        <a:rPr lang="fr-FR" sz="800" err="1"/>
                        <a:t>Years</a:t>
                      </a:r>
                      <a:endParaRPr lang="fr-FR" sz="800"/>
                    </a:p>
                  </a:txBody>
                  <a:tcPr marL="68580" marR="68580" marT="34290" marB="34290">
                    <a:solidFill>
                      <a:schemeClr val="accent5">
                        <a:lumMod val="10000"/>
                        <a:lumOff val="90000"/>
                      </a:schemeClr>
                    </a:solidFill>
                  </a:tcPr>
                </a:tc>
                <a:tc>
                  <a:txBody>
                    <a:bodyPr/>
                    <a:lstStyle/>
                    <a:p>
                      <a:r>
                        <a:rPr lang="fr-FR" sz="800" err="1"/>
                        <a:t>Anonymization</a:t>
                      </a:r>
                      <a:endParaRPr lang="en-US" sz="800"/>
                    </a:p>
                  </a:txBody>
                  <a:tcPr marL="68580" marR="68580" marT="34290" marB="34290">
                    <a:solidFill>
                      <a:schemeClr val="accent5">
                        <a:lumMod val="10000"/>
                        <a:lumOff val="9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sz="800"/>
                        <a:t>End </a:t>
                      </a:r>
                      <a:r>
                        <a:rPr lang="de-DE" sz="800" err="1"/>
                        <a:t>of</a:t>
                      </a:r>
                      <a:r>
                        <a:rPr lang="de-DE" sz="800"/>
                        <a:t> </a:t>
                      </a:r>
                      <a:r>
                        <a:rPr lang="de-DE" sz="800" err="1"/>
                        <a:t>Contract</a:t>
                      </a:r>
                      <a:endParaRPr lang="en-US" sz="800"/>
                    </a:p>
                  </a:txBody>
                  <a:tcPr marL="68580" marR="68580" marT="34290" marB="34290">
                    <a:solidFill>
                      <a:schemeClr val="accent5">
                        <a:lumMod val="10000"/>
                        <a:lumOff val="90000"/>
                      </a:schemeClr>
                    </a:solidFill>
                  </a:tcPr>
                </a:tc>
                <a:extLst>
                  <a:ext uri="{0D108BD9-81ED-4DB2-BD59-A6C34878D82A}">
                    <a16:rowId xmlns:a16="http://schemas.microsoft.com/office/drawing/2014/main" val="3044859447"/>
                  </a:ext>
                </a:extLst>
              </a:tr>
              <a:tr h="411480">
                <a:tc>
                  <a:txBody>
                    <a:bodyPr/>
                    <a:lstStyle/>
                    <a:p>
                      <a:r>
                        <a:rPr lang="en-US" sz="800" noProof="0"/>
                        <a:t>Dealer employees</a:t>
                      </a:r>
                    </a:p>
                  </a:txBody>
                  <a:tcPr marL="68580" marR="68580" marT="34290" marB="34290">
                    <a:solidFill>
                      <a:schemeClr val="accent5">
                        <a:lumMod val="10000"/>
                        <a:lumOff val="90000"/>
                      </a:schemeClr>
                    </a:solidFill>
                  </a:tcPr>
                </a:tc>
                <a:tc>
                  <a:txBody>
                    <a:bodyPr/>
                    <a:lstStyle/>
                    <a:p>
                      <a:r>
                        <a:rPr lang="fr-FR" sz="800"/>
                        <a:t>Sales &amp; Marketing</a:t>
                      </a:r>
                      <a:endParaRPr lang="en-US" sz="800"/>
                    </a:p>
                  </a:txBody>
                  <a:tcPr marL="68580" marR="68580" marT="34290" marB="34290">
                    <a:solidFill>
                      <a:schemeClr val="accent5">
                        <a:lumMod val="10000"/>
                        <a:lumOff val="90000"/>
                      </a:schemeClr>
                    </a:solidFill>
                  </a:tcPr>
                </a:tc>
                <a:tc>
                  <a:txBody>
                    <a:bodyPr/>
                    <a:lstStyle/>
                    <a:p>
                      <a:r>
                        <a:rPr lang="fr-FR" sz="800"/>
                        <a:t>Jan 2020</a:t>
                      </a:r>
                    </a:p>
                  </a:txBody>
                  <a:tcPr marL="68580" marR="68580" marT="34290" marB="34290">
                    <a:solidFill>
                      <a:schemeClr val="accent5">
                        <a:lumMod val="10000"/>
                        <a:lumOff val="90000"/>
                      </a:schemeClr>
                    </a:solidFill>
                  </a:tcPr>
                </a:tc>
                <a:tc>
                  <a:txBody>
                    <a:bodyPr/>
                    <a:lstStyle/>
                    <a:p>
                      <a:r>
                        <a:rPr lang="en-US" sz="800"/>
                        <a:t>New</a:t>
                      </a:r>
                    </a:p>
                  </a:txBody>
                  <a:tcPr marL="68580" marR="68580" marT="34290" marB="34290">
                    <a:solidFill>
                      <a:schemeClr val="accent5">
                        <a:lumMod val="10000"/>
                        <a:lumOff val="90000"/>
                      </a:schemeClr>
                    </a:solidFill>
                  </a:tcPr>
                </a:tc>
                <a:tc>
                  <a:txBody>
                    <a:bodyPr/>
                    <a:lstStyle/>
                    <a:p>
                      <a:pPr lvl="0" algn="l">
                        <a:lnSpc>
                          <a:spcPct val="100000"/>
                        </a:lnSpc>
                        <a:spcBef>
                          <a:spcPts val="0"/>
                        </a:spcBef>
                        <a:spcAft>
                          <a:spcPts val="0"/>
                        </a:spcAft>
                        <a:buNone/>
                      </a:pPr>
                      <a:r>
                        <a:rPr lang="en-US" sz="800" b="0" i="0" u="none" strike="noStrike" noProof="0">
                          <a:solidFill>
                            <a:srgbClr val="272B35"/>
                          </a:solidFill>
                          <a:latin typeface="Encode Sans"/>
                        </a:rPr>
                        <a:t>LINK or </a:t>
                      </a:r>
                      <a:endParaRPr lang="en-US" sz="800"/>
                    </a:p>
                    <a:p>
                      <a:pPr lvl="0" algn="l">
                        <a:lnSpc>
                          <a:spcPct val="100000"/>
                        </a:lnSpc>
                        <a:spcBef>
                          <a:spcPts val="0"/>
                        </a:spcBef>
                        <a:spcAft>
                          <a:spcPts val="0"/>
                        </a:spcAft>
                        <a:buNone/>
                      </a:pPr>
                      <a:r>
                        <a:rPr lang="en-US" sz="800" b="0" i="0" u="none" strike="noStrike" noProof="0">
                          <a:solidFill>
                            <a:srgbClr val="272B35"/>
                          </a:solidFill>
                          <a:latin typeface="Encode Sans"/>
                        </a:rPr>
                        <a:t>availability date</a:t>
                      </a:r>
                    </a:p>
                  </a:txBody>
                  <a:tcPr marL="68580" marR="68580" marT="34290" marB="34290">
                    <a:solidFill>
                      <a:schemeClr val="accent5">
                        <a:lumMod val="10000"/>
                        <a:lumOff val="90000"/>
                      </a:schemeClr>
                    </a:solidFill>
                  </a:tcPr>
                </a:tc>
                <a:tc>
                  <a:txBody>
                    <a:bodyPr/>
                    <a:lstStyle/>
                    <a:p>
                      <a:pPr lvl="0" algn="ctr">
                        <a:lnSpc>
                          <a:spcPct val="100000"/>
                        </a:lnSpc>
                        <a:spcBef>
                          <a:spcPts val="0"/>
                        </a:spcBef>
                        <a:spcAft>
                          <a:spcPts val="0"/>
                        </a:spcAft>
                        <a:buNone/>
                      </a:pPr>
                      <a:r>
                        <a:rPr lang="fr-FR" sz="800" b="0" i="0" u="none" strike="noStrike" noProof="0">
                          <a:solidFill>
                            <a:srgbClr val="272B35"/>
                          </a:solidFill>
                          <a:latin typeface="Encode Sans"/>
                        </a:rPr>
                        <a:t>C2</a:t>
                      </a:r>
                      <a:endParaRPr lang="en-US" sz="800" b="0" i="0" u="none" strike="noStrike" noProof="0">
                        <a:solidFill>
                          <a:srgbClr val="272B35"/>
                        </a:solidFill>
                        <a:latin typeface="Encode Sans"/>
                      </a:endParaRPr>
                    </a:p>
                  </a:txBody>
                  <a:tcPr marL="68580" marR="68580" marT="34290" marB="34290">
                    <a:solidFill>
                      <a:schemeClr val="accent5">
                        <a:lumMod val="10000"/>
                        <a:lumOff val="90000"/>
                      </a:schemeClr>
                    </a:solidFill>
                  </a:tcPr>
                </a:tc>
                <a:tc>
                  <a:txBody>
                    <a:bodyPr/>
                    <a:lstStyle/>
                    <a:p>
                      <a:r>
                        <a:rPr lang="fr-FR" sz="800" b="0" i="0" u="none" strike="noStrike" noProof="0">
                          <a:solidFill>
                            <a:srgbClr val="272B35"/>
                          </a:solidFill>
                          <a:latin typeface="Encode Sans"/>
                        </a:rPr>
                        <a:t>Y</a:t>
                      </a:r>
                      <a:endParaRPr lang="en-US" sz="800"/>
                    </a:p>
                  </a:txBody>
                  <a:tcPr marL="68580" marR="68580" marT="34290" marB="34290">
                    <a:solidFill>
                      <a:schemeClr val="accent5">
                        <a:lumMod val="10000"/>
                        <a:lumOff val="90000"/>
                      </a:schemeClr>
                    </a:solidFill>
                  </a:tcPr>
                </a:tc>
                <a:tc>
                  <a:txBody>
                    <a:bodyPr/>
                    <a:lstStyle/>
                    <a:p>
                      <a:r>
                        <a:rPr lang="fr-FR" sz="800"/>
                        <a:t>EP</a:t>
                      </a:r>
                      <a:endParaRPr lang="en-US" sz="800"/>
                    </a:p>
                  </a:txBody>
                  <a:tcPr marL="68580" marR="68580" marT="34290" marB="34290">
                    <a:solidFill>
                      <a:schemeClr val="accent5">
                        <a:lumMod val="10000"/>
                        <a:lumOff val="90000"/>
                      </a:schemeClr>
                    </a:solidFill>
                  </a:tcPr>
                </a:tc>
                <a:tc>
                  <a:txBody>
                    <a:bodyPr/>
                    <a:lstStyle/>
                    <a:p>
                      <a:r>
                        <a:rPr lang="fr-FR" sz="800"/>
                        <a:t>ARCAD</a:t>
                      </a:r>
                      <a:endParaRPr lang="en-US" sz="800"/>
                    </a:p>
                  </a:txBody>
                  <a:tcPr marL="68580" marR="68580" marT="34290" marB="34290">
                    <a:solidFill>
                      <a:schemeClr val="accent5">
                        <a:lumMod val="10000"/>
                        <a:lumOff val="90000"/>
                      </a:schemeClr>
                    </a:solidFill>
                  </a:tcPr>
                </a:tc>
                <a:tc>
                  <a:txBody>
                    <a:bodyPr/>
                    <a:lstStyle/>
                    <a:p>
                      <a:r>
                        <a:rPr lang="fr-FR" sz="800"/>
                        <a:t>Not </a:t>
                      </a:r>
                      <a:r>
                        <a:rPr lang="fr-FR" sz="800" err="1"/>
                        <a:t>ingested</a:t>
                      </a:r>
                      <a:r>
                        <a:rPr lang="fr-FR" sz="800"/>
                        <a:t> </a:t>
                      </a:r>
                      <a:r>
                        <a:rPr lang="fr-FR" sz="800" err="1"/>
                        <a:t>yet</a:t>
                      </a:r>
                      <a:endParaRPr lang="en-US" sz="800"/>
                    </a:p>
                  </a:txBody>
                  <a:tcPr marL="68580" marR="68580" marT="34290" marB="34290">
                    <a:solidFill>
                      <a:schemeClr val="accent5">
                        <a:lumMod val="10000"/>
                        <a:lumOff val="90000"/>
                      </a:schemeClr>
                    </a:solidFill>
                  </a:tcPr>
                </a:tc>
                <a:tc>
                  <a:txBody>
                    <a:bodyPr/>
                    <a:lstStyle/>
                    <a:p>
                      <a:pPr algn="ctr"/>
                      <a:r>
                        <a:rPr lang="fr-FR" sz="800"/>
                        <a:t>0</a:t>
                      </a:r>
                      <a:endParaRPr lang="en-US" sz="800"/>
                    </a:p>
                  </a:txBody>
                  <a:tcPr marL="68580" marR="68580" marT="34290" marB="34290">
                    <a:solidFill>
                      <a:schemeClr val="accent5">
                        <a:lumMod val="10000"/>
                        <a:lumOff val="90000"/>
                      </a:schemeClr>
                    </a:solidFill>
                  </a:tcPr>
                </a:tc>
                <a:tc>
                  <a:txBody>
                    <a:bodyPr/>
                    <a:lstStyle/>
                    <a:p>
                      <a:pPr algn="ctr"/>
                      <a:r>
                        <a:rPr lang="fr-FR" sz="800"/>
                        <a:t>1</a:t>
                      </a:r>
                      <a:endParaRPr lang="en-US" sz="800"/>
                    </a:p>
                  </a:txBody>
                  <a:tcPr marL="68580" marR="68580" marT="34290" marB="34290">
                    <a:solidFill>
                      <a:schemeClr val="accent5">
                        <a:lumMod val="10000"/>
                        <a:lumOff val="90000"/>
                      </a:schemeClr>
                    </a:solidFill>
                  </a:tcPr>
                </a:tc>
                <a:tc>
                  <a:txBody>
                    <a:bodyPr/>
                    <a:lstStyle/>
                    <a:p>
                      <a:r>
                        <a:rPr lang="fr-FR" sz="800"/>
                        <a:t>3 </a:t>
                      </a:r>
                      <a:r>
                        <a:rPr lang="fr-FR" sz="800" err="1"/>
                        <a:t>years</a:t>
                      </a:r>
                      <a:endParaRPr lang="en-US" sz="800"/>
                    </a:p>
                  </a:txBody>
                  <a:tcPr marL="68580" marR="68580" marT="34290" marB="34290">
                    <a:solidFill>
                      <a:schemeClr val="accent5">
                        <a:lumMod val="10000"/>
                        <a:lumOff val="90000"/>
                      </a:schemeClr>
                    </a:solidFill>
                  </a:tcPr>
                </a:tc>
                <a:tc>
                  <a:txBody>
                    <a:bodyPr/>
                    <a:lstStyle/>
                    <a:p>
                      <a:r>
                        <a:rPr lang="fr-FR" sz="800" err="1"/>
                        <a:t>Deletion</a:t>
                      </a:r>
                      <a:endParaRPr lang="en-US" sz="800"/>
                    </a:p>
                  </a:txBody>
                  <a:tcPr marL="68580" marR="68580" marT="34290" marB="34290">
                    <a:solidFill>
                      <a:schemeClr val="accent5">
                        <a:lumMod val="10000"/>
                        <a:lumOff val="90000"/>
                      </a:schemeClr>
                    </a:solidFill>
                  </a:tcPr>
                </a:tc>
                <a:tc>
                  <a:txBody>
                    <a:bodyPr/>
                    <a:lstStyle/>
                    <a:p>
                      <a:r>
                        <a:rPr lang="fr-FR" sz="800"/>
                        <a:t>Record Date</a:t>
                      </a:r>
                      <a:endParaRPr lang="en-US" sz="800"/>
                    </a:p>
                  </a:txBody>
                  <a:tcPr marL="68580" marR="68580" marT="34290" marB="34290">
                    <a:solidFill>
                      <a:schemeClr val="accent5">
                        <a:lumMod val="10000"/>
                        <a:lumOff val="90000"/>
                      </a:schemeClr>
                    </a:solidFill>
                  </a:tcPr>
                </a:tc>
                <a:extLst>
                  <a:ext uri="{0D108BD9-81ED-4DB2-BD59-A6C34878D82A}">
                    <a16:rowId xmlns:a16="http://schemas.microsoft.com/office/drawing/2014/main" val="1760922357"/>
                  </a:ext>
                </a:extLst>
              </a:tr>
              <a:tr h="303191">
                <a:tc rowSpan="2">
                  <a:txBody>
                    <a:bodyPr/>
                    <a:lstStyle/>
                    <a:p>
                      <a:pPr lvl="0">
                        <a:buNone/>
                      </a:pPr>
                      <a:r>
                        <a:rPr lang="fr-FR" sz="800"/>
                        <a:t>Dealers</a:t>
                      </a:r>
                      <a:endParaRPr lang="en-US" sz="800"/>
                    </a:p>
                  </a:txBody>
                  <a:tcPr marL="68580" marR="68580" marT="34290" marB="34290">
                    <a:solidFill>
                      <a:schemeClr val="accent5">
                        <a:lumMod val="10000"/>
                        <a:lumOff val="90000"/>
                      </a:schemeClr>
                    </a:solidFill>
                  </a:tcPr>
                </a:tc>
                <a:tc rowSpan="2">
                  <a:txBody>
                    <a:bodyPr/>
                    <a:lstStyle/>
                    <a:p>
                      <a:pPr lvl="0">
                        <a:buNone/>
                      </a:pPr>
                      <a:r>
                        <a:rPr lang="fr-FR" sz="800"/>
                        <a:t>Sales &amp; Marketing</a:t>
                      </a:r>
                      <a:endParaRPr lang="en-US" sz="800"/>
                    </a:p>
                  </a:txBody>
                  <a:tcPr marL="68580" marR="68580" marT="34290" marB="34290">
                    <a:solidFill>
                      <a:schemeClr val="accent5">
                        <a:lumMod val="10000"/>
                        <a:lumOff val="90000"/>
                      </a:schemeClr>
                    </a:solidFill>
                  </a:tcPr>
                </a:tc>
                <a:tc rowSpan="2">
                  <a:txBody>
                    <a:bodyPr/>
                    <a:lstStyle/>
                    <a:p>
                      <a:r>
                        <a:rPr lang="fr-FR" sz="800"/>
                        <a:t>Jan 2020</a:t>
                      </a:r>
                    </a:p>
                  </a:txBody>
                  <a:tcPr marL="68580" marR="68580" marT="34290" marB="34290">
                    <a:solidFill>
                      <a:schemeClr val="accent5">
                        <a:lumMod val="10000"/>
                        <a:lumOff val="90000"/>
                      </a:schemeClr>
                    </a:solidFill>
                  </a:tcPr>
                </a:tc>
                <a:tc rowSpan="2">
                  <a:txBody>
                    <a:bodyPr/>
                    <a:lstStyle/>
                    <a:p>
                      <a:pPr marL="0" marR="0" lvl="0" indent="0" algn="l">
                        <a:lnSpc>
                          <a:spcPct val="100000"/>
                        </a:lnSpc>
                        <a:spcBef>
                          <a:spcPts val="0"/>
                        </a:spcBef>
                        <a:spcAft>
                          <a:spcPts val="0"/>
                        </a:spcAft>
                        <a:buNone/>
                      </a:pPr>
                      <a:r>
                        <a:rPr lang="fr-FR" sz="800"/>
                        <a:t>In SNF</a:t>
                      </a:r>
                    </a:p>
                    <a:p>
                      <a:pPr marL="0" marR="0" lvl="0" indent="0" algn="l">
                        <a:lnSpc>
                          <a:spcPct val="100000"/>
                        </a:lnSpc>
                        <a:spcBef>
                          <a:spcPts val="0"/>
                        </a:spcBef>
                        <a:spcAft>
                          <a:spcPts val="0"/>
                        </a:spcAft>
                        <a:buNone/>
                      </a:pPr>
                      <a:r>
                        <a:rPr lang="en-US" sz="700" b="0" i="0" kern="1200">
                          <a:solidFill>
                            <a:schemeClr val="dk1"/>
                          </a:solidFill>
                          <a:effectLst/>
                          <a:latin typeface="+mn-lt"/>
                          <a:ea typeface="+mn-ea"/>
                          <a:cs typeface="+mn-cs"/>
                        </a:rPr>
                        <a:t>DB_TL_CMN.TL_SAL.ENT_NETWORK_SUBJECT</a:t>
                      </a:r>
                      <a:endParaRPr lang="fr-FR" sz="700"/>
                    </a:p>
                  </a:txBody>
                  <a:tcPr marL="68580" marR="68580" marT="34290" marB="34290">
                    <a:solidFill>
                      <a:schemeClr val="accent5">
                        <a:lumMod val="10000"/>
                        <a:lumOff val="90000"/>
                      </a:schemeClr>
                    </a:solidFill>
                  </a:tcPr>
                </a:tc>
                <a:tc rowSpan="2">
                  <a:txBody>
                    <a:bodyPr/>
                    <a:lstStyle/>
                    <a:p>
                      <a:pPr lvl="0" algn="l">
                        <a:lnSpc>
                          <a:spcPct val="100000"/>
                        </a:lnSpc>
                        <a:spcBef>
                          <a:spcPts val="0"/>
                        </a:spcBef>
                        <a:spcAft>
                          <a:spcPts val="0"/>
                        </a:spcAft>
                        <a:buNone/>
                      </a:pPr>
                      <a:r>
                        <a:rPr lang="en-US" sz="800" b="0" i="0" u="none" strike="noStrike" noProof="0">
                          <a:solidFill>
                            <a:srgbClr val="272B35"/>
                          </a:solidFill>
                          <a:latin typeface="+mn-lt"/>
                        </a:rPr>
                        <a:t>LINK or </a:t>
                      </a:r>
                      <a:endParaRPr lang="en-US" sz="800"/>
                    </a:p>
                    <a:p>
                      <a:pPr lvl="0" algn="l">
                        <a:lnSpc>
                          <a:spcPct val="100000"/>
                        </a:lnSpc>
                        <a:spcBef>
                          <a:spcPts val="0"/>
                        </a:spcBef>
                        <a:spcAft>
                          <a:spcPts val="0"/>
                        </a:spcAft>
                        <a:buNone/>
                      </a:pPr>
                      <a:r>
                        <a:rPr lang="en-US" sz="800" b="0" i="0" u="none" strike="noStrike" noProof="0">
                          <a:solidFill>
                            <a:srgbClr val="272B35"/>
                          </a:solidFill>
                          <a:latin typeface="+mn-lt"/>
                        </a:rPr>
                        <a:t>availability date</a:t>
                      </a:r>
                    </a:p>
                  </a:txBody>
                  <a:tcPr marL="68580" marR="68580" marT="34290" marB="34290">
                    <a:solidFill>
                      <a:schemeClr val="accent5">
                        <a:lumMod val="10000"/>
                        <a:lumOff val="90000"/>
                      </a:schemeClr>
                    </a:solidFill>
                  </a:tcPr>
                </a:tc>
                <a:tc rowSpan="2">
                  <a:txBody>
                    <a:bodyPr/>
                    <a:lstStyle/>
                    <a:p>
                      <a:pPr lvl="0" algn="ctr">
                        <a:lnSpc>
                          <a:spcPct val="100000"/>
                        </a:lnSpc>
                        <a:spcBef>
                          <a:spcPts val="0"/>
                        </a:spcBef>
                        <a:spcAft>
                          <a:spcPts val="0"/>
                        </a:spcAft>
                        <a:buNone/>
                      </a:pPr>
                      <a:r>
                        <a:rPr lang="fr-FR" sz="800" b="0" i="0" u="none" strike="noStrike" noProof="0">
                          <a:solidFill>
                            <a:srgbClr val="272B35"/>
                          </a:solidFill>
                          <a:latin typeface="+mn-lt"/>
                        </a:rPr>
                        <a:t>C2</a:t>
                      </a:r>
                      <a:endParaRPr lang="en-US" sz="800" b="0" i="0" u="none" strike="noStrike" noProof="0">
                        <a:solidFill>
                          <a:srgbClr val="272B35"/>
                        </a:solidFill>
                        <a:latin typeface="+mn-lt"/>
                      </a:endParaRPr>
                    </a:p>
                  </a:txBody>
                  <a:tcPr marL="68580" marR="68580" marT="34290" marB="34290">
                    <a:solidFill>
                      <a:schemeClr val="accent5">
                        <a:lumMod val="10000"/>
                        <a:lumOff val="90000"/>
                      </a:schemeClr>
                    </a:solidFill>
                  </a:tcPr>
                </a:tc>
                <a:tc rowSpan="2">
                  <a:txBody>
                    <a:bodyPr/>
                    <a:lstStyle/>
                    <a:p>
                      <a:r>
                        <a:rPr lang="fr-FR" sz="800" b="0" i="0" u="none" strike="noStrike" noProof="0">
                          <a:solidFill>
                            <a:srgbClr val="272B35"/>
                          </a:solidFill>
                          <a:latin typeface="+mn-lt"/>
                        </a:rPr>
                        <a:t>N</a:t>
                      </a:r>
                      <a:endParaRPr lang="en-US" sz="800"/>
                    </a:p>
                  </a:txBody>
                  <a:tcPr marL="68580" marR="68580" marT="34290" marB="34290">
                    <a:solidFill>
                      <a:schemeClr val="accent5">
                        <a:lumMod val="10000"/>
                        <a:lumOff val="90000"/>
                      </a:schemeClr>
                    </a:solidFill>
                  </a:tcPr>
                </a:tc>
                <a:tc>
                  <a:txBody>
                    <a:bodyPr/>
                    <a:lstStyle/>
                    <a:p>
                      <a:pPr lvl="0">
                        <a:buNone/>
                      </a:pPr>
                      <a:r>
                        <a:rPr lang="fr-FR" sz="800"/>
                        <a:t>EP</a:t>
                      </a:r>
                      <a:endParaRPr lang="en-US" sz="800"/>
                    </a:p>
                  </a:txBody>
                  <a:tcPr marL="68580" marR="68580" marT="34290" marB="34290">
                    <a:solidFill>
                      <a:schemeClr val="accent5">
                        <a:lumMod val="10000"/>
                        <a:lumOff val="90000"/>
                      </a:schemeClr>
                    </a:solidFill>
                  </a:tcPr>
                </a:tc>
                <a:tc>
                  <a:txBody>
                    <a:bodyPr/>
                    <a:lstStyle/>
                    <a:p>
                      <a:pPr lvl="0">
                        <a:buNone/>
                      </a:pPr>
                      <a:r>
                        <a:rPr lang="fr-FR" sz="800"/>
                        <a:t>ARCAD</a:t>
                      </a:r>
                      <a:endParaRPr lang="en-US" sz="800"/>
                    </a:p>
                  </a:txBody>
                  <a:tcPr marL="68580" marR="68580" marT="34290" marB="34290">
                    <a:solidFill>
                      <a:schemeClr val="accent5">
                        <a:lumMod val="10000"/>
                        <a:lumOff val="90000"/>
                      </a:schemeClr>
                    </a:solidFill>
                  </a:tcPr>
                </a:tc>
                <a:tc>
                  <a:txBody>
                    <a:bodyPr/>
                    <a:lstStyle/>
                    <a:p>
                      <a:pPr lvl="0">
                        <a:buNone/>
                      </a:pPr>
                      <a:r>
                        <a:rPr lang="fr-FR" sz="800"/>
                        <a:t>In Global SNF</a:t>
                      </a:r>
                    </a:p>
                  </a:txBody>
                  <a:tcPr marL="68580" marR="68580" marT="34290" marB="34290">
                    <a:solidFill>
                      <a:schemeClr val="accent5">
                        <a:lumMod val="10000"/>
                        <a:lumOff val="90000"/>
                      </a:schemeClr>
                    </a:solidFill>
                  </a:tcPr>
                </a:tc>
                <a:tc>
                  <a:txBody>
                    <a:bodyPr/>
                    <a:lstStyle/>
                    <a:p>
                      <a:pPr lvl="0" algn="ctr">
                        <a:buNone/>
                      </a:pPr>
                      <a:r>
                        <a:rPr lang="fr-FR" sz="800"/>
                        <a:t>1</a:t>
                      </a:r>
                      <a:endParaRPr lang="en-US" sz="800"/>
                    </a:p>
                  </a:txBody>
                  <a:tcPr marL="68580" marR="68580" marT="34290" marB="34290">
                    <a:solidFill>
                      <a:schemeClr val="accent5">
                        <a:lumMod val="10000"/>
                        <a:lumOff val="90000"/>
                      </a:schemeClr>
                    </a:solidFill>
                  </a:tcPr>
                </a:tc>
                <a:tc>
                  <a:txBody>
                    <a:bodyPr/>
                    <a:lstStyle/>
                    <a:p>
                      <a:pPr lvl="0" algn="ctr">
                        <a:buNone/>
                      </a:pPr>
                      <a:r>
                        <a:rPr lang="fr-FR" sz="800"/>
                        <a:t>0</a:t>
                      </a:r>
                      <a:endParaRPr lang="en-US" sz="800"/>
                    </a:p>
                  </a:txBody>
                  <a:tcPr marL="68580" marR="68580" marT="34290" marB="34290">
                    <a:solidFill>
                      <a:schemeClr val="accent5">
                        <a:lumMod val="10000"/>
                        <a:lumOff val="90000"/>
                      </a:schemeClr>
                    </a:solidFill>
                  </a:tcPr>
                </a:tc>
                <a:tc>
                  <a:txBody>
                    <a:bodyPr/>
                    <a:lstStyle/>
                    <a:p>
                      <a:pPr lvl="0">
                        <a:buNone/>
                      </a:pPr>
                      <a:endParaRPr lang="fr-FR" sz="800"/>
                    </a:p>
                  </a:txBody>
                  <a:tcPr marL="68580" marR="68580" marT="34290" marB="34290">
                    <a:solidFill>
                      <a:schemeClr val="accent5">
                        <a:lumMod val="10000"/>
                        <a:lumOff val="90000"/>
                      </a:schemeClr>
                    </a:solidFill>
                  </a:tcPr>
                </a:tc>
                <a:tc>
                  <a:txBody>
                    <a:bodyPr/>
                    <a:lstStyle/>
                    <a:p>
                      <a:pPr lvl="0">
                        <a:buNone/>
                      </a:pPr>
                      <a:endParaRPr lang="en-US" sz="800"/>
                    </a:p>
                  </a:txBody>
                  <a:tcPr marL="68580" marR="68580" marT="34290" marB="34290">
                    <a:solidFill>
                      <a:schemeClr val="accent5">
                        <a:lumMod val="10000"/>
                        <a:lumOff val="90000"/>
                      </a:schemeClr>
                    </a:solidFill>
                  </a:tcPr>
                </a:tc>
                <a:tc>
                  <a:txBody>
                    <a:bodyPr/>
                    <a:lstStyle/>
                    <a:p>
                      <a:pPr lvl="0">
                        <a:buNone/>
                      </a:pPr>
                      <a:endParaRPr lang="en-US" sz="800"/>
                    </a:p>
                  </a:txBody>
                  <a:tcPr marL="68580" marR="68580" marT="34290" marB="34290">
                    <a:solidFill>
                      <a:schemeClr val="accent5">
                        <a:lumMod val="10000"/>
                        <a:lumOff val="90000"/>
                      </a:schemeClr>
                    </a:solidFill>
                  </a:tcPr>
                </a:tc>
                <a:extLst>
                  <a:ext uri="{0D108BD9-81ED-4DB2-BD59-A6C34878D82A}">
                    <a16:rowId xmlns:a16="http://schemas.microsoft.com/office/drawing/2014/main" val="2257009472"/>
                  </a:ext>
                </a:extLst>
              </a:tr>
              <a:tr h="394040">
                <a:tc vMerge="1">
                  <a:txBody>
                    <a:bodyPr/>
                    <a:lstStyle/>
                    <a:p>
                      <a:endParaRPr lang="en-US"/>
                    </a:p>
                  </a:txBody>
                  <a:tcPr>
                    <a:solidFill>
                      <a:schemeClr val="accent5">
                        <a:lumMod val="10000"/>
                        <a:lumOff val="90000"/>
                      </a:schemeClr>
                    </a:solidFill>
                  </a:tcPr>
                </a:tc>
                <a:tc vMerge="1">
                  <a:txBody>
                    <a:bodyPr/>
                    <a:lstStyle/>
                    <a:p>
                      <a:endParaRPr lang="en-US"/>
                    </a:p>
                  </a:txBody>
                  <a:tcPr>
                    <a:solidFill>
                      <a:schemeClr val="accent5">
                        <a:lumMod val="10000"/>
                        <a:lumOff val="90000"/>
                      </a:schemeClr>
                    </a:solidFill>
                  </a:tcPr>
                </a:tc>
                <a:tc vMerge="1">
                  <a:txBody>
                    <a:bodyPr/>
                    <a:lstStyle/>
                    <a:p>
                      <a:endParaRPr lang="en-US"/>
                    </a:p>
                  </a:txBody>
                  <a:tcPr>
                    <a:solidFill>
                      <a:schemeClr val="accent5">
                        <a:lumMod val="10000"/>
                        <a:lumOff val="90000"/>
                      </a:schemeClr>
                    </a:solidFill>
                  </a:tcPr>
                </a:tc>
                <a:tc vMerge="1">
                  <a:txBody>
                    <a:bodyPr/>
                    <a:lstStyle/>
                    <a:p>
                      <a:endParaRPr lang="en-US"/>
                    </a:p>
                  </a:txBody>
                  <a:tcPr>
                    <a:solidFill>
                      <a:schemeClr val="accent5">
                        <a:lumMod val="10000"/>
                        <a:lumOff val="90000"/>
                      </a:schemeClr>
                    </a:solidFill>
                  </a:tcPr>
                </a:tc>
                <a:tc vMerge="1">
                  <a:txBody>
                    <a:bodyPr/>
                    <a:lstStyle/>
                    <a:p>
                      <a:endParaRPr lang="en-US"/>
                    </a:p>
                  </a:txBody>
                  <a:tcPr>
                    <a:solidFill>
                      <a:schemeClr val="accent5">
                        <a:lumMod val="10000"/>
                        <a:lumOff val="90000"/>
                      </a:schemeClr>
                    </a:solidFill>
                  </a:tcPr>
                </a:tc>
                <a:tc vMerge="1">
                  <a:txBody>
                    <a:bodyPr/>
                    <a:lstStyle/>
                    <a:p>
                      <a:endParaRPr lang="fr-FR"/>
                    </a:p>
                  </a:txBody>
                  <a:tcPr/>
                </a:tc>
                <a:tc vMerge="1">
                  <a:txBody>
                    <a:bodyPr/>
                    <a:lstStyle/>
                    <a:p>
                      <a:endParaRPr lang="en-US"/>
                    </a:p>
                  </a:txBody>
                  <a:tcPr/>
                </a:tc>
                <a:tc>
                  <a:txBody>
                    <a:bodyPr/>
                    <a:lstStyle/>
                    <a:p>
                      <a:pPr lvl="0">
                        <a:buNone/>
                      </a:pPr>
                      <a:r>
                        <a:rPr lang="fr-FR" sz="800" u="sng" err="1"/>
                        <a:t>xF</a:t>
                      </a:r>
                      <a:r>
                        <a:rPr lang="fr-FR" sz="800" u="sng"/>
                        <a:t> EE</a:t>
                      </a:r>
                      <a:endParaRPr lang="en-US" sz="800" u="sng"/>
                    </a:p>
                  </a:txBody>
                  <a:tcPr marL="68580" marR="68580" marT="34290" marB="34290">
                    <a:solidFill>
                      <a:schemeClr val="accent5">
                        <a:lumMod val="10000"/>
                        <a:lumOff val="90000"/>
                      </a:schemeClr>
                    </a:solidFill>
                  </a:tcPr>
                </a:tc>
                <a:tc>
                  <a:txBody>
                    <a:bodyPr/>
                    <a:lstStyle/>
                    <a:p>
                      <a:pPr lvl="0">
                        <a:buNone/>
                      </a:pPr>
                      <a:r>
                        <a:rPr lang="fr-FR" sz="800"/>
                        <a:t>WEBDAC</a:t>
                      </a:r>
                      <a:endParaRPr lang="en-US" sz="800"/>
                    </a:p>
                  </a:txBody>
                  <a:tcPr marL="68580" marR="68580" marT="34290" marB="34290">
                    <a:solidFill>
                      <a:schemeClr val="accent5">
                        <a:lumMod val="10000"/>
                        <a:lumOff val="90000"/>
                      </a:schemeClr>
                    </a:solidFill>
                  </a:tcPr>
                </a:tc>
                <a:tc>
                  <a:txBody>
                    <a:bodyPr/>
                    <a:lstStyle/>
                    <a:p>
                      <a:pPr lvl="0">
                        <a:buNone/>
                      </a:pPr>
                      <a:r>
                        <a:rPr lang="fr-FR" sz="800"/>
                        <a:t>In Global SNF</a:t>
                      </a:r>
                    </a:p>
                  </a:txBody>
                  <a:tcPr marL="68580" marR="68580" marT="34290" marB="34290">
                    <a:solidFill>
                      <a:schemeClr val="accent5">
                        <a:lumMod val="10000"/>
                        <a:lumOff val="90000"/>
                      </a:schemeClr>
                    </a:solidFill>
                  </a:tcPr>
                </a:tc>
                <a:tc>
                  <a:txBody>
                    <a:bodyPr/>
                    <a:lstStyle/>
                    <a:p>
                      <a:pPr lvl="0" algn="ctr">
                        <a:buNone/>
                      </a:pPr>
                      <a:r>
                        <a:rPr lang="fr-FR" sz="800"/>
                        <a:t>1</a:t>
                      </a:r>
                      <a:endParaRPr lang="en-US" sz="800"/>
                    </a:p>
                  </a:txBody>
                  <a:tcPr marL="68580" marR="68580" marT="34290" marB="34290">
                    <a:solidFill>
                      <a:schemeClr val="accent5">
                        <a:lumMod val="10000"/>
                        <a:lumOff val="90000"/>
                      </a:schemeClr>
                    </a:solidFill>
                  </a:tcPr>
                </a:tc>
                <a:tc>
                  <a:txBody>
                    <a:bodyPr/>
                    <a:lstStyle/>
                    <a:p>
                      <a:pPr lvl="0" algn="ctr">
                        <a:buNone/>
                      </a:pPr>
                      <a:r>
                        <a:rPr lang="fr-FR" sz="800"/>
                        <a:t>0</a:t>
                      </a:r>
                      <a:endParaRPr lang="en-US" sz="800"/>
                    </a:p>
                  </a:txBody>
                  <a:tcPr marL="68580" marR="68580" marT="34290" marB="34290">
                    <a:solidFill>
                      <a:schemeClr val="accent5">
                        <a:lumMod val="10000"/>
                        <a:lumOff val="90000"/>
                      </a:schemeClr>
                    </a:solidFill>
                  </a:tcPr>
                </a:tc>
                <a:tc>
                  <a:txBody>
                    <a:bodyPr/>
                    <a:lstStyle/>
                    <a:p>
                      <a:pPr lvl="0">
                        <a:buNone/>
                      </a:pPr>
                      <a:endParaRPr lang="en-US" sz="800"/>
                    </a:p>
                  </a:txBody>
                  <a:tcPr marL="68580" marR="68580" marT="34290" marB="34290">
                    <a:solidFill>
                      <a:schemeClr val="accent5">
                        <a:lumMod val="10000"/>
                        <a:lumOff val="90000"/>
                      </a:schemeClr>
                    </a:solidFill>
                  </a:tcPr>
                </a:tc>
                <a:tc>
                  <a:txBody>
                    <a:bodyPr/>
                    <a:lstStyle/>
                    <a:p>
                      <a:pPr lvl="0">
                        <a:buNone/>
                      </a:pPr>
                      <a:endParaRPr lang="en-US" sz="800"/>
                    </a:p>
                  </a:txBody>
                  <a:tcPr marL="68580" marR="68580" marT="34290" marB="34290">
                    <a:solidFill>
                      <a:schemeClr val="accent5">
                        <a:lumMod val="10000"/>
                        <a:lumOff val="90000"/>
                      </a:schemeClr>
                    </a:solidFill>
                  </a:tcPr>
                </a:tc>
                <a:tc>
                  <a:txBody>
                    <a:bodyPr/>
                    <a:lstStyle/>
                    <a:p>
                      <a:pPr lvl="0">
                        <a:buNone/>
                      </a:pPr>
                      <a:endParaRPr lang="en-US" sz="800"/>
                    </a:p>
                  </a:txBody>
                  <a:tcPr marL="68580" marR="68580" marT="34290" marB="34290">
                    <a:solidFill>
                      <a:schemeClr val="accent5">
                        <a:lumMod val="10000"/>
                        <a:lumOff val="90000"/>
                      </a:schemeClr>
                    </a:solidFill>
                  </a:tcPr>
                </a:tc>
                <a:extLst>
                  <a:ext uri="{0D108BD9-81ED-4DB2-BD59-A6C34878D82A}">
                    <a16:rowId xmlns:a16="http://schemas.microsoft.com/office/drawing/2014/main" val="1144435335"/>
                  </a:ext>
                </a:extLst>
              </a:tr>
              <a:tr h="303191">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pPr lvl="0">
                        <a:buNone/>
                      </a:pPr>
                      <a:endParaRPr lang="en-US" sz="900"/>
                    </a:p>
                  </a:txBody>
                  <a:tcPr marL="68580" marR="68580" marT="34290" marB="34290">
                    <a:solidFill>
                      <a:schemeClr val="accent5">
                        <a:lumMod val="10000"/>
                        <a:lumOff val="90000"/>
                      </a:schemeClr>
                    </a:solidFill>
                  </a:tcPr>
                </a:tc>
                <a:tc>
                  <a:txBody>
                    <a:bodyPr/>
                    <a:lstStyle/>
                    <a:p>
                      <a:endParaRPr lang="en-US" sz="8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706511999"/>
                  </a:ext>
                </a:extLst>
              </a:tr>
              <a:tr h="303191">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pPr lvl="0">
                        <a:buNone/>
                      </a:pPr>
                      <a:endParaRPr lang="en-US" sz="900"/>
                    </a:p>
                  </a:txBody>
                  <a:tcPr marL="68580" marR="68580" marT="34290" marB="34290">
                    <a:solidFill>
                      <a:schemeClr val="accent5">
                        <a:lumMod val="10000"/>
                        <a:lumOff val="90000"/>
                      </a:schemeClr>
                    </a:solidFill>
                  </a:tcPr>
                </a:tc>
                <a:tc>
                  <a:txBody>
                    <a:bodyPr/>
                    <a:lstStyle/>
                    <a:p>
                      <a:endParaRPr lang="en-US" sz="8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1364377173"/>
                  </a:ext>
                </a:extLst>
              </a:tr>
              <a:tr h="303191">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pPr lvl="0">
                        <a:buNone/>
                      </a:pPr>
                      <a:endParaRPr lang="en-US" sz="900"/>
                    </a:p>
                  </a:txBody>
                  <a:tcPr marL="68580" marR="68580" marT="34290" marB="34290">
                    <a:solidFill>
                      <a:schemeClr val="accent5">
                        <a:lumMod val="10000"/>
                        <a:lumOff val="90000"/>
                      </a:schemeClr>
                    </a:solidFill>
                  </a:tcPr>
                </a:tc>
                <a:tc>
                  <a:txBody>
                    <a:bodyPr/>
                    <a:lstStyle/>
                    <a:p>
                      <a:endParaRPr lang="en-US" sz="8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3987259822"/>
                  </a:ext>
                </a:extLst>
              </a:tr>
            </a:tbl>
          </a:graphicData>
        </a:graphic>
      </p:graphicFrame>
      <p:sp>
        <p:nvSpPr>
          <p:cNvPr id="5" name="ZoneTexte 4">
            <a:extLst>
              <a:ext uri="{FF2B5EF4-FFF2-40B4-BE49-F238E27FC236}">
                <a16:creationId xmlns:a16="http://schemas.microsoft.com/office/drawing/2014/main" id="{ABB3CE59-2722-4408-A403-EE086A95F75D}"/>
              </a:ext>
            </a:extLst>
          </p:cNvPr>
          <p:cNvSpPr txBox="1"/>
          <p:nvPr/>
        </p:nvSpPr>
        <p:spPr>
          <a:xfrm>
            <a:off x="22035" y="1009221"/>
            <a:ext cx="881743" cy="369332"/>
          </a:xfrm>
          <a:prstGeom prst="rect">
            <a:avLst/>
          </a:prstGeom>
          <a:noFill/>
        </p:spPr>
        <p:txBody>
          <a:bodyPr wrap="square" rtlCol="0">
            <a:spAutoFit/>
          </a:bodyPr>
          <a:lstStyle/>
          <a:p>
            <a:pPr algn="ctr"/>
            <a:r>
              <a:rPr lang="fr-FR" sz="900">
                <a:highlight>
                  <a:srgbClr val="FFFF00"/>
                </a:highlight>
              </a:rPr>
              <a:t>Business Object Model</a:t>
            </a:r>
          </a:p>
        </p:txBody>
      </p:sp>
      <p:sp>
        <p:nvSpPr>
          <p:cNvPr id="6" name="ZoneTexte 5">
            <a:extLst>
              <a:ext uri="{FF2B5EF4-FFF2-40B4-BE49-F238E27FC236}">
                <a16:creationId xmlns:a16="http://schemas.microsoft.com/office/drawing/2014/main" id="{5A52FA30-9BFA-0E01-6AD7-0E4C74D63B42}"/>
              </a:ext>
            </a:extLst>
          </p:cNvPr>
          <p:cNvSpPr txBox="1"/>
          <p:nvPr/>
        </p:nvSpPr>
        <p:spPr>
          <a:xfrm>
            <a:off x="745935" y="1009220"/>
            <a:ext cx="881743" cy="369332"/>
          </a:xfrm>
          <a:prstGeom prst="rect">
            <a:avLst/>
          </a:prstGeom>
          <a:noFill/>
        </p:spPr>
        <p:txBody>
          <a:bodyPr wrap="square" rtlCol="0">
            <a:spAutoFit/>
          </a:bodyPr>
          <a:lstStyle/>
          <a:p>
            <a:pPr algn="ctr"/>
            <a:r>
              <a:rPr lang="fr-FR" sz="900">
                <a:highlight>
                  <a:srgbClr val="FFFF00"/>
                </a:highlight>
              </a:rPr>
              <a:t>Business resp.</a:t>
            </a:r>
          </a:p>
        </p:txBody>
      </p:sp>
      <p:sp>
        <p:nvSpPr>
          <p:cNvPr id="8" name="ZoneTexte 7">
            <a:extLst>
              <a:ext uri="{FF2B5EF4-FFF2-40B4-BE49-F238E27FC236}">
                <a16:creationId xmlns:a16="http://schemas.microsoft.com/office/drawing/2014/main" id="{900C1F21-763C-4842-BF5D-9AC3912410DF}"/>
              </a:ext>
            </a:extLst>
          </p:cNvPr>
          <p:cNvSpPr txBox="1"/>
          <p:nvPr/>
        </p:nvSpPr>
        <p:spPr>
          <a:xfrm>
            <a:off x="4050712" y="919487"/>
            <a:ext cx="881743" cy="507831"/>
          </a:xfrm>
          <a:prstGeom prst="rect">
            <a:avLst/>
          </a:prstGeom>
          <a:noFill/>
        </p:spPr>
        <p:txBody>
          <a:bodyPr wrap="square" rtlCol="0">
            <a:spAutoFit/>
          </a:bodyPr>
          <a:lstStyle/>
          <a:p>
            <a:pPr algn="ctr"/>
            <a:r>
              <a:rPr lang="fr-FR" sz="900">
                <a:highlight>
                  <a:srgbClr val="FFFF00"/>
                </a:highlight>
              </a:rPr>
              <a:t>JV scope (</a:t>
            </a:r>
            <a:r>
              <a:rPr lang="fr-FR" sz="900" err="1">
                <a:highlight>
                  <a:srgbClr val="FFFF00"/>
                </a:highlight>
              </a:rPr>
              <a:t>could</a:t>
            </a:r>
            <a:r>
              <a:rPr lang="fr-FR" sz="900">
                <a:highlight>
                  <a:srgbClr val="FFFF00"/>
                </a:highlight>
              </a:rPr>
              <a:t> </a:t>
            </a:r>
            <a:r>
              <a:rPr lang="fr-FR" sz="900" err="1">
                <a:highlight>
                  <a:srgbClr val="FFFF00"/>
                </a:highlight>
              </a:rPr>
              <a:t>be</a:t>
            </a:r>
            <a:r>
              <a:rPr lang="fr-FR" sz="900">
                <a:highlight>
                  <a:srgbClr val="FFFF00"/>
                </a:highlight>
              </a:rPr>
              <a:t> « ALL »</a:t>
            </a:r>
          </a:p>
        </p:txBody>
      </p:sp>
      <p:sp>
        <p:nvSpPr>
          <p:cNvPr id="9" name="ZoneTexte 8">
            <a:extLst>
              <a:ext uri="{FF2B5EF4-FFF2-40B4-BE49-F238E27FC236}">
                <a16:creationId xmlns:a16="http://schemas.microsoft.com/office/drawing/2014/main" id="{FC36BAD8-942A-83C9-1787-5231C14D5BFA}"/>
              </a:ext>
            </a:extLst>
          </p:cNvPr>
          <p:cNvSpPr txBox="1"/>
          <p:nvPr/>
        </p:nvSpPr>
        <p:spPr>
          <a:xfrm>
            <a:off x="7105650" y="729788"/>
            <a:ext cx="881743" cy="646331"/>
          </a:xfrm>
          <a:prstGeom prst="rect">
            <a:avLst/>
          </a:prstGeom>
          <a:noFill/>
        </p:spPr>
        <p:txBody>
          <a:bodyPr wrap="square" rtlCol="0">
            <a:spAutoFit/>
          </a:bodyPr>
          <a:lstStyle/>
          <a:p>
            <a:pPr algn="ctr"/>
            <a:r>
              <a:rPr lang="fr-FR" sz="900">
                <a:highlight>
                  <a:srgbClr val="FFFF00"/>
                </a:highlight>
              </a:rPr>
              <a:t>Miss « </a:t>
            </a:r>
            <a:r>
              <a:rPr lang="fr-FR" sz="900" err="1">
                <a:highlight>
                  <a:srgbClr val="FFFF00"/>
                </a:highlight>
              </a:rPr>
              <a:t>existing</a:t>
            </a:r>
            <a:r>
              <a:rPr lang="fr-FR" sz="900">
                <a:highlight>
                  <a:srgbClr val="FFFF00"/>
                </a:highlight>
              </a:rPr>
              <a:t> flow to </a:t>
            </a:r>
            <a:r>
              <a:rPr lang="fr-FR" sz="900" err="1">
                <a:highlight>
                  <a:srgbClr val="FFFF00"/>
                </a:highlight>
              </a:rPr>
              <a:t>be</a:t>
            </a:r>
            <a:r>
              <a:rPr lang="fr-FR" sz="900">
                <a:highlight>
                  <a:srgbClr val="FFFF00"/>
                </a:highlight>
              </a:rPr>
              <a:t> </a:t>
            </a:r>
            <a:r>
              <a:rPr lang="fr-FR" sz="900" err="1">
                <a:highlight>
                  <a:srgbClr val="FFFF00"/>
                </a:highlight>
              </a:rPr>
              <a:t>updated</a:t>
            </a:r>
            <a:r>
              <a:rPr lang="fr-FR" sz="900">
                <a:highlight>
                  <a:srgbClr val="FFFF00"/>
                </a:highlight>
              </a:rPr>
              <a:t> »</a:t>
            </a:r>
          </a:p>
        </p:txBody>
      </p:sp>
      <p:sp>
        <p:nvSpPr>
          <p:cNvPr id="10" name="ZoneTexte 9">
            <a:extLst>
              <a:ext uri="{FF2B5EF4-FFF2-40B4-BE49-F238E27FC236}">
                <a16:creationId xmlns:a16="http://schemas.microsoft.com/office/drawing/2014/main" id="{C58E5984-12A8-DE1E-2B41-E83DAF19515B}"/>
              </a:ext>
            </a:extLst>
          </p:cNvPr>
          <p:cNvSpPr txBox="1"/>
          <p:nvPr/>
        </p:nvSpPr>
        <p:spPr>
          <a:xfrm>
            <a:off x="7829550" y="686055"/>
            <a:ext cx="881743" cy="646331"/>
          </a:xfrm>
          <a:prstGeom prst="rect">
            <a:avLst/>
          </a:prstGeom>
          <a:noFill/>
        </p:spPr>
        <p:txBody>
          <a:bodyPr wrap="square" rtlCol="0">
            <a:spAutoFit/>
          </a:bodyPr>
          <a:lstStyle/>
          <a:p>
            <a:pPr algn="ctr"/>
            <a:r>
              <a:rPr lang="fr-FR" sz="900" err="1">
                <a:highlight>
                  <a:srgbClr val="FFFF00"/>
                </a:highlight>
              </a:rPr>
              <a:t>prefer</a:t>
            </a:r>
            <a:r>
              <a:rPr lang="fr-FR" sz="900">
                <a:highlight>
                  <a:srgbClr val="FFFF00"/>
                </a:highlight>
              </a:rPr>
              <a:t>  to change by a </a:t>
            </a:r>
            <a:r>
              <a:rPr lang="fr-FR" sz="900" err="1">
                <a:highlight>
                  <a:srgbClr val="FFFF00"/>
                </a:highlight>
              </a:rPr>
              <a:t>link</a:t>
            </a:r>
            <a:r>
              <a:rPr lang="fr-FR" sz="900">
                <a:highlight>
                  <a:srgbClr val="FFFF00"/>
                </a:highlight>
              </a:rPr>
              <a:t> to « Data </a:t>
            </a:r>
            <a:r>
              <a:rPr lang="fr-FR" sz="900" err="1">
                <a:highlight>
                  <a:srgbClr val="FFFF00"/>
                </a:highlight>
              </a:rPr>
              <a:t>contract</a:t>
            </a:r>
            <a:r>
              <a:rPr lang="fr-FR" sz="900">
                <a:highlight>
                  <a:srgbClr val="FFFF00"/>
                </a:highlight>
              </a:rPr>
              <a:t> »</a:t>
            </a:r>
          </a:p>
        </p:txBody>
      </p:sp>
      <p:sp>
        <p:nvSpPr>
          <p:cNvPr id="11" name="ZoneTexte 10">
            <a:extLst>
              <a:ext uri="{FF2B5EF4-FFF2-40B4-BE49-F238E27FC236}">
                <a16:creationId xmlns:a16="http://schemas.microsoft.com/office/drawing/2014/main" id="{4AD8E55E-F1A5-83B4-590E-D9380694BB9C}"/>
              </a:ext>
            </a:extLst>
          </p:cNvPr>
          <p:cNvSpPr txBox="1"/>
          <p:nvPr/>
        </p:nvSpPr>
        <p:spPr>
          <a:xfrm>
            <a:off x="2653393" y="2063919"/>
            <a:ext cx="620486" cy="369332"/>
          </a:xfrm>
          <a:prstGeom prst="rect">
            <a:avLst/>
          </a:prstGeom>
          <a:noFill/>
        </p:spPr>
        <p:txBody>
          <a:bodyPr wrap="square" rtlCol="0">
            <a:spAutoFit/>
          </a:bodyPr>
          <a:lstStyle/>
          <a:p>
            <a:pPr algn="ctr"/>
            <a:r>
              <a:rPr lang="fr-FR" sz="900">
                <a:highlight>
                  <a:srgbClr val="FFFF00"/>
                </a:highlight>
              </a:rPr>
              <a:t>Link to BOM</a:t>
            </a:r>
          </a:p>
        </p:txBody>
      </p:sp>
    </p:spTree>
    <p:extLst>
      <p:ext uri="{BB962C8B-B14F-4D97-AF65-F5344CB8AC3E}">
        <p14:creationId xmlns:p14="http://schemas.microsoft.com/office/powerpoint/2010/main" val="3409181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296;g205e559f898_0_142">
            <a:extLst>
              <a:ext uri="{FF2B5EF4-FFF2-40B4-BE49-F238E27FC236}">
                <a16:creationId xmlns:a16="http://schemas.microsoft.com/office/drawing/2014/main" id="{40DDEA80-79BA-2B0A-3AE5-C7565D301614}"/>
              </a:ext>
            </a:extLst>
          </p:cNvPr>
          <p:cNvSpPr txBox="1">
            <a:spLocks/>
          </p:cNvSpPr>
          <p:nvPr/>
        </p:nvSpPr>
        <p:spPr>
          <a:xfrm>
            <a:off x="200025" y="121907"/>
            <a:ext cx="8781300" cy="453992"/>
          </a:xfrm>
          <a:prstGeom prst="rect">
            <a:avLst/>
          </a:prstGeom>
        </p:spPr>
        <p:txBody>
          <a:bodyPr spcFirstLastPara="1" wrap="square" lIns="68569" tIns="34275" rIns="68569" bIns="34275" anchor="t" anchorCtr="0">
            <a:noAutofit/>
          </a:bodyPr>
          <a:lstStyle>
            <a:lvl1pPr algn="l" defTabSz="685800" rtl="0" eaLnBrk="1" latinLnBrk="0" hangingPunct="1">
              <a:lnSpc>
                <a:spcPct val="95000"/>
              </a:lnSpc>
              <a:spcBef>
                <a:spcPct val="0"/>
              </a:spcBef>
              <a:buNone/>
              <a:defRPr sz="2600" b="1" kern="1200" cap="none" baseline="0">
                <a:solidFill>
                  <a:schemeClr val="tx2"/>
                </a:solidFill>
                <a:latin typeface="+mn-lt"/>
                <a:ea typeface="+mj-ea"/>
                <a:cs typeface="+mj-cs"/>
              </a:defRPr>
            </a:lvl1pPr>
          </a:lstStyle>
          <a:p>
            <a:pPr defTabSz="514350">
              <a:spcBef>
                <a:spcPts val="0"/>
              </a:spcBef>
              <a:buClrTx/>
            </a:pPr>
            <a:r>
              <a:rPr lang="fr-FR" sz="1350">
                <a:solidFill>
                  <a:srgbClr val="243782"/>
                </a:solidFill>
                <a:latin typeface="Encode Sans"/>
              </a:rPr>
              <a:t>[PROJECT NAME]  - POWER BI SIZING - </a:t>
            </a:r>
            <a:r>
              <a:rPr lang="en-US" sz="1350">
                <a:solidFill>
                  <a:srgbClr val="243782"/>
                </a:solidFill>
                <a:latin typeface="Encode Sans"/>
              </a:rPr>
              <a:t>TECHNICAL INFORMATION</a:t>
            </a:r>
          </a:p>
          <a:p>
            <a:pPr defTabSz="514350">
              <a:spcBef>
                <a:spcPts val="0"/>
              </a:spcBef>
              <a:buClrTx/>
            </a:pPr>
            <a:r>
              <a:rPr lang="en-US" sz="1350" b="0">
                <a:solidFill>
                  <a:srgbClr val="202124"/>
                </a:solidFill>
                <a:latin typeface="Encode Sans"/>
              </a:rPr>
              <a:t>Data ingestion</a:t>
            </a:r>
          </a:p>
        </p:txBody>
      </p:sp>
      <p:graphicFrame>
        <p:nvGraphicFramePr>
          <p:cNvPr id="2" name="Tableau 1">
            <a:extLst>
              <a:ext uri="{FF2B5EF4-FFF2-40B4-BE49-F238E27FC236}">
                <a16:creationId xmlns:a16="http://schemas.microsoft.com/office/drawing/2014/main" id="{7D007523-2D16-AEA5-45F6-7B376197B549}"/>
              </a:ext>
            </a:extLst>
          </p:cNvPr>
          <p:cNvGraphicFramePr>
            <a:graphicFrameLocks noGrp="1"/>
          </p:cNvGraphicFramePr>
          <p:nvPr/>
        </p:nvGraphicFramePr>
        <p:xfrm>
          <a:off x="130676" y="874025"/>
          <a:ext cx="8781300" cy="2938753"/>
        </p:xfrm>
        <a:graphic>
          <a:graphicData uri="http://schemas.openxmlformats.org/drawingml/2006/table">
            <a:tbl>
              <a:tblPr firstRow="1" bandRow="1">
                <a:tableStyleId>{5C22544A-7EE6-4342-B048-85BDC9FD1C3A}</a:tableStyleId>
              </a:tblPr>
              <a:tblGrid>
                <a:gridCol w="1072457">
                  <a:extLst>
                    <a:ext uri="{9D8B030D-6E8A-4147-A177-3AD203B41FA5}">
                      <a16:colId xmlns:a16="http://schemas.microsoft.com/office/drawing/2014/main" val="1984982011"/>
                    </a:ext>
                  </a:extLst>
                </a:gridCol>
                <a:gridCol w="778936">
                  <a:extLst>
                    <a:ext uri="{9D8B030D-6E8A-4147-A177-3AD203B41FA5}">
                      <a16:colId xmlns:a16="http://schemas.microsoft.com/office/drawing/2014/main" val="2818490235"/>
                    </a:ext>
                  </a:extLst>
                </a:gridCol>
                <a:gridCol w="829583">
                  <a:extLst>
                    <a:ext uri="{9D8B030D-6E8A-4147-A177-3AD203B41FA5}">
                      <a16:colId xmlns:a16="http://schemas.microsoft.com/office/drawing/2014/main" val="3706769002"/>
                    </a:ext>
                  </a:extLst>
                </a:gridCol>
                <a:gridCol w="788223">
                  <a:extLst>
                    <a:ext uri="{9D8B030D-6E8A-4147-A177-3AD203B41FA5}">
                      <a16:colId xmlns:a16="http://schemas.microsoft.com/office/drawing/2014/main" val="2285277453"/>
                    </a:ext>
                  </a:extLst>
                </a:gridCol>
                <a:gridCol w="1020174">
                  <a:extLst>
                    <a:ext uri="{9D8B030D-6E8A-4147-A177-3AD203B41FA5}">
                      <a16:colId xmlns:a16="http://schemas.microsoft.com/office/drawing/2014/main" val="3184042992"/>
                    </a:ext>
                  </a:extLst>
                </a:gridCol>
                <a:gridCol w="753380">
                  <a:extLst>
                    <a:ext uri="{9D8B030D-6E8A-4147-A177-3AD203B41FA5}">
                      <a16:colId xmlns:a16="http://schemas.microsoft.com/office/drawing/2014/main" val="795155202"/>
                    </a:ext>
                  </a:extLst>
                </a:gridCol>
                <a:gridCol w="977078">
                  <a:extLst>
                    <a:ext uri="{9D8B030D-6E8A-4147-A177-3AD203B41FA5}">
                      <a16:colId xmlns:a16="http://schemas.microsoft.com/office/drawing/2014/main" val="2868595932"/>
                    </a:ext>
                  </a:extLst>
                </a:gridCol>
                <a:gridCol w="528611">
                  <a:extLst>
                    <a:ext uri="{9D8B030D-6E8A-4147-A177-3AD203B41FA5}">
                      <a16:colId xmlns:a16="http://schemas.microsoft.com/office/drawing/2014/main" val="1155821908"/>
                    </a:ext>
                  </a:extLst>
                </a:gridCol>
                <a:gridCol w="531332">
                  <a:extLst>
                    <a:ext uri="{9D8B030D-6E8A-4147-A177-3AD203B41FA5}">
                      <a16:colId xmlns:a16="http://schemas.microsoft.com/office/drawing/2014/main" val="74866841"/>
                    </a:ext>
                  </a:extLst>
                </a:gridCol>
                <a:gridCol w="1501526">
                  <a:extLst>
                    <a:ext uri="{9D8B030D-6E8A-4147-A177-3AD203B41FA5}">
                      <a16:colId xmlns:a16="http://schemas.microsoft.com/office/drawing/2014/main" val="2636278379"/>
                    </a:ext>
                  </a:extLst>
                </a:gridCol>
              </a:tblGrid>
              <a:tr h="458939">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kern="1200" noProof="0">
                          <a:solidFill>
                            <a:schemeClr val="lt1"/>
                          </a:solidFill>
                          <a:latin typeface="+mn-lt"/>
                          <a:ea typeface="+mn-ea"/>
                          <a:cs typeface="+mn-cs"/>
                        </a:rPr>
                        <a:t>Configuration</a:t>
                      </a:r>
                      <a:endParaRPr lang="en-US" sz="1100" noProof="0"/>
                    </a:p>
                  </a:txBody>
                  <a:tcPr marL="68580" marR="68580" marT="34290" marB="34290" anchor="ctr">
                    <a:solidFill>
                      <a:schemeClr val="accent1"/>
                    </a:solidFill>
                  </a:tcPr>
                </a:tc>
                <a:tc hMerge="1">
                  <a:txBody>
                    <a:bodyPr/>
                    <a:lstStyle/>
                    <a:p>
                      <a:endParaRPr lang="en-US"/>
                    </a:p>
                  </a:txBody>
                  <a:tcPr/>
                </a:tc>
                <a:tc hMerge="1">
                  <a:txBody>
                    <a:bodyPr/>
                    <a:lstStyle/>
                    <a:p>
                      <a:endParaRPr lang="en-US"/>
                    </a:p>
                  </a:txBody>
                  <a:tcPr/>
                </a:tc>
                <a:tc gridSpan="2">
                  <a:txBody>
                    <a:bodyPr/>
                    <a:lstStyle/>
                    <a:p>
                      <a:pPr algn="ctr"/>
                      <a:r>
                        <a:rPr lang="fr-FR" sz="1100" noProof="0" err="1"/>
                        <a:t>Consumers</a:t>
                      </a:r>
                      <a:endParaRPr lang="en-US" sz="1100" noProof="0"/>
                    </a:p>
                  </a:txBody>
                  <a:tcPr marL="68580" marR="68580" marT="34290" marB="34290" anchor="ctr">
                    <a:solidFill>
                      <a:schemeClr val="accent1"/>
                    </a:solidFill>
                  </a:tcPr>
                </a:tc>
                <a:tc hMerge="1">
                  <a:txBody>
                    <a:bodyPr/>
                    <a:lstStyle/>
                    <a:p>
                      <a:endParaRPr lang="en-US"/>
                    </a:p>
                  </a:txBody>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kern="1200" noProof="0">
                          <a:solidFill>
                            <a:schemeClr val="lt1"/>
                          </a:solidFill>
                          <a:latin typeface="+mn-lt"/>
                          <a:ea typeface="+mn-ea"/>
                          <a:cs typeface="+mn-cs"/>
                        </a:rPr>
                        <a:t>Ingestion</a:t>
                      </a:r>
                    </a:p>
                  </a:txBody>
                  <a:tcPr marL="68580" marR="68580" marT="34290" marB="34290" anchor="ctr">
                    <a:solidFill>
                      <a:schemeClr val="accent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kern="1200" noProof="0">
                        <a:solidFill>
                          <a:schemeClr val="lt1"/>
                        </a:solidFill>
                        <a:latin typeface="+mn-lt"/>
                        <a:ea typeface="+mn-ea"/>
                        <a:cs typeface="+mn-cs"/>
                      </a:endParaRPr>
                    </a:p>
                  </a:txBody>
                  <a:tcPr anchor="ctr">
                    <a:solidFill>
                      <a:schemeClr val="accent1"/>
                    </a:solid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kern="1200" noProof="0" err="1">
                          <a:solidFill>
                            <a:schemeClr val="bg1"/>
                          </a:solidFill>
                          <a:latin typeface="+mn-lt"/>
                          <a:ea typeface="+mn-ea"/>
                          <a:cs typeface="+mn-cs"/>
                        </a:rPr>
                        <a:t>Confi</a:t>
                      </a:r>
                      <a:r>
                        <a:rPr lang="en-US" sz="700" b="1" kern="1200" noProof="0">
                          <a:solidFill>
                            <a:schemeClr val="bg1"/>
                          </a:solidFill>
                          <a:latin typeface="+mn-lt"/>
                          <a:ea typeface="+mn-ea"/>
                          <a:cs typeface="+mn-cs"/>
                        </a:rPr>
                        <a:t>-den-</a:t>
                      </a:r>
                      <a:r>
                        <a:rPr lang="en-US" sz="700" b="1" kern="1200" noProof="0" err="1">
                          <a:solidFill>
                            <a:schemeClr val="bg1"/>
                          </a:solidFill>
                          <a:latin typeface="+mn-lt"/>
                          <a:ea typeface="+mn-ea"/>
                          <a:cs typeface="+mn-cs"/>
                        </a:rPr>
                        <a:t>tiality</a:t>
                      </a:r>
                      <a:endParaRPr lang="en-US" sz="700" b="1" kern="1200" noProof="0">
                        <a:solidFill>
                          <a:schemeClr val="bg1"/>
                        </a:solidFill>
                        <a:latin typeface="+mn-lt"/>
                        <a:ea typeface="+mn-ea"/>
                        <a:cs typeface="+mn-cs"/>
                      </a:endParaRPr>
                    </a:p>
                  </a:txBody>
                  <a:tcPr marL="68580" marR="68580" marT="34290" marB="34290" anchor="ctr">
                    <a:solidFill>
                      <a:schemeClr val="accent1"/>
                    </a:solid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kern="1200" noProof="0">
                          <a:solidFill>
                            <a:schemeClr val="bg1"/>
                          </a:solidFill>
                          <a:latin typeface="+mn-lt"/>
                          <a:ea typeface="+mn-ea"/>
                          <a:cs typeface="+mn-cs"/>
                        </a:rPr>
                        <a:t>Personal data</a:t>
                      </a:r>
                    </a:p>
                  </a:txBody>
                  <a:tcPr marL="68580" marR="68580" marT="34290" marB="34290" anchor="ctr">
                    <a:solidFill>
                      <a:schemeClr val="accent1"/>
                    </a:solidFill>
                  </a:tcPr>
                </a:tc>
                <a:tc rowSpan="2">
                  <a:txBody>
                    <a:bodyPr/>
                    <a:lstStyle/>
                    <a:p>
                      <a:pPr algn="ctr"/>
                      <a:r>
                        <a:rPr lang="en-US" sz="1100" noProof="0"/>
                        <a:t>Comments</a:t>
                      </a:r>
                    </a:p>
                  </a:txBody>
                  <a:tcPr marL="68580" marR="68580" marT="34290" marB="34290" anchor="ctr">
                    <a:solidFill>
                      <a:schemeClr val="accent1"/>
                    </a:solidFill>
                  </a:tcPr>
                </a:tc>
                <a:extLst>
                  <a:ext uri="{0D108BD9-81ED-4DB2-BD59-A6C34878D82A}">
                    <a16:rowId xmlns:a16="http://schemas.microsoft.com/office/drawing/2014/main" val="3827520607"/>
                  </a:ext>
                </a:extLst>
              </a:tr>
              <a:tr h="411480">
                <a:tc>
                  <a:txBody>
                    <a:bodyPr/>
                    <a:lstStyle/>
                    <a:p>
                      <a:pPr algn="ctr"/>
                      <a:r>
                        <a:rPr lang="en-US" sz="800" b="1" noProof="0">
                          <a:solidFill>
                            <a:schemeClr val="bg1"/>
                          </a:solidFill>
                        </a:rPr>
                        <a:t>Applications</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kern="1200" noProof="0">
                          <a:solidFill>
                            <a:schemeClr val="lt1"/>
                          </a:solidFill>
                          <a:latin typeface="+mn-lt"/>
                          <a:ea typeface="+mn-ea"/>
                          <a:cs typeface="+mn-cs"/>
                        </a:rPr>
                        <a:t>Data ingestion</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noProof="0">
                          <a:solidFill>
                            <a:schemeClr val="bg1"/>
                          </a:solidFill>
                        </a:rPr>
                        <a:t>Requested SKUs</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noProof="0">
                          <a:solidFill>
                            <a:schemeClr val="bg1"/>
                          </a:solidFill>
                        </a:rPr>
                        <a:t>(P1, P2, …)</a:t>
                      </a:r>
                    </a:p>
                  </a:txBody>
                  <a:tcPr marL="68580" marR="68580" marT="34290" marB="34290" anchor="ctr">
                    <a:solidFill>
                      <a:schemeClr val="accent1"/>
                    </a:solidFill>
                  </a:tcPr>
                </a:tc>
                <a:tc>
                  <a:txBody>
                    <a:bodyPr/>
                    <a:lstStyle/>
                    <a:p>
                      <a:pPr algn="ctr"/>
                      <a:r>
                        <a:rPr lang="en-GB" sz="800" b="1" kern="1200">
                          <a:solidFill>
                            <a:schemeClr val="bg1"/>
                          </a:solidFill>
                          <a:latin typeface="+mn-lt"/>
                          <a:ea typeface="+mn-ea"/>
                          <a:cs typeface="+mn-cs"/>
                          <a:sym typeface="Wingdings"/>
                        </a:rPr>
                        <a:t># Nominal users</a:t>
                      </a:r>
                      <a:endParaRPr lang="en-US" sz="800" b="1" kern="1200" noProof="0">
                        <a:solidFill>
                          <a:schemeClr val="bg1"/>
                        </a:solidFill>
                        <a:latin typeface="+mn-lt"/>
                        <a:ea typeface="+mn-ea"/>
                        <a:cs typeface="+mn-cs"/>
                      </a:endParaRPr>
                    </a:p>
                  </a:txBody>
                  <a:tcPr marL="68580" marR="68580" marT="34290" marB="34290" anchor="ctr">
                    <a:solidFill>
                      <a:schemeClr val="accent1"/>
                    </a:solidFill>
                  </a:tcPr>
                </a:tc>
                <a:tc>
                  <a:txBody>
                    <a:bodyPr/>
                    <a:lstStyle/>
                    <a:p>
                      <a:pPr algn="ctr"/>
                      <a:r>
                        <a:rPr lang="en-US" sz="800" b="1" kern="1200">
                          <a:solidFill>
                            <a:schemeClr val="bg1"/>
                          </a:solidFill>
                          <a:latin typeface="+mn-lt"/>
                          <a:ea typeface="+mn-ea"/>
                          <a:cs typeface="+mn-cs"/>
                        </a:rPr>
                        <a:t># Concurrent users</a:t>
                      </a:r>
                      <a:endParaRPr lang="en-US" sz="800" b="1" kern="1200" noProof="0">
                        <a:solidFill>
                          <a:schemeClr val="bg1"/>
                        </a:solidFill>
                        <a:latin typeface="+mn-lt"/>
                        <a:ea typeface="+mn-ea"/>
                        <a:cs typeface="+mn-cs"/>
                      </a:endParaRP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kern="1200" noProof="0">
                          <a:solidFill>
                            <a:schemeClr val="bg1"/>
                          </a:solidFill>
                          <a:latin typeface="+mn-lt"/>
                          <a:ea typeface="+mn-ea"/>
                          <a:cs typeface="+mn-cs"/>
                        </a:rPr>
                        <a:t>Frequency Refresh</a:t>
                      </a:r>
                    </a:p>
                  </a:txBody>
                  <a:tcPr marL="68580" marR="68580" marT="34290" marB="34290" anchor="ctr">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b="1" kern="1200" noProof="0">
                          <a:solidFill>
                            <a:schemeClr val="bg1"/>
                          </a:solidFill>
                          <a:latin typeface="+mn-lt"/>
                          <a:ea typeface="+mn-ea"/>
                          <a:cs typeface="+mn-cs"/>
                        </a:rPr>
                        <a:t>Full Dataset Data volumetry</a:t>
                      </a:r>
                    </a:p>
                  </a:txBody>
                  <a:tcPr marL="68580" marR="68580" marT="34290" marB="34290" anchor="ctr">
                    <a:solidFill>
                      <a:schemeClr val="accent1"/>
                    </a:solidFill>
                  </a:tcPr>
                </a:tc>
                <a:tc vMerge="1">
                  <a:txBody>
                    <a:bodyPr/>
                    <a:lstStyle/>
                    <a:p>
                      <a:endParaRPr/>
                    </a:p>
                  </a:txBody>
                  <a:tcPr anchor="ctr">
                    <a:solidFill>
                      <a:schemeClr val="accent1"/>
                    </a:solidFill>
                  </a:tcPr>
                </a:tc>
                <a:tc vMerge="1">
                  <a:txBody>
                    <a:bodyPr/>
                    <a:lstStyle/>
                    <a:p>
                      <a:endParaRPr/>
                    </a:p>
                  </a:txBody>
                  <a:tcPr anchor="ctr">
                    <a:solidFill>
                      <a:schemeClr val="accent1"/>
                    </a:solidFill>
                  </a:tcPr>
                </a:tc>
                <a:tc v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kern="1200" noProof="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2432059275"/>
                  </a:ext>
                </a:extLst>
              </a:tr>
              <a:tr h="409299">
                <a:tc>
                  <a:txBody>
                    <a:bodyPr/>
                    <a:lstStyle/>
                    <a:p>
                      <a:r>
                        <a:rPr lang="en-US" sz="900" noProof="0"/>
                        <a:t>Dashboard xxx</a:t>
                      </a:r>
                    </a:p>
                  </a:txBody>
                  <a:tcPr marL="68580" marR="68580" marT="34290" marB="34290">
                    <a:solidFill>
                      <a:schemeClr val="accent5">
                        <a:lumMod val="10000"/>
                        <a:lumOff val="90000"/>
                      </a:schemeClr>
                    </a:solidFill>
                  </a:tcPr>
                </a:tc>
                <a:tc>
                  <a:txBody>
                    <a:bodyPr/>
                    <a:lstStyle/>
                    <a:p>
                      <a:r>
                        <a:rPr lang="en-US" sz="900"/>
                        <a:t>Import mode</a:t>
                      </a:r>
                    </a:p>
                  </a:txBody>
                  <a:tcPr marL="68580" marR="68580" marT="34290" marB="34290">
                    <a:solidFill>
                      <a:schemeClr val="accent5">
                        <a:lumMod val="10000"/>
                        <a:lumOff val="90000"/>
                      </a:schemeClr>
                    </a:solidFill>
                  </a:tcPr>
                </a:tc>
                <a:tc>
                  <a:txBody>
                    <a:bodyPr/>
                    <a:lstStyle/>
                    <a:p>
                      <a:r>
                        <a:rPr lang="fr-FR" sz="900"/>
                        <a:t>1 P1</a:t>
                      </a:r>
                    </a:p>
                  </a:txBody>
                  <a:tcPr marL="68580" marR="68580" marT="34290" marB="34290">
                    <a:solidFill>
                      <a:schemeClr val="accent5">
                        <a:lumMod val="10000"/>
                        <a:lumOff val="90000"/>
                      </a:schemeClr>
                    </a:solidFill>
                  </a:tcPr>
                </a:tc>
                <a:tc>
                  <a:txBody>
                    <a:bodyPr/>
                    <a:lstStyle/>
                    <a:p>
                      <a:r>
                        <a:rPr lang="en-US" sz="900"/>
                        <a:t>200</a:t>
                      </a:r>
                    </a:p>
                  </a:txBody>
                  <a:tcPr marL="68580" marR="68580" marT="34290" marB="34290">
                    <a:solidFill>
                      <a:schemeClr val="accent5">
                        <a:lumMod val="10000"/>
                        <a:lumOff val="90000"/>
                      </a:schemeClr>
                    </a:solidFill>
                  </a:tcPr>
                </a:tc>
                <a:tc>
                  <a:txBody>
                    <a:bodyPr/>
                    <a:lstStyle/>
                    <a:p>
                      <a:r>
                        <a:rPr lang="en-US" sz="900"/>
                        <a:t>40</a:t>
                      </a:r>
                    </a:p>
                  </a:txBody>
                  <a:tcPr marL="68580" marR="68580" marT="34290" marB="34290">
                    <a:solidFill>
                      <a:schemeClr val="accent5">
                        <a:lumMod val="10000"/>
                        <a:lumOff val="90000"/>
                      </a:schemeClr>
                    </a:solidFill>
                  </a:tcPr>
                </a:tc>
                <a:tc>
                  <a:txBody>
                    <a:bodyPr/>
                    <a:lstStyle/>
                    <a:p>
                      <a:r>
                        <a:rPr lang="en-US" sz="900"/>
                        <a:t>Daily, 6 AM CET</a:t>
                      </a:r>
                    </a:p>
                  </a:txBody>
                  <a:tcPr marL="68580" marR="68580" marT="34290" marB="34290">
                    <a:solidFill>
                      <a:schemeClr val="accent5">
                        <a:lumMod val="10000"/>
                        <a:lumOff val="90000"/>
                      </a:schemeClr>
                    </a:solidFill>
                  </a:tcPr>
                </a:tc>
                <a:tc>
                  <a:txBody>
                    <a:bodyPr/>
                    <a:lstStyle/>
                    <a:p>
                      <a:r>
                        <a:rPr lang="en-US" sz="900"/>
                        <a:t>2 GB</a:t>
                      </a:r>
                    </a:p>
                  </a:txBody>
                  <a:tcPr marL="68580" marR="68580" marT="34290" marB="34290">
                    <a:solidFill>
                      <a:schemeClr val="accent5">
                        <a:lumMod val="10000"/>
                        <a:lumOff val="90000"/>
                      </a:schemeClr>
                    </a:solidFill>
                  </a:tcPr>
                </a:tc>
                <a:tc>
                  <a:txBody>
                    <a:bodyPr/>
                    <a:lstStyle/>
                    <a:p>
                      <a:r>
                        <a:rPr lang="en-US" sz="900"/>
                        <a:t>C3</a:t>
                      </a:r>
                    </a:p>
                  </a:txBody>
                  <a:tcPr marL="68580" marR="68580" marT="34290" marB="34290">
                    <a:solidFill>
                      <a:schemeClr val="accent5">
                        <a:lumMod val="10000"/>
                        <a:lumOff val="90000"/>
                      </a:schemeClr>
                    </a:solidFill>
                  </a:tcPr>
                </a:tc>
                <a:tc>
                  <a:txBody>
                    <a:bodyPr/>
                    <a:lstStyle/>
                    <a:p>
                      <a:r>
                        <a:rPr lang="en-US" sz="900"/>
                        <a:t>PI</a:t>
                      </a:r>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1760922357"/>
                  </a:ext>
                </a:extLst>
              </a:tr>
              <a:tr h="327235">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706511999"/>
                  </a:ext>
                </a:extLst>
              </a:tr>
              <a:tr h="327235">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1364377173"/>
                  </a:ext>
                </a:extLst>
              </a:tr>
              <a:tr h="327235">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2323023462"/>
                  </a:ext>
                </a:extLst>
              </a:tr>
              <a:tr h="327235">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3344211686"/>
                  </a:ext>
                </a:extLst>
              </a:tr>
              <a:tr h="327235">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tc>
                  <a:txBody>
                    <a:bodyPr/>
                    <a:lstStyle/>
                    <a:p>
                      <a:endParaRPr lang="en-US" sz="900"/>
                    </a:p>
                  </a:txBody>
                  <a:tcPr marL="68580" marR="68580" marT="34290" marB="34290">
                    <a:solidFill>
                      <a:schemeClr val="accent5">
                        <a:lumMod val="10000"/>
                        <a:lumOff val="90000"/>
                      </a:schemeClr>
                    </a:solidFill>
                  </a:tcPr>
                </a:tc>
                <a:extLst>
                  <a:ext uri="{0D108BD9-81ED-4DB2-BD59-A6C34878D82A}">
                    <a16:rowId xmlns:a16="http://schemas.microsoft.com/office/drawing/2014/main" val="3987259822"/>
                  </a:ext>
                </a:extLst>
              </a:tr>
            </a:tbl>
          </a:graphicData>
        </a:graphic>
      </p:graphicFrame>
      <p:sp>
        <p:nvSpPr>
          <p:cNvPr id="5" name="ZoneTexte 4">
            <a:extLst>
              <a:ext uri="{FF2B5EF4-FFF2-40B4-BE49-F238E27FC236}">
                <a16:creationId xmlns:a16="http://schemas.microsoft.com/office/drawing/2014/main" id="{3F256CA9-E0B1-8FAA-A4A8-368F1D2FD9CA}"/>
              </a:ext>
            </a:extLst>
          </p:cNvPr>
          <p:cNvSpPr txBox="1"/>
          <p:nvPr/>
        </p:nvSpPr>
        <p:spPr>
          <a:xfrm>
            <a:off x="1715726" y="321983"/>
            <a:ext cx="1811245" cy="369332"/>
          </a:xfrm>
          <a:prstGeom prst="rect">
            <a:avLst/>
          </a:prstGeom>
          <a:noFill/>
        </p:spPr>
        <p:txBody>
          <a:bodyPr wrap="square" rtlCol="0">
            <a:spAutoFit/>
          </a:bodyPr>
          <a:lstStyle/>
          <a:p>
            <a:pPr algn="ctr"/>
            <a:r>
              <a:rPr lang="fr-FR" sz="900">
                <a:highlight>
                  <a:srgbClr val="FFFF00"/>
                </a:highlight>
              </a:rPr>
              <a:t>POWER BI </a:t>
            </a:r>
          </a:p>
          <a:p>
            <a:pPr algn="ctr"/>
            <a:r>
              <a:rPr lang="fr-FR" sz="900" err="1">
                <a:highlight>
                  <a:srgbClr val="FFFF00"/>
                </a:highlight>
              </a:rPr>
              <a:t>rather</a:t>
            </a:r>
            <a:r>
              <a:rPr lang="fr-FR" sz="900">
                <a:highlight>
                  <a:srgbClr val="FFFF00"/>
                </a:highlight>
              </a:rPr>
              <a:t> </a:t>
            </a:r>
            <a:r>
              <a:rPr lang="fr-FR" sz="900" err="1">
                <a:highlight>
                  <a:srgbClr val="FFFF00"/>
                </a:highlight>
              </a:rPr>
              <a:t>than</a:t>
            </a:r>
            <a:r>
              <a:rPr lang="fr-FR" sz="900">
                <a:highlight>
                  <a:srgbClr val="FFFF00"/>
                </a:highlight>
              </a:rPr>
              <a:t> Power BI </a:t>
            </a:r>
            <a:r>
              <a:rPr lang="fr-FR" sz="900" err="1">
                <a:highlight>
                  <a:srgbClr val="FFFF00"/>
                </a:highlight>
              </a:rPr>
              <a:t>sizing</a:t>
            </a:r>
            <a:endParaRPr lang="fr-FR" sz="900">
              <a:highlight>
                <a:srgbClr val="FFFF00"/>
              </a:highlight>
            </a:endParaRPr>
          </a:p>
        </p:txBody>
      </p:sp>
      <p:sp>
        <p:nvSpPr>
          <p:cNvPr id="6" name="ZoneTexte 5">
            <a:extLst>
              <a:ext uri="{FF2B5EF4-FFF2-40B4-BE49-F238E27FC236}">
                <a16:creationId xmlns:a16="http://schemas.microsoft.com/office/drawing/2014/main" id="{0A3CA10E-FB55-DE0E-BB3E-A883E00CBFB3}"/>
              </a:ext>
            </a:extLst>
          </p:cNvPr>
          <p:cNvSpPr txBox="1"/>
          <p:nvPr/>
        </p:nvSpPr>
        <p:spPr>
          <a:xfrm>
            <a:off x="457200" y="2181348"/>
            <a:ext cx="2163535" cy="369332"/>
          </a:xfrm>
          <a:prstGeom prst="rect">
            <a:avLst/>
          </a:prstGeom>
          <a:noFill/>
        </p:spPr>
        <p:txBody>
          <a:bodyPr wrap="square" rtlCol="0">
            <a:spAutoFit/>
          </a:bodyPr>
          <a:lstStyle/>
          <a:p>
            <a:pPr algn="ctr"/>
            <a:r>
              <a:rPr lang="fr-FR" sz="900">
                <a:highlight>
                  <a:srgbClr val="FFFF00"/>
                </a:highlight>
              </a:rPr>
              <a:t>Miss : SOURCES, BCM (</a:t>
            </a:r>
            <a:r>
              <a:rPr lang="fr-FR" sz="900" err="1">
                <a:highlight>
                  <a:srgbClr val="FFFF00"/>
                </a:highlight>
              </a:rPr>
              <a:t>schema</a:t>
            </a:r>
            <a:r>
              <a:rPr lang="fr-FR" sz="900">
                <a:highlight>
                  <a:srgbClr val="FFFF00"/>
                </a:highlight>
              </a:rPr>
              <a:t>) or </a:t>
            </a:r>
            <a:r>
              <a:rPr lang="fr-FR" sz="900" err="1">
                <a:highlight>
                  <a:srgbClr val="FFFF00"/>
                </a:highlight>
              </a:rPr>
              <a:t>Database</a:t>
            </a:r>
            <a:r>
              <a:rPr lang="fr-FR" sz="900">
                <a:highlight>
                  <a:srgbClr val="FFFF00"/>
                </a:highlight>
              </a:rPr>
              <a:t>, </a:t>
            </a:r>
          </a:p>
        </p:txBody>
      </p:sp>
      <p:sp>
        <p:nvSpPr>
          <p:cNvPr id="8" name="ZoneTexte 7">
            <a:extLst>
              <a:ext uri="{FF2B5EF4-FFF2-40B4-BE49-F238E27FC236}">
                <a16:creationId xmlns:a16="http://schemas.microsoft.com/office/drawing/2014/main" id="{EBBA5722-6F9B-372C-DAA9-F59C1ACE8922}"/>
              </a:ext>
            </a:extLst>
          </p:cNvPr>
          <p:cNvSpPr txBox="1"/>
          <p:nvPr/>
        </p:nvSpPr>
        <p:spPr>
          <a:xfrm>
            <a:off x="2699657" y="2181348"/>
            <a:ext cx="1815193" cy="230832"/>
          </a:xfrm>
          <a:prstGeom prst="rect">
            <a:avLst/>
          </a:prstGeom>
          <a:noFill/>
        </p:spPr>
        <p:txBody>
          <a:bodyPr wrap="square" rtlCol="0">
            <a:spAutoFit/>
          </a:bodyPr>
          <a:lstStyle/>
          <a:p>
            <a:pPr algn="ctr"/>
            <a:r>
              <a:rPr lang="fr-FR" sz="900">
                <a:highlight>
                  <a:srgbClr val="FFFF00"/>
                </a:highlight>
              </a:rPr>
              <a:t>Miss : PM</a:t>
            </a:r>
          </a:p>
        </p:txBody>
      </p:sp>
      <p:sp>
        <p:nvSpPr>
          <p:cNvPr id="9" name="ZoneTexte 8">
            <a:extLst>
              <a:ext uri="{FF2B5EF4-FFF2-40B4-BE49-F238E27FC236}">
                <a16:creationId xmlns:a16="http://schemas.microsoft.com/office/drawing/2014/main" id="{33D118B3-1D65-B449-A59C-6ABCB92C324B}"/>
              </a:ext>
            </a:extLst>
          </p:cNvPr>
          <p:cNvSpPr txBox="1"/>
          <p:nvPr/>
        </p:nvSpPr>
        <p:spPr>
          <a:xfrm>
            <a:off x="2355397" y="3905112"/>
            <a:ext cx="3731018" cy="230832"/>
          </a:xfrm>
          <a:prstGeom prst="rect">
            <a:avLst/>
          </a:prstGeom>
          <a:noFill/>
        </p:spPr>
        <p:txBody>
          <a:bodyPr wrap="square" rtlCol="0">
            <a:spAutoFit/>
          </a:bodyPr>
          <a:lstStyle/>
          <a:p>
            <a:pPr algn="ctr"/>
            <a:r>
              <a:rPr lang="fr-FR" sz="900" err="1">
                <a:highlight>
                  <a:srgbClr val="FFFF00"/>
                </a:highlight>
              </a:rPr>
              <a:t>Same</a:t>
            </a:r>
            <a:r>
              <a:rPr lang="fr-FR" sz="900">
                <a:highlight>
                  <a:srgbClr val="FFFF00"/>
                </a:highlight>
              </a:rPr>
              <a:t> slide to </a:t>
            </a:r>
            <a:r>
              <a:rPr lang="fr-FR" sz="900" err="1">
                <a:highlight>
                  <a:srgbClr val="FFFF00"/>
                </a:highlight>
              </a:rPr>
              <a:t>create</a:t>
            </a:r>
            <a:r>
              <a:rPr lang="fr-FR" sz="900">
                <a:highlight>
                  <a:srgbClr val="FFFF00"/>
                </a:highlight>
              </a:rPr>
              <a:t> for </a:t>
            </a:r>
            <a:r>
              <a:rPr lang="fr-FR" sz="900" err="1">
                <a:highlight>
                  <a:srgbClr val="FFFF00"/>
                </a:highlight>
              </a:rPr>
              <a:t>Dataiku</a:t>
            </a:r>
            <a:endParaRPr lang="fr-FR" sz="900">
              <a:highlight>
                <a:srgbClr val="FFFF00"/>
              </a:highlight>
            </a:endParaRPr>
          </a:p>
        </p:txBody>
      </p:sp>
      <p:sp>
        <p:nvSpPr>
          <p:cNvPr id="10" name="ZoneTexte 9">
            <a:extLst>
              <a:ext uri="{FF2B5EF4-FFF2-40B4-BE49-F238E27FC236}">
                <a16:creationId xmlns:a16="http://schemas.microsoft.com/office/drawing/2014/main" id="{560C9A94-AC19-790C-FA48-848559AF169C}"/>
              </a:ext>
            </a:extLst>
          </p:cNvPr>
          <p:cNvSpPr txBox="1"/>
          <p:nvPr/>
        </p:nvSpPr>
        <p:spPr>
          <a:xfrm>
            <a:off x="2363561" y="4166829"/>
            <a:ext cx="3718832" cy="230832"/>
          </a:xfrm>
          <a:prstGeom prst="rect">
            <a:avLst/>
          </a:prstGeom>
          <a:noFill/>
        </p:spPr>
        <p:txBody>
          <a:bodyPr wrap="square" rtlCol="0">
            <a:spAutoFit/>
          </a:bodyPr>
          <a:lstStyle/>
          <a:p>
            <a:pPr algn="ctr"/>
            <a:r>
              <a:rPr lang="fr-FR" sz="900" err="1">
                <a:highlight>
                  <a:srgbClr val="FFFF00"/>
                </a:highlight>
              </a:rPr>
              <a:t>Same</a:t>
            </a:r>
            <a:r>
              <a:rPr lang="fr-FR" sz="900">
                <a:highlight>
                  <a:srgbClr val="FFFF00"/>
                </a:highlight>
              </a:rPr>
              <a:t> slide to </a:t>
            </a:r>
            <a:r>
              <a:rPr lang="fr-FR" sz="900" err="1">
                <a:highlight>
                  <a:srgbClr val="FFFF00"/>
                </a:highlight>
              </a:rPr>
              <a:t>create</a:t>
            </a:r>
            <a:r>
              <a:rPr lang="fr-FR" sz="900">
                <a:highlight>
                  <a:srgbClr val="FFFF00"/>
                </a:highlight>
              </a:rPr>
              <a:t> for </a:t>
            </a:r>
            <a:r>
              <a:rPr lang="fr-FR" sz="900" err="1">
                <a:highlight>
                  <a:srgbClr val="FFFF00"/>
                </a:highlight>
              </a:rPr>
              <a:t>DataXP</a:t>
            </a:r>
            <a:endParaRPr lang="fr-FR" sz="900">
              <a:highlight>
                <a:srgbClr val="FFFF00"/>
              </a:highlight>
            </a:endParaRPr>
          </a:p>
        </p:txBody>
      </p:sp>
      <p:sp>
        <p:nvSpPr>
          <p:cNvPr id="11" name="ZoneTexte 10">
            <a:extLst>
              <a:ext uri="{FF2B5EF4-FFF2-40B4-BE49-F238E27FC236}">
                <a16:creationId xmlns:a16="http://schemas.microsoft.com/office/drawing/2014/main" id="{82505258-3B94-57F9-716D-D8B0B364DF73}"/>
              </a:ext>
            </a:extLst>
          </p:cNvPr>
          <p:cNvSpPr txBox="1"/>
          <p:nvPr/>
        </p:nvSpPr>
        <p:spPr>
          <a:xfrm>
            <a:off x="2363561" y="4428546"/>
            <a:ext cx="3718832" cy="230832"/>
          </a:xfrm>
          <a:prstGeom prst="rect">
            <a:avLst/>
          </a:prstGeom>
          <a:noFill/>
        </p:spPr>
        <p:txBody>
          <a:bodyPr wrap="square" rtlCol="0">
            <a:spAutoFit/>
          </a:bodyPr>
          <a:lstStyle/>
          <a:p>
            <a:pPr algn="ctr"/>
            <a:r>
              <a:rPr lang="fr-FR" sz="900" err="1">
                <a:highlight>
                  <a:srgbClr val="FFFF00"/>
                </a:highlight>
              </a:rPr>
              <a:t>Same</a:t>
            </a:r>
            <a:r>
              <a:rPr lang="fr-FR" sz="900">
                <a:highlight>
                  <a:srgbClr val="FFFF00"/>
                </a:highlight>
              </a:rPr>
              <a:t> slide to </a:t>
            </a:r>
            <a:r>
              <a:rPr lang="fr-FR" sz="900" err="1">
                <a:highlight>
                  <a:srgbClr val="FFFF00"/>
                </a:highlight>
              </a:rPr>
              <a:t>create</a:t>
            </a:r>
            <a:r>
              <a:rPr lang="fr-FR" sz="900">
                <a:highlight>
                  <a:srgbClr val="FFFF00"/>
                </a:highlight>
              </a:rPr>
              <a:t> for Data </a:t>
            </a:r>
            <a:r>
              <a:rPr lang="fr-FR" sz="900" err="1">
                <a:highlight>
                  <a:srgbClr val="FFFF00"/>
                </a:highlight>
              </a:rPr>
              <a:t>products</a:t>
            </a:r>
            <a:r>
              <a:rPr lang="fr-FR" sz="900">
                <a:highlight>
                  <a:srgbClr val="FFFF00"/>
                </a:highlight>
              </a:rPr>
              <a:t> </a:t>
            </a:r>
            <a:r>
              <a:rPr lang="fr-FR" sz="900" err="1">
                <a:highlight>
                  <a:srgbClr val="FFFF00"/>
                </a:highlight>
              </a:rPr>
              <a:t>exported</a:t>
            </a:r>
            <a:endParaRPr lang="fr-FR" sz="900">
              <a:highlight>
                <a:srgbClr val="FFFF00"/>
              </a:highlight>
            </a:endParaRPr>
          </a:p>
        </p:txBody>
      </p:sp>
    </p:spTree>
    <p:extLst>
      <p:ext uri="{BB962C8B-B14F-4D97-AF65-F5344CB8AC3E}">
        <p14:creationId xmlns:p14="http://schemas.microsoft.com/office/powerpoint/2010/main" val="36045388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dirty="0" err="1">
                <a:ln>
                  <a:noFill/>
                </a:ln>
                <a:solidFill>
                  <a:prstClr val="white"/>
                </a:solidFill>
                <a:effectLst/>
                <a:uLnTx/>
                <a:uFillTx/>
                <a:latin typeface="Encode Sans" pitchFamily="2" charset="0"/>
                <a:ea typeface="+mj-ea"/>
                <a:cs typeface="+mj-cs"/>
              </a:rPr>
              <a:t>DevSecOps</a:t>
            </a:r>
            <a:endParaRPr dirty="0">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600" dirty="0" err="1">
                <a:solidFill>
                  <a:schemeClr val="accent1"/>
                </a:solidFill>
                <a:latin typeface="Encode Sans" pitchFamily="2" charset="0"/>
              </a:rPr>
              <a:t>DevSecOps</a:t>
            </a:r>
            <a:r>
              <a:rPr lang="en-US" sz="1600" dirty="0">
                <a:solidFill>
                  <a:schemeClr val="accent1"/>
                </a:solidFill>
                <a:latin typeface="Encode Sans" pitchFamily="2" charset="0"/>
              </a:rPr>
              <a:t> platform (for Gate 1 PoC and Gate 2) :</a:t>
            </a:r>
          </a:p>
          <a:p>
            <a:pPr lvl="1"/>
            <a:r>
              <a:rPr lang="en-US" dirty="0">
                <a:solidFill>
                  <a:schemeClr val="accent1"/>
                </a:solidFill>
                <a:latin typeface="Encode Sans" pitchFamily="2" charset="0"/>
              </a:rPr>
              <a:t>CICD platform to be used : </a:t>
            </a:r>
            <a:r>
              <a:rPr lang="en-US" dirty="0">
                <a:solidFill>
                  <a:schemeClr val="accent1"/>
                </a:solidFill>
                <a:highlight>
                  <a:srgbClr val="FFFF00"/>
                </a:highlight>
                <a:latin typeface="Encode Sans" pitchFamily="2" charset="0"/>
              </a:rPr>
              <a:t>CIQ / others</a:t>
            </a:r>
          </a:p>
          <a:p>
            <a:r>
              <a:rPr lang="en-US" dirty="0">
                <a:solidFill>
                  <a:schemeClr val="accent1"/>
                </a:solidFill>
                <a:latin typeface="Encode Sans" pitchFamily="2" charset="0"/>
              </a:rPr>
              <a:t>Software quality :</a:t>
            </a:r>
          </a:p>
          <a:p>
            <a:pPr lvl="1"/>
            <a:r>
              <a:rPr lang="en-US" dirty="0">
                <a:solidFill>
                  <a:schemeClr val="accent1"/>
                </a:solidFill>
                <a:latin typeface="Encode Sans" pitchFamily="2" charset="0"/>
              </a:rPr>
              <a:t>Tools to use to verify software quality : </a:t>
            </a:r>
            <a:r>
              <a:rPr lang="en-US" dirty="0" err="1">
                <a:solidFill>
                  <a:schemeClr val="accent1"/>
                </a:solidFill>
                <a:highlight>
                  <a:srgbClr val="FFFF00"/>
                </a:highlight>
                <a:latin typeface="Encode Sans" pitchFamily="2" charset="0"/>
              </a:rPr>
              <a:t>Sonarqube</a:t>
            </a:r>
            <a:r>
              <a:rPr lang="en-US" dirty="0">
                <a:solidFill>
                  <a:schemeClr val="accent1"/>
                </a:solidFill>
                <a:highlight>
                  <a:srgbClr val="FFFF00"/>
                </a:highlight>
                <a:latin typeface="Encode Sans" pitchFamily="2" charset="0"/>
              </a:rPr>
              <a:t> Report  (Gate 4) within Stellantis ( Quality Gate validated) </a:t>
            </a:r>
          </a:p>
          <a:p>
            <a:pPr lvl="1"/>
            <a:r>
              <a:rPr lang="en-US" dirty="0">
                <a:solidFill>
                  <a:schemeClr val="accent1"/>
                </a:solidFill>
                <a:latin typeface="Encode Sans" pitchFamily="2" charset="0"/>
              </a:rPr>
              <a:t>Quality gate value to use (Gate3) : </a:t>
            </a:r>
            <a:r>
              <a:rPr lang="en-US" dirty="0">
                <a:solidFill>
                  <a:schemeClr val="accent1"/>
                </a:solidFill>
                <a:highlight>
                  <a:srgbClr val="FFFF00"/>
                </a:highlight>
                <a:latin typeface="Encode Sans" pitchFamily="2" charset="0"/>
              </a:rPr>
              <a:t>describe gate threshold</a:t>
            </a:r>
          </a:p>
          <a:p>
            <a:r>
              <a:rPr lang="en-US" dirty="0">
                <a:solidFill>
                  <a:schemeClr val="accent1"/>
                </a:solidFill>
                <a:latin typeface="Encode Sans" pitchFamily="2" charset="0"/>
              </a:rPr>
              <a:t>Software security :</a:t>
            </a:r>
          </a:p>
          <a:p>
            <a:pPr lvl="1"/>
            <a:r>
              <a:rPr lang="en-US" dirty="0">
                <a:solidFill>
                  <a:schemeClr val="accent1"/>
                </a:solidFill>
                <a:latin typeface="Encode Sans" pitchFamily="2" charset="0"/>
              </a:rPr>
              <a:t>SAST/DAST tool to be used : </a:t>
            </a:r>
            <a:r>
              <a:rPr lang="en-US" dirty="0">
                <a:solidFill>
                  <a:schemeClr val="accent1"/>
                </a:solidFill>
                <a:highlight>
                  <a:srgbClr val="FFFF00"/>
                </a:highlight>
                <a:latin typeface="Encode Sans" pitchFamily="2" charset="0"/>
              </a:rPr>
              <a:t>link to the Scan </a:t>
            </a:r>
            <a:r>
              <a:rPr lang="en-US" dirty="0" err="1">
                <a:solidFill>
                  <a:schemeClr val="accent1"/>
                </a:solidFill>
                <a:highlight>
                  <a:srgbClr val="FFFF00"/>
                </a:highlight>
                <a:latin typeface="Encode Sans" pitchFamily="2" charset="0"/>
              </a:rPr>
              <a:t>Checkmarx</a:t>
            </a:r>
            <a:r>
              <a:rPr lang="en-US" dirty="0">
                <a:solidFill>
                  <a:schemeClr val="accent1"/>
                </a:solidFill>
                <a:highlight>
                  <a:srgbClr val="FFFF00"/>
                </a:highlight>
                <a:latin typeface="Encode Sans" pitchFamily="2" charset="0"/>
              </a:rPr>
              <a:t> (Gate 4) &amp; Action Plan with CISO validation</a:t>
            </a:r>
          </a:p>
          <a:p>
            <a:r>
              <a:rPr lang="en-US" dirty="0">
                <a:solidFill>
                  <a:schemeClr val="accent1"/>
                </a:solidFill>
                <a:latin typeface="Encode Sans" pitchFamily="2" charset="0"/>
              </a:rPr>
              <a:t>Test</a:t>
            </a:r>
          </a:p>
          <a:p>
            <a:pPr lvl="1"/>
            <a:r>
              <a:rPr lang="en-US" dirty="0">
                <a:solidFill>
                  <a:schemeClr val="accent1"/>
                </a:solidFill>
                <a:latin typeface="Encode Sans" pitchFamily="2" charset="0"/>
              </a:rPr>
              <a:t>Unitary test, load test strategy explained : </a:t>
            </a:r>
            <a:r>
              <a:rPr lang="en-US" dirty="0">
                <a:solidFill>
                  <a:schemeClr val="accent1"/>
                </a:solidFill>
                <a:highlight>
                  <a:srgbClr val="FFFF00"/>
                </a:highlight>
                <a:latin typeface="Encode Sans" pitchFamily="2" charset="0"/>
              </a:rPr>
              <a:t>Unit test in CICD ; Storm runner for Load test …</a:t>
            </a:r>
          </a:p>
          <a:p>
            <a:pPr lvl="1"/>
            <a:endParaRPr lang="en-US" dirty="0">
              <a:solidFill>
                <a:schemeClr val="accent1"/>
              </a:solidFill>
              <a:latin typeface="Encode Sans" pitchFamily="2" charset="0"/>
            </a:endParaRPr>
          </a:p>
          <a:p>
            <a:pPr lvl="1"/>
            <a:endParaRPr lang="en-US" dirty="0">
              <a:solidFill>
                <a:schemeClr val="accent1"/>
              </a:solidFill>
              <a:latin typeface="Encode Sans" pitchFamily="2" charset="0"/>
            </a:endParaRPr>
          </a:p>
          <a:p>
            <a:pPr marL="371475" lvl="1" indent="0">
              <a:buNone/>
            </a:pPr>
            <a:endParaRPr lang="en-US" dirty="0">
              <a:solidFill>
                <a:schemeClr val="accent1"/>
              </a:solidFill>
              <a:latin typeface="Encode Sans" pitchFamily="2" charset="0"/>
            </a:endParaRPr>
          </a:p>
          <a:p>
            <a:pPr lvl="1"/>
            <a:endParaRPr lang="en-US" dirty="0">
              <a:solidFill>
                <a:schemeClr val="accent1"/>
              </a:solidFill>
              <a:latin typeface="Encode Sans" pitchFamily="2" charset="0"/>
            </a:endParaRPr>
          </a:p>
          <a:p>
            <a:endParaRPr lang="en-US" dirty="0">
              <a:solidFill>
                <a:schemeClr val="accent1"/>
              </a:solidFill>
              <a:latin typeface="Encode Sans" pitchFamily="2" charset="0"/>
            </a:endParaRPr>
          </a:p>
          <a:p>
            <a:pPr marL="0" indent="0">
              <a:buNone/>
            </a:pPr>
            <a:endParaRPr lang="en-US" dirty="0">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2116693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err="1">
                <a:ln>
                  <a:noFill/>
                </a:ln>
                <a:solidFill>
                  <a:prstClr val="white"/>
                </a:solidFill>
                <a:effectLst/>
                <a:uLnTx/>
                <a:uFillTx/>
                <a:latin typeface="Encode Sans" pitchFamily="2" charset="0"/>
                <a:ea typeface="+mj-ea"/>
                <a:cs typeface="+mj-cs"/>
              </a:rPr>
              <a:t>DevSecOps</a:t>
            </a: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 (Gate 2 + Gate 3)</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600" err="1">
                <a:solidFill>
                  <a:schemeClr val="accent1"/>
                </a:solidFill>
                <a:latin typeface="Encode Sans" pitchFamily="2" charset="0"/>
              </a:rPr>
              <a:t>DevSecOps</a:t>
            </a:r>
            <a:r>
              <a:rPr lang="en-US" sz="1600">
                <a:solidFill>
                  <a:schemeClr val="accent1"/>
                </a:solidFill>
                <a:latin typeface="Encode Sans" pitchFamily="2" charset="0"/>
              </a:rPr>
              <a:t> environment</a:t>
            </a:r>
          </a:p>
          <a:p>
            <a:pPr lvl="1"/>
            <a:r>
              <a:rPr lang="en-US">
                <a:solidFill>
                  <a:schemeClr val="accent1"/>
                </a:solidFill>
                <a:latin typeface="Encode Sans" pitchFamily="2" charset="0"/>
              </a:rPr>
              <a:t>Environment defined : </a:t>
            </a:r>
            <a:r>
              <a:rPr lang="en-US">
                <a:solidFill>
                  <a:schemeClr val="accent1"/>
                </a:solidFill>
                <a:highlight>
                  <a:srgbClr val="FFFF00"/>
                </a:highlight>
                <a:latin typeface="Encode Sans" pitchFamily="2" charset="0"/>
              </a:rPr>
              <a:t>PROD + PREPROD + QA + DEV + STAGING</a:t>
            </a:r>
          </a:p>
          <a:p>
            <a:r>
              <a:rPr lang="en-US">
                <a:solidFill>
                  <a:schemeClr val="accent1"/>
                </a:solidFill>
                <a:latin typeface="Encode Sans" pitchFamily="2" charset="0"/>
              </a:rPr>
              <a:t>CD/Delivery</a:t>
            </a:r>
          </a:p>
          <a:p>
            <a:pPr lvl="1"/>
            <a:r>
              <a:rPr lang="en-US">
                <a:solidFill>
                  <a:schemeClr val="accent1"/>
                </a:solidFill>
                <a:latin typeface="Encode Sans" pitchFamily="2" charset="0"/>
              </a:rPr>
              <a:t>Tools and language used for Infra-as-code : </a:t>
            </a:r>
            <a:r>
              <a:rPr lang="en-US">
                <a:solidFill>
                  <a:schemeClr val="accent1"/>
                </a:solidFill>
                <a:highlight>
                  <a:srgbClr val="FFFF00"/>
                </a:highlight>
                <a:latin typeface="Encode Sans" pitchFamily="2" charset="0"/>
              </a:rPr>
              <a:t>terraform</a:t>
            </a:r>
          </a:p>
          <a:p>
            <a:pPr lvl="1"/>
            <a:r>
              <a:rPr lang="en-US">
                <a:solidFill>
                  <a:schemeClr val="accent1"/>
                </a:solidFill>
                <a:latin typeface="Encode Sans" pitchFamily="2" charset="0"/>
              </a:rPr>
              <a:t>Explain how to deploy infrastructure and application code (Gate 3): </a:t>
            </a:r>
          </a:p>
          <a:p>
            <a:pPr lvl="2"/>
            <a:r>
              <a:rPr lang="en-US">
                <a:solidFill>
                  <a:schemeClr val="accent1"/>
                </a:solidFill>
                <a:highlight>
                  <a:srgbClr val="FFFF00"/>
                </a:highlight>
                <a:latin typeface="Encode Sans" pitchFamily="2" charset="0"/>
              </a:rPr>
              <a:t>Dev team is able to deploy in non-prod env via the CICD pipeline</a:t>
            </a:r>
          </a:p>
          <a:p>
            <a:pPr lvl="2"/>
            <a:r>
              <a:rPr lang="en-US">
                <a:solidFill>
                  <a:schemeClr val="accent1"/>
                </a:solidFill>
                <a:highlight>
                  <a:srgbClr val="FFFF00"/>
                </a:highlight>
                <a:latin typeface="Encode Sans" pitchFamily="2" charset="0"/>
              </a:rPr>
              <a:t>Product Owner is able to deploy in prod via a dedicated CICD pipeline</a:t>
            </a:r>
          </a:p>
          <a:p>
            <a:pPr lvl="2"/>
            <a:r>
              <a:rPr lang="en-US" err="1">
                <a:solidFill>
                  <a:schemeClr val="accent1"/>
                </a:solidFill>
                <a:highlight>
                  <a:srgbClr val="FFFF00"/>
                </a:highlight>
                <a:latin typeface="Encode Sans" pitchFamily="2" charset="0"/>
              </a:rPr>
              <a:t>BlueGreen</a:t>
            </a:r>
            <a:r>
              <a:rPr lang="en-US">
                <a:solidFill>
                  <a:schemeClr val="accent1"/>
                </a:solidFill>
                <a:highlight>
                  <a:srgbClr val="FFFF00"/>
                </a:highlight>
                <a:latin typeface="Encode Sans" pitchFamily="2" charset="0"/>
              </a:rPr>
              <a:t> deployment in preprod and prod to ensure no user downtime during upgrade</a:t>
            </a:r>
          </a:p>
        </p:txBody>
      </p:sp>
    </p:spTree>
    <p:custDataLst>
      <p:tags r:id="rId1"/>
    </p:custDataLst>
    <p:extLst>
      <p:ext uri="{BB962C8B-B14F-4D97-AF65-F5344CB8AC3E}">
        <p14:creationId xmlns:p14="http://schemas.microsoft.com/office/powerpoint/2010/main" val="2094513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100" b="1" i="0" u="none" strike="noStrike" kern="1200" cap="all" spc="0" normalizeH="0" baseline="0" noProof="0">
                <a:ln>
                  <a:noFill/>
                </a:ln>
                <a:solidFill>
                  <a:prstClr val="white"/>
                </a:solidFill>
                <a:effectLst/>
                <a:uLnTx/>
                <a:uFillTx/>
                <a:latin typeface="Encode Sans"/>
                <a:ea typeface="+mj-ea"/>
                <a:cs typeface="+mj-cs"/>
              </a:rPr>
              <a:t>Enterprise Architecture – interactions details </a:t>
            </a:r>
            <a:endParaRPr>
              <a:latin typeface="Encode Sans" pitchFamily="2" charset="0"/>
            </a:endParaRPr>
          </a:p>
        </p:txBody>
      </p:sp>
      <p:graphicFrame>
        <p:nvGraphicFramePr>
          <p:cNvPr id="2" name="Table 1">
            <a:extLst>
              <a:ext uri="{FF2B5EF4-FFF2-40B4-BE49-F238E27FC236}">
                <a16:creationId xmlns:a16="http://schemas.microsoft.com/office/drawing/2014/main" id="{84F79AA6-34D7-F9E8-26A5-2477E2E9FCFD}"/>
              </a:ext>
            </a:extLst>
          </p:cNvPr>
          <p:cNvGraphicFramePr>
            <a:graphicFrameLocks noGrp="1"/>
          </p:cNvGraphicFramePr>
          <p:nvPr/>
        </p:nvGraphicFramePr>
        <p:xfrm>
          <a:off x="128016" y="869950"/>
          <a:ext cx="8842248" cy="2148840"/>
        </p:xfrm>
        <a:graphic>
          <a:graphicData uri="http://schemas.openxmlformats.org/drawingml/2006/table">
            <a:tbl>
              <a:tblPr firstRow="1" bandRow="1">
                <a:tableStyleId>{5C22544A-7EE6-4342-B048-85BDC9FD1C3A}</a:tableStyleId>
              </a:tblPr>
              <a:tblGrid>
                <a:gridCol w="982472">
                  <a:extLst>
                    <a:ext uri="{9D8B030D-6E8A-4147-A177-3AD203B41FA5}">
                      <a16:colId xmlns:a16="http://schemas.microsoft.com/office/drawing/2014/main" val="428680183"/>
                    </a:ext>
                  </a:extLst>
                </a:gridCol>
                <a:gridCol w="982472">
                  <a:extLst>
                    <a:ext uri="{9D8B030D-6E8A-4147-A177-3AD203B41FA5}">
                      <a16:colId xmlns:a16="http://schemas.microsoft.com/office/drawing/2014/main" val="4131133117"/>
                    </a:ext>
                  </a:extLst>
                </a:gridCol>
                <a:gridCol w="982472">
                  <a:extLst>
                    <a:ext uri="{9D8B030D-6E8A-4147-A177-3AD203B41FA5}">
                      <a16:colId xmlns:a16="http://schemas.microsoft.com/office/drawing/2014/main" val="2028193339"/>
                    </a:ext>
                  </a:extLst>
                </a:gridCol>
                <a:gridCol w="982472">
                  <a:extLst>
                    <a:ext uri="{9D8B030D-6E8A-4147-A177-3AD203B41FA5}">
                      <a16:colId xmlns:a16="http://schemas.microsoft.com/office/drawing/2014/main" val="4155662833"/>
                    </a:ext>
                  </a:extLst>
                </a:gridCol>
                <a:gridCol w="982472">
                  <a:extLst>
                    <a:ext uri="{9D8B030D-6E8A-4147-A177-3AD203B41FA5}">
                      <a16:colId xmlns:a16="http://schemas.microsoft.com/office/drawing/2014/main" val="2835917416"/>
                    </a:ext>
                  </a:extLst>
                </a:gridCol>
                <a:gridCol w="1125034">
                  <a:extLst>
                    <a:ext uri="{9D8B030D-6E8A-4147-A177-3AD203B41FA5}">
                      <a16:colId xmlns:a16="http://schemas.microsoft.com/office/drawing/2014/main" val="905050343"/>
                    </a:ext>
                  </a:extLst>
                </a:gridCol>
                <a:gridCol w="839910">
                  <a:extLst>
                    <a:ext uri="{9D8B030D-6E8A-4147-A177-3AD203B41FA5}">
                      <a16:colId xmlns:a16="http://schemas.microsoft.com/office/drawing/2014/main" val="2489970175"/>
                    </a:ext>
                  </a:extLst>
                </a:gridCol>
                <a:gridCol w="982472">
                  <a:extLst>
                    <a:ext uri="{9D8B030D-6E8A-4147-A177-3AD203B41FA5}">
                      <a16:colId xmlns:a16="http://schemas.microsoft.com/office/drawing/2014/main" val="2424934093"/>
                    </a:ext>
                  </a:extLst>
                </a:gridCol>
                <a:gridCol w="982472">
                  <a:extLst>
                    <a:ext uri="{9D8B030D-6E8A-4147-A177-3AD203B41FA5}">
                      <a16:colId xmlns:a16="http://schemas.microsoft.com/office/drawing/2014/main" val="2408276351"/>
                    </a:ext>
                  </a:extLst>
                </a:gridCol>
              </a:tblGrid>
              <a:tr h="370840">
                <a:tc>
                  <a:txBody>
                    <a:bodyPr/>
                    <a:lstStyle/>
                    <a:p>
                      <a:pPr algn="ctr"/>
                      <a:r>
                        <a:rPr lang="fr-FR" sz="800"/>
                        <a:t>Application Service Consumer</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a:t>Application Service Producer</a:t>
                      </a:r>
                      <a:endParaRPr lang="en-US" sz="800"/>
                    </a:p>
                    <a:p>
                      <a:pPr algn="ctr"/>
                      <a:endParaRPr lang="en-US" sz="800"/>
                    </a:p>
                  </a:txBody>
                  <a:tcPr/>
                </a:tc>
                <a:tc>
                  <a:txBody>
                    <a:bodyPr/>
                    <a:lstStyle/>
                    <a:p>
                      <a:pPr algn="ctr"/>
                      <a:r>
                        <a:rPr lang="fr-FR" sz="800"/>
                        <a:t>Flow type + </a:t>
                      </a:r>
                      <a:r>
                        <a:rPr lang="fr-FR" sz="800" err="1"/>
                        <a:t>protocol</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noProof="0">
                          <a:effectLst/>
                        </a:rPr>
                        <a:t>Exchange Format​</a:t>
                      </a:r>
                      <a:endParaRPr lang="en-US" sz="800" b="1" i="0" noProof="0">
                        <a:solidFill>
                          <a:srgbClr val="FFFFFF"/>
                        </a:solidFill>
                        <a:effectLst/>
                      </a:endParaRPr>
                    </a:p>
                    <a:p>
                      <a:pPr algn="ctr"/>
                      <a:endParaRPr lang="en-US" sz="800"/>
                    </a:p>
                  </a:txBody>
                  <a:tcPr/>
                </a:tc>
                <a:tc>
                  <a:txBody>
                    <a:bodyPr/>
                    <a:lstStyle/>
                    <a:p>
                      <a:pPr algn="ctr"/>
                      <a:r>
                        <a:rPr lang="fr-FR" sz="800"/>
                        <a:t>Gateway</a:t>
                      </a:r>
                      <a:endParaRPr lang="en-US" sz="800"/>
                    </a:p>
                  </a:txBody>
                  <a:tcPr/>
                </a:tc>
                <a:tc>
                  <a:txBody>
                    <a:bodyPr/>
                    <a:lstStyle/>
                    <a:p>
                      <a:pPr algn="ctr"/>
                      <a:r>
                        <a:rPr lang="fr-FR" sz="800" err="1"/>
                        <a:t>Authentication</a:t>
                      </a:r>
                      <a:endParaRPr lang="en-US" sz="800"/>
                    </a:p>
                  </a:txBody>
                  <a:tcPr/>
                </a:tc>
                <a:tc>
                  <a:txBody>
                    <a:bodyPr/>
                    <a:lstStyle/>
                    <a:p>
                      <a:pPr algn="ctr"/>
                      <a:r>
                        <a:rPr lang="fr-FR" sz="800"/>
                        <a:t>Volume / Frequency</a:t>
                      </a:r>
                      <a:endParaRPr lang="en-US" sz="800"/>
                    </a:p>
                  </a:txBody>
                  <a:tcPr/>
                </a:tc>
                <a:tc>
                  <a:txBody>
                    <a:bodyPr/>
                    <a:lstStyle/>
                    <a:p>
                      <a:pPr algn="ctr"/>
                      <a:r>
                        <a:rPr lang="fr-FR" sz="800"/>
                        <a:t>New, update or no-change</a:t>
                      </a:r>
                      <a:endParaRPr lang="en-US" sz="800"/>
                    </a:p>
                  </a:txBody>
                  <a:tcPr/>
                </a:tc>
                <a:tc>
                  <a:txBody>
                    <a:bodyPr/>
                    <a:lstStyle/>
                    <a:p>
                      <a:pPr algn="ctr"/>
                      <a:r>
                        <a:rPr lang="fr-FR" sz="800"/>
                        <a:t>Comment</a:t>
                      </a:r>
                      <a:endParaRPr lang="en-US" sz="800"/>
                    </a:p>
                  </a:txBody>
                  <a:tcPr/>
                </a:tc>
                <a:extLst>
                  <a:ext uri="{0D108BD9-81ED-4DB2-BD59-A6C34878D82A}">
                    <a16:rowId xmlns:a16="http://schemas.microsoft.com/office/drawing/2014/main" val="1419365236"/>
                  </a:ext>
                </a:extLst>
              </a:tr>
              <a:tr h="370840">
                <a:tc>
                  <a:txBody>
                    <a:bodyPr/>
                    <a:lstStyle/>
                    <a:p>
                      <a:endParaRPr lang="en-US" sz="800"/>
                    </a:p>
                  </a:txBody>
                  <a:tcPr/>
                </a:tc>
                <a:tc>
                  <a:txBody>
                    <a:bodyPr/>
                    <a:lstStyle/>
                    <a:p>
                      <a:r>
                        <a:rPr lang="fr-FR" sz="800" err="1">
                          <a:highlight>
                            <a:srgbClr val="FFFF00"/>
                          </a:highlight>
                        </a:rPr>
                        <a:t>PingFederate</a:t>
                      </a:r>
                      <a:endParaRPr lang="en-US" sz="800">
                        <a:highlight>
                          <a:srgbClr val="FFFF00"/>
                        </a:highlight>
                      </a:endParaRPr>
                    </a:p>
                  </a:txBody>
                  <a:tcPr/>
                </a:tc>
                <a:tc>
                  <a:txBody>
                    <a:bodyPr/>
                    <a:lstStyle/>
                    <a:p>
                      <a:r>
                        <a:rPr lang="fr-FR" sz="800">
                          <a:highlight>
                            <a:srgbClr val="FFFF00"/>
                          </a:highlight>
                        </a:rPr>
                        <a:t>API / HTTPS</a:t>
                      </a:r>
                      <a:endParaRPr lang="en-US" sz="800">
                        <a:highlight>
                          <a:srgbClr val="FFFF00"/>
                        </a:highlight>
                      </a:endParaRPr>
                    </a:p>
                  </a:txBody>
                  <a:tcPr/>
                </a:tc>
                <a:tc>
                  <a:txBody>
                    <a:bodyPr/>
                    <a:lstStyle/>
                    <a:p>
                      <a:r>
                        <a:rPr lang="fr-FR" sz="800">
                          <a:highlight>
                            <a:srgbClr val="FFFF00"/>
                          </a:highlight>
                        </a:rPr>
                        <a:t>OIDC</a:t>
                      </a:r>
                      <a:endParaRPr lang="en-US" sz="800">
                        <a:highlight>
                          <a:srgbClr val="FFFF00"/>
                        </a:highlight>
                      </a:endParaRPr>
                    </a:p>
                  </a:txBody>
                  <a:tcPr/>
                </a:tc>
                <a:tc>
                  <a:txBody>
                    <a:bodyPr/>
                    <a:lstStyle/>
                    <a:p>
                      <a:r>
                        <a:rPr lang="fr-FR" sz="800">
                          <a:highlight>
                            <a:srgbClr val="FFFF00"/>
                          </a:highlight>
                        </a:rPr>
                        <a:t>No</a:t>
                      </a:r>
                      <a:endParaRPr lang="en-US" sz="800">
                        <a:highlight>
                          <a:srgbClr val="FFFF00"/>
                        </a:highlight>
                      </a:endParaRPr>
                    </a:p>
                  </a:txBody>
                  <a:tcPr/>
                </a:tc>
                <a:tc>
                  <a:txBody>
                    <a:bodyPr/>
                    <a:lstStyle/>
                    <a:p>
                      <a:r>
                        <a:rPr lang="fr-FR" sz="800" err="1">
                          <a:highlight>
                            <a:srgbClr val="FFFF00"/>
                          </a:highlight>
                        </a:rPr>
                        <a:t>oAuth</a:t>
                      </a:r>
                      <a:r>
                        <a:rPr lang="fr-FR" sz="800">
                          <a:highlight>
                            <a:srgbClr val="FFFF00"/>
                          </a:highlight>
                        </a:rPr>
                        <a:t> via </a:t>
                      </a:r>
                      <a:r>
                        <a:rPr lang="fr-FR" sz="800" err="1">
                          <a:highlight>
                            <a:srgbClr val="FFFF00"/>
                          </a:highlight>
                        </a:rPr>
                        <a:t>PingFederate</a:t>
                      </a:r>
                      <a:endParaRPr lang="en-US" sz="800">
                        <a:highlight>
                          <a:srgbClr val="FFFF00"/>
                        </a:highlight>
                      </a:endParaRPr>
                    </a:p>
                  </a:txBody>
                  <a:tcPr/>
                </a:tc>
                <a:tc>
                  <a:txBody>
                    <a:bodyPr/>
                    <a:lstStyle/>
                    <a:p>
                      <a:r>
                        <a:rPr lang="fr-FR" sz="800">
                          <a:highlight>
                            <a:srgbClr val="FFFF00"/>
                          </a:highlight>
                        </a:rPr>
                        <a:t>10 </a:t>
                      </a:r>
                      <a:r>
                        <a:rPr lang="fr-FR" sz="800" err="1">
                          <a:highlight>
                            <a:srgbClr val="FFFF00"/>
                          </a:highlight>
                        </a:rPr>
                        <a:t>req</a:t>
                      </a:r>
                      <a:r>
                        <a:rPr lang="fr-FR" sz="800">
                          <a:highlight>
                            <a:srgbClr val="FFFF00"/>
                          </a:highlight>
                        </a:rPr>
                        <a:t>/min</a:t>
                      </a:r>
                      <a:endParaRPr lang="en-US" sz="800">
                        <a:highlight>
                          <a:srgbClr val="FFFF00"/>
                        </a:highlight>
                      </a:endParaRPr>
                    </a:p>
                  </a:txBody>
                  <a:tcPr/>
                </a:tc>
                <a:tc>
                  <a:txBody>
                    <a:bodyPr/>
                    <a:lstStyle/>
                    <a:p>
                      <a:r>
                        <a:rPr lang="fr-FR" sz="800">
                          <a:highlight>
                            <a:srgbClr val="FFFF00"/>
                          </a:highlight>
                        </a:rPr>
                        <a:t>No-change</a:t>
                      </a:r>
                      <a:endParaRPr lang="en-US" sz="800">
                        <a:highlight>
                          <a:srgbClr val="FFFF00"/>
                        </a:highlight>
                      </a:endParaRPr>
                    </a:p>
                  </a:txBody>
                  <a:tcPr/>
                </a:tc>
                <a:tc>
                  <a:txBody>
                    <a:bodyPr/>
                    <a:lstStyle/>
                    <a:p>
                      <a:r>
                        <a:rPr lang="fr-FR" sz="800">
                          <a:highlight>
                            <a:srgbClr val="FFFF00"/>
                          </a:highlight>
                        </a:rPr>
                        <a:t>To </a:t>
                      </a:r>
                      <a:r>
                        <a:rPr lang="fr-FR" sz="800" err="1">
                          <a:highlight>
                            <a:srgbClr val="FFFF00"/>
                          </a:highlight>
                        </a:rPr>
                        <a:t>authenticate</a:t>
                      </a:r>
                      <a:r>
                        <a:rPr lang="fr-FR" sz="800">
                          <a:highlight>
                            <a:srgbClr val="FFFF00"/>
                          </a:highlight>
                        </a:rPr>
                        <a:t> </a:t>
                      </a:r>
                      <a:r>
                        <a:rPr lang="fr-FR" sz="800" err="1">
                          <a:highlight>
                            <a:srgbClr val="FFFF00"/>
                          </a:highlight>
                        </a:rPr>
                        <a:t>users</a:t>
                      </a:r>
                      <a:endParaRPr lang="en-US" sz="800">
                        <a:highlight>
                          <a:srgbClr val="FFFF00"/>
                        </a:highlight>
                      </a:endParaRPr>
                    </a:p>
                  </a:txBody>
                  <a:tcPr/>
                </a:tc>
                <a:extLst>
                  <a:ext uri="{0D108BD9-81ED-4DB2-BD59-A6C34878D82A}">
                    <a16:rowId xmlns:a16="http://schemas.microsoft.com/office/drawing/2014/main" val="263456973"/>
                  </a:ext>
                </a:extLst>
              </a:tr>
              <a:tr h="370840">
                <a:tc>
                  <a:txBody>
                    <a:bodyPr/>
                    <a:lstStyle/>
                    <a:p>
                      <a:endParaRPr lang="en-US" sz="800"/>
                    </a:p>
                  </a:txBody>
                  <a:tcPr/>
                </a:tc>
                <a:tc>
                  <a:txBody>
                    <a:bodyPr/>
                    <a:lstStyle/>
                    <a:p>
                      <a:endParaRPr lang="en-US" sz="800">
                        <a:highlight>
                          <a:srgbClr val="FFFF00"/>
                        </a:highlight>
                      </a:endParaRPr>
                    </a:p>
                  </a:txBody>
                  <a:tcPr/>
                </a:tc>
                <a:tc>
                  <a:txBody>
                    <a:bodyPr/>
                    <a:lstStyle/>
                    <a:p>
                      <a:r>
                        <a:rPr lang="fr-FR" sz="800">
                          <a:highlight>
                            <a:srgbClr val="FFFF00"/>
                          </a:highlight>
                        </a:rPr>
                        <a:t>File / SFTP</a:t>
                      </a:r>
                      <a:endParaRPr lang="en-US" sz="800">
                        <a:highlight>
                          <a:srgbClr val="FFFF00"/>
                        </a:highlight>
                      </a:endParaRPr>
                    </a:p>
                  </a:txBody>
                  <a:tcPr/>
                </a:tc>
                <a:tc>
                  <a:txBody>
                    <a:bodyPr/>
                    <a:lstStyle/>
                    <a:p>
                      <a:r>
                        <a:rPr lang="fr-FR" sz="800">
                          <a:highlight>
                            <a:srgbClr val="FFFF00"/>
                          </a:highlight>
                        </a:rPr>
                        <a:t>CSV</a:t>
                      </a:r>
                      <a:endParaRPr lang="en-US" sz="800">
                        <a:highlight>
                          <a:srgbClr val="FFFF00"/>
                        </a:highlight>
                      </a:endParaRPr>
                    </a:p>
                  </a:txBody>
                  <a:tcPr/>
                </a:tc>
                <a:tc>
                  <a:txBody>
                    <a:bodyPr/>
                    <a:lstStyle/>
                    <a:p>
                      <a:r>
                        <a:rPr lang="fr-FR" sz="800">
                          <a:highlight>
                            <a:srgbClr val="FFFF00"/>
                          </a:highlight>
                        </a:rPr>
                        <a:t>MTS2</a:t>
                      </a:r>
                      <a:endParaRPr lang="en-US" sz="800">
                        <a:highlight>
                          <a:srgbClr val="FFFF00"/>
                        </a:highlight>
                      </a:endParaRPr>
                    </a:p>
                  </a:txBody>
                  <a:tcPr/>
                </a:tc>
                <a:tc>
                  <a:txBody>
                    <a:bodyPr/>
                    <a:lstStyle/>
                    <a:p>
                      <a:r>
                        <a:rPr lang="fr-FR" sz="800" err="1">
                          <a:highlight>
                            <a:srgbClr val="FFFF00"/>
                          </a:highlight>
                        </a:rPr>
                        <a:t>mTLS</a:t>
                      </a:r>
                      <a:endParaRPr lang="en-US" sz="800">
                        <a:highlight>
                          <a:srgbClr val="FFFF00"/>
                        </a:highlight>
                      </a:endParaRPr>
                    </a:p>
                  </a:txBody>
                  <a:tcPr/>
                </a:tc>
                <a:tc>
                  <a:txBody>
                    <a:bodyPr/>
                    <a:lstStyle/>
                    <a:p>
                      <a:r>
                        <a:rPr lang="fr-FR" sz="800">
                          <a:highlight>
                            <a:srgbClr val="FFFF00"/>
                          </a:highlight>
                        </a:rPr>
                        <a:t>1MB/</a:t>
                      </a:r>
                      <a:r>
                        <a:rPr lang="fr-FR" sz="800" err="1">
                          <a:highlight>
                            <a:srgbClr val="FFFF00"/>
                          </a:highlight>
                        </a:rPr>
                        <a:t>day</a:t>
                      </a:r>
                      <a:endParaRPr lang="en-US" sz="800">
                        <a:highlight>
                          <a:srgbClr val="FFFF00"/>
                        </a:highlight>
                      </a:endParaRPr>
                    </a:p>
                  </a:txBody>
                  <a:tcPr/>
                </a:tc>
                <a:tc>
                  <a:txBody>
                    <a:bodyPr/>
                    <a:lstStyle/>
                    <a:p>
                      <a:r>
                        <a:rPr lang="fr-FR" sz="800">
                          <a:highlight>
                            <a:srgbClr val="FFFF00"/>
                          </a:highlight>
                        </a:rPr>
                        <a:t>Update</a:t>
                      </a:r>
                      <a:endParaRPr lang="en-US" sz="800">
                        <a:highlight>
                          <a:srgbClr val="FFFF00"/>
                        </a:highlight>
                      </a:endParaRPr>
                    </a:p>
                  </a:txBody>
                  <a:tcPr/>
                </a:tc>
                <a:tc>
                  <a:txBody>
                    <a:bodyPr/>
                    <a:lstStyle/>
                    <a:p>
                      <a:endParaRPr lang="en-US" sz="800">
                        <a:highlight>
                          <a:srgbClr val="FFFF00"/>
                        </a:highlight>
                      </a:endParaRPr>
                    </a:p>
                  </a:txBody>
                  <a:tcPr/>
                </a:tc>
                <a:extLst>
                  <a:ext uri="{0D108BD9-81ED-4DB2-BD59-A6C34878D82A}">
                    <a16:rowId xmlns:a16="http://schemas.microsoft.com/office/drawing/2014/main" val="1131652226"/>
                  </a:ext>
                </a:extLst>
              </a:tr>
              <a:tr h="370840">
                <a:tc>
                  <a:txBody>
                    <a:bodyPr/>
                    <a:lstStyle/>
                    <a:p>
                      <a:endParaRPr lang="en-US" sz="800"/>
                    </a:p>
                  </a:txBody>
                  <a:tcPr/>
                </a:tc>
                <a:tc>
                  <a:txBody>
                    <a:bodyPr/>
                    <a:lstStyle/>
                    <a:p>
                      <a:endParaRPr lang="en-US" sz="800">
                        <a:highlight>
                          <a:srgbClr val="FFFF00"/>
                        </a:highlight>
                      </a:endParaRPr>
                    </a:p>
                  </a:txBody>
                  <a:tcPr/>
                </a:tc>
                <a:tc>
                  <a:txBody>
                    <a:bodyPr/>
                    <a:lstStyle/>
                    <a:p>
                      <a:r>
                        <a:rPr lang="fr-FR" sz="800">
                          <a:highlight>
                            <a:srgbClr val="FFFF00"/>
                          </a:highlight>
                        </a:rPr>
                        <a:t>API / HTTPS</a:t>
                      </a:r>
                      <a:endParaRPr lang="en-US" sz="800">
                        <a:highlight>
                          <a:srgbClr val="FFFF00"/>
                        </a:highlight>
                      </a:endParaRPr>
                    </a:p>
                  </a:txBody>
                  <a:tcPr/>
                </a:tc>
                <a:tc>
                  <a:txBody>
                    <a:bodyPr/>
                    <a:lstStyle/>
                    <a:p>
                      <a:r>
                        <a:rPr lang="fr-FR" sz="800">
                          <a:highlight>
                            <a:srgbClr val="FFFF00"/>
                          </a:highlight>
                        </a:rPr>
                        <a:t>JSON REST API</a:t>
                      </a:r>
                      <a:endParaRPr lang="en-US" sz="800">
                        <a:highlight>
                          <a:srgbClr val="FFFF00"/>
                        </a:highlight>
                      </a:endParaRPr>
                    </a:p>
                  </a:txBody>
                  <a:tcPr/>
                </a:tc>
                <a:tc>
                  <a:txBody>
                    <a:bodyPr/>
                    <a:lstStyle/>
                    <a:p>
                      <a:r>
                        <a:rPr lang="fr-FR" sz="800">
                          <a:highlight>
                            <a:srgbClr val="FFFF00"/>
                          </a:highlight>
                        </a:rPr>
                        <a:t>APIC (AWS Irlande)</a:t>
                      </a:r>
                      <a:endParaRPr lang="en-US" sz="800">
                        <a:highlight>
                          <a:srgbClr val="FFFF00"/>
                        </a:highlight>
                      </a:endParaRPr>
                    </a:p>
                  </a:txBody>
                  <a:tcPr/>
                </a:tc>
                <a:tc>
                  <a:txBody>
                    <a:bodyPr/>
                    <a:lstStyle/>
                    <a:p>
                      <a:r>
                        <a:rPr lang="fr-FR" sz="800" err="1">
                          <a:highlight>
                            <a:srgbClr val="FFFF00"/>
                          </a:highlight>
                        </a:rPr>
                        <a:t>oAuth</a:t>
                      </a:r>
                      <a:r>
                        <a:rPr lang="fr-FR" sz="800">
                          <a:highlight>
                            <a:srgbClr val="FFFF00"/>
                          </a:highlight>
                        </a:rPr>
                        <a:t> via </a:t>
                      </a:r>
                      <a:r>
                        <a:rPr lang="fr-FR" sz="800" err="1">
                          <a:highlight>
                            <a:srgbClr val="FFFF00"/>
                          </a:highlight>
                        </a:rPr>
                        <a:t>PingFederate</a:t>
                      </a:r>
                      <a:r>
                        <a:rPr lang="fr-FR" sz="800">
                          <a:highlight>
                            <a:srgbClr val="FFFF00"/>
                          </a:highlight>
                        </a:rPr>
                        <a:t> + </a:t>
                      </a:r>
                      <a:r>
                        <a:rPr lang="fr-FR" sz="800" err="1">
                          <a:highlight>
                            <a:srgbClr val="FFFF00"/>
                          </a:highlight>
                        </a:rPr>
                        <a:t>mTLS</a:t>
                      </a:r>
                      <a:endParaRPr lang="en-US" sz="800">
                        <a:highlight>
                          <a:srgbClr val="FFFF00"/>
                        </a:highlight>
                      </a:endParaRPr>
                    </a:p>
                  </a:txBody>
                  <a:tcPr/>
                </a:tc>
                <a:tc>
                  <a:txBody>
                    <a:bodyPr/>
                    <a:lstStyle/>
                    <a:p>
                      <a:r>
                        <a:rPr lang="fr-FR" sz="800">
                          <a:highlight>
                            <a:srgbClr val="FFFF00"/>
                          </a:highlight>
                        </a:rPr>
                        <a:t>10 </a:t>
                      </a:r>
                      <a:r>
                        <a:rPr lang="fr-FR" sz="800" err="1">
                          <a:highlight>
                            <a:srgbClr val="FFFF00"/>
                          </a:highlight>
                        </a:rPr>
                        <a:t>req</a:t>
                      </a:r>
                      <a:r>
                        <a:rPr lang="fr-FR" sz="800">
                          <a:highlight>
                            <a:srgbClr val="FFFF00"/>
                          </a:highlight>
                        </a:rPr>
                        <a:t>/sec</a:t>
                      </a:r>
                      <a:endParaRPr lang="en-US" sz="800">
                        <a:highlight>
                          <a:srgbClr val="FFFF00"/>
                        </a:highlight>
                      </a:endParaRPr>
                    </a:p>
                  </a:txBody>
                  <a:tcPr/>
                </a:tc>
                <a:tc>
                  <a:txBody>
                    <a:bodyPr/>
                    <a:lstStyle/>
                    <a:p>
                      <a:r>
                        <a:rPr lang="fr-FR" sz="800">
                          <a:highlight>
                            <a:srgbClr val="FFFF00"/>
                          </a:highlight>
                        </a:rPr>
                        <a:t>New</a:t>
                      </a:r>
                      <a:endParaRPr lang="en-US" sz="800">
                        <a:highlight>
                          <a:srgbClr val="FFFF00"/>
                        </a:highlight>
                      </a:endParaRPr>
                    </a:p>
                  </a:txBody>
                  <a:tcPr/>
                </a:tc>
                <a:tc>
                  <a:txBody>
                    <a:bodyPr/>
                    <a:lstStyle/>
                    <a:p>
                      <a:endParaRPr lang="en-US" sz="800">
                        <a:highlight>
                          <a:srgbClr val="FFFF00"/>
                        </a:highlight>
                      </a:endParaRPr>
                    </a:p>
                  </a:txBody>
                  <a:tcPr/>
                </a:tc>
                <a:extLst>
                  <a:ext uri="{0D108BD9-81ED-4DB2-BD59-A6C34878D82A}">
                    <a16:rowId xmlns:a16="http://schemas.microsoft.com/office/drawing/2014/main" val="1593140444"/>
                  </a:ext>
                </a:extLst>
              </a:tr>
              <a:tr h="370840">
                <a:tc>
                  <a:txBody>
                    <a:bodyPr/>
                    <a:lstStyle/>
                    <a:p>
                      <a:r>
                        <a:rPr lang="fr-FR" sz="800"/>
                        <a:t>OBT</a:t>
                      </a:r>
                      <a:endParaRPr lang="en-US" sz="800"/>
                    </a:p>
                  </a:txBody>
                  <a:tcPr/>
                </a:tc>
                <a:tc>
                  <a:txBody>
                    <a:bodyPr/>
                    <a:lstStyle/>
                    <a:p>
                      <a:r>
                        <a:rPr lang="fr-FR" sz="800">
                          <a:highlight>
                            <a:srgbClr val="FFFF00"/>
                          </a:highlight>
                        </a:rPr>
                        <a:t>OMS VN</a:t>
                      </a:r>
                      <a:endParaRPr lang="en-US" sz="800">
                        <a:highlight>
                          <a:srgbClr val="FFFF00"/>
                        </a:highlight>
                      </a:endParaRPr>
                    </a:p>
                  </a:txBody>
                  <a:tcPr/>
                </a:tc>
                <a:tc>
                  <a:txBody>
                    <a:bodyPr/>
                    <a:lstStyle/>
                    <a:p>
                      <a:r>
                        <a:rPr lang="fr-FR" sz="800">
                          <a:highlight>
                            <a:srgbClr val="FFFF00"/>
                          </a:highlight>
                        </a:rPr>
                        <a:t>Queue / Kafka:8886</a:t>
                      </a:r>
                      <a:endParaRPr lang="en-US" sz="800">
                        <a:highlight>
                          <a:srgbClr val="FFFF00"/>
                        </a:highlight>
                      </a:endParaRPr>
                    </a:p>
                  </a:txBody>
                  <a:tcPr/>
                </a:tc>
                <a:tc>
                  <a:txBody>
                    <a:bodyPr/>
                    <a:lstStyle/>
                    <a:p>
                      <a:endParaRPr lang="en-US" sz="800">
                        <a:highlight>
                          <a:srgbClr val="FFFF00"/>
                        </a:highlight>
                      </a:endParaRPr>
                    </a:p>
                  </a:txBody>
                  <a:tcPr/>
                </a:tc>
                <a:tc>
                  <a:txBody>
                    <a:bodyPr/>
                    <a:lstStyle/>
                    <a:p>
                      <a:endParaRPr lang="en-US" sz="800">
                        <a:highlight>
                          <a:srgbClr val="FFFF00"/>
                        </a:highlight>
                      </a:endParaRPr>
                    </a:p>
                  </a:txBody>
                  <a:tcPr/>
                </a:tc>
                <a:tc>
                  <a:txBody>
                    <a:bodyPr/>
                    <a:lstStyle/>
                    <a:p>
                      <a:endParaRPr lang="en-US" sz="800">
                        <a:highlight>
                          <a:srgbClr val="FFFF00"/>
                        </a:highlight>
                      </a:endParaRPr>
                    </a:p>
                  </a:txBody>
                  <a:tcPr/>
                </a:tc>
                <a:tc>
                  <a:txBody>
                    <a:bodyPr/>
                    <a:lstStyle/>
                    <a:p>
                      <a:endParaRPr lang="en-US" sz="800">
                        <a:highlight>
                          <a:srgbClr val="FFFF00"/>
                        </a:highlight>
                      </a:endParaRPr>
                    </a:p>
                  </a:txBody>
                  <a:tcPr/>
                </a:tc>
                <a:tc>
                  <a:txBody>
                    <a:bodyPr/>
                    <a:lstStyle/>
                    <a:p>
                      <a:endParaRPr lang="en-US" sz="800">
                        <a:highlight>
                          <a:srgbClr val="FFFF00"/>
                        </a:highlight>
                      </a:endParaRPr>
                    </a:p>
                  </a:txBody>
                  <a:tcPr/>
                </a:tc>
                <a:tc>
                  <a:txBody>
                    <a:bodyPr/>
                    <a:lstStyle/>
                    <a:p>
                      <a:endParaRPr lang="en-US" sz="800">
                        <a:highlight>
                          <a:srgbClr val="FFFF00"/>
                        </a:highlight>
                      </a:endParaRPr>
                    </a:p>
                  </a:txBody>
                  <a:tcPr/>
                </a:tc>
                <a:extLst>
                  <a:ext uri="{0D108BD9-81ED-4DB2-BD59-A6C34878D82A}">
                    <a16:rowId xmlns:a16="http://schemas.microsoft.com/office/drawing/2014/main" val="226611344"/>
                  </a:ext>
                </a:extLst>
              </a:tr>
            </a:tbl>
          </a:graphicData>
        </a:graphic>
      </p:graphicFrame>
      <p:pic>
        <p:nvPicPr>
          <p:cNvPr id="3" name="Picture 2">
            <a:extLst>
              <a:ext uri="{FF2B5EF4-FFF2-40B4-BE49-F238E27FC236}">
                <a16:creationId xmlns:a16="http://schemas.microsoft.com/office/drawing/2014/main" id="{C24C0634-176A-C6CC-9196-E92FA62D7797}"/>
              </a:ext>
            </a:extLst>
          </p:cNvPr>
          <p:cNvPicPr>
            <a:picLocks noChangeAspect="1"/>
          </p:cNvPicPr>
          <p:nvPr/>
        </p:nvPicPr>
        <p:blipFill>
          <a:blip r:embed="rId4"/>
          <a:stretch>
            <a:fillRect/>
          </a:stretch>
        </p:blipFill>
        <p:spPr>
          <a:xfrm>
            <a:off x="208359" y="3318422"/>
            <a:ext cx="9144000" cy="983157"/>
          </a:xfrm>
          <a:prstGeom prst="rect">
            <a:avLst/>
          </a:prstGeom>
        </p:spPr>
      </p:pic>
    </p:spTree>
    <p:custDataLst>
      <p:tags r:id="rId1"/>
    </p:custDataLst>
    <p:extLst>
      <p:ext uri="{BB962C8B-B14F-4D97-AF65-F5344CB8AC3E}">
        <p14:creationId xmlns:p14="http://schemas.microsoft.com/office/powerpoint/2010/main" val="6437559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100" b="1" i="0" u="none" strike="noStrike" kern="1200" cap="all" spc="0" normalizeH="0" baseline="0" noProof="0">
                <a:ln>
                  <a:noFill/>
                </a:ln>
                <a:solidFill>
                  <a:prstClr val="white"/>
                </a:solidFill>
                <a:effectLst/>
                <a:uLnTx/>
                <a:uFillTx/>
                <a:latin typeface="Encode Sans"/>
                <a:ea typeface="+mj-ea"/>
                <a:cs typeface="+mj-cs"/>
              </a:rPr>
              <a:t>Enterprise Architecture – Impacted Applications Service</a:t>
            </a:r>
            <a:endParaRPr>
              <a:latin typeface="Encode Sans" pitchFamily="2" charset="0"/>
            </a:endParaRPr>
          </a:p>
        </p:txBody>
      </p:sp>
      <p:graphicFrame>
        <p:nvGraphicFramePr>
          <p:cNvPr id="3" name="Espace réservé du contenu 4">
            <a:extLst>
              <a:ext uri="{FF2B5EF4-FFF2-40B4-BE49-F238E27FC236}">
                <a16:creationId xmlns:a16="http://schemas.microsoft.com/office/drawing/2014/main" id="{4E982979-4BA0-C934-7111-AD328EE655C4}"/>
              </a:ext>
            </a:extLst>
          </p:cNvPr>
          <p:cNvGraphicFramePr>
            <a:graphicFrameLocks/>
          </p:cNvGraphicFramePr>
          <p:nvPr/>
        </p:nvGraphicFramePr>
        <p:xfrm>
          <a:off x="239159" y="747086"/>
          <a:ext cx="8665680" cy="1947749"/>
        </p:xfrm>
        <a:graphic>
          <a:graphicData uri="http://schemas.openxmlformats.org/drawingml/2006/table">
            <a:tbl>
              <a:tblPr firstRow="1" bandRow="1">
                <a:tableStyleId>{5C22544A-7EE6-4342-B048-85BDC9FD1C3A}</a:tableStyleId>
              </a:tblPr>
              <a:tblGrid>
                <a:gridCol w="917043">
                  <a:extLst>
                    <a:ext uri="{9D8B030D-6E8A-4147-A177-3AD203B41FA5}">
                      <a16:colId xmlns:a16="http://schemas.microsoft.com/office/drawing/2014/main" val="885176629"/>
                    </a:ext>
                  </a:extLst>
                </a:gridCol>
                <a:gridCol w="597619">
                  <a:extLst>
                    <a:ext uri="{9D8B030D-6E8A-4147-A177-3AD203B41FA5}">
                      <a16:colId xmlns:a16="http://schemas.microsoft.com/office/drawing/2014/main" val="558686844"/>
                    </a:ext>
                  </a:extLst>
                </a:gridCol>
                <a:gridCol w="769020">
                  <a:extLst>
                    <a:ext uri="{9D8B030D-6E8A-4147-A177-3AD203B41FA5}">
                      <a16:colId xmlns:a16="http://schemas.microsoft.com/office/drawing/2014/main" val="2031441691"/>
                    </a:ext>
                  </a:extLst>
                </a:gridCol>
                <a:gridCol w="806534">
                  <a:extLst>
                    <a:ext uri="{9D8B030D-6E8A-4147-A177-3AD203B41FA5}">
                      <a16:colId xmlns:a16="http://schemas.microsoft.com/office/drawing/2014/main" val="1810357485"/>
                    </a:ext>
                  </a:extLst>
                </a:gridCol>
                <a:gridCol w="740887">
                  <a:extLst>
                    <a:ext uri="{9D8B030D-6E8A-4147-A177-3AD203B41FA5}">
                      <a16:colId xmlns:a16="http://schemas.microsoft.com/office/drawing/2014/main" val="1039038496"/>
                    </a:ext>
                  </a:extLst>
                </a:gridCol>
                <a:gridCol w="994100">
                  <a:extLst>
                    <a:ext uri="{9D8B030D-6E8A-4147-A177-3AD203B41FA5}">
                      <a16:colId xmlns:a16="http://schemas.microsoft.com/office/drawing/2014/main" val="3825258066"/>
                    </a:ext>
                  </a:extLst>
                </a:gridCol>
                <a:gridCol w="1022235">
                  <a:extLst>
                    <a:ext uri="{9D8B030D-6E8A-4147-A177-3AD203B41FA5}">
                      <a16:colId xmlns:a16="http://schemas.microsoft.com/office/drawing/2014/main" val="3528804775"/>
                    </a:ext>
                  </a:extLst>
                </a:gridCol>
                <a:gridCol w="1022234">
                  <a:extLst>
                    <a:ext uri="{9D8B030D-6E8A-4147-A177-3AD203B41FA5}">
                      <a16:colId xmlns:a16="http://schemas.microsoft.com/office/drawing/2014/main" val="2570431230"/>
                    </a:ext>
                  </a:extLst>
                </a:gridCol>
                <a:gridCol w="1022234">
                  <a:extLst>
                    <a:ext uri="{9D8B030D-6E8A-4147-A177-3AD203B41FA5}">
                      <a16:colId xmlns:a16="http://schemas.microsoft.com/office/drawing/2014/main" val="2480532535"/>
                    </a:ext>
                  </a:extLst>
                </a:gridCol>
                <a:gridCol w="773774">
                  <a:extLst>
                    <a:ext uri="{9D8B030D-6E8A-4147-A177-3AD203B41FA5}">
                      <a16:colId xmlns:a16="http://schemas.microsoft.com/office/drawing/2014/main" val="3194406381"/>
                    </a:ext>
                  </a:extLst>
                </a:gridCol>
              </a:tblGrid>
              <a:tr h="484709">
                <a:tc>
                  <a:txBody>
                    <a:bodyPr/>
                    <a:lstStyle/>
                    <a:p>
                      <a:pPr algn="ctr" fontAlgn="base"/>
                      <a:r>
                        <a:rPr lang="en-US" sz="800" noProof="0">
                          <a:effectLst/>
                        </a:rPr>
                        <a:t>Application Service Name </a:t>
                      </a:r>
                      <a:endParaRPr lang="en-US" sz="800" b="1" i="0" noProof="0">
                        <a:solidFill>
                          <a:srgbClr val="FFFFFF"/>
                        </a:solidFill>
                        <a:effectLst/>
                      </a:endParaRPr>
                    </a:p>
                  </a:txBody>
                  <a:tcPr marL="0" marR="0" marT="0" marB="0" anchor="ctr"/>
                </a:tc>
                <a:tc>
                  <a:txBody>
                    <a:bodyPr/>
                    <a:lstStyle/>
                    <a:p>
                      <a:pPr algn="ctr" fontAlgn="base"/>
                      <a:r>
                        <a:rPr lang="en-US" sz="800" noProof="0">
                          <a:effectLst/>
                        </a:rPr>
                        <a:t>Availability ​</a:t>
                      </a:r>
                      <a:endParaRPr lang="en-US" sz="800" b="1" i="0" noProof="0">
                        <a:solidFill>
                          <a:srgbClr val="FFFFFF"/>
                        </a:solidFill>
                        <a:effectLst/>
                      </a:endParaRPr>
                    </a:p>
                  </a:txBody>
                  <a:tcPr marL="0" marR="0" marT="0" marB="0" anchor="ctr"/>
                </a:tc>
                <a:tc>
                  <a:txBody>
                    <a:bodyPr/>
                    <a:lstStyle/>
                    <a:p>
                      <a:pPr algn="ctr" fontAlgn="base"/>
                      <a:r>
                        <a:rPr lang="en-US" sz="800" noProof="0">
                          <a:effectLst/>
                        </a:rPr>
                        <a:t>Integrity </a:t>
                      </a:r>
                      <a:endParaRPr lang="en-US" sz="800" b="1" i="0" noProof="0">
                        <a:solidFill>
                          <a:srgbClr val="FFFFFF"/>
                        </a:solidFill>
                        <a:effectLst/>
                      </a:endParaRPr>
                    </a:p>
                  </a:txBody>
                  <a:tcPr marL="0" marR="0" marT="0" marB="0" anchor="ctr"/>
                </a:tc>
                <a:tc>
                  <a:txBody>
                    <a:bodyPr/>
                    <a:lstStyle/>
                    <a:p>
                      <a:pPr algn="ctr" fontAlgn="base"/>
                      <a:r>
                        <a:rPr lang="en-US" sz="800" noProof="0">
                          <a:effectLst/>
                        </a:rPr>
                        <a:t>Confidentiality</a:t>
                      </a:r>
                      <a:endParaRPr lang="en-US" sz="800" b="1" i="0" noProof="0">
                        <a:solidFill>
                          <a:srgbClr val="FFFFFF"/>
                        </a:solidFill>
                        <a:effectLst/>
                      </a:endParaRPr>
                    </a:p>
                  </a:txBody>
                  <a:tcPr marL="0" marR="0" marT="0" marB="0" anchor="ctr"/>
                </a:tc>
                <a:tc>
                  <a:txBody>
                    <a:bodyPr/>
                    <a:lstStyle/>
                    <a:p>
                      <a:pPr algn="ctr" fontAlgn="base"/>
                      <a:r>
                        <a:rPr lang="en-US" sz="800" noProof="0">
                          <a:effectLst/>
                        </a:rPr>
                        <a:t>SOX</a:t>
                      </a:r>
                      <a:endParaRPr lang="en-US" sz="800" b="1" i="0" noProof="0">
                        <a:solidFill>
                          <a:srgbClr val="FFFFFF"/>
                        </a:solidFill>
                        <a:effectLst/>
                      </a:endParaRPr>
                    </a:p>
                  </a:txBody>
                  <a:tcPr marL="0" marR="0" marT="0" marB="0" anchor="ctr"/>
                </a:tc>
                <a:tc>
                  <a:txBody>
                    <a:bodyPr/>
                    <a:lstStyle/>
                    <a:p>
                      <a:pPr algn="ctr" fontAlgn="base"/>
                      <a:r>
                        <a:rPr lang="en-US" sz="800" noProof="0">
                          <a:effectLst/>
                        </a:rPr>
                        <a:t>Data Privacy severity</a:t>
                      </a:r>
                      <a:endParaRPr lang="en-US" sz="800" b="1" i="0" noProof="0">
                        <a:solidFill>
                          <a:srgbClr val="FFFFFF"/>
                        </a:solidFill>
                        <a:effectLst/>
                      </a:endParaRPr>
                    </a:p>
                  </a:txBody>
                  <a:tcPr marL="0" marR="0" marT="0" marB="0" anchor="ctr"/>
                </a:tc>
                <a:tc>
                  <a:txBody>
                    <a:bodyPr/>
                    <a:lstStyle/>
                    <a:p>
                      <a:pPr algn="ctr" fontAlgn="base"/>
                      <a:r>
                        <a:rPr lang="en-US" sz="800" noProof="0">
                          <a:effectLst/>
                        </a:rPr>
                        <a:t>Hosting​</a:t>
                      </a:r>
                      <a:endParaRPr lang="en-US" sz="800" b="1" i="0" noProof="0">
                        <a:solidFill>
                          <a:srgbClr val="FFFFFF"/>
                        </a:solidFill>
                        <a:effectLst/>
                      </a:endParaRPr>
                    </a:p>
                  </a:txBody>
                  <a:tcPr marL="0" marR="0" marT="0" marB="0" anchor="ctr"/>
                </a:tc>
                <a:tc>
                  <a:txBody>
                    <a:bodyPr/>
                    <a:lstStyle/>
                    <a:p>
                      <a:pPr algn="ctr" fontAlgn="base"/>
                      <a:r>
                        <a:rPr lang="fr-FR" sz="800" b="1" i="0" noProof="0" err="1">
                          <a:solidFill>
                            <a:srgbClr val="FFFFFF"/>
                          </a:solidFill>
                          <a:effectLst/>
                        </a:rPr>
                        <a:t>Technology</a:t>
                      </a:r>
                      <a:endParaRPr lang="en-US" sz="800" b="1" i="0" noProof="0">
                        <a:solidFill>
                          <a:srgbClr val="FFFFFF"/>
                        </a:solidFill>
                        <a:effectLst/>
                      </a:endParaRPr>
                    </a:p>
                  </a:txBody>
                  <a:tcPr marL="0" marR="0" marT="0" marB="0" anchor="ctr"/>
                </a:tc>
                <a:tc>
                  <a:txBody>
                    <a:bodyPr/>
                    <a:lstStyle/>
                    <a:p>
                      <a:pPr algn="ctr" fontAlgn="base"/>
                      <a:r>
                        <a:rPr lang="en-US" sz="800" noProof="0">
                          <a:effectLst/>
                        </a:rPr>
                        <a:t>RTO/RPO</a:t>
                      </a:r>
                      <a:endParaRPr lang="en-US" sz="800" b="1" i="0" noProof="0">
                        <a:solidFill>
                          <a:srgbClr val="FFFFFF"/>
                        </a:solidFill>
                        <a:effectLst/>
                      </a:endParaRPr>
                    </a:p>
                  </a:txBody>
                  <a:tcPr marL="0" marR="0" marT="0" marB="0" anchor="ctr"/>
                </a:tc>
                <a:tc>
                  <a:txBody>
                    <a:bodyPr/>
                    <a:lstStyle/>
                    <a:p>
                      <a:pPr algn="ctr" fontAlgn="base"/>
                      <a:r>
                        <a:rPr lang="en-US" sz="800" b="1" i="0" noProof="0">
                          <a:solidFill>
                            <a:srgbClr val="FFFFFF"/>
                          </a:solidFill>
                          <a:effectLst/>
                        </a:rPr>
                        <a:t>SLA</a:t>
                      </a:r>
                    </a:p>
                  </a:txBody>
                  <a:tcPr marL="0" marR="0" marT="0" marB="0" anchor="ctr"/>
                </a:tc>
                <a:extLst>
                  <a:ext uri="{0D108BD9-81ED-4DB2-BD59-A6C34878D82A}">
                    <a16:rowId xmlns:a16="http://schemas.microsoft.com/office/drawing/2014/main" val="1896704351"/>
                  </a:ext>
                </a:extLst>
              </a:tr>
              <a:tr h="342900">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AWS GLZ​ Dublin</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err="1">
                          <a:solidFill>
                            <a:srgbClr val="000000"/>
                          </a:solidFill>
                          <a:effectLst/>
                          <a:highlight>
                            <a:srgbClr val="FFFF00"/>
                          </a:highlight>
                          <a:latin typeface="Arial" panose="020B0604020202020204" pitchFamily="34" charset="0"/>
                        </a:rPr>
                        <a:t>Websphere</a:t>
                      </a:r>
                      <a:r>
                        <a:rPr lang="fr-FR" sz="800" b="0" i="0" noProof="0">
                          <a:solidFill>
                            <a:srgbClr val="000000"/>
                          </a:solidFill>
                          <a:effectLst/>
                          <a:highlight>
                            <a:srgbClr val="FFFF00"/>
                          </a:highlight>
                          <a:latin typeface="Arial" panose="020B0604020202020204" pitchFamily="34" charset="0"/>
                        </a:rPr>
                        <a:t> </a:t>
                      </a:r>
                      <a:r>
                        <a:rPr lang="fr-FR" sz="800" b="0" i="0" noProof="0" err="1">
                          <a:solidFill>
                            <a:srgbClr val="000000"/>
                          </a:solidFill>
                          <a:effectLst/>
                          <a:highlight>
                            <a:srgbClr val="FFFF00"/>
                          </a:highlight>
                          <a:latin typeface="Arial" panose="020B0604020202020204" pitchFamily="34" charset="0"/>
                        </a:rPr>
                        <a:t>zOS</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en-US" sz="800" b="0" noProof="0">
                          <a:effectLst/>
                          <a:highlight>
                            <a:srgbClr val="FFFF00"/>
                          </a:highlight>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extLst>
                  <a:ext uri="{0D108BD9-81ED-4DB2-BD59-A6C34878D82A}">
                    <a16:rowId xmlns:a16="http://schemas.microsoft.com/office/drawing/2014/main" val="198440742"/>
                  </a:ext>
                </a:extLst>
              </a:tr>
              <a:tr h="342900">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r>
                        <a:rPr lang="fr-FR" sz="800" b="0" i="0" noProof="0" err="1">
                          <a:solidFill>
                            <a:srgbClr val="000000"/>
                          </a:solidFill>
                          <a:effectLst/>
                          <a:highlight>
                            <a:srgbClr val="FFFF00"/>
                          </a:highlight>
                          <a:latin typeface="Arial" panose="020B0604020202020204" pitchFamily="34" charset="0"/>
                        </a:rPr>
                        <a:t>Onprem</a:t>
                      </a:r>
                      <a:r>
                        <a:rPr lang="fr-FR" sz="800" b="0" i="0" noProof="0">
                          <a:solidFill>
                            <a:srgbClr val="000000"/>
                          </a:solidFill>
                          <a:effectLst/>
                          <a:highlight>
                            <a:srgbClr val="FFFF00"/>
                          </a:highlight>
                          <a:latin typeface="Arial" panose="020B0604020202020204" pitchFamily="34" charset="0"/>
                        </a:rPr>
                        <a:t> HR</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latin typeface="Arial" panose="020B0604020202020204" pitchFamily="34" charset="0"/>
                        </a:rPr>
                        <a:t>Linux</a:t>
                      </a:r>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extLst>
                  <a:ext uri="{0D108BD9-81ED-4DB2-BD59-A6C34878D82A}">
                    <a16:rowId xmlns:a16="http://schemas.microsoft.com/office/drawing/2014/main" val="665732849"/>
                  </a:ext>
                </a:extLst>
              </a:tr>
              <a:tr h="342900">
                <a:tc>
                  <a:txBody>
                    <a:bodyPr/>
                    <a:lstStyle/>
                    <a:p>
                      <a:pPr algn="ctr" fontAlgn="auto"/>
                      <a:r>
                        <a:rPr lang="fr-FR" sz="800" b="0" i="0" noProof="0" err="1">
                          <a:solidFill>
                            <a:srgbClr val="000000"/>
                          </a:solidFill>
                          <a:effectLst/>
                          <a:highlight>
                            <a:srgbClr val="FFFF00"/>
                          </a:highlight>
                          <a:latin typeface="Arial" panose="020B0604020202020204" pitchFamily="34" charset="0"/>
                        </a:rPr>
                        <a:t>PingFederate</a:t>
                      </a:r>
                      <a:br>
                        <a:rPr lang="fr-FR" sz="800" b="0" i="0" noProof="0">
                          <a:solidFill>
                            <a:srgbClr val="000000"/>
                          </a:solidFill>
                          <a:effectLst/>
                          <a:highlight>
                            <a:srgbClr val="FFFF00"/>
                          </a:highlight>
                          <a:latin typeface="Arial" panose="020B0604020202020204" pitchFamily="34" charset="0"/>
                        </a:rPr>
                      </a:br>
                      <a:r>
                        <a:rPr lang="fr-FR" sz="800" b="0" i="0" noProof="0">
                          <a:solidFill>
                            <a:srgbClr val="000000"/>
                          </a:solidFill>
                          <a:effectLst/>
                          <a:highlight>
                            <a:srgbClr val="FFFF00"/>
                          </a:highlight>
                          <a:latin typeface="Arial" panose="020B0604020202020204" pitchFamily="34" charset="0"/>
                        </a:rPr>
                        <a:t>(</a:t>
                      </a:r>
                      <a:r>
                        <a:rPr lang="en-US" sz="800" noProof="0">
                          <a:effectLst/>
                          <a:highlight>
                            <a:srgbClr val="FFFF00"/>
                          </a:highlight>
                        </a:rPr>
                        <a:t>PASSEXT/IDP2)</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4</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4</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3</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No</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err="1">
                          <a:solidFill>
                            <a:srgbClr val="000000"/>
                          </a:solidFill>
                          <a:effectLst/>
                          <a:highlight>
                            <a:srgbClr val="FFFF00"/>
                          </a:highlight>
                          <a:latin typeface="Arial" panose="020B0604020202020204" pitchFamily="34" charset="0"/>
                        </a:rPr>
                        <a:t>Onprem</a:t>
                      </a:r>
                      <a:r>
                        <a:rPr lang="fr-FR" sz="800" b="0" i="0" noProof="0">
                          <a:solidFill>
                            <a:srgbClr val="000000"/>
                          </a:solidFill>
                          <a:effectLst/>
                          <a:highlight>
                            <a:srgbClr val="FFFF00"/>
                          </a:highlight>
                          <a:latin typeface="Arial" panose="020B0604020202020204" pitchFamily="34" charset="0"/>
                        </a:rPr>
                        <a:t> BE</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Windows</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2 / 9</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tc>
                  <a:txBody>
                    <a:bodyPr/>
                    <a:lstStyle/>
                    <a:p>
                      <a:pPr algn="ctr" fontAlgn="auto"/>
                      <a:r>
                        <a:rPr lang="fr-FR" sz="800" b="0" i="0" noProof="0">
                          <a:solidFill>
                            <a:srgbClr val="000000"/>
                          </a:solidFill>
                          <a:effectLst/>
                          <a:highlight>
                            <a:srgbClr val="FFFF00"/>
                          </a:highlight>
                          <a:latin typeface="Arial" panose="020B0604020202020204" pitchFamily="34" charset="0"/>
                        </a:rPr>
                        <a:t>PLATINUM</a:t>
                      </a:r>
                      <a:endParaRPr lang="en-US" sz="800" b="0" i="0" noProof="0">
                        <a:solidFill>
                          <a:srgbClr val="000000"/>
                        </a:solidFill>
                        <a:effectLst/>
                        <a:highlight>
                          <a:srgbClr val="FFFF00"/>
                        </a:highlight>
                        <a:latin typeface="Arial" panose="020B0604020202020204" pitchFamily="34" charset="0"/>
                      </a:endParaRPr>
                    </a:p>
                  </a:txBody>
                  <a:tcPr marL="68580" marR="68580" marT="34290" marB="34290" anchor="ctr"/>
                </a:tc>
                <a:extLst>
                  <a:ext uri="{0D108BD9-81ED-4DB2-BD59-A6C34878D82A}">
                    <a16:rowId xmlns:a16="http://schemas.microsoft.com/office/drawing/2014/main" val="105128806"/>
                  </a:ext>
                </a:extLst>
              </a:tr>
              <a:tr h="342900">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800" b="0" i="0" noProof="0">
                        <a:solidFill>
                          <a:srgbClr val="000000"/>
                        </a:solidFill>
                        <a:effectLst/>
                        <a:latin typeface="Arial" panose="020B0604020202020204" pitchFamily="34" charset="0"/>
                      </a:endParaRPr>
                    </a:p>
                  </a:txBody>
                  <a:tcPr marL="68580" marR="68580" marT="34290" marB="34290" anchor="ctr"/>
                </a:tc>
                <a:extLst>
                  <a:ext uri="{0D108BD9-81ED-4DB2-BD59-A6C34878D82A}">
                    <a16:rowId xmlns:a16="http://schemas.microsoft.com/office/drawing/2014/main" val="2506956869"/>
                  </a:ext>
                </a:extLst>
              </a:tr>
            </a:tbl>
          </a:graphicData>
        </a:graphic>
      </p:graphicFrame>
      <p:graphicFrame>
        <p:nvGraphicFramePr>
          <p:cNvPr id="4" name="Espace réservé du contenu 4">
            <a:extLst>
              <a:ext uri="{FF2B5EF4-FFF2-40B4-BE49-F238E27FC236}">
                <a16:creationId xmlns:a16="http://schemas.microsoft.com/office/drawing/2014/main" id="{C1B8BA31-E49B-DD08-A863-1348AB0CAEA8}"/>
              </a:ext>
            </a:extLst>
          </p:cNvPr>
          <p:cNvGraphicFramePr>
            <a:graphicFrameLocks/>
          </p:cNvGraphicFramePr>
          <p:nvPr/>
        </p:nvGraphicFramePr>
        <p:xfrm>
          <a:off x="239158" y="3721196"/>
          <a:ext cx="8665681" cy="1170509"/>
        </p:xfrm>
        <a:graphic>
          <a:graphicData uri="http://schemas.openxmlformats.org/drawingml/2006/table">
            <a:tbl>
              <a:tblPr firstRow="1" bandRow="1">
                <a:tableStyleId>{5C22544A-7EE6-4342-B048-85BDC9FD1C3A}</a:tableStyleId>
              </a:tblPr>
              <a:tblGrid>
                <a:gridCol w="1880587">
                  <a:extLst>
                    <a:ext uri="{9D8B030D-6E8A-4147-A177-3AD203B41FA5}">
                      <a16:colId xmlns:a16="http://schemas.microsoft.com/office/drawing/2014/main" val="885176629"/>
                    </a:ext>
                  </a:extLst>
                </a:gridCol>
                <a:gridCol w="1180408">
                  <a:extLst>
                    <a:ext uri="{9D8B030D-6E8A-4147-A177-3AD203B41FA5}">
                      <a16:colId xmlns:a16="http://schemas.microsoft.com/office/drawing/2014/main" val="558686844"/>
                    </a:ext>
                  </a:extLst>
                </a:gridCol>
                <a:gridCol w="5604686">
                  <a:extLst>
                    <a:ext uri="{9D8B030D-6E8A-4147-A177-3AD203B41FA5}">
                      <a16:colId xmlns:a16="http://schemas.microsoft.com/office/drawing/2014/main" val="2031441691"/>
                    </a:ext>
                  </a:extLst>
                </a:gridCol>
              </a:tblGrid>
              <a:tr h="484709">
                <a:tc>
                  <a:txBody>
                    <a:bodyPr/>
                    <a:lstStyle/>
                    <a:p>
                      <a:pPr algn="ctr" fontAlgn="base"/>
                      <a:r>
                        <a:rPr lang="en-US" sz="900" noProof="0">
                          <a:effectLst/>
                        </a:rPr>
                        <a:t>Application Service Name </a:t>
                      </a:r>
                      <a:endParaRPr lang="en-US" sz="3600" b="1" i="0" noProof="0">
                        <a:solidFill>
                          <a:srgbClr val="FFFFFF"/>
                        </a:solidFill>
                        <a:effectLst/>
                      </a:endParaRPr>
                    </a:p>
                  </a:txBody>
                  <a:tcPr marL="0" marR="0" marT="0" marB="0" anchor="ctr"/>
                </a:tc>
                <a:tc>
                  <a:txBody>
                    <a:bodyPr/>
                    <a:lstStyle/>
                    <a:p>
                      <a:pPr algn="ctr" fontAlgn="base"/>
                      <a:r>
                        <a:rPr lang="en-US" sz="900" noProof="0">
                          <a:effectLst/>
                        </a:rPr>
                        <a:t>Forecast end date​</a:t>
                      </a:r>
                      <a:endParaRPr lang="en-US" sz="3600" b="1" i="0" noProof="0">
                        <a:solidFill>
                          <a:srgbClr val="FFFFFF"/>
                        </a:solidFill>
                        <a:effectLst/>
                      </a:endParaRPr>
                    </a:p>
                  </a:txBody>
                  <a:tcPr marL="0" marR="0" marT="0" marB="0" anchor="ctr"/>
                </a:tc>
                <a:tc>
                  <a:txBody>
                    <a:bodyPr/>
                    <a:lstStyle/>
                    <a:p>
                      <a:pPr algn="ctr" fontAlgn="base"/>
                      <a:r>
                        <a:rPr lang="en-US" sz="900" noProof="0">
                          <a:effectLst/>
                        </a:rPr>
                        <a:t>Comment </a:t>
                      </a:r>
                      <a:endParaRPr lang="en-US" sz="3600" b="1" i="0" noProof="0">
                        <a:solidFill>
                          <a:srgbClr val="FFFFFF"/>
                        </a:solidFill>
                        <a:effectLst/>
                      </a:endParaRPr>
                    </a:p>
                  </a:txBody>
                  <a:tcPr marL="0" marR="0" marT="0" marB="0" anchor="ctr"/>
                </a:tc>
                <a:extLst>
                  <a:ext uri="{0D108BD9-81ED-4DB2-BD59-A6C34878D82A}">
                    <a16:rowId xmlns:a16="http://schemas.microsoft.com/office/drawing/2014/main" val="1896704351"/>
                  </a:ext>
                </a:extLst>
              </a:tr>
              <a:tr h="342900">
                <a:tc>
                  <a:txBody>
                    <a:bodyPr/>
                    <a:lstStyle/>
                    <a:p>
                      <a:pPr algn="ctr" fontAlgn="auto"/>
                      <a:r>
                        <a:rPr lang="en-US" sz="1100" noProof="0">
                          <a:effectLst/>
                        </a:rPr>
                        <a:t>​</a:t>
                      </a:r>
                      <a:endParaRPr lang="en-US" sz="1100" b="1" i="0" noProof="0">
                        <a:solidFill>
                          <a:srgbClr val="000000"/>
                        </a:solidFill>
                        <a:effectLst/>
                        <a:latin typeface="Arial" panose="020B0604020202020204" pitchFamily="34" charset="0"/>
                      </a:endParaRPr>
                    </a:p>
                  </a:txBody>
                  <a:tcPr marL="68580" marR="68580" marT="34290" marB="34290" anchor="ctr"/>
                </a:tc>
                <a:tc>
                  <a:txBody>
                    <a:bodyPr/>
                    <a:lstStyle/>
                    <a:p>
                      <a:pPr algn="ctr" fontAlgn="auto"/>
                      <a:r>
                        <a:rPr lang="en-US" sz="1800" noProof="0">
                          <a:effectLst/>
                        </a:rPr>
                        <a:t>​</a:t>
                      </a:r>
                      <a:endParaRPr lang="en-US" sz="1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r>
                        <a:rPr lang="en-US" sz="900" noProof="0">
                          <a:effectLst/>
                        </a:rPr>
                        <a:t>​</a:t>
                      </a:r>
                      <a:endParaRPr lang="en-US" sz="900" b="0" i="0" noProof="0">
                        <a:solidFill>
                          <a:srgbClr val="000000"/>
                        </a:solidFill>
                        <a:effectLst/>
                        <a:latin typeface="Arial" panose="020B0604020202020204" pitchFamily="34" charset="0"/>
                      </a:endParaRPr>
                    </a:p>
                  </a:txBody>
                  <a:tcPr marL="68580" marR="68580" marT="34290" marB="34290" anchor="ctr"/>
                </a:tc>
                <a:extLst>
                  <a:ext uri="{0D108BD9-81ED-4DB2-BD59-A6C34878D82A}">
                    <a16:rowId xmlns:a16="http://schemas.microsoft.com/office/drawing/2014/main" val="198440742"/>
                  </a:ext>
                </a:extLst>
              </a:tr>
              <a:tr h="342900">
                <a:tc>
                  <a:txBody>
                    <a:bodyPr/>
                    <a:lstStyle/>
                    <a:p>
                      <a:pPr algn="ctr" fontAlgn="auto"/>
                      <a:endParaRPr lang="en-US" sz="1100" b="1"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1800" b="0" i="0" noProof="0">
                        <a:solidFill>
                          <a:srgbClr val="000000"/>
                        </a:solidFill>
                        <a:effectLst/>
                        <a:latin typeface="Arial" panose="020B0604020202020204" pitchFamily="34" charset="0"/>
                      </a:endParaRPr>
                    </a:p>
                  </a:txBody>
                  <a:tcPr marL="68580" marR="68580" marT="34290" marB="34290" anchor="ctr"/>
                </a:tc>
                <a:tc>
                  <a:txBody>
                    <a:bodyPr/>
                    <a:lstStyle/>
                    <a:p>
                      <a:pPr algn="ctr" fontAlgn="auto"/>
                      <a:endParaRPr lang="en-US" sz="900" b="0" i="0" noProof="0">
                        <a:solidFill>
                          <a:srgbClr val="000000"/>
                        </a:solidFill>
                        <a:effectLst/>
                        <a:latin typeface="Arial" panose="020B0604020202020204" pitchFamily="34" charset="0"/>
                      </a:endParaRPr>
                    </a:p>
                  </a:txBody>
                  <a:tcPr marL="68580" marR="68580" marT="34290" marB="34290" anchor="ctr"/>
                </a:tc>
                <a:extLst>
                  <a:ext uri="{0D108BD9-81ED-4DB2-BD59-A6C34878D82A}">
                    <a16:rowId xmlns:a16="http://schemas.microsoft.com/office/drawing/2014/main" val="665732849"/>
                  </a:ext>
                </a:extLst>
              </a:tr>
            </a:tbl>
          </a:graphicData>
        </a:graphic>
      </p:graphicFrame>
      <p:sp>
        <p:nvSpPr>
          <p:cNvPr id="5" name="Google Shape;1158;p132">
            <a:extLst>
              <a:ext uri="{FF2B5EF4-FFF2-40B4-BE49-F238E27FC236}">
                <a16:creationId xmlns:a16="http://schemas.microsoft.com/office/drawing/2014/main" id="{E473B797-4943-99E3-7A92-A1857A3C9888}"/>
              </a:ext>
            </a:extLst>
          </p:cNvPr>
          <p:cNvSpPr txBox="1">
            <a:spLocks/>
          </p:cNvSpPr>
          <p:nvPr/>
        </p:nvSpPr>
        <p:spPr>
          <a:xfrm>
            <a:off x="180677" y="3464096"/>
            <a:ext cx="6379500" cy="257100"/>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95000"/>
              </a:lnSpc>
              <a:spcBef>
                <a:spcPts val="0"/>
              </a:spcBef>
              <a:spcAft>
                <a:spcPts val="0"/>
              </a:spcAft>
              <a:buClr>
                <a:srgbClr val="FFFFFF"/>
              </a:buClr>
              <a:buSzPts val="1100"/>
              <a:buFont typeface="Encode Sans"/>
              <a:buNone/>
              <a:defRPr sz="1100" b="1" i="0" u="none" strike="noStrike" cap="none">
                <a:solidFill>
                  <a:srgbClr val="FFFFFF"/>
                </a:solidFill>
                <a:latin typeface="Encode Sans"/>
                <a:ea typeface="Encode Sans"/>
                <a:cs typeface="Encode Sans"/>
                <a:sym typeface="Encode Sans"/>
              </a:defRPr>
            </a:lvl1pPr>
            <a:lvl2pPr marR="0" lvl="1"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9pPr>
          </a:lstStyle>
          <a:p>
            <a:r>
              <a:rPr lang="fr-FR" sz="1200" kern="1200" cap="all" err="1">
                <a:solidFill>
                  <a:schemeClr val="bg2"/>
                </a:solidFill>
                <a:latin typeface="Encode Sans" pitchFamily="2" charset="0"/>
                <a:ea typeface="+mj-ea"/>
                <a:cs typeface="+mj-cs"/>
              </a:rPr>
              <a:t>Decommissionned</a:t>
            </a:r>
            <a:r>
              <a:rPr lang="fr-FR" sz="1200" kern="1200" cap="all">
                <a:solidFill>
                  <a:schemeClr val="bg2"/>
                </a:solidFill>
                <a:latin typeface="Encode Sans" pitchFamily="2" charset="0"/>
                <a:ea typeface="+mj-ea"/>
                <a:cs typeface="+mj-cs"/>
              </a:rPr>
              <a:t> applications</a:t>
            </a:r>
            <a:endParaRPr lang="en-US">
              <a:solidFill>
                <a:schemeClr val="bg2"/>
              </a:solidFill>
              <a:latin typeface="Encode Sans" pitchFamily="2" charset="0"/>
            </a:endParaRPr>
          </a:p>
        </p:txBody>
      </p:sp>
    </p:spTree>
    <p:custDataLst>
      <p:tags r:id="rId1"/>
    </p:custDataLst>
    <p:extLst>
      <p:ext uri="{BB962C8B-B14F-4D97-AF65-F5344CB8AC3E}">
        <p14:creationId xmlns:p14="http://schemas.microsoft.com/office/powerpoint/2010/main" val="212558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(Solution X) - Technical Architecture global view</a:t>
            </a:r>
            <a:endParaRPr>
              <a:latin typeface="Encode Sans" pitchFamily="2" charset="0"/>
            </a:endParaRPr>
          </a:p>
        </p:txBody>
      </p:sp>
      <p:sp>
        <p:nvSpPr>
          <p:cNvPr id="4" name="Espace réservé du contenu 1">
            <a:extLst>
              <a:ext uri="{FF2B5EF4-FFF2-40B4-BE49-F238E27FC236}">
                <a16:creationId xmlns:a16="http://schemas.microsoft.com/office/drawing/2014/main" id="{0A72ACF9-C8FE-4CF9-A1AB-E19E40BEBD00}"/>
              </a:ext>
            </a:extLst>
          </p:cNvPr>
          <p:cNvSpPr txBox="1">
            <a:spLocks/>
          </p:cNvSpPr>
          <p:nvPr/>
        </p:nvSpPr>
        <p:spPr>
          <a:xfrm>
            <a:off x="296863" y="771550"/>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dirty="0">
                <a:solidFill>
                  <a:schemeClr val="accent1"/>
                </a:solidFill>
                <a:latin typeface="Encode Sans" pitchFamily="2" charset="0"/>
              </a:rPr>
              <a:t>Technical Architecture document </a:t>
            </a:r>
          </a:p>
          <a:p>
            <a:pPr lvl="1"/>
            <a:r>
              <a:rPr lang="en-US" sz="1200" b="0" dirty="0">
                <a:solidFill>
                  <a:schemeClr val="accent1"/>
                </a:solidFill>
                <a:latin typeface="Encode Sans" pitchFamily="2" charset="0"/>
              </a:rPr>
              <a:t>Add here the link for each application</a:t>
            </a:r>
            <a:r>
              <a:rPr lang="en-US" sz="1200" dirty="0">
                <a:solidFill>
                  <a:schemeClr val="accent1"/>
                </a:solidFill>
                <a:latin typeface="Encode Sans" pitchFamily="2" charset="0"/>
              </a:rPr>
              <a:t> ​​​</a:t>
            </a:r>
          </a:p>
          <a:p>
            <a:pPr lvl="1"/>
            <a:endParaRPr lang="en-US" sz="900" dirty="0">
              <a:solidFill>
                <a:schemeClr val="accent1"/>
              </a:solidFill>
              <a:latin typeface="Encode Sans" pitchFamily="2" charset="0"/>
            </a:endParaRPr>
          </a:p>
          <a:p>
            <a:r>
              <a:rPr lang="en-US" sz="1400" dirty="0">
                <a:solidFill>
                  <a:schemeClr val="accent1"/>
                </a:solidFill>
                <a:latin typeface="Encode Sans" pitchFamily="2" charset="0"/>
              </a:rPr>
              <a:t>Technical architectural diagram (production): </a:t>
            </a:r>
          </a:p>
          <a:p>
            <a:pPr lvl="1"/>
            <a:r>
              <a:rPr lang="en-US" sz="1200" dirty="0">
                <a:solidFill>
                  <a:schemeClr val="accent1"/>
                </a:solidFill>
                <a:latin typeface="Encode Sans" pitchFamily="2" charset="0"/>
              </a:rPr>
              <a:t>Link to the file support (draw.io, </a:t>
            </a:r>
            <a:r>
              <a:rPr lang="en-US" sz="1200" dirty="0" err="1">
                <a:solidFill>
                  <a:schemeClr val="accent1"/>
                </a:solidFill>
                <a:latin typeface="Encode Sans" pitchFamily="2" charset="0"/>
              </a:rPr>
              <a:t>png</a:t>
            </a:r>
            <a:r>
              <a:rPr lang="en-US" sz="1200" dirty="0">
                <a:solidFill>
                  <a:schemeClr val="accent1"/>
                </a:solidFill>
                <a:latin typeface="Encode Sans" pitchFamily="2" charset="0"/>
              </a:rPr>
              <a:t>): Link (Date &amp; Version)</a:t>
            </a:r>
            <a:br>
              <a:rPr lang="en-US" sz="1200" dirty="0">
                <a:solidFill>
                  <a:schemeClr val="accent1"/>
                </a:solidFill>
                <a:latin typeface="Encode Sans" pitchFamily="2" charset="0"/>
              </a:rPr>
            </a:br>
            <a:endParaRPr lang="en-US" sz="1200" dirty="0">
              <a:solidFill>
                <a:schemeClr val="accent1"/>
              </a:solidFill>
              <a:latin typeface="Encode Sans" pitchFamily="2" charset="0"/>
            </a:endParaRPr>
          </a:p>
          <a:p>
            <a:pPr lvl="1"/>
            <a:r>
              <a:rPr lang="en-US" sz="1200" dirty="0">
                <a:solidFill>
                  <a:schemeClr val="accent1"/>
                </a:solidFill>
                <a:latin typeface="Encode Sans" pitchFamily="2" charset="0"/>
                <a:cs typeface="Arial"/>
              </a:rPr>
              <a:t>The diagram(s) must include:</a:t>
            </a:r>
          </a:p>
          <a:p>
            <a:pPr lvl="2"/>
            <a:r>
              <a:rPr lang="en-US" sz="1000" dirty="0">
                <a:solidFill>
                  <a:schemeClr val="accent1"/>
                </a:solidFill>
                <a:latin typeface="Encode Sans" pitchFamily="2" charset="0"/>
              </a:rPr>
              <a:t>View of services / tools or means integrated in the solution in term of security,</a:t>
            </a:r>
          </a:p>
          <a:p>
            <a:pPr lvl="2"/>
            <a:r>
              <a:rPr lang="en-US" sz="1000" dirty="0">
                <a:solidFill>
                  <a:schemeClr val="accent1"/>
                </a:solidFill>
                <a:latin typeface="Encode Sans" pitchFamily="2" charset="0"/>
                <a:cs typeface="Arial"/>
              </a:rPr>
              <a:t>Short description of flow security (https, </a:t>
            </a:r>
            <a:r>
              <a:rPr lang="en-US" sz="1000" dirty="0" err="1">
                <a:solidFill>
                  <a:schemeClr val="accent1"/>
                </a:solidFill>
                <a:latin typeface="Encode Sans" pitchFamily="2" charset="0"/>
                <a:cs typeface="Arial"/>
              </a:rPr>
              <a:t>mtls</a:t>
            </a:r>
            <a:r>
              <a:rPr lang="en-US" sz="1000" dirty="0">
                <a:solidFill>
                  <a:schemeClr val="accent1"/>
                </a:solidFill>
                <a:latin typeface="Encode Sans" pitchFamily="2" charset="0"/>
                <a:cs typeface="Arial"/>
              </a:rPr>
              <a:t> or </a:t>
            </a:r>
            <a:r>
              <a:rPr lang="en-US" sz="1000" dirty="0" err="1">
                <a:solidFill>
                  <a:schemeClr val="accent1"/>
                </a:solidFill>
                <a:latin typeface="Encode Sans" pitchFamily="2" charset="0"/>
                <a:cs typeface="Arial"/>
              </a:rPr>
              <a:t>tls</a:t>
            </a:r>
            <a:r>
              <a:rPr lang="en-US" sz="1000" dirty="0">
                <a:solidFill>
                  <a:schemeClr val="accent1"/>
                </a:solidFill>
                <a:latin typeface="Encode Sans" pitchFamily="2" charset="0"/>
                <a:cs typeface="Arial"/>
              </a:rPr>
              <a:t>, sftp, data encryption …) for all the external and internal exchanges,…)</a:t>
            </a:r>
          </a:p>
          <a:p>
            <a:pPr lvl="2"/>
            <a:r>
              <a:rPr lang="en-US" sz="1000" dirty="0">
                <a:solidFill>
                  <a:schemeClr val="accent1"/>
                </a:solidFill>
                <a:latin typeface="Encode Sans" pitchFamily="2" charset="0"/>
              </a:rPr>
              <a:t>All the source / destination dependences (App on premises / cloud, APIC, Partner(s), …), not only the internal solution.</a:t>
            </a:r>
            <a:br>
              <a:rPr lang="en-US" sz="900" dirty="0">
                <a:solidFill>
                  <a:schemeClr val="accent1"/>
                </a:solidFill>
                <a:latin typeface="Encode Sans" pitchFamily="2" charset="0"/>
              </a:rPr>
            </a:br>
            <a:endParaRPr lang="en-US" sz="900" dirty="0">
              <a:solidFill>
                <a:schemeClr val="accent1"/>
              </a:solidFill>
              <a:latin typeface="Encode Sans" pitchFamily="2" charset="0"/>
            </a:endParaRPr>
          </a:p>
        </p:txBody>
      </p:sp>
      <p:pic>
        <p:nvPicPr>
          <p:cNvPr id="2" name="Image 1">
            <a:extLst>
              <a:ext uri="{FF2B5EF4-FFF2-40B4-BE49-F238E27FC236}">
                <a16:creationId xmlns:a16="http://schemas.microsoft.com/office/drawing/2014/main" id="{ED5D7AEF-E07F-5ED9-F6BC-0BF7A02D9D09}"/>
              </a:ext>
            </a:extLst>
          </p:cNvPr>
          <p:cNvPicPr>
            <a:picLocks noChangeAspect="1"/>
          </p:cNvPicPr>
          <p:nvPr/>
        </p:nvPicPr>
        <p:blipFill>
          <a:blip r:embed="rId4"/>
          <a:stretch>
            <a:fillRect/>
          </a:stretch>
        </p:blipFill>
        <p:spPr>
          <a:xfrm>
            <a:off x="5863268" y="759427"/>
            <a:ext cx="3280732" cy="1768121"/>
          </a:xfrm>
          <a:prstGeom prst="rect">
            <a:avLst/>
          </a:prstGeom>
        </p:spPr>
      </p:pic>
      <p:sp>
        <p:nvSpPr>
          <p:cNvPr id="3" name="ZoneTexte 2">
            <a:extLst>
              <a:ext uri="{FF2B5EF4-FFF2-40B4-BE49-F238E27FC236}">
                <a16:creationId xmlns:a16="http://schemas.microsoft.com/office/drawing/2014/main" id="{EE9F8E6F-F962-763A-793F-D0527A1620CB}"/>
              </a:ext>
            </a:extLst>
          </p:cNvPr>
          <p:cNvSpPr txBox="1"/>
          <p:nvPr/>
        </p:nvSpPr>
        <p:spPr>
          <a:xfrm>
            <a:off x="402350" y="3255809"/>
            <a:ext cx="3280732" cy="1831271"/>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800" dirty="0">
                <a:latin typeface="Encode Sans" pitchFamily="2" charset="0"/>
              </a:rPr>
              <a:t>Remarks</a:t>
            </a:r>
            <a:r>
              <a:rPr lang="en-US" sz="800" u="none" dirty="0">
                <a:latin typeface="Encode Sans" pitchFamily="2" charset="0"/>
              </a:rPr>
              <a:t>:</a:t>
            </a:r>
          </a:p>
          <a:p>
            <a:r>
              <a:rPr lang="en-US" sz="700" u="none" dirty="0">
                <a:latin typeface="Encode Sans" pitchFamily="2" charset="0"/>
              </a:rPr>
              <a:t>The diagram must included:</a:t>
            </a:r>
            <a:br>
              <a:rPr lang="en-US" sz="700" u="none" dirty="0">
                <a:latin typeface="Encode Sans" pitchFamily="2" charset="0"/>
              </a:rPr>
            </a:br>
            <a:r>
              <a:rPr lang="en-US" sz="700" u="none" dirty="0">
                <a:latin typeface="Encode Sans" pitchFamily="2" charset="0"/>
              </a:rPr>
              <a:t>- view of services / tools or means integrated in the solution in term of security and logging,</a:t>
            </a:r>
            <a:br>
              <a:rPr lang="en-US" sz="700" u="none" dirty="0">
                <a:latin typeface="Encode Sans" pitchFamily="2" charset="0"/>
              </a:rPr>
            </a:br>
            <a:endParaRPr lang="en-US" sz="700" u="none" dirty="0">
              <a:latin typeface="Encode Sans" pitchFamily="2" charset="0"/>
            </a:endParaRPr>
          </a:p>
          <a:p>
            <a:r>
              <a:rPr lang="en-US" sz="700" u="none" dirty="0">
                <a:latin typeface="Encode Sans" pitchFamily="2" charset="0"/>
              </a:rPr>
              <a:t>- Flow Security (https, </a:t>
            </a:r>
            <a:r>
              <a:rPr lang="en-US" sz="700" u="none" dirty="0" err="1">
                <a:latin typeface="Encode Sans" pitchFamily="2" charset="0"/>
              </a:rPr>
              <a:t>mtls</a:t>
            </a:r>
            <a:r>
              <a:rPr lang="en-US" sz="700" u="none" dirty="0">
                <a:latin typeface="Encode Sans" pitchFamily="2" charset="0"/>
              </a:rPr>
              <a:t> or </a:t>
            </a:r>
            <a:r>
              <a:rPr lang="en-US" sz="700" u="none" dirty="0" err="1">
                <a:latin typeface="Encode Sans" pitchFamily="2" charset="0"/>
              </a:rPr>
              <a:t>tls</a:t>
            </a:r>
            <a:r>
              <a:rPr lang="en-US" sz="700" u="none" dirty="0">
                <a:latin typeface="Encode Sans" pitchFamily="2" charset="0"/>
              </a:rPr>
              <a:t>, sftp …) for all the external and internal exchanges,</a:t>
            </a:r>
            <a:br>
              <a:rPr lang="en-US" sz="700" u="none" dirty="0">
                <a:latin typeface="Encode Sans" pitchFamily="2" charset="0"/>
              </a:rPr>
            </a:br>
            <a:br>
              <a:rPr lang="en-US" sz="700" u="none" dirty="0">
                <a:latin typeface="Encode Sans" pitchFamily="2" charset="0"/>
              </a:rPr>
            </a:br>
            <a:r>
              <a:rPr lang="en-US" sz="700" u="none" dirty="0">
                <a:latin typeface="Encode Sans" pitchFamily="2" charset="0"/>
              </a:rPr>
              <a:t>- All the source / Destination dependences (App on premises / cloud, APIC, Partner …), not only the internal solution,</a:t>
            </a:r>
            <a:br>
              <a:rPr lang="en-US" sz="700" u="none" dirty="0">
                <a:latin typeface="Encode Sans" pitchFamily="2" charset="0"/>
              </a:rPr>
            </a:br>
            <a:br>
              <a:rPr lang="en-US" sz="700" u="none" dirty="0">
                <a:latin typeface="Encode Sans" pitchFamily="2" charset="0"/>
              </a:rPr>
            </a:br>
            <a:r>
              <a:rPr lang="en-US" sz="700" u="none" dirty="0">
                <a:latin typeface="Encode Sans" pitchFamily="2" charset="0"/>
              </a:rPr>
              <a:t>- The list of all the managed services necessary and an explanation in the application usage context (Must be present in the DAT and explained during the CCT).</a:t>
            </a:r>
            <a:endParaRPr lang="en-US" sz="800" u="none" dirty="0">
              <a:latin typeface="Encode Sans" pitchFamily="2" charset="0"/>
              <a:cs typeface="Arial"/>
            </a:endParaRPr>
          </a:p>
          <a:p>
            <a:endParaRPr lang="en-US" sz="700" u="none" dirty="0">
              <a:latin typeface="Encode Sans" pitchFamily="2" charset="0"/>
              <a:cs typeface="Arial"/>
            </a:endParaRPr>
          </a:p>
          <a:p>
            <a:r>
              <a:rPr lang="en-US" sz="700" u="none" dirty="0">
                <a:latin typeface="Encode Sans" pitchFamily="2" charset="0"/>
                <a:cs typeface="Arial"/>
              </a:rPr>
              <a:t>- Diagram for PPROD + DEV</a:t>
            </a:r>
          </a:p>
        </p:txBody>
      </p:sp>
      <p:sp>
        <p:nvSpPr>
          <p:cNvPr id="5" name="ZoneTexte 4">
            <a:extLst>
              <a:ext uri="{FF2B5EF4-FFF2-40B4-BE49-F238E27FC236}">
                <a16:creationId xmlns:a16="http://schemas.microsoft.com/office/drawing/2014/main" id="{59FE4C76-BDD0-D708-6A2C-EEFDA3FC51F0}"/>
              </a:ext>
            </a:extLst>
          </p:cNvPr>
          <p:cNvSpPr txBox="1"/>
          <p:nvPr/>
        </p:nvSpPr>
        <p:spPr>
          <a:xfrm>
            <a:off x="4710545" y="3387436"/>
            <a:ext cx="4371715" cy="1415772"/>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800" dirty="0">
                <a:latin typeface="Encode Sans" pitchFamily="2" charset="0"/>
              </a:rPr>
              <a:t>Action</a:t>
            </a:r>
            <a:r>
              <a:rPr lang="en-US" sz="800" u="none" dirty="0">
                <a:latin typeface="Encode Sans" pitchFamily="2" charset="0"/>
              </a:rPr>
              <a:t>: </a:t>
            </a:r>
            <a:r>
              <a:rPr lang="en-US" sz="700" u="none" dirty="0">
                <a:latin typeface="Encode Sans" pitchFamily="2" charset="0"/>
              </a:rPr>
              <a:t>Check the following network design pattern</a:t>
            </a:r>
          </a:p>
          <a:p>
            <a:pPr>
              <a:spcAft>
                <a:spcPts val="600"/>
              </a:spcAft>
            </a:pPr>
            <a:br>
              <a:rPr lang="en-US" sz="600" dirty="0">
                <a:solidFill>
                  <a:schemeClr val="accent6"/>
                </a:solidFill>
                <a:latin typeface="Encode Sans" pitchFamily="2" charset="0"/>
                <a:cs typeface="Arial" panose="020B0604020202020204" pitchFamily="34" charset="0"/>
              </a:rPr>
            </a:br>
            <a:r>
              <a:rPr lang="en-US" sz="700" dirty="0">
                <a:solidFill>
                  <a:schemeClr val="accent6"/>
                </a:solidFill>
                <a:latin typeface="Encode Sans" pitchFamily="2" charset="0"/>
                <a:cs typeface="Arial" panose="020B0604020202020204" pitchFamily="34" charset="0"/>
              </a:rPr>
              <a:t>FRW ( firewall ) subnets : represents firewall subnet and hosts firewall endpoints to ICT PALO ALTO</a:t>
            </a:r>
          </a:p>
          <a:p>
            <a:pPr>
              <a:spcAft>
                <a:spcPts val="600"/>
              </a:spcAft>
            </a:pPr>
            <a:r>
              <a:rPr lang="en-US" sz="700" dirty="0">
                <a:solidFill>
                  <a:schemeClr val="accent6"/>
                </a:solidFill>
                <a:latin typeface="Encode Sans" pitchFamily="2" charset="0"/>
                <a:cs typeface="Arial" panose="020B0604020202020204" pitchFamily="34" charset="0"/>
              </a:rPr>
              <a:t>PUB ( public ) subnets : represents public facing subnet , hosts application Load balancer or </a:t>
            </a:r>
            <a:r>
              <a:rPr lang="en-US" sz="700" dirty="0" err="1">
                <a:solidFill>
                  <a:schemeClr val="accent6"/>
                </a:solidFill>
                <a:latin typeface="Encode Sans" pitchFamily="2" charset="0"/>
                <a:cs typeface="Arial" panose="020B0604020202020204" pitchFamily="34" charset="0"/>
              </a:rPr>
              <a:t>api</a:t>
            </a:r>
            <a:r>
              <a:rPr lang="en-US" sz="700" dirty="0">
                <a:solidFill>
                  <a:schemeClr val="accent6"/>
                </a:solidFill>
                <a:latin typeface="Encode Sans" pitchFamily="2" charset="0"/>
                <a:cs typeface="Arial" panose="020B0604020202020204" pitchFamily="34" charset="0"/>
              </a:rPr>
              <a:t> gateway</a:t>
            </a:r>
          </a:p>
          <a:p>
            <a:pPr>
              <a:spcAft>
                <a:spcPts val="600"/>
              </a:spcAft>
            </a:pPr>
            <a:r>
              <a:rPr lang="en-US" sz="700" dirty="0">
                <a:solidFill>
                  <a:schemeClr val="accent6"/>
                </a:solidFill>
                <a:latin typeface="Encode Sans" pitchFamily="2" charset="0"/>
                <a:cs typeface="Arial" panose="020B0604020202020204" pitchFamily="34" charset="0"/>
              </a:rPr>
              <a:t>PRIV ( private ) subnets : represents private subnet , hosts  application workload such as ECS cluster , EC2 ....</a:t>
            </a:r>
          </a:p>
          <a:p>
            <a:pPr>
              <a:spcAft>
                <a:spcPts val="600"/>
              </a:spcAft>
            </a:pPr>
            <a:r>
              <a:rPr lang="en-US" sz="700" dirty="0">
                <a:solidFill>
                  <a:schemeClr val="accent6"/>
                </a:solidFill>
                <a:latin typeface="Encode Sans" pitchFamily="2" charset="0"/>
                <a:cs typeface="Arial" panose="020B0604020202020204" pitchFamily="34" charset="0"/>
              </a:rPr>
              <a:t>ISOLATED subnets : represents private subnet isolated from the network which hosts databases</a:t>
            </a:r>
          </a:p>
          <a:p>
            <a:pPr>
              <a:spcAft>
                <a:spcPts val="600"/>
              </a:spcAft>
            </a:pPr>
            <a:r>
              <a:rPr lang="en-US" sz="700" dirty="0">
                <a:solidFill>
                  <a:schemeClr val="accent6"/>
                </a:solidFill>
                <a:latin typeface="Encode Sans" pitchFamily="2" charset="0"/>
                <a:cs typeface="Arial" panose="020B0604020202020204" pitchFamily="34" charset="0"/>
              </a:rPr>
              <a:t>TGW subnets : represents transit gateway subnet , hosts network interfaces of transit</a:t>
            </a:r>
            <a:endParaRPr lang="en-US" sz="600" dirty="0">
              <a:solidFill>
                <a:schemeClr val="accent6"/>
              </a:solidFill>
              <a:latin typeface="Encode Sans" pitchFamily="2" charset="0"/>
              <a:cs typeface="Arial" panose="020B0604020202020204" pitchFamily="34" charset="0"/>
            </a:endParaRPr>
          </a:p>
          <a:p>
            <a:pPr>
              <a:spcAft>
                <a:spcPts val="1200"/>
              </a:spcAft>
            </a:pPr>
            <a:endParaRPr lang="en-US" sz="500" u="none" dirty="0">
              <a:latin typeface="Encode Sans" pitchFamily="2" charset="0"/>
              <a:cs typeface="Arial"/>
            </a:endParaRPr>
          </a:p>
        </p:txBody>
      </p:sp>
    </p:spTree>
    <p:custDataLst>
      <p:tags r:id="rId1"/>
    </p:custDataLst>
    <p:extLst>
      <p:ext uri="{BB962C8B-B14F-4D97-AF65-F5344CB8AC3E}">
        <p14:creationId xmlns:p14="http://schemas.microsoft.com/office/powerpoint/2010/main" val="1730628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dirty="0">
                <a:ln>
                  <a:noFill/>
                </a:ln>
                <a:solidFill>
                  <a:prstClr val="white"/>
                </a:solidFill>
                <a:effectLst/>
                <a:uLnTx/>
                <a:uFillTx/>
                <a:latin typeface="Encode Sans" pitchFamily="2" charset="0"/>
                <a:ea typeface="+mj-ea"/>
                <a:cs typeface="+mj-cs"/>
              </a:rPr>
              <a:t>DATA MODEL</a:t>
            </a:r>
            <a:endParaRPr dirty="0">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solidFill>
                  <a:schemeClr val="accent1"/>
                </a:solidFill>
                <a:latin typeface="Encode Sans" pitchFamily="2" charset="0"/>
              </a:rPr>
              <a:t>Enterprise/Business Data Model </a:t>
            </a:r>
            <a:r>
              <a:rPr lang="en-US" b="0" dirty="0">
                <a:solidFill>
                  <a:schemeClr val="accent1"/>
                </a:solidFill>
                <a:highlight>
                  <a:srgbClr val="FFFF00"/>
                </a:highlight>
                <a:latin typeface="Encode Sans" pitchFamily="2" charset="0"/>
              </a:rPr>
              <a:t>(add here the deliverables based on </a:t>
            </a:r>
            <a:r>
              <a:rPr lang="en-US" b="0" dirty="0">
                <a:solidFill>
                  <a:schemeClr val="accent1"/>
                </a:solidFill>
                <a:highlight>
                  <a:srgbClr val="FFFF00"/>
                </a:highlight>
                <a:latin typeface="Encode Sans" pitchFamily="2" charset="0"/>
                <a:hlinkClick r:id="rId4"/>
              </a:rPr>
              <a:t>Examples</a:t>
            </a:r>
            <a:r>
              <a:rPr lang="en-US" b="0" dirty="0">
                <a:solidFill>
                  <a:schemeClr val="accent1"/>
                </a:solidFill>
                <a:highlight>
                  <a:srgbClr val="FFFF00"/>
                </a:highlight>
                <a:latin typeface="Encode Sans" pitchFamily="2" charset="0"/>
              </a:rPr>
              <a:t>)</a:t>
            </a:r>
          </a:p>
        </p:txBody>
      </p:sp>
    </p:spTree>
    <p:custDataLst>
      <p:tags r:id="rId1"/>
    </p:custDataLst>
    <p:extLst>
      <p:ext uri="{BB962C8B-B14F-4D97-AF65-F5344CB8AC3E}">
        <p14:creationId xmlns:p14="http://schemas.microsoft.com/office/powerpoint/2010/main" val="2280800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57">
          <a:extLst>
            <a:ext uri="{FF2B5EF4-FFF2-40B4-BE49-F238E27FC236}">
              <a16:creationId xmlns:a16="http://schemas.microsoft.com/office/drawing/2014/main" id="{8DBA11B1-D609-D514-2513-88182E5872F2}"/>
            </a:ext>
          </a:extLst>
        </p:cNvPr>
        <p:cNvGrpSpPr/>
        <p:nvPr/>
      </p:nvGrpSpPr>
      <p:grpSpPr>
        <a:xfrm>
          <a:off x="0" y="0"/>
          <a:ext cx="0" cy="0"/>
          <a:chOff x="0" y="0"/>
          <a:chExt cx="0" cy="0"/>
        </a:xfrm>
      </p:grpSpPr>
      <p:sp>
        <p:nvSpPr>
          <p:cNvPr id="1158" name="Google Shape;1158;p132">
            <a:extLst>
              <a:ext uri="{FF2B5EF4-FFF2-40B4-BE49-F238E27FC236}">
                <a16:creationId xmlns:a16="http://schemas.microsoft.com/office/drawing/2014/main" id="{67ADC74B-CD4D-2512-83EB-18249FA8F37F}"/>
              </a:ext>
            </a:extLst>
          </p:cNvPr>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API</a:t>
            </a:r>
            <a:endParaRPr>
              <a:latin typeface="Encode Sans" pitchFamily="2" charset="0"/>
            </a:endParaRPr>
          </a:p>
        </p:txBody>
      </p:sp>
      <p:sp>
        <p:nvSpPr>
          <p:cNvPr id="4" name="Espace réservé du contenu 1">
            <a:extLst>
              <a:ext uri="{FF2B5EF4-FFF2-40B4-BE49-F238E27FC236}">
                <a16:creationId xmlns:a16="http://schemas.microsoft.com/office/drawing/2014/main" id="{6AC235F0-A0D7-6DB7-38B7-1C711EFA3C48}"/>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a:solidFill>
                  <a:schemeClr val="accent1"/>
                </a:solidFill>
                <a:latin typeface="Encode Sans" pitchFamily="2" charset="0"/>
              </a:rPr>
              <a:t>API Architecture</a:t>
            </a:r>
          </a:p>
          <a:p>
            <a:pPr lvl="1"/>
            <a:r>
              <a:rPr lang="fr-FR">
                <a:solidFill>
                  <a:schemeClr val="accent1"/>
                </a:solidFill>
                <a:latin typeface="Encode Sans" pitchFamily="2" charset="0"/>
              </a:rPr>
              <a:t>Gateway to use as API consumer or API </a:t>
            </a:r>
            <a:r>
              <a:rPr lang="fr-FR" err="1">
                <a:solidFill>
                  <a:schemeClr val="accent1"/>
                </a:solidFill>
                <a:latin typeface="Encode Sans" pitchFamily="2" charset="0"/>
              </a:rPr>
              <a:t>producer</a:t>
            </a:r>
            <a:r>
              <a:rPr lang="fr-FR">
                <a:solidFill>
                  <a:schemeClr val="accent1"/>
                </a:solidFill>
                <a:latin typeface="Encode Sans" pitchFamily="2" charset="0"/>
              </a:rPr>
              <a:t> : </a:t>
            </a:r>
          </a:p>
          <a:p>
            <a:pPr lvl="2"/>
            <a:r>
              <a:rPr lang="fr-FR">
                <a:solidFill>
                  <a:schemeClr val="accent1"/>
                </a:solidFill>
                <a:highlight>
                  <a:srgbClr val="FFFF00"/>
                </a:highlight>
                <a:latin typeface="Encode Sans" pitchFamily="2" charset="0"/>
              </a:rPr>
              <a:t>IBM APIC </a:t>
            </a:r>
            <a:r>
              <a:rPr lang="fr-FR" err="1">
                <a:solidFill>
                  <a:schemeClr val="accent1"/>
                </a:solidFill>
                <a:highlight>
                  <a:srgbClr val="FFFF00"/>
                </a:highlight>
                <a:latin typeface="Encode Sans" pitchFamily="2" charset="0"/>
              </a:rPr>
              <a:t>deployed</a:t>
            </a:r>
            <a:r>
              <a:rPr lang="fr-FR">
                <a:solidFill>
                  <a:schemeClr val="accent1"/>
                </a:solidFill>
                <a:highlight>
                  <a:srgbClr val="FFFF00"/>
                </a:highlight>
                <a:latin typeface="Encode Sans" pitchFamily="2" charset="0"/>
              </a:rPr>
              <a:t> in AWS eu-west-1</a:t>
            </a:r>
          </a:p>
          <a:p>
            <a:pPr lvl="1"/>
            <a:endParaRPr lang="en-US">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4435855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pitchFamily="2" charset="0"/>
                <a:ea typeface="+mj-ea"/>
                <a:cs typeface="+mj-cs"/>
              </a:rPr>
              <a:t>Gen AI</a:t>
            </a:r>
            <a:endParaRPr>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err="1">
                <a:solidFill>
                  <a:schemeClr val="accent1"/>
                </a:solidFill>
                <a:latin typeface="Encode Sans" pitchFamily="2" charset="0"/>
              </a:rPr>
              <a:t>GenAI</a:t>
            </a:r>
            <a:r>
              <a:rPr lang="fr-FR">
                <a:solidFill>
                  <a:schemeClr val="accent1"/>
                </a:solidFill>
                <a:latin typeface="Encode Sans" pitchFamily="2" charset="0"/>
              </a:rPr>
              <a:t> Gateway</a:t>
            </a:r>
          </a:p>
          <a:p>
            <a:pPr lvl="1"/>
            <a:r>
              <a:rPr lang="fr-FR">
                <a:solidFill>
                  <a:schemeClr val="accent1"/>
                </a:solidFill>
                <a:highlight>
                  <a:srgbClr val="FFFF00"/>
                </a:highlight>
                <a:latin typeface="Encode Sans" pitchFamily="2" charset="0"/>
              </a:rPr>
              <a:t>Gateway to use to consume AI service : </a:t>
            </a:r>
          </a:p>
          <a:p>
            <a:pPr lvl="1"/>
            <a:r>
              <a:rPr lang="fr-FR" err="1">
                <a:solidFill>
                  <a:schemeClr val="accent1"/>
                </a:solidFill>
                <a:highlight>
                  <a:srgbClr val="FFFF00"/>
                </a:highlight>
                <a:latin typeface="Encode Sans" pitchFamily="2" charset="0"/>
              </a:rPr>
              <a:t>Cost</a:t>
            </a:r>
            <a:r>
              <a:rPr lang="fr-FR">
                <a:solidFill>
                  <a:schemeClr val="accent1"/>
                </a:solidFill>
                <a:highlight>
                  <a:srgbClr val="FFFF00"/>
                </a:highlight>
                <a:latin typeface="Encode Sans" pitchFamily="2" charset="0"/>
              </a:rPr>
              <a:t> estimation (</a:t>
            </a:r>
            <a:r>
              <a:rPr lang="fr-FR" err="1">
                <a:solidFill>
                  <a:schemeClr val="accent1"/>
                </a:solidFill>
                <a:highlight>
                  <a:srgbClr val="FFFF00"/>
                </a:highlight>
                <a:latin typeface="Encode Sans" pitchFamily="2" charset="0"/>
              </a:rPr>
              <a:t>link</a:t>
            </a:r>
            <a:r>
              <a:rPr lang="fr-FR">
                <a:solidFill>
                  <a:schemeClr val="accent1"/>
                </a:solidFill>
                <a:highlight>
                  <a:srgbClr val="FFFF00"/>
                </a:highlight>
                <a:latin typeface="Encode Sans" pitchFamily="2" charset="0"/>
              </a:rPr>
              <a:t> to the </a:t>
            </a:r>
            <a:r>
              <a:rPr lang="fr-FR" err="1">
                <a:solidFill>
                  <a:schemeClr val="accent1"/>
                </a:solidFill>
                <a:highlight>
                  <a:srgbClr val="FFFF00"/>
                </a:highlight>
                <a:latin typeface="Encode Sans" pitchFamily="2" charset="0"/>
              </a:rPr>
              <a:t>template</a:t>
            </a:r>
            <a:r>
              <a:rPr lang="fr-FR">
                <a:solidFill>
                  <a:schemeClr val="accent1"/>
                </a:solidFill>
                <a:highlight>
                  <a:srgbClr val="FFFF00"/>
                </a:highlight>
                <a:latin typeface="Encode Sans" pitchFamily="2" charset="0"/>
              </a:rPr>
              <a:t> to </a:t>
            </a:r>
            <a:r>
              <a:rPr lang="fr-FR" err="1">
                <a:solidFill>
                  <a:schemeClr val="accent1"/>
                </a:solidFill>
                <a:highlight>
                  <a:srgbClr val="FFFF00"/>
                </a:highlight>
                <a:latin typeface="Encode Sans" pitchFamily="2" charset="0"/>
              </a:rPr>
              <a:t>ask</a:t>
            </a:r>
            <a:r>
              <a:rPr lang="fr-FR">
                <a:solidFill>
                  <a:schemeClr val="accent1"/>
                </a:solidFill>
                <a:highlight>
                  <a:srgbClr val="FFFF00"/>
                </a:highlight>
                <a:latin typeface="Encode Sans" pitchFamily="2" charset="0"/>
              </a:rPr>
              <a:t> to </a:t>
            </a:r>
            <a:r>
              <a:rPr lang="fr-FR" err="1">
                <a:solidFill>
                  <a:schemeClr val="accent1"/>
                </a:solidFill>
                <a:highlight>
                  <a:srgbClr val="FFFF00"/>
                </a:highlight>
                <a:latin typeface="Encode Sans" pitchFamily="2" charset="0"/>
              </a:rPr>
              <a:t>GenAI</a:t>
            </a:r>
            <a:r>
              <a:rPr lang="fr-FR">
                <a:solidFill>
                  <a:schemeClr val="accent1"/>
                </a:solidFill>
                <a:highlight>
                  <a:srgbClr val="FFFF00"/>
                </a:highlight>
                <a:latin typeface="Encode Sans" pitchFamily="2" charset="0"/>
              </a:rPr>
              <a:t>), for </a:t>
            </a:r>
            <a:r>
              <a:rPr lang="fr-FR" err="1">
                <a:solidFill>
                  <a:schemeClr val="accent1"/>
                </a:solidFill>
                <a:highlight>
                  <a:srgbClr val="FFFF00"/>
                </a:highlight>
                <a:latin typeface="Encode Sans" pitchFamily="2" charset="0"/>
              </a:rPr>
              <a:t>Gate</a:t>
            </a:r>
            <a:r>
              <a:rPr lang="fr-FR">
                <a:solidFill>
                  <a:schemeClr val="accent1"/>
                </a:solidFill>
                <a:highlight>
                  <a:srgbClr val="FFFF00"/>
                </a:highlight>
                <a:latin typeface="Encode Sans" pitchFamily="2" charset="0"/>
              </a:rPr>
              <a:t> 1 </a:t>
            </a:r>
            <a:r>
              <a:rPr lang="fr-FR" err="1">
                <a:solidFill>
                  <a:schemeClr val="accent1"/>
                </a:solidFill>
                <a:highlight>
                  <a:srgbClr val="FFFF00"/>
                </a:highlight>
                <a:latin typeface="Encode Sans" pitchFamily="2" charset="0"/>
              </a:rPr>
              <a:t>PoC</a:t>
            </a:r>
            <a:r>
              <a:rPr lang="fr-FR">
                <a:solidFill>
                  <a:schemeClr val="accent1"/>
                </a:solidFill>
                <a:highlight>
                  <a:srgbClr val="FFFF00"/>
                </a:highlight>
                <a:latin typeface="Encode Sans" pitchFamily="2" charset="0"/>
              </a:rPr>
              <a:t> and </a:t>
            </a:r>
            <a:r>
              <a:rPr lang="fr-FR" err="1">
                <a:solidFill>
                  <a:schemeClr val="accent1"/>
                </a:solidFill>
                <a:highlight>
                  <a:srgbClr val="FFFF00"/>
                </a:highlight>
                <a:latin typeface="Encode Sans" pitchFamily="2" charset="0"/>
              </a:rPr>
              <a:t>Gate</a:t>
            </a:r>
            <a:r>
              <a:rPr lang="fr-FR">
                <a:solidFill>
                  <a:schemeClr val="accent1"/>
                </a:solidFill>
                <a:highlight>
                  <a:srgbClr val="FFFF00"/>
                </a:highlight>
                <a:latin typeface="Encode Sans" pitchFamily="2" charset="0"/>
              </a:rPr>
              <a:t> 2</a:t>
            </a:r>
          </a:p>
          <a:p>
            <a:pPr lvl="1"/>
            <a:r>
              <a:rPr lang="fr-FR">
                <a:solidFill>
                  <a:schemeClr val="accent1"/>
                </a:solidFill>
                <a:highlight>
                  <a:srgbClr val="FFFF00"/>
                </a:highlight>
                <a:latin typeface="Encode Sans" pitchFamily="2" charset="0"/>
              </a:rPr>
              <a:t>API keys for environnements (</a:t>
            </a:r>
            <a:r>
              <a:rPr lang="fr-FR" err="1">
                <a:solidFill>
                  <a:schemeClr val="accent1"/>
                </a:solidFill>
                <a:highlight>
                  <a:srgbClr val="FFFF00"/>
                </a:highlight>
                <a:latin typeface="Encode Sans" pitchFamily="2" charset="0"/>
              </a:rPr>
              <a:t>Gate</a:t>
            </a:r>
            <a:r>
              <a:rPr lang="fr-FR">
                <a:solidFill>
                  <a:schemeClr val="accent1"/>
                </a:solidFill>
                <a:highlight>
                  <a:srgbClr val="FFFF00"/>
                </a:highlight>
                <a:latin typeface="Encode Sans" pitchFamily="2" charset="0"/>
              </a:rPr>
              <a:t> 3):</a:t>
            </a:r>
          </a:p>
          <a:p>
            <a:pPr lvl="2"/>
            <a:r>
              <a:rPr lang="fr-FR">
                <a:solidFill>
                  <a:schemeClr val="accent1"/>
                </a:solidFill>
                <a:highlight>
                  <a:srgbClr val="FFFF00"/>
                </a:highlight>
                <a:latin typeface="Encode Sans" pitchFamily="2" charset="0"/>
              </a:rPr>
              <a:t>Prod : to do ; </a:t>
            </a:r>
            <a:r>
              <a:rPr lang="fr-FR" err="1">
                <a:solidFill>
                  <a:schemeClr val="accent1"/>
                </a:solidFill>
                <a:highlight>
                  <a:srgbClr val="FFFF00"/>
                </a:highlight>
                <a:latin typeface="Encode Sans" pitchFamily="2" charset="0"/>
              </a:rPr>
              <a:t>preprod</a:t>
            </a:r>
            <a:r>
              <a:rPr lang="fr-FR">
                <a:solidFill>
                  <a:schemeClr val="accent1"/>
                </a:solidFill>
                <a:highlight>
                  <a:srgbClr val="FFFF00"/>
                </a:highlight>
                <a:latin typeface="Encode Sans" pitchFamily="2" charset="0"/>
              </a:rPr>
              <a:t> : yes</a:t>
            </a:r>
          </a:p>
          <a:p>
            <a:pPr lvl="1"/>
            <a:endParaRPr lang="en-US">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39412614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0" name="Rectangle 9">
            <a:extLst>
              <a:ext uri="{FF2B5EF4-FFF2-40B4-BE49-F238E27FC236}">
                <a16:creationId xmlns:a16="http://schemas.microsoft.com/office/drawing/2014/main" id="{7C0503E7-1E29-5786-8C4E-D043CBF9410B}"/>
              </a:ext>
            </a:extLst>
          </p:cNvPr>
          <p:cNvSpPr/>
          <p:nvPr/>
        </p:nvSpPr>
        <p:spPr>
          <a:xfrm>
            <a:off x="402350" y="1547813"/>
            <a:ext cx="3943350" cy="2047875"/>
          </a:xfrm>
          <a:prstGeom prst="rect">
            <a:avLst/>
          </a:prstGeom>
          <a:solidFill>
            <a:schemeClr val="accent2">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sz="1050"/>
              <a:t>Container orchestrator</a:t>
            </a:r>
          </a:p>
        </p:txBody>
      </p:sp>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r>
              <a:rPr lang="en-US" sz="1200" kern="1200" cap="all">
                <a:solidFill>
                  <a:prstClr val="white"/>
                </a:solidFill>
                <a:ea typeface="+mj-ea"/>
                <a:cs typeface="+mj-cs"/>
              </a:rPr>
              <a:t>TECHNICAL STACK (gate 3)</a:t>
            </a:r>
            <a:endParaRPr lang="en-US">
              <a:latin typeface="Encode Sans" pitchFamily="2" charset="0"/>
            </a:endParaRPr>
          </a:p>
        </p:txBody>
      </p:sp>
      <p:sp>
        <p:nvSpPr>
          <p:cNvPr id="2" name="Rectangle 1">
            <a:extLst>
              <a:ext uri="{FF2B5EF4-FFF2-40B4-BE49-F238E27FC236}">
                <a16:creationId xmlns:a16="http://schemas.microsoft.com/office/drawing/2014/main" id="{C984D72A-2957-0892-66BD-CC1EFBC6D7D2}"/>
              </a:ext>
            </a:extLst>
          </p:cNvPr>
          <p:cNvSpPr/>
          <p:nvPr/>
        </p:nvSpPr>
        <p:spPr>
          <a:xfrm>
            <a:off x="669050" y="1900238"/>
            <a:ext cx="3400425" cy="1581150"/>
          </a:xfrm>
          <a:prstGeom prst="rect">
            <a:avLst/>
          </a:prstGeom>
          <a:solidFill>
            <a:schemeClr val="bg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t"/>
          <a:lstStyle/>
          <a:p>
            <a:r>
              <a:rPr lang="en-US" sz="1050"/>
              <a:t>Linux Alpine:3.17.2                      Docker</a:t>
            </a:r>
          </a:p>
        </p:txBody>
      </p:sp>
      <p:sp>
        <p:nvSpPr>
          <p:cNvPr id="3" name="Rectangle 2">
            <a:extLst>
              <a:ext uri="{FF2B5EF4-FFF2-40B4-BE49-F238E27FC236}">
                <a16:creationId xmlns:a16="http://schemas.microsoft.com/office/drawing/2014/main" id="{15539E93-EA6C-7B8F-D233-436B32652550}"/>
              </a:ext>
            </a:extLst>
          </p:cNvPr>
          <p:cNvSpPr/>
          <p:nvPr/>
        </p:nvSpPr>
        <p:spPr>
          <a:xfrm>
            <a:off x="764300" y="2224088"/>
            <a:ext cx="3181350" cy="371475"/>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fr-FR" sz="1050"/>
              <a:t>Apache 2</a:t>
            </a:r>
            <a:endParaRPr lang="en-US" sz="1050"/>
          </a:p>
        </p:txBody>
      </p:sp>
      <p:sp>
        <p:nvSpPr>
          <p:cNvPr id="4" name="Rectangle 3">
            <a:extLst>
              <a:ext uri="{FF2B5EF4-FFF2-40B4-BE49-F238E27FC236}">
                <a16:creationId xmlns:a16="http://schemas.microsoft.com/office/drawing/2014/main" id="{FD589365-2CB0-4E84-D4BB-B9AD3676F18D}"/>
              </a:ext>
            </a:extLst>
          </p:cNvPr>
          <p:cNvSpPr/>
          <p:nvPr/>
        </p:nvSpPr>
        <p:spPr>
          <a:xfrm>
            <a:off x="764300" y="2586038"/>
            <a:ext cx="3181350" cy="371475"/>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fr-FR" sz="1050"/>
              <a:t>PHP 8.1</a:t>
            </a:r>
            <a:endParaRPr lang="en-US" sz="1050"/>
          </a:p>
        </p:txBody>
      </p:sp>
      <p:sp>
        <p:nvSpPr>
          <p:cNvPr id="5" name="Rectangle 4">
            <a:extLst>
              <a:ext uri="{FF2B5EF4-FFF2-40B4-BE49-F238E27FC236}">
                <a16:creationId xmlns:a16="http://schemas.microsoft.com/office/drawing/2014/main" id="{A84BC274-1B13-1AFD-982D-C683B32258D8}"/>
              </a:ext>
            </a:extLst>
          </p:cNvPr>
          <p:cNvSpPr/>
          <p:nvPr/>
        </p:nvSpPr>
        <p:spPr>
          <a:xfrm>
            <a:off x="1016713" y="2957513"/>
            <a:ext cx="2676525" cy="371475"/>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fr-FR" sz="1050"/>
              <a:t>Symfony 6.4</a:t>
            </a:r>
            <a:endParaRPr lang="en-US" sz="1050"/>
          </a:p>
        </p:txBody>
      </p:sp>
      <p:pic>
        <p:nvPicPr>
          <p:cNvPr id="7" name="Graphique 6" descr="Baleine contour">
            <a:extLst>
              <a:ext uri="{FF2B5EF4-FFF2-40B4-BE49-F238E27FC236}">
                <a16:creationId xmlns:a16="http://schemas.microsoft.com/office/drawing/2014/main" id="{FE65D99E-76E0-81AD-5DBF-D2C2155B7D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21825" y="1938338"/>
            <a:ext cx="247650" cy="247650"/>
          </a:xfrm>
          <a:prstGeom prst="rect">
            <a:avLst/>
          </a:prstGeom>
        </p:spPr>
      </p:pic>
      <p:sp>
        <p:nvSpPr>
          <p:cNvPr id="11" name="Rectangle 10">
            <a:extLst>
              <a:ext uri="{FF2B5EF4-FFF2-40B4-BE49-F238E27FC236}">
                <a16:creationId xmlns:a16="http://schemas.microsoft.com/office/drawing/2014/main" id="{8506FF19-DCD7-ECB8-0F2D-368C4960CF6F}"/>
              </a:ext>
            </a:extLst>
          </p:cNvPr>
          <p:cNvSpPr/>
          <p:nvPr/>
        </p:nvSpPr>
        <p:spPr>
          <a:xfrm>
            <a:off x="4676613" y="1547813"/>
            <a:ext cx="3943350" cy="2047875"/>
          </a:xfrm>
          <a:prstGeom prst="rect">
            <a:avLst/>
          </a:prstGeom>
          <a:solidFill>
            <a:schemeClr val="accent2">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sz="1050"/>
              <a:t>MySQL</a:t>
            </a:r>
          </a:p>
        </p:txBody>
      </p:sp>
      <p:sp>
        <p:nvSpPr>
          <p:cNvPr id="12" name="Cylindre 11">
            <a:extLst>
              <a:ext uri="{FF2B5EF4-FFF2-40B4-BE49-F238E27FC236}">
                <a16:creationId xmlns:a16="http://schemas.microsoft.com/office/drawing/2014/main" id="{7D3D6778-754E-72FF-8222-BF16387B08DA}"/>
              </a:ext>
            </a:extLst>
          </p:cNvPr>
          <p:cNvSpPr/>
          <p:nvPr/>
        </p:nvSpPr>
        <p:spPr>
          <a:xfrm>
            <a:off x="5876925" y="2224088"/>
            <a:ext cx="2095500" cy="11049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a:t>5.7</a:t>
            </a:r>
          </a:p>
          <a:p>
            <a:pPr algn="ctr"/>
            <a:r>
              <a:rPr lang="fr-FR" sz="1050"/>
              <a:t>« CUSTOMER » </a:t>
            </a:r>
            <a:r>
              <a:rPr lang="fr-FR" sz="1050" err="1"/>
              <a:t>schema</a:t>
            </a:r>
            <a:endParaRPr lang="en-US" sz="1050"/>
          </a:p>
        </p:txBody>
      </p:sp>
      <p:cxnSp>
        <p:nvCxnSpPr>
          <p:cNvPr id="14" name="Connecteur : en angle 13">
            <a:extLst>
              <a:ext uri="{FF2B5EF4-FFF2-40B4-BE49-F238E27FC236}">
                <a16:creationId xmlns:a16="http://schemas.microsoft.com/office/drawing/2014/main" id="{6DC929BE-0F42-C650-3E08-95B08BE2CE7A}"/>
              </a:ext>
            </a:extLst>
          </p:cNvPr>
          <p:cNvCxnSpPr>
            <a:stCxn id="5" idx="2"/>
            <a:endCxn id="12" idx="3"/>
          </p:cNvCxnSpPr>
          <p:nvPr/>
        </p:nvCxnSpPr>
        <p:spPr>
          <a:xfrm rot="16200000" flipH="1">
            <a:off x="4639825" y="1044138"/>
            <a:ext cx="9525" cy="4569700"/>
          </a:xfrm>
          <a:prstGeom prst="bentConnector3">
            <a:avLst>
              <a:gd name="adj1" fmla="val 11900000"/>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ZoneTexte 15">
            <a:extLst>
              <a:ext uri="{FF2B5EF4-FFF2-40B4-BE49-F238E27FC236}">
                <a16:creationId xmlns:a16="http://schemas.microsoft.com/office/drawing/2014/main" id="{22CC67B7-B445-59E7-6C6A-EB66D764D72C}"/>
              </a:ext>
            </a:extLst>
          </p:cNvPr>
          <p:cNvSpPr txBox="1"/>
          <p:nvPr/>
        </p:nvSpPr>
        <p:spPr>
          <a:xfrm>
            <a:off x="6929438" y="3633400"/>
            <a:ext cx="522900" cy="415498"/>
          </a:xfrm>
          <a:prstGeom prst="rect">
            <a:avLst/>
          </a:prstGeom>
          <a:noFill/>
        </p:spPr>
        <p:txBody>
          <a:bodyPr wrap="none" rtlCol="0">
            <a:spAutoFit/>
          </a:bodyPr>
          <a:lstStyle/>
          <a:p>
            <a:r>
              <a:rPr lang="fr-FR" sz="1050"/>
              <a:t>:3306</a:t>
            </a:r>
          </a:p>
          <a:p>
            <a:r>
              <a:rPr lang="fr-FR" sz="1050"/>
              <a:t>TLS</a:t>
            </a:r>
            <a:endParaRPr lang="en-US" sz="1050"/>
          </a:p>
        </p:txBody>
      </p:sp>
      <p:cxnSp>
        <p:nvCxnSpPr>
          <p:cNvPr id="18" name="Connecteur droit avec flèche 17">
            <a:extLst>
              <a:ext uri="{FF2B5EF4-FFF2-40B4-BE49-F238E27FC236}">
                <a16:creationId xmlns:a16="http://schemas.microsoft.com/office/drawing/2014/main" id="{1DA1DF55-7A3E-B0BA-6107-9564FC256F55}"/>
              </a:ext>
            </a:extLst>
          </p:cNvPr>
          <p:cNvCxnSpPr>
            <a:cxnSpLocks/>
            <a:endCxn id="3" idx="0"/>
          </p:cNvCxnSpPr>
          <p:nvPr/>
        </p:nvCxnSpPr>
        <p:spPr>
          <a:xfrm flipH="1">
            <a:off x="2354976" y="642938"/>
            <a:ext cx="4762" cy="158115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Rectangle 18">
            <a:extLst>
              <a:ext uri="{FF2B5EF4-FFF2-40B4-BE49-F238E27FC236}">
                <a16:creationId xmlns:a16="http://schemas.microsoft.com/office/drawing/2014/main" id="{5490C243-94E1-D89E-042C-7830D300D923}"/>
              </a:ext>
            </a:extLst>
          </p:cNvPr>
          <p:cNvSpPr/>
          <p:nvPr/>
        </p:nvSpPr>
        <p:spPr>
          <a:xfrm>
            <a:off x="200026" y="914400"/>
            <a:ext cx="8648699" cy="38944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fr-FR" sz="1050" err="1">
                <a:solidFill>
                  <a:schemeClr val="tx1"/>
                </a:solidFill>
              </a:rPr>
              <a:t>Isolated</a:t>
            </a:r>
            <a:r>
              <a:rPr lang="fr-FR" sz="1050">
                <a:solidFill>
                  <a:schemeClr val="tx1"/>
                </a:solidFill>
              </a:rPr>
              <a:t> network</a:t>
            </a:r>
            <a:endParaRPr lang="en-US" sz="1050">
              <a:solidFill>
                <a:schemeClr val="tx1"/>
              </a:solidFill>
            </a:endParaRPr>
          </a:p>
        </p:txBody>
      </p:sp>
      <p:sp>
        <p:nvSpPr>
          <p:cNvPr id="21" name="ZoneTexte 20">
            <a:extLst>
              <a:ext uri="{FF2B5EF4-FFF2-40B4-BE49-F238E27FC236}">
                <a16:creationId xmlns:a16="http://schemas.microsoft.com/office/drawing/2014/main" id="{9F2C8656-9FC5-FE67-3F4C-5B8B11604245}"/>
              </a:ext>
            </a:extLst>
          </p:cNvPr>
          <p:cNvSpPr txBox="1"/>
          <p:nvPr/>
        </p:nvSpPr>
        <p:spPr>
          <a:xfrm>
            <a:off x="2354975" y="1270814"/>
            <a:ext cx="372218" cy="253916"/>
          </a:xfrm>
          <a:prstGeom prst="rect">
            <a:avLst/>
          </a:prstGeom>
          <a:noFill/>
        </p:spPr>
        <p:txBody>
          <a:bodyPr wrap="none" rtlCol="0">
            <a:spAutoFit/>
          </a:bodyPr>
          <a:lstStyle/>
          <a:p>
            <a:r>
              <a:rPr lang="fr-FR" sz="1050"/>
              <a:t>:80</a:t>
            </a:r>
            <a:endParaRPr lang="en-US" sz="1050"/>
          </a:p>
        </p:txBody>
      </p:sp>
      <p:sp>
        <p:nvSpPr>
          <p:cNvPr id="6" name="ZoneTexte 5">
            <a:extLst>
              <a:ext uri="{FF2B5EF4-FFF2-40B4-BE49-F238E27FC236}">
                <a16:creationId xmlns:a16="http://schemas.microsoft.com/office/drawing/2014/main" id="{3854A8D1-FA88-9FB9-1313-48D76E6D5DA2}"/>
              </a:ext>
            </a:extLst>
          </p:cNvPr>
          <p:cNvSpPr txBox="1"/>
          <p:nvPr/>
        </p:nvSpPr>
        <p:spPr>
          <a:xfrm>
            <a:off x="55704" y="556045"/>
            <a:ext cx="881973" cy="523220"/>
          </a:xfrm>
          <a:prstGeom prst="rect">
            <a:avLst/>
          </a:prstGeom>
          <a:noFill/>
        </p:spPr>
        <p:txBody>
          <a:bodyPr wrap="none" rtlCol="0">
            <a:spAutoFit/>
          </a:bodyPr>
          <a:lstStyle/>
          <a:p>
            <a:r>
              <a:rPr lang="fr-FR">
                <a:highlight>
                  <a:srgbClr val="FFFF00"/>
                </a:highlight>
              </a:rPr>
              <a:t>Example</a:t>
            </a:r>
          </a:p>
          <a:p>
            <a:endParaRPr lang="en-US"/>
          </a:p>
        </p:txBody>
      </p:sp>
      <p:sp>
        <p:nvSpPr>
          <p:cNvPr id="13" name="Oval 12">
            <a:extLst>
              <a:ext uri="{FF2B5EF4-FFF2-40B4-BE49-F238E27FC236}">
                <a16:creationId xmlns:a16="http://schemas.microsoft.com/office/drawing/2014/main" id="{0577BCD5-9B11-4C84-58C2-3DE7D56518ED}"/>
              </a:ext>
            </a:extLst>
          </p:cNvPr>
          <p:cNvSpPr/>
          <p:nvPr/>
        </p:nvSpPr>
        <p:spPr>
          <a:xfrm>
            <a:off x="285074" y="3747679"/>
            <a:ext cx="2315356" cy="952564"/>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cs typeface="Arial"/>
              </a:rPr>
              <a:t>To </a:t>
            </a:r>
            <a:r>
              <a:rPr lang="en-US" err="1">
                <a:cs typeface="Arial"/>
              </a:rPr>
              <a:t>summarise</a:t>
            </a:r>
            <a:r>
              <a:rPr lang="en-US">
                <a:cs typeface="Arial"/>
              </a:rPr>
              <a:t> with preceding</a:t>
            </a:r>
            <a:endParaRPr lang="en-US"/>
          </a:p>
        </p:txBody>
      </p:sp>
    </p:spTree>
    <p:custDataLst>
      <p:tags r:id="rId1"/>
    </p:custDataLst>
    <p:extLst>
      <p:ext uri="{BB962C8B-B14F-4D97-AF65-F5344CB8AC3E}">
        <p14:creationId xmlns:p14="http://schemas.microsoft.com/office/powerpoint/2010/main" val="207904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1AAF2EF-18EE-5295-225A-7A569457DC0B}"/>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TECHNICAL DESCRIPTION OF THE SOLUTIONS</a:t>
            </a:r>
            <a:endParaRPr lang="en-GB"/>
          </a:p>
        </p:txBody>
      </p:sp>
      <p:sp>
        <p:nvSpPr>
          <p:cNvPr id="8" name="Espace réservé du contenu 1">
            <a:extLst>
              <a:ext uri="{FF2B5EF4-FFF2-40B4-BE49-F238E27FC236}">
                <a16:creationId xmlns:a16="http://schemas.microsoft.com/office/drawing/2014/main" id="{71BF4A0C-84D8-1F68-CD5E-4E4B83101715}"/>
              </a:ext>
            </a:extLst>
          </p:cNvPr>
          <p:cNvSpPr txBox="1">
            <a:spLocks/>
          </p:cNvSpPr>
          <p:nvPr/>
        </p:nvSpPr>
        <p:spPr>
          <a:xfrm>
            <a:off x="217991" y="893545"/>
            <a:ext cx="8523609" cy="1002419"/>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dirty="0">
                <a:solidFill>
                  <a:schemeClr val="accent1"/>
                </a:solidFill>
                <a:latin typeface="Encode Sans" pitchFamily="2" charset="0"/>
              </a:rPr>
              <a:t>Technical stack (2/2):</a:t>
            </a:r>
            <a:br>
              <a:rPr lang="en-US" sz="1400" dirty="0">
                <a:solidFill>
                  <a:schemeClr val="accent1"/>
                </a:solidFill>
                <a:latin typeface="Encode Sans" pitchFamily="2" charset="0"/>
              </a:rPr>
            </a:br>
            <a:endParaRPr lang="en-US" sz="1400" dirty="0">
              <a:solidFill>
                <a:schemeClr val="accent1"/>
              </a:solidFill>
              <a:latin typeface="Encode Sans" pitchFamily="2" charset="0"/>
            </a:endParaRPr>
          </a:p>
          <a:p>
            <a:pPr lvl="1"/>
            <a:endParaRPr lang="en-US" sz="900" dirty="0">
              <a:solidFill>
                <a:schemeClr val="accent1"/>
              </a:solidFill>
              <a:latin typeface="Encode Sans" pitchFamily="2" charset="0"/>
            </a:endParaRPr>
          </a:p>
          <a:p>
            <a:pPr lvl="1"/>
            <a:endParaRPr lang="en-US" sz="900" dirty="0">
              <a:solidFill>
                <a:schemeClr val="accent1"/>
              </a:solidFill>
              <a:latin typeface="Encode Sans" pitchFamily="2" charset="0"/>
            </a:endParaRPr>
          </a:p>
          <a:p>
            <a:pPr marL="371475" lvl="1" indent="0">
              <a:buNone/>
            </a:pPr>
            <a:endParaRPr lang="en-US" sz="900" dirty="0">
              <a:solidFill>
                <a:schemeClr val="accent1"/>
              </a:solidFill>
              <a:latin typeface="Encode Sans" pitchFamily="2" charset="0"/>
            </a:endParaRPr>
          </a:p>
        </p:txBody>
      </p:sp>
      <p:graphicFrame>
        <p:nvGraphicFramePr>
          <p:cNvPr id="4" name="Objet 3">
            <a:extLst>
              <a:ext uri="{FF2B5EF4-FFF2-40B4-BE49-F238E27FC236}">
                <a16:creationId xmlns:a16="http://schemas.microsoft.com/office/drawing/2014/main" id="{995BC61B-CFED-FDC8-953F-E278287B3576}"/>
              </a:ext>
            </a:extLst>
          </p:cNvPr>
          <p:cNvGraphicFramePr>
            <a:graphicFrameLocks noChangeAspect="1"/>
          </p:cNvGraphicFramePr>
          <p:nvPr/>
        </p:nvGraphicFramePr>
        <p:xfrm>
          <a:off x="2754873" y="830473"/>
          <a:ext cx="723900" cy="514350"/>
        </p:xfrm>
        <a:graphic>
          <a:graphicData uri="http://schemas.openxmlformats.org/presentationml/2006/ole">
            <mc:AlternateContent xmlns:mc="http://schemas.openxmlformats.org/markup-compatibility/2006">
              <mc:Choice xmlns:v="urn:schemas-microsoft-com:vml" Requires="v">
                <p:oleObj name="Objet d’environnement du Gestionnaire de liaisons" showAsIcon="1" r:id="rId3" imgW="724077" imgH="514350" progId="Package">
                  <p:embed/>
                </p:oleObj>
              </mc:Choice>
              <mc:Fallback>
                <p:oleObj name="Objet d’environnement du Gestionnaire de liaisons" showAsIcon="1" r:id="rId3" imgW="724077" imgH="514350" progId="Package">
                  <p:embed/>
                  <p:pic>
                    <p:nvPicPr>
                      <p:cNvPr id="4" name="Objet 3">
                        <a:extLst>
                          <a:ext uri="{FF2B5EF4-FFF2-40B4-BE49-F238E27FC236}">
                            <a16:creationId xmlns:a16="http://schemas.microsoft.com/office/drawing/2014/main" id="{995BC61B-CFED-FDC8-953F-E278287B3576}"/>
                          </a:ext>
                        </a:extLst>
                      </p:cNvPr>
                      <p:cNvPicPr/>
                      <p:nvPr/>
                    </p:nvPicPr>
                    <p:blipFill>
                      <a:blip r:embed="rId4"/>
                      <a:stretch>
                        <a:fillRect/>
                      </a:stretch>
                    </p:blipFill>
                    <p:spPr>
                      <a:xfrm>
                        <a:off x="2754873" y="830473"/>
                        <a:ext cx="723900" cy="514350"/>
                      </a:xfrm>
                      <a:prstGeom prst="rect">
                        <a:avLst/>
                      </a:prstGeom>
                    </p:spPr>
                  </p:pic>
                </p:oleObj>
              </mc:Fallback>
            </mc:AlternateContent>
          </a:graphicData>
        </a:graphic>
      </p:graphicFrame>
      <p:pic>
        <p:nvPicPr>
          <p:cNvPr id="5" name="Image 4">
            <a:extLst>
              <a:ext uri="{FF2B5EF4-FFF2-40B4-BE49-F238E27FC236}">
                <a16:creationId xmlns:a16="http://schemas.microsoft.com/office/drawing/2014/main" id="{CC9E8814-7272-EE07-15D6-FF889376F40D}"/>
              </a:ext>
            </a:extLst>
          </p:cNvPr>
          <p:cNvPicPr>
            <a:picLocks noChangeAspect="1"/>
          </p:cNvPicPr>
          <p:nvPr/>
        </p:nvPicPr>
        <p:blipFill>
          <a:blip r:embed="rId5"/>
          <a:stretch>
            <a:fillRect/>
          </a:stretch>
        </p:blipFill>
        <p:spPr>
          <a:xfrm>
            <a:off x="3843960" y="832932"/>
            <a:ext cx="5026449" cy="4033266"/>
          </a:xfrm>
          <a:prstGeom prst="rect">
            <a:avLst/>
          </a:prstGeom>
        </p:spPr>
      </p:pic>
      <p:sp>
        <p:nvSpPr>
          <p:cNvPr id="7" name="TextBox 6">
            <a:extLst>
              <a:ext uri="{FF2B5EF4-FFF2-40B4-BE49-F238E27FC236}">
                <a16:creationId xmlns:a16="http://schemas.microsoft.com/office/drawing/2014/main" id="{957AA008-851A-DF20-3F88-0EFC64AC8F87}"/>
              </a:ext>
            </a:extLst>
          </p:cNvPr>
          <p:cNvSpPr txBox="1"/>
          <p:nvPr/>
        </p:nvSpPr>
        <p:spPr>
          <a:xfrm>
            <a:off x="328789" y="4255205"/>
            <a:ext cx="3519311"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72B35"/>
                </a:solidFill>
                <a:latin typeface="Encode Sans"/>
              </a:rPr>
              <a:t>​</a:t>
            </a:r>
            <a:r>
              <a:rPr lang="en-US" sz="1200" b="1">
                <a:solidFill>
                  <a:srgbClr val="243782"/>
                </a:solidFill>
                <a:latin typeface="Encode Sans"/>
              </a:rPr>
              <a:t>All the software and libraries will be upgraded at least once a year</a:t>
            </a:r>
            <a:endParaRPr lang="en-US" b="1"/>
          </a:p>
        </p:txBody>
      </p:sp>
    </p:spTree>
    <p:extLst>
      <p:ext uri="{BB962C8B-B14F-4D97-AF65-F5344CB8AC3E}">
        <p14:creationId xmlns:p14="http://schemas.microsoft.com/office/powerpoint/2010/main" val="12877174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(Solution X) - Technical Architecture global view</a:t>
            </a:r>
            <a:endParaRPr>
              <a:latin typeface="Encode Sans" pitchFamily="2" charset="0"/>
            </a:endParaRPr>
          </a:p>
        </p:txBody>
      </p:sp>
      <p:sp>
        <p:nvSpPr>
          <p:cNvPr id="4" name="Espace réservé du contenu 1">
            <a:extLst>
              <a:ext uri="{FF2B5EF4-FFF2-40B4-BE49-F238E27FC236}">
                <a16:creationId xmlns:a16="http://schemas.microsoft.com/office/drawing/2014/main" id="{0A72ACF9-C8FE-4CF9-A1AB-E19E40BEBD00}"/>
              </a:ext>
            </a:extLst>
          </p:cNvPr>
          <p:cNvSpPr txBox="1">
            <a:spLocks/>
          </p:cNvSpPr>
          <p:nvPr/>
        </p:nvSpPr>
        <p:spPr>
          <a:xfrm>
            <a:off x="296863" y="1108364"/>
            <a:ext cx="8523609" cy="3798916"/>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spcAft>
                <a:spcPts val="600"/>
              </a:spcAft>
              <a:buClr>
                <a:srgbClr val="29385E"/>
              </a:buClr>
              <a:buSzPct val="120000"/>
            </a:pPr>
            <a:r>
              <a:rPr lang="en-US" sz="1200">
                <a:solidFill>
                  <a:srgbClr val="29385E"/>
                </a:solidFill>
                <a:latin typeface="Encode Sans" pitchFamily="2" charset="0"/>
                <a:cs typeface="Arial"/>
              </a:rPr>
              <a:t>Create others diagrams or slides to focus on : </a:t>
            </a:r>
            <a:endParaRPr lang="en-US" sz="1200">
              <a:solidFill>
                <a:srgbClr val="29385E"/>
              </a:solidFill>
              <a:latin typeface="Encode Sans" pitchFamily="2" charset="0"/>
            </a:endParaRPr>
          </a:p>
          <a:p>
            <a:pPr marL="742950" lvl="1" indent="-285750">
              <a:spcAft>
                <a:spcPts val="600"/>
              </a:spcAft>
              <a:buClr>
                <a:srgbClr val="29385E"/>
              </a:buClr>
              <a:buSzPct val="120000"/>
              <a:buFont typeface="Wingdings" panose="05000000000000000000" pitchFamily="2" charset="2"/>
              <a:buChar char="§"/>
            </a:pPr>
            <a:r>
              <a:rPr lang="en-US" sz="1200">
                <a:solidFill>
                  <a:srgbClr val="29385E"/>
                </a:solidFill>
                <a:latin typeface="Encode Sans" pitchFamily="2" charset="0"/>
                <a:cs typeface="Arial"/>
              </a:rPr>
              <a:t>Monitoring and alert notifications,</a:t>
            </a:r>
          </a:p>
          <a:p>
            <a:pPr marL="742950" lvl="1" indent="-285750">
              <a:spcAft>
                <a:spcPts val="600"/>
              </a:spcAft>
              <a:buClr>
                <a:srgbClr val="29385E"/>
              </a:buClr>
              <a:buSzPct val="120000"/>
              <a:buFont typeface="Wingdings" panose="05000000000000000000" pitchFamily="2" charset="2"/>
              <a:buChar char="§"/>
            </a:pPr>
            <a:r>
              <a:rPr lang="en-US" sz="1200">
                <a:solidFill>
                  <a:srgbClr val="29385E"/>
                </a:solidFill>
                <a:latin typeface="Encode Sans" pitchFamily="2" charset="0"/>
                <a:cs typeface="Arial"/>
              </a:rPr>
              <a:t>Backup strategy,</a:t>
            </a:r>
          </a:p>
          <a:p>
            <a:pPr marL="742950" lvl="1" indent="-285750">
              <a:spcAft>
                <a:spcPts val="600"/>
              </a:spcAft>
              <a:buClr>
                <a:srgbClr val="29385E"/>
              </a:buClr>
              <a:buSzPct val="120000"/>
              <a:buFont typeface="Wingdings" panose="05000000000000000000" pitchFamily="2" charset="2"/>
              <a:buChar char="§"/>
            </a:pPr>
            <a:r>
              <a:rPr lang="en-US" sz="1200">
                <a:solidFill>
                  <a:srgbClr val="29385E"/>
                </a:solidFill>
                <a:latin typeface="Encode Sans" pitchFamily="2" charset="0"/>
              </a:rPr>
              <a:t>Different environments,</a:t>
            </a:r>
          </a:p>
          <a:p>
            <a:pPr marL="742950" lvl="1" indent="-285750">
              <a:spcAft>
                <a:spcPts val="600"/>
              </a:spcAft>
              <a:buClr>
                <a:srgbClr val="29385E"/>
              </a:buClr>
              <a:buSzPct val="120000"/>
              <a:buFont typeface="Wingdings" panose="05000000000000000000" pitchFamily="2" charset="2"/>
              <a:buChar char="§"/>
            </a:pPr>
            <a:r>
              <a:rPr lang="en-US" sz="1200">
                <a:latin typeface="Encode Sans" pitchFamily="2" charset="0"/>
              </a:rPr>
              <a:t>Obsolescence level</a:t>
            </a:r>
          </a:p>
          <a:p>
            <a:pPr marL="742950" lvl="1" indent="-285750">
              <a:spcAft>
                <a:spcPts val="600"/>
              </a:spcAft>
              <a:buClr>
                <a:srgbClr val="29385E"/>
              </a:buClr>
              <a:buSzPct val="120000"/>
              <a:buFont typeface="Wingdings" panose="05000000000000000000" pitchFamily="2" charset="2"/>
              <a:buChar char="§"/>
            </a:pPr>
            <a:r>
              <a:rPr lang="en-US" sz="1200">
                <a:solidFill>
                  <a:srgbClr val="29385E"/>
                </a:solidFill>
                <a:latin typeface="Encode Sans" pitchFamily="2" charset="0"/>
              </a:rPr>
              <a:t>Exit and reversibility plan</a:t>
            </a:r>
          </a:p>
        </p:txBody>
      </p:sp>
    </p:spTree>
    <p:custDataLst>
      <p:tags r:id="rId1"/>
    </p:custDataLst>
    <p:extLst>
      <p:ext uri="{BB962C8B-B14F-4D97-AF65-F5344CB8AC3E}">
        <p14:creationId xmlns:p14="http://schemas.microsoft.com/office/powerpoint/2010/main" val="29005501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7A366B0-E249-5479-F338-5C8BCB3A8631}"/>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t>TECHNICAL DESCRIPTIONS OF THE SOLUTIONS</a:t>
            </a:r>
            <a:endParaRPr lang="en-GB"/>
          </a:p>
        </p:txBody>
      </p:sp>
      <p:sp>
        <p:nvSpPr>
          <p:cNvPr id="6" name="Espace réservé du contenu 1">
            <a:extLst>
              <a:ext uri="{FF2B5EF4-FFF2-40B4-BE49-F238E27FC236}">
                <a16:creationId xmlns:a16="http://schemas.microsoft.com/office/drawing/2014/main" id="{26FC4B32-F246-6E97-CE9D-86AAA49CE6D2}"/>
              </a:ext>
            </a:extLst>
          </p:cNvPr>
          <p:cNvSpPr txBox="1">
            <a:spLocks/>
          </p:cNvSpPr>
          <p:nvPr/>
        </p:nvSpPr>
        <p:spPr>
          <a:xfrm>
            <a:off x="217991" y="893545"/>
            <a:ext cx="8523609" cy="4065805"/>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dirty="0">
                <a:solidFill>
                  <a:schemeClr val="accent1"/>
                </a:solidFill>
                <a:latin typeface="Encode Sans" pitchFamily="2" charset="0"/>
              </a:rPr>
              <a:t>Localization:</a:t>
            </a:r>
            <a:br>
              <a:rPr lang="en-US" sz="1400" dirty="0">
                <a:solidFill>
                  <a:schemeClr val="accent1"/>
                </a:solidFill>
                <a:latin typeface="Encode Sans" pitchFamily="2" charset="0"/>
              </a:rPr>
            </a:br>
            <a:endParaRPr lang="en-US" sz="1400" dirty="0">
              <a:solidFill>
                <a:schemeClr val="accent1"/>
              </a:solidFill>
              <a:latin typeface="Encode Sans" pitchFamily="2" charset="0"/>
            </a:endParaRPr>
          </a:p>
          <a:p>
            <a:pPr lvl="1"/>
            <a:r>
              <a:rPr lang="en-US" sz="1200" dirty="0">
                <a:solidFill>
                  <a:schemeClr val="accent1"/>
                </a:solidFill>
                <a:latin typeface="Encode Sans" pitchFamily="2" charset="0"/>
              </a:rPr>
              <a:t>Check and validate that the business context is compliant with the regions available through the LZ SFS</a:t>
            </a:r>
          </a:p>
          <a:p>
            <a:pPr marL="457200" lvl="1" indent="0">
              <a:spcAft>
                <a:spcPts val="600"/>
              </a:spcAft>
              <a:buClr>
                <a:srgbClr val="29385E"/>
              </a:buClr>
              <a:buSzPct val="120000"/>
              <a:buNone/>
            </a:pPr>
            <a:r>
              <a:rPr lang="en-US" sz="900" u="sng" dirty="0">
                <a:solidFill>
                  <a:srgbClr val="29385E"/>
                </a:solidFill>
                <a:latin typeface="Encode Sans" pitchFamily="2" charset="0"/>
                <a:cs typeface="Arial"/>
              </a:rPr>
              <a:t>R</a:t>
            </a:r>
            <a:r>
              <a:rPr lang="en-US" sz="900" u="sng" dirty="0">
                <a:latin typeface="Encode Sans" pitchFamily="2" charset="0"/>
              </a:rPr>
              <a:t>emarks</a:t>
            </a:r>
            <a:r>
              <a:rPr lang="en-US" sz="900" dirty="0">
                <a:latin typeface="Encode Sans" pitchFamily="2" charset="0"/>
              </a:rPr>
              <a:t>: </a:t>
            </a:r>
          </a:p>
          <a:p>
            <a:pPr marL="1257300" lvl="2" indent="-342900">
              <a:spcAft>
                <a:spcPts val="600"/>
              </a:spcAft>
              <a:buClr>
                <a:srgbClr val="29385E"/>
              </a:buClr>
              <a:buSzPct val="120000"/>
              <a:buFont typeface="Wingdings" panose="05000000000000000000" pitchFamily="2" charset="2"/>
              <a:buChar char="§"/>
            </a:pPr>
            <a:r>
              <a:rPr lang="en-US" sz="900" dirty="0">
                <a:latin typeface="Encode Sans" pitchFamily="2" charset="0"/>
              </a:rPr>
              <a:t>The application will be on Paris Region. If need of DRP application, it will be on Dublin Region</a:t>
            </a:r>
          </a:p>
          <a:p>
            <a:pPr marL="1257300" lvl="2" indent="-342900">
              <a:spcAft>
                <a:spcPts val="600"/>
              </a:spcAft>
              <a:buClr>
                <a:srgbClr val="29385E"/>
              </a:buClr>
              <a:buSzPct val="120000"/>
              <a:buFont typeface="Wingdings" panose="05000000000000000000" pitchFamily="2" charset="2"/>
              <a:buChar char="§"/>
            </a:pPr>
            <a:r>
              <a:rPr lang="en-US" sz="900" dirty="0">
                <a:latin typeface="Encode Sans" pitchFamily="2" charset="0"/>
              </a:rPr>
              <a:t>Check Risk analysis document if Region is not compliant with the business (+ action plan associated).</a:t>
            </a:r>
          </a:p>
          <a:p>
            <a:pPr marL="1257300" lvl="2" indent="-342900">
              <a:spcAft>
                <a:spcPts val="600"/>
              </a:spcAft>
              <a:buClr>
                <a:srgbClr val="29385E"/>
              </a:buClr>
              <a:buSzPct val="120000"/>
              <a:buFont typeface="Wingdings" panose="05000000000000000000" pitchFamily="2" charset="2"/>
              <a:buChar char="§"/>
            </a:pPr>
            <a:endParaRPr lang="en-US" sz="900" dirty="0">
              <a:solidFill>
                <a:schemeClr val="accent1"/>
              </a:solidFill>
              <a:latin typeface="Encode Sans" pitchFamily="2" charset="0"/>
            </a:endParaRPr>
          </a:p>
          <a:p>
            <a:pPr marL="800100" lvl="1"/>
            <a:r>
              <a:rPr lang="en-US" sz="1200" dirty="0">
                <a:solidFill>
                  <a:schemeClr val="accent1"/>
                </a:solidFill>
                <a:latin typeface="Encode Sans" pitchFamily="2" charset="0"/>
              </a:rPr>
              <a:t>AWS Regions required for the application: </a:t>
            </a:r>
            <a:r>
              <a:rPr lang="en-US" sz="1200" dirty="0" err="1">
                <a:solidFill>
                  <a:schemeClr val="accent1"/>
                </a:solidFill>
                <a:latin typeface="Encode Sans" pitchFamily="2" charset="0"/>
              </a:rPr>
              <a:t>xxxx</a:t>
            </a:r>
            <a:endParaRPr lang="en-US" sz="1200" dirty="0">
              <a:solidFill>
                <a:schemeClr val="accent1"/>
              </a:solidFill>
              <a:latin typeface="Encode Sans" pitchFamily="2" charset="0"/>
            </a:endParaRPr>
          </a:p>
          <a:p>
            <a:pPr marL="449263" lvl="1" indent="0">
              <a:buNone/>
            </a:pPr>
            <a:r>
              <a:rPr lang="en-US" sz="900" u="sng" dirty="0">
                <a:latin typeface="Encode Sans" pitchFamily="2" charset="0"/>
                <a:cs typeface="Arial"/>
              </a:rPr>
              <a:t>Remark: </a:t>
            </a:r>
            <a:r>
              <a:rPr lang="en-US" sz="900" dirty="0">
                <a:solidFill>
                  <a:srgbClr val="29385E"/>
                </a:solidFill>
                <a:latin typeface="Encode Sans" pitchFamily="2" charset="0"/>
                <a:cs typeface="Arial"/>
              </a:rPr>
              <a:t>take into account the end users localization.</a:t>
            </a:r>
          </a:p>
          <a:p>
            <a:pPr marL="800100" lvl="1" indent="-342900">
              <a:spcAft>
                <a:spcPts val="600"/>
              </a:spcAft>
              <a:buClr>
                <a:srgbClr val="29385E"/>
              </a:buClr>
              <a:buSzPct val="120000"/>
              <a:buFont typeface="Wingdings" panose="05000000000000000000" pitchFamily="2" charset="2"/>
              <a:buChar char="§"/>
            </a:pPr>
            <a:endParaRPr lang="en-US" sz="1400" dirty="0">
              <a:solidFill>
                <a:srgbClr val="29385E"/>
              </a:solidFill>
              <a:latin typeface="Arial" panose="020B0604020202020204" pitchFamily="34" charset="0"/>
              <a:cs typeface="Arial" panose="020B0604020202020204" pitchFamily="34" charset="0"/>
            </a:endParaRPr>
          </a:p>
          <a:p>
            <a:pPr marL="800100" lvl="1" indent="-342900">
              <a:spcAft>
                <a:spcPts val="600"/>
              </a:spcAft>
              <a:buClr>
                <a:srgbClr val="29385E"/>
              </a:buClr>
              <a:buSzPct val="120000"/>
              <a:buFont typeface="Wingdings" panose="05000000000000000000" pitchFamily="2" charset="2"/>
              <a:buChar char="§"/>
            </a:pPr>
            <a:r>
              <a:rPr lang="en-US" sz="1200" dirty="0">
                <a:solidFill>
                  <a:schemeClr val="accent1"/>
                </a:solidFill>
                <a:latin typeface="Encode Sans" pitchFamily="2" charset="0"/>
                <a:sym typeface="Wingdings"/>
              </a:rPr>
              <a:t>Check that the latencies between the application and all the others systems interaction and the end users are corrects.</a:t>
            </a:r>
            <a:br>
              <a:rPr lang="en-US" sz="1200" dirty="0">
                <a:solidFill>
                  <a:schemeClr val="accent1"/>
                </a:solidFill>
                <a:latin typeface="Encode Sans" pitchFamily="2" charset="0"/>
              </a:rPr>
            </a:br>
            <a:endParaRPr lang="en-US" dirty="0">
              <a:solidFill>
                <a:schemeClr val="accent1"/>
              </a:solidFill>
            </a:endParaRPr>
          </a:p>
          <a:p>
            <a:pPr marL="457200" lvl="1" indent="0">
              <a:spcAft>
                <a:spcPts val="600"/>
              </a:spcAft>
              <a:buClr>
                <a:srgbClr val="29385E"/>
              </a:buClr>
              <a:buSzPct val="120000"/>
              <a:buNone/>
            </a:pPr>
            <a:r>
              <a:rPr lang="en-US" sz="900" u="sng" dirty="0">
                <a:latin typeface="Encode Sans" pitchFamily="2" charset="0"/>
                <a:cs typeface="Arial"/>
                <a:sym typeface="Wingdings"/>
              </a:rPr>
              <a:t>Remark: </a:t>
            </a:r>
            <a:r>
              <a:rPr lang="en-US" sz="900" dirty="0">
                <a:latin typeface="Encode Sans" pitchFamily="2" charset="0"/>
                <a:cs typeface="Arial"/>
                <a:sym typeface="Wingdings"/>
              </a:rPr>
              <a:t>it could be possible to check the latencies between your workstation and the different regions in AWS: </a:t>
            </a:r>
            <a:r>
              <a:rPr lang="en-US" sz="900" dirty="0">
                <a:solidFill>
                  <a:srgbClr val="29385E"/>
                </a:solidFill>
                <a:latin typeface="Encode Sans" pitchFamily="2" charset="0"/>
                <a:cs typeface="Arial"/>
                <a:sym typeface="Wingdings"/>
                <a:hlinkClick r:id="rId3"/>
              </a:rPr>
              <a:t>Link</a:t>
            </a:r>
            <a:r>
              <a:rPr lang="en-US" sz="900" dirty="0">
                <a:solidFill>
                  <a:srgbClr val="29385E"/>
                </a:solidFill>
                <a:latin typeface="Encode Sans" pitchFamily="2" charset="0"/>
                <a:cs typeface="Arial"/>
                <a:sym typeface="Wingdings"/>
              </a:rPr>
              <a:t> .</a:t>
            </a:r>
            <a:endParaRPr lang="en-US" sz="900" dirty="0">
              <a:solidFill>
                <a:srgbClr val="29385E"/>
              </a:solidFill>
              <a:latin typeface="Encode Sans" pitchFamily="2" charset="0"/>
              <a:cs typeface="Arial"/>
            </a:endParaRPr>
          </a:p>
          <a:p>
            <a:pPr marL="1257300" lvl="2" indent="-342900">
              <a:spcAft>
                <a:spcPts val="600"/>
              </a:spcAft>
              <a:buClr>
                <a:srgbClr val="29385E"/>
              </a:buClr>
              <a:buSzPct val="120000"/>
              <a:buFont typeface="Wingdings" panose="05000000000000000000" pitchFamily="2" charset="2"/>
              <a:buChar char="§"/>
            </a:pPr>
            <a:endParaRPr lang="en-US" sz="900" dirty="0">
              <a:solidFill>
                <a:schemeClr val="accent1"/>
              </a:solidFill>
              <a:latin typeface="Encode Sans" pitchFamily="2" charset="0"/>
            </a:endParaRPr>
          </a:p>
          <a:p>
            <a:pPr lvl="1"/>
            <a:endParaRPr lang="en-US" sz="900" dirty="0">
              <a:solidFill>
                <a:schemeClr val="accent1"/>
              </a:solidFill>
              <a:latin typeface="Encode Sans" pitchFamily="2" charset="0"/>
            </a:endParaRPr>
          </a:p>
          <a:p>
            <a:pPr lvl="1"/>
            <a:endParaRPr lang="en-US" sz="900" dirty="0">
              <a:solidFill>
                <a:schemeClr val="accent1"/>
              </a:solidFill>
              <a:latin typeface="Encode Sans" pitchFamily="2" charset="0"/>
            </a:endParaRPr>
          </a:p>
          <a:p>
            <a:pPr marL="371475" lvl="1" indent="0">
              <a:buNone/>
            </a:pPr>
            <a:endParaRPr lang="en-US" sz="900" dirty="0">
              <a:solidFill>
                <a:schemeClr val="accent1"/>
              </a:solidFill>
              <a:latin typeface="Encode Sans" pitchFamily="2" charset="0"/>
            </a:endParaRPr>
          </a:p>
        </p:txBody>
      </p:sp>
      <p:pic>
        <p:nvPicPr>
          <p:cNvPr id="7" name="Graphique 6" descr="Télécharger du cloud avec un remplissage uni">
            <a:extLst>
              <a:ext uri="{FF2B5EF4-FFF2-40B4-BE49-F238E27FC236}">
                <a16:creationId xmlns:a16="http://schemas.microsoft.com/office/drawing/2014/main" id="{706A2C1B-5FFF-F88B-7009-CC87306466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65868" y="757066"/>
            <a:ext cx="387531" cy="387531"/>
          </a:xfrm>
          <a:prstGeom prst="rect">
            <a:avLst/>
          </a:prstGeom>
        </p:spPr>
      </p:pic>
      <p:sp>
        <p:nvSpPr>
          <p:cNvPr id="8" name="ZoneTexte 7">
            <a:extLst>
              <a:ext uri="{FF2B5EF4-FFF2-40B4-BE49-F238E27FC236}">
                <a16:creationId xmlns:a16="http://schemas.microsoft.com/office/drawing/2014/main" id="{2C91FBBD-D319-4934-6858-6B57696EAED9}"/>
              </a:ext>
            </a:extLst>
          </p:cNvPr>
          <p:cNvSpPr txBox="1"/>
          <p:nvPr/>
        </p:nvSpPr>
        <p:spPr>
          <a:xfrm>
            <a:off x="7460524" y="1115447"/>
            <a:ext cx="998220" cy="338554"/>
          </a:xfrm>
          <a:prstGeom prst="rect">
            <a:avLst/>
          </a:prstGeom>
          <a:noFill/>
        </p:spPr>
        <p:txBody>
          <a:bodyPr wrap="square" rtlCol="0">
            <a:spAutoFit/>
          </a:bodyPr>
          <a:lstStyle/>
          <a:p>
            <a:pPr algn="ctr"/>
            <a:r>
              <a:rPr lang="en-GB" sz="800">
                <a:solidFill>
                  <a:schemeClr val="accent1"/>
                </a:solidFill>
                <a:latin typeface="Encode Sans" pitchFamily="2" charset="0"/>
              </a:rPr>
              <a:t>CLOUD SPECIFIC</a:t>
            </a:r>
          </a:p>
        </p:txBody>
      </p:sp>
    </p:spTree>
    <p:extLst>
      <p:ext uri="{BB962C8B-B14F-4D97-AF65-F5344CB8AC3E}">
        <p14:creationId xmlns:p14="http://schemas.microsoft.com/office/powerpoint/2010/main" val="12042863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EFC82B5D-685D-10E9-DC7C-36BD63BAA24D}"/>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TECHNICAL DESCRIPTION OF THE SOLUTIONS</a:t>
            </a:r>
            <a:endParaRPr lang="en-GB"/>
          </a:p>
        </p:txBody>
      </p:sp>
      <p:sp>
        <p:nvSpPr>
          <p:cNvPr id="6" name="Espace réservé du contenu 1">
            <a:extLst>
              <a:ext uri="{FF2B5EF4-FFF2-40B4-BE49-F238E27FC236}">
                <a16:creationId xmlns:a16="http://schemas.microsoft.com/office/drawing/2014/main" id="{DD980F21-CE2C-4499-10EE-A442731B2B99}"/>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a:solidFill>
                  <a:schemeClr val="accent1"/>
                </a:solidFill>
                <a:latin typeface="Encode Sans" pitchFamily="2" charset="0"/>
              </a:rPr>
              <a:t>Environments needs &amp; Account organization:</a:t>
            </a:r>
            <a:br>
              <a:rPr lang="en-US" sz="1400">
                <a:solidFill>
                  <a:schemeClr val="accent1"/>
                </a:solidFill>
                <a:latin typeface="Encode Sans" pitchFamily="2" charset="0"/>
              </a:rPr>
            </a:br>
            <a:endParaRPr lang="en-US" sz="14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a:p>
            <a:pPr lvl="1"/>
            <a:endParaRPr lang="en-US" sz="9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p:txBody>
      </p:sp>
      <p:pic>
        <p:nvPicPr>
          <p:cNvPr id="7" name="Image 6">
            <a:extLst>
              <a:ext uri="{FF2B5EF4-FFF2-40B4-BE49-F238E27FC236}">
                <a16:creationId xmlns:a16="http://schemas.microsoft.com/office/drawing/2014/main" id="{D527DD5D-F034-7549-7A88-DEC58C027483}"/>
              </a:ext>
            </a:extLst>
          </p:cNvPr>
          <p:cNvPicPr>
            <a:picLocks noChangeAspect="1"/>
          </p:cNvPicPr>
          <p:nvPr/>
        </p:nvPicPr>
        <p:blipFill>
          <a:blip r:embed="rId3"/>
          <a:stretch>
            <a:fillRect/>
          </a:stretch>
        </p:blipFill>
        <p:spPr>
          <a:xfrm>
            <a:off x="2242864" y="2665035"/>
            <a:ext cx="3352849" cy="2143815"/>
          </a:xfrm>
          <a:prstGeom prst="rect">
            <a:avLst/>
          </a:prstGeom>
        </p:spPr>
      </p:pic>
      <p:graphicFrame>
        <p:nvGraphicFramePr>
          <p:cNvPr id="8" name="Tableau 7">
            <a:extLst>
              <a:ext uri="{FF2B5EF4-FFF2-40B4-BE49-F238E27FC236}">
                <a16:creationId xmlns:a16="http://schemas.microsoft.com/office/drawing/2014/main" id="{BAD71198-0ECF-231F-E69D-2CED36ABEB82}"/>
              </a:ext>
            </a:extLst>
          </p:cNvPr>
          <p:cNvGraphicFramePr>
            <a:graphicFrameLocks noGrp="1"/>
          </p:cNvGraphicFramePr>
          <p:nvPr/>
        </p:nvGraphicFramePr>
        <p:xfrm>
          <a:off x="1115382" y="1330208"/>
          <a:ext cx="6768494" cy="1315091"/>
        </p:xfrm>
        <a:graphic>
          <a:graphicData uri="http://schemas.openxmlformats.org/drawingml/2006/table">
            <a:tbl>
              <a:tblPr firstRow="1" firstCol="1" bandRow="1">
                <a:tableStyleId>{3C2FFA5D-87B4-456A-9821-1D502468CF0F}</a:tableStyleId>
              </a:tblPr>
              <a:tblGrid>
                <a:gridCol w="853188">
                  <a:extLst>
                    <a:ext uri="{9D8B030D-6E8A-4147-A177-3AD203B41FA5}">
                      <a16:colId xmlns:a16="http://schemas.microsoft.com/office/drawing/2014/main" val="930639229"/>
                    </a:ext>
                  </a:extLst>
                </a:gridCol>
                <a:gridCol w="1136720">
                  <a:extLst>
                    <a:ext uri="{9D8B030D-6E8A-4147-A177-3AD203B41FA5}">
                      <a16:colId xmlns:a16="http://schemas.microsoft.com/office/drawing/2014/main" val="3239704163"/>
                    </a:ext>
                  </a:extLst>
                </a:gridCol>
                <a:gridCol w="4778586">
                  <a:extLst>
                    <a:ext uri="{9D8B030D-6E8A-4147-A177-3AD203B41FA5}">
                      <a16:colId xmlns:a16="http://schemas.microsoft.com/office/drawing/2014/main" val="2339165718"/>
                    </a:ext>
                  </a:extLst>
                </a:gridCol>
              </a:tblGrid>
              <a:tr h="272294">
                <a:tc>
                  <a:txBody>
                    <a:bodyPr/>
                    <a:lstStyle/>
                    <a:p>
                      <a:pPr algn="ctr">
                        <a:lnSpc>
                          <a:spcPct val="110000"/>
                        </a:lnSpc>
                        <a:spcAft>
                          <a:spcPts val="600"/>
                        </a:spcAft>
                      </a:pPr>
                      <a:r>
                        <a:rPr lang="en-GB" sz="800">
                          <a:effectLst/>
                          <a:latin typeface="Encode Sans" pitchFamily="2" charset="0"/>
                        </a:rPr>
                        <a:t>Environment</a:t>
                      </a:r>
                      <a:endParaRPr lang="fr-FR" sz="9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ctr">
                        <a:lnSpc>
                          <a:spcPct val="110000"/>
                        </a:lnSpc>
                        <a:spcAft>
                          <a:spcPts val="600"/>
                        </a:spcAft>
                      </a:pPr>
                      <a:r>
                        <a:rPr lang="en-GB" sz="800">
                          <a:effectLst/>
                          <a:latin typeface="Encode Sans" pitchFamily="2" charset="0"/>
                        </a:rPr>
                        <a:t>Hosting</a:t>
                      </a:r>
                      <a:endParaRPr lang="fr-FR" sz="9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ctr">
                        <a:lnSpc>
                          <a:spcPct val="110000"/>
                        </a:lnSpc>
                        <a:spcAft>
                          <a:spcPts val="600"/>
                        </a:spcAft>
                      </a:pPr>
                      <a:r>
                        <a:rPr lang="en-GB" sz="800">
                          <a:effectLst/>
                          <a:latin typeface="Encode Sans" pitchFamily="2" charset="0"/>
                        </a:rPr>
                        <a:t>Description</a:t>
                      </a:r>
                      <a:endParaRPr lang="fr-FR" sz="9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1696124608"/>
                  </a:ext>
                </a:extLst>
              </a:tr>
              <a:tr h="238640">
                <a:tc>
                  <a:txBody>
                    <a:bodyPr/>
                    <a:lstStyle/>
                    <a:p>
                      <a:pPr>
                        <a:lnSpc>
                          <a:spcPct val="110000"/>
                        </a:lnSpc>
                        <a:spcAft>
                          <a:spcPts val="600"/>
                        </a:spcAft>
                      </a:pPr>
                      <a:r>
                        <a:rPr lang="en-GB" sz="800">
                          <a:effectLst/>
                          <a:latin typeface="Encode Sans" pitchFamily="2" charset="0"/>
                        </a:rPr>
                        <a:t>Dev</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tc>
                  <a:txBody>
                    <a:bodyPr/>
                    <a:lstStyle/>
                    <a:p>
                      <a:pPr marL="0" marR="0" lvl="0" indent="0" algn="l" defTabSz="914400" rtl="0" eaLnBrk="1" fontAlgn="auto" latinLnBrk="0" hangingPunct="1">
                        <a:lnSpc>
                          <a:spcPct val="110000"/>
                        </a:lnSpc>
                        <a:spcBef>
                          <a:spcPts val="0"/>
                        </a:spcBef>
                        <a:spcAft>
                          <a:spcPts val="600"/>
                        </a:spcAft>
                        <a:buClrTx/>
                        <a:buSzTx/>
                        <a:buFontTx/>
                        <a:buNone/>
                        <a:tabLst/>
                        <a:defRPr/>
                      </a:pPr>
                      <a:r>
                        <a:rPr lang="en-GB" sz="800">
                          <a:effectLst/>
                          <a:latin typeface="Encode Sans" pitchFamily="2" charset="0"/>
                        </a:rPr>
                        <a:t>Stellantis BPF AWS Landing Zone</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tc>
                  <a:txBody>
                    <a:bodyPr/>
                    <a:lstStyle/>
                    <a:p>
                      <a:pPr>
                        <a:lnSpc>
                          <a:spcPct val="110000"/>
                        </a:lnSpc>
                        <a:spcAft>
                          <a:spcPts val="600"/>
                        </a:spcAft>
                      </a:pPr>
                      <a:r>
                        <a:rPr lang="en-GB" sz="800">
                          <a:effectLst/>
                          <a:latin typeface="Encode Sans" pitchFamily="2" charset="0"/>
                        </a:rPr>
                        <a:t>Used by developer for development.</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extLst>
                  <a:ext uri="{0D108BD9-81ED-4DB2-BD59-A6C34878D82A}">
                    <a16:rowId xmlns:a16="http://schemas.microsoft.com/office/drawing/2014/main" val="3805026536"/>
                  </a:ext>
                </a:extLst>
              </a:tr>
              <a:tr h="238640">
                <a:tc>
                  <a:txBody>
                    <a:bodyPr/>
                    <a:lstStyle/>
                    <a:p>
                      <a:pPr>
                        <a:lnSpc>
                          <a:spcPct val="110000"/>
                        </a:lnSpc>
                        <a:spcAft>
                          <a:spcPts val="600"/>
                        </a:spcAft>
                      </a:pPr>
                      <a:r>
                        <a:rPr lang="en-GB" sz="800">
                          <a:effectLst/>
                          <a:latin typeface="Encode Sans" pitchFamily="2" charset="0"/>
                        </a:rPr>
                        <a:t>Preprod </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tc>
                  <a:txBody>
                    <a:bodyPr/>
                    <a:lstStyle/>
                    <a:p>
                      <a:pPr>
                        <a:lnSpc>
                          <a:spcPct val="110000"/>
                        </a:lnSpc>
                        <a:spcAft>
                          <a:spcPts val="600"/>
                        </a:spcAft>
                      </a:pPr>
                      <a:r>
                        <a:rPr lang="en-GB" sz="800">
                          <a:effectLst/>
                          <a:latin typeface="Encode Sans" pitchFamily="2" charset="0"/>
                        </a:rPr>
                        <a:t>Stellantis BPF AWS Landing Zone</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tc>
                  <a:txBody>
                    <a:bodyPr/>
                    <a:lstStyle/>
                    <a:p>
                      <a:pPr>
                        <a:lnSpc>
                          <a:spcPct val="110000"/>
                        </a:lnSpc>
                        <a:spcAft>
                          <a:spcPts val="600"/>
                        </a:spcAft>
                      </a:pPr>
                      <a:r>
                        <a:rPr lang="en-GB" sz="800">
                          <a:effectLst/>
                          <a:latin typeface="Encode Sans" pitchFamily="2" charset="0"/>
                        </a:rPr>
                        <a:t>Used to validate the next release.</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extLst>
                  <a:ext uri="{0D108BD9-81ED-4DB2-BD59-A6C34878D82A}">
                    <a16:rowId xmlns:a16="http://schemas.microsoft.com/office/drawing/2014/main" val="2530165299"/>
                  </a:ext>
                </a:extLst>
              </a:tr>
              <a:tr h="238640">
                <a:tc>
                  <a:txBody>
                    <a:bodyPr/>
                    <a:lstStyle/>
                    <a:p>
                      <a:pPr>
                        <a:lnSpc>
                          <a:spcPct val="110000"/>
                        </a:lnSpc>
                        <a:spcAft>
                          <a:spcPts val="600"/>
                        </a:spcAft>
                      </a:pPr>
                      <a:r>
                        <a:rPr lang="en-GB" sz="800">
                          <a:effectLst/>
                          <a:latin typeface="Encode Sans" pitchFamily="2" charset="0"/>
                        </a:rPr>
                        <a:t>Production</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tc>
                  <a:txBody>
                    <a:bodyPr/>
                    <a:lstStyle/>
                    <a:p>
                      <a:pPr>
                        <a:lnSpc>
                          <a:spcPct val="110000"/>
                        </a:lnSpc>
                        <a:spcAft>
                          <a:spcPts val="600"/>
                        </a:spcAft>
                      </a:pPr>
                      <a:r>
                        <a:rPr lang="en-GB" sz="800">
                          <a:effectLst/>
                          <a:latin typeface="Encode Sans" pitchFamily="2" charset="0"/>
                        </a:rPr>
                        <a:t>Stellantis BPF AWS Landing Zone</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tc>
                  <a:txBody>
                    <a:bodyPr/>
                    <a:lstStyle/>
                    <a:p>
                      <a:pPr>
                        <a:lnSpc>
                          <a:spcPct val="110000"/>
                        </a:lnSpc>
                        <a:spcAft>
                          <a:spcPts val="600"/>
                        </a:spcAft>
                      </a:pPr>
                      <a:r>
                        <a:rPr lang="en-GB" sz="800">
                          <a:effectLst/>
                          <a:latin typeface="Encode Sans" pitchFamily="2" charset="0"/>
                        </a:rPr>
                        <a:t>Production.</a:t>
                      </a:r>
                      <a:endParaRPr lang="fr-FR" sz="800">
                        <a:solidFill>
                          <a:srgbClr val="3B3B3B"/>
                        </a:solidFill>
                        <a:effectLst/>
                        <a:latin typeface="Encode Sans" pitchFamily="2" charset="0"/>
                        <a:ea typeface="Arial" panose="020B0604020202020204" pitchFamily="34" charset="0"/>
                        <a:cs typeface="Times New Roman" panose="02020603050405020304" pitchFamily="18" charset="0"/>
                      </a:endParaRPr>
                    </a:p>
                  </a:txBody>
                  <a:tcPr marL="45720" marR="45720" anchor="ctr"/>
                </a:tc>
                <a:extLst>
                  <a:ext uri="{0D108BD9-81ED-4DB2-BD59-A6C34878D82A}">
                    <a16:rowId xmlns:a16="http://schemas.microsoft.com/office/drawing/2014/main" val="893480630"/>
                  </a:ext>
                </a:extLst>
              </a:tr>
            </a:tbl>
          </a:graphicData>
        </a:graphic>
      </p:graphicFrame>
      <p:sp>
        <p:nvSpPr>
          <p:cNvPr id="9" name="Flèche à angle droit 13">
            <a:extLst>
              <a:ext uri="{FF2B5EF4-FFF2-40B4-BE49-F238E27FC236}">
                <a16:creationId xmlns:a16="http://schemas.microsoft.com/office/drawing/2014/main" id="{9E763E01-5B4E-D1B5-8CE2-2B940E62A87E}"/>
              </a:ext>
            </a:extLst>
          </p:cNvPr>
          <p:cNvSpPr/>
          <p:nvPr/>
        </p:nvSpPr>
        <p:spPr>
          <a:xfrm rot="5400000">
            <a:off x="1208411" y="2799225"/>
            <a:ext cx="540327" cy="641927"/>
          </a:xfrm>
          <a:prstGeom prst="bentUp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atin typeface="Encode Sans" pitchFamily="2" charset="0"/>
            </a:endParaRPr>
          </a:p>
        </p:txBody>
      </p:sp>
      <p:cxnSp>
        <p:nvCxnSpPr>
          <p:cNvPr id="10" name="Connecteur droit 9">
            <a:extLst>
              <a:ext uri="{FF2B5EF4-FFF2-40B4-BE49-F238E27FC236}">
                <a16:creationId xmlns:a16="http://schemas.microsoft.com/office/drawing/2014/main" id="{1023B445-9B5E-9A07-C906-B47C46204CD2}"/>
              </a:ext>
            </a:extLst>
          </p:cNvPr>
          <p:cNvCxnSpPr/>
          <p:nvPr/>
        </p:nvCxnSpPr>
        <p:spPr>
          <a:xfrm flipH="1">
            <a:off x="1872423" y="2735787"/>
            <a:ext cx="13425" cy="2015187"/>
          </a:xfrm>
          <a:prstGeom prst="line">
            <a:avLst/>
          </a:prstGeom>
        </p:spPr>
        <p:style>
          <a:lnRef idx="2">
            <a:schemeClr val="accent6"/>
          </a:lnRef>
          <a:fillRef idx="0">
            <a:schemeClr val="accent6"/>
          </a:fillRef>
          <a:effectRef idx="1">
            <a:schemeClr val="accent6"/>
          </a:effectRef>
          <a:fontRef idx="minor">
            <a:schemeClr val="tx1"/>
          </a:fontRef>
        </p:style>
      </p:cxnSp>
      <p:sp>
        <p:nvSpPr>
          <p:cNvPr id="11" name="ZoneTexte 10">
            <a:extLst>
              <a:ext uri="{FF2B5EF4-FFF2-40B4-BE49-F238E27FC236}">
                <a16:creationId xmlns:a16="http://schemas.microsoft.com/office/drawing/2014/main" id="{D3EAF81B-9060-FB24-7FDE-2ADAEFF34A84}"/>
              </a:ext>
            </a:extLst>
          </p:cNvPr>
          <p:cNvSpPr txBox="1"/>
          <p:nvPr/>
        </p:nvSpPr>
        <p:spPr>
          <a:xfrm rot="16200000">
            <a:off x="1066411" y="3417456"/>
            <a:ext cx="2045127" cy="523220"/>
          </a:xfrm>
          <a:prstGeom prst="rect">
            <a:avLst/>
          </a:prstGeom>
          <a:noFill/>
        </p:spPr>
        <p:txBody>
          <a:bodyPr wrap="square" rtlCol="0">
            <a:spAutoFit/>
          </a:bodyPr>
          <a:lstStyle/>
          <a:p>
            <a:r>
              <a:rPr lang="en-US" sz="1400">
                <a:latin typeface="Encode Sans" pitchFamily="2" charset="0"/>
              </a:rPr>
              <a:t>Account organization</a:t>
            </a:r>
          </a:p>
        </p:txBody>
      </p:sp>
      <p:sp>
        <p:nvSpPr>
          <p:cNvPr id="12" name="ZoneTexte 11">
            <a:extLst>
              <a:ext uri="{FF2B5EF4-FFF2-40B4-BE49-F238E27FC236}">
                <a16:creationId xmlns:a16="http://schemas.microsoft.com/office/drawing/2014/main" id="{01788B99-39EB-AD1F-A4B1-ADF1471D38EC}"/>
              </a:ext>
            </a:extLst>
          </p:cNvPr>
          <p:cNvSpPr txBox="1"/>
          <p:nvPr/>
        </p:nvSpPr>
        <p:spPr>
          <a:xfrm>
            <a:off x="5644951" y="2926664"/>
            <a:ext cx="3296348"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u="sng">
                <a:latin typeface="Encode Sans" pitchFamily="2" charset="0"/>
              </a:rPr>
              <a:t>Remark</a:t>
            </a:r>
            <a:r>
              <a:rPr lang="en-US" sz="1000">
                <a:latin typeface="Encode Sans" pitchFamily="2" charset="0"/>
              </a:rPr>
              <a:t>: </a:t>
            </a:r>
            <a:br>
              <a:rPr lang="en-US" sz="1000">
                <a:latin typeface="Encode Sans" pitchFamily="2" charset="0"/>
              </a:rPr>
            </a:br>
            <a:r>
              <a:rPr lang="en-US" sz="1000">
                <a:latin typeface="Encode Sans" pitchFamily="2" charset="0"/>
              </a:rPr>
              <a:t>If another environment is required: you must give the reasons / justifications and take into account this environment in the global cost.</a:t>
            </a:r>
          </a:p>
        </p:txBody>
      </p:sp>
      <p:sp>
        <p:nvSpPr>
          <p:cNvPr id="13" name="ZoneTexte 12">
            <a:extLst>
              <a:ext uri="{FF2B5EF4-FFF2-40B4-BE49-F238E27FC236}">
                <a16:creationId xmlns:a16="http://schemas.microsoft.com/office/drawing/2014/main" id="{D72A7FA5-8F79-986F-4996-7D227A747C54}"/>
              </a:ext>
            </a:extLst>
          </p:cNvPr>
          <p:cNvSpPr txBox="1"/>
          <p:nvPr/>
        </p:nvSpPr>
        <p:spPr>
          <a:xfrm>
            <a:off x="3919288" y="1173501"/>
            <a:ext cx="781044" cy="2616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100" i="1">
                <a:solidFill>
                  <a:schemeClr val="bg1"/>
                </a:solidFill>
                <a:latin typeface="Encode Sans" pitchFamily="2" charset="0"/>
              </a:rPr>
              <a:t>Example</a:t>
            </a:r>
          </a:p>
        </p:txBody>
      </p:sp>
    </p:spTree>
    <p:extLst>
      <p:ext uri="{BB962C8B-B14F-4D97-AF65-F5344CB8AC3E}">
        <p14:creationId xmlns:p14="http://schemas.microsoft.com/office/powerpoint/2010/main" val="28838950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EBE6B18-62AE-5FF2-E395-EDE84DB9DAFA}"/>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TECHNICAL DESCRIPTION OF THE SOLUTIONS</a:t>
            </a:r>
            <a:endParaRPr lang="en-GB"/>
          </a:p>
        </p:txBody>
      </p:sp>
      <p:sp>
        <p:nvSpPr>
          <p:cNvPr id="6" name="Espace réservé du contenu 1">
            <a:extLst>
              <a:ext uri="{FF2B5EF4-FFF2-40B4-BE49-F238E27FC236}">
                <a16:creationId xmlns:a16="http://schemas.microsoft.com/office/drawing/2014/main" id="{FCAB53F3-F525-98DF-CBB6-84FE305D1866}"/>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dirty="0">
                <a:solidFill>
                  <a:schemeClr val="accent1"/>
                </a:solidFill>
                <a:latin typeface="Encode Sans" pitchFamily="2" charset="0"/>
              </a:rPr>
              <a:t>Existing migration strategy:</a:t>
            </a:r>
            <a:br>
              <a:rPr lang="en-US" sz="1400" dirty="0">
                <a:solidFill>
                  <a:schemeClr val="accent1"/>
                </a:solidFill>
                <a:latin typeface="Encode Sans" pitchFamily="2" charset="0"/>
              </a:rPr>
            </a:br>
            <a:endParaRPr lang="en-US" sz="1400" dirty="0">
              <a:solidFill>
                <a:schemeClr val="accent1"/>
              </a:solidFill>
              <a:latin typeface="Encode Sans" pitchFamily="2" charset="0"/>
            </a:endParaRPr>
          </a:p>
          <a:p>
            <a:pPr marL="371475" lvl="1" indent="0">
              <a:buNone/>
            </a:pPr>
            <a:endParaRPr lang="en-US" sz="900" dirty="0">
              <a:solidFill>
                <a:schemeClr val="accent1"/>
              </a:solidFill>
              <a:latin typeface="Encode Sans" pitchFamily="2" charset="0"/>
            </a:endParaRPr>
          </a:p>
        </p:txBody>
      </p:sp>
      <p:sp>
        <p:nvSpPr>
          <p:cNvPr id="5" name="ZoneTexte 4">
            <a:extLst>
              <a:ext uri="{FF2B5EF4-FFF2-40B4-BE49-F238E27FC236}">
                <a16:creationId xmlns:a16="http://schemas.microsoft.com/office/drawing/2014/main" id="{B3923B6A-C17F-5CD1-70B8-C53744AAC6B6}"/>
              </a:ext>
            </a:extLst>
          </p:cNvPr>
          <p:cNvSpPr txBox="1"/>
          <p:nvPr/>
        </p:nvSpPr>
        <p:spPr>
          <a:xfrm>
            <a:off x="2049979" y="1561027"/>
            <a:ext cx="4551075" cy="1400383"/>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900" b="1" dirty="0">
                <a:latin typeface="Encode Sans" pitchFamily="2" charset="0"/>
              </a:rPr>
              <a:t>For migrations / M2C of existing applications only</a:t>
            </a:r>
          </a:p>
          <a:p>
            <a:endParaRPr lang="en-US" sz="900" dirty="0">
              <a:latin typeface="Encode Sans" pitchFamily="2" charset="0"/>
            </a:endParaRPr>
          </a:p>
          <a:p>
            <a:r>
              <a:rPr lang="en-US" sz="900" dirty="0">
                <a:latin typeface="Encode Sans" pitchFamily="2" charset="0"/>
              </a:rPr>
              <a:t>Explain the existing features will be migrated.</a:t>
            </a:r>
          </a:p>
          <a:p>
            <a:endParaRPr lang="en-US" sz="900" dirty="0">
              <a:latin typeface="Encode Sans" pitchFamily="2" charset="0"/>
            </a:endParaRPr>
          </a:p>
          <a:p>
            <a:r>
              <a:rPr lang="en-US" sz="900" dirty="0">
                <a:latin typeface="Encode Sans" pitchFamily="2" charset="0"/>
              </a:rPr>
              <a:t>Examples</a:t>
            </a:r>
            <a:endParaRPr lang="en-US" sz="900" u="none" dirty="0">
              <a:latin typeface="Encode Sans" pitchFamily="2" charset="0"/>
            </a:endParaRPr>
          </a:p>
          <a:p>
            <a:pPr marL="171450" indent="-171450">
              <a:buFontTx/>
              <a:buChar char="-"/>
            </a:pPr>
            <a:r>
              <a:rPr lang="en-US" sz="800" u="none" dirty="0">
                <a:latin typeface="Encode Sans" pitchFamily="2" charset="0"/>
              </a:rPr>
              <a:t>Data migration with either SQL scripts and/or Change Data Capture and/or use of AWS DMS</a:t>
            </a:r>
          </a:p>
          <a:p>
            <a:pPr marL="171450" indent="-171450">
              <a:buFontTx/>
              <a:buChar char="-"/>
            </a:pPr>
            <a:r>
              <a:rPr lang="en-US" sz="800" u="none" dirty="0">
                <a:latin typeface="Encode Sans" pitchFamily="2" charset="0"/>
              </a:rPr>
              <a:t>Coexistence with the previous application or “Big Bang” switch</a:t>
            </a:r>
          </a:p>
          <a:p>
            <a:pPr marL="171450" indent="-171450">
              <a:buFontTx/>
              <a:buChar char="-"/>
            </a:pPr>
            <a:r>
              <a:rPr lang="en-US" sz="800" u="none" dirty="0">
                <a:latin typeface="Encode Sans" pitchFamily="2" charset="0"/>
              </a:rPr>
              <a:t>Connection with other applications migration strategy (</a:t>
            </a:r>
            <a:r>
              <a:rPr lang="en-US" sz="800" u="none" dirty="0" err="1">
                <a:latin typeface="Encode Sans" pitchFamily="2" charset="0"/>
              </a:rPr>
              <a:t>url</a:t>
            </a:r>
            <a:r>
              <a:rPr lang="en-US" sz="800" u="none" dirty="0">
                <a:latin typeface="Encode Sans" pitchFamily="2" charset="0"/>
              </a:rPr>
              <a:t> change; switch from CFT to other solution, …)</a:t>
            </a:r>
          </a:p>
        </p:txBody>
      </p:sp>
    </p:spTree>
    <p:extLst>
      <p:ext uri="{BB962C8B-B14F-4D97-AF65-F5344CB8AC3E}">
        <p14:creationId xmlns:p14="http://schemas.microsoft.com/office/powerpoint/2010/main" val="22630198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EBE6B18-62AE-5FF2-E395-EDE84DB9DAFA}"/>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TECHNICAL DESCRIPTION OF THE SOLUTIONS</a:t>
            </a:r>
            <a:endParaRPr lang="en-GB"/>
          </a:p>
        </p:txBody>
      </p:sp>
      <p:sp>
        <p:nvSpPr>
          <p:cNvPr id="6" name="Espace réservé du contenu 1">
            <a:extLst>
              <a:ext uri="{FF2B5EF4-FFF2-40B4-BE49-F238E27FC236}">
                <a16:creationId xmlns:a16="http://schemas.microsoft.com/office/drawing/2014/main" id="{FCAB53F3-F525-98DF-CBB6-84FE305D1866}"/>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a:solidFill>
                  <a:schemeClr val="accent1"/>
                </a:solidFill>
                <a:latin typeface="Encode Sans" pitchFamily="2" charset="0"/>
              </a:rPr>
              <a:t>Batch strategy:</a:t>
            </a:r>
            <a:br>
              <a:rPr lang="en-US" sz="1400">
                <a:solidFill>
                  <a:schemeClr val="accent1"/>
                </a:solidFill>
                <a:latin typeface="Encode Sans" pitchFamily="2" charset="0"/>
              </a:rPr>
            </a:br>
            <a:endParaRPr lang="en-US" sz="14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p:txBody>
      </p:sp>
      <p:sp>
        <p:nvSpPr>
          <p:cNvPr id="2" name="ZoneTexte 1">
            <a:extLst>
              <a:ext uri="{FF2B5EF4-FFF2-40B4-BE49-F238E27FC236}">
                <a16:creationId xmlns:a16="http://schemas.microsoft.com/office/drawing/2014/main" id="{A4644B87-2FE7-7537-20C6-0217195A06BB}"/>
              </a:ext>
            </a:extLst>
          </p:cNvPr>
          <p:cNvSpPr txBox="1"/>
          <p:nvPr/>
        </p:nvSpPr>
        <p:spPr>
          <a:xfrm>
            <a:off x="2054544" y="1509921"/>
            <a:ext cx="4551075" cy="1061829"/>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900" b="1">
                <a:latin typeface="Encode Sans" pitchFamily="2" charset="0"/>
              </a:rPr>
              <a:t>Only if Batch processing in the new solution</a:t>
            </a:r>
          </a:p>
          <a:p>
            <a:endParaRPr lang="en-US" sz="900">
              <a:latin typeface="Encode Sans" pitchFamily="2" charset="0"/>
            </a:endParaRPr>
          </a:p>
          <a:p>
            <a:r>
              <a:rPr lang="en-US" sz="900">
                <a:latin typeface="Encode Sans" pitchFamily="2" charset="0"/>
              </a:rPr>
              <a:t>Explain the complexity of Batch orchestration</a:t>
            </a:r>
          </a:p>
          <a:p>
            <a:r>
              <a:rPr lang="en-US" sz="900" u="none">
                <a:latin typeface="Encode Sans" pitchFamily="2" charset="0"/>
              </a:rPr>
              <a:t>Example: sequencing of batches / dependency to calendar</a:t>
            </a:r>
          </a:p>
          <a:p>
            <a:endParaRPr lang="en-US" sz="900" u="none">
              <a:latin typeface="Encode Sans" pitchFamily="2" charset="0"/>
            </a:endParaRPr>
          </a:p>
          <a:p>
            <a:r>
              <a:rPr lang="en-US" sz="900" u="none">
                <a:latin typeface="Encode Sans" pitchFamily="2" charset="0"/>
              </a:rPr>
              <a:t>AWS services retained (AWS Batch, Even Bridge, Step functions, Airflow, …) with the use of each</a:t>
            </a:r>
          </a:p>
        </p:txBody>
      </p:sp>
    </p:spTree>
    <p:extLst>
      <p:ext uri="{BB962C8B-B14F-4D97-AF65-F5344CB8AC3E}">
        <p14:creationId xmlns:p14="http://schemas.microsoft.com/office/powerpoint/2010/main" val="20994870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EBE6B18-62AE-5FF2-E395-EDE84DB9DAFA}"/>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TECHNICAL DESCRIPTION OF THE SOLUTIONS</a:t>
            </a:r>
            <a:endParaRPr lang="en-GB"/>
          </a:p>
        </p:txBody>
      </p:sp>
      <p:sp>
        <p:nvSpPr>
          <p:cNvPr id="6" name="Espace réservé du contenu 1">
            <a:extLst>
              <a:ext uri="{FF2B5EF4-FFF2-40B4-BE49-F238E27FC236}">
                <a16:creationId xmlns:a16="http://schemas.microsoft.com/office/drawing/2014/main" id="{FCAB53F3-F525-98DF-CBB6-84FE305D1866}"/>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a:solidFill>
                  <a:schemeClr val="accent1"/>
                </a:solidFill>
                <a:latin typeface="Encode Sans" pitchFamily="2" charset="0"/>
              </a:rPr>
              <a:t>Data-flow:</a:t>
            </a:r>
            <a:br>
              <a:rPr lang="en-US" sz="1400">
                <a:solidFill>
                  <a:schemeClr val="accent1"/>
                </a:solidFill>
                <a:latin typeface="Encode Sans" pitchFamily="2" charset="0"/>
              </a:rPr>
            </a:br>
            <a:endParaRPr lang="en-US" sz="1400">
              <a:solidFill>
                <a:schemeClr val="accent1"/>
              </a:solidFill>
              <a:latin typeface="Encode Sans" pitchFamily="2" charset="0"/>
            </a:endParaRPr>
          </a:p>
          <a:p>
            <a:pPr lvl="1"/>
            <a:r>
              <a:rPr lang="en-US" sz="1200">
                <a:solidFill>
                  <a:schemeClr val="accent1"/>
                </a:solidFill>
                <a:latin typeface="Encode Sans" pitchFamily="2" charset="0"/>
              </a:rPr>
              <a:t>Link to the file support (draw.io, </a:t>
            </a:r>
            <a:r>
              <a:rPr lang="en-US" sz="1200" err="1">
                <a:solidFill>
                  <a:schemeClr val="accent1"/>
                </a:solidFill>
                <a:latin typeface="Encode Sans" pitchFamily="2" charset="0"/>
              </a:rPr>
              <a:t>png</a:t>
            </a:r>
            <a:r>
              <a:rPr lang="en-US" sz="1200">
                <a:solidFill>
                  <a:schemeClr val="accent1"/>
                </a:solidFill>
                <a:latin typeface="Encode Sans" pitchFamily="2" charset="0"/>
              </a:rPr>
              <a:t>): Link (+ Date and Version of the document)</a:t>
            </a:r>
            <a:br>
              <a:rPr lang="en-US" sz="1200">
                <a:solidFill>
                  <a:schemeClr val="accent1"/>
                </a:solidFill>
                <a:latin typeface="Encode Sans" pitchFamily="2" charset="0"/>
              </a:rPr>
            </a:br>
            <a:endParaRPr lang="en-US" sz="900">
              <a:solidFill>
                <a:schemeClr val="accent1"/>
              </a:solidFill>
              <a:latin typeface="Encode Sans" pitchFamily="2" charset="0"/>
            </a:endParaRPr>
          </a:p>
          <a:p>
            <a:pPr lvl="1"/>
            <a:endParaRPr lang="en-US" sz="900">
              <a:solidFill>
                <a:schemeClr val="accent1"/>
              </a:solidFill>
              <a:latin typeface="Encode Sans" pitchFamily="2" charset="0"/>
            </a:endParaRPr>
          </a:p>
          <a:p>
            <a:pPr lvl="1"/>
            <a:endParaRPr lang="en-US" sz="9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p:txBody>
      </p:sp>
      <p:sp>
        <p:nvSpPr>
          <p:cNvPr id="4" name="ZoneTexte 3">
            <a:extLst>
              <a:ext uri="{FF2B5EF4-FFF2-40B4-BE49-F238E27FC236}">
                <a16:creationId xmlns:a16="http://schemas.microsoft.com/office/drawing/2014/main" id="{10862B75-20D0-B26D-4179-8B3B19F9F214}"/>
              </a:ext>
            </a:extLst>
          </p:cNvPr>
          <p:cNvSpPr txBox="1"/>
          <p:nvPr/>
        </p:nvSpPr>
        <p:spPr>
          <a:xfrm>
            <a:off x="7481302" y="691004"/>
            <a:ext cx="1352467" cy="1015663"/>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atin typeface="Encode Sans" pitchFamily="2" charset="0"/>
              </a:rPr>
              <a:t>Remark</a:t>
            </a:r>
            <a:r>
              <a:rPr lang="en-US" u="none">
                <a:latin typeface="Encode Sans" pitchFamily="2" charset="0"/>
              </a:rPr>
              <a:t>: </a:t>
            </a:r>
            <a:br>
              <a:rPr lang="en-US" u="none">
                <a:latin typeface="Encode Sans" pitchFamily="2" charset="0"/>
              </a:rPr>
            </a:br>
            <a:r>
              <a:rPr lang="en-US" u="none">
                <a:latin typeface="Encode Sans" pitchFamily="2" charset="0"/>
              </a:rPr>
              <a:t>- Document must be updated continuously (During Build and Run phase).</a:t>
            </a:r>
          </a:p>
        </p:txBody>
      </p:sp>
      <p:pic>
        <p:nvPicPr>
          <p:cNvPr id="1026" name="Picture 2">
            <a:extLst>
              <a:ext uri="{FF2B5EF4-FFF2-40B4-BE49-F238E27FC236}">
                <a16:creationId xmlns:a16="http://schemas.microsoft.com/office/drawing/2014/main" id="{BA329B1B-300E-8959-9702-8ABBD1A0D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6841" y="2272128"/>
            <a:ext cx="3370844" cy="2491226"/>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F1A876FC-2B9C-C031-B2E9-F5B8B1B10785}"/>
              </a:ext>
            </a:extLst>
          </p:cNvPr>
          <p:cNvPicPr>
            <a:picLocks noChangeAspect="1"/>
          </p:cNvPicPr>
          <p:nvPr/>
        </p:nvPicPr>
        <p:blipFill>
          <a:blip r:embed="rId4"/>
          <a:stretch>
            <a:fillRect/>
          </a:stretch>
        </p:blipFill>
        <p:spPr>
          <a:xfrm>
            <a:off x="337" y="1625816"/>
            <a:ext cx="4904358" cy="3517683"/>
          </a:xfrm>
          <a:prstGeom prst="rect">
            <a:avLst/>
          </a:prstGeom>
        </p:spPr>
      </p:pic>
    </p:spTree>
    <p:extLst>
      <p:ext uri="{BB962C8B-B14F-4D97-AF65-F5344CB8AC3E}">
        <p14:creationId xmlns:p14="http://schemas.microsoft.com/office/powerpoint/2010/main" val="1957707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E2E5A69A-162A-C5B2-C575-6AA3F09C5E17}"/>
              </a:ext>
            </a:extLst>
          </p:cNvPr>
          <p:cNvPicPr>
            <a:picLocks noChangeAspect="1"/>
          </p:cNvPicPr>
          <p:nvPr/>
        </p:nvPicPr>
        <p:blipFill>
          <a:blip r:embed="rId3"/>
          <a:stretch>
            <a:fillRect/>
          </a:stretch>
        </p:blipFill>
        <p:spPr>
          <a:xfrm>
            <a:off x="660323" y="1322881"/>
            <a:ext cx="5622408" cy="2811204"/>
          </a:xfrm>
          <a:prstGeom prst="rect">
            <a:avLst/>
          </a:prstGeom>
        </p:spPr>
      </p:pic>
      <p:sp>
        <p:nvSpPr>
          <p:cNvPr id="3" name="Titre 2">
            <a:extLst>
              <a:ext uri="{FF2B5EF4-FFF2-40B4-BE49-F238E27FC236}">
                <a16:creationId xmlns:a16="http://schemas.microsoft.com/office/drawing/2014/main" id="{BEBE6B18-62AE-5FF2-E395-EDE84DB9DAFA}"/>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TECHNICAL DESCRIPTION OF THE SOLUTIONS</a:t>
            </a:r>
            <a:endParaRPr lang="en-GB"/>
          </a:p>
        </p:txBody>
      </p:sp>
      <p:sp>
        <p:nvSpPr>
          <p:cNvPr id="6" name="Espace réservé du contenu 1">
            <a:extLst>
              <a:ext uri="{FF2B5EF4-FFF2-40B4-BE49-F238E27FC236}">
                <a16:creationId xmlns:a16="http://schemas.microsoft.com/office/drawing/2014/main" id="{FCAB53F3-F525-98DF-CBB6-84FE305D1866}"/>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a:solidFill>
                  <a:schemeClr val="accent1"/>
                </a:solidFill>
                <a:latin typeface="Encode Sans" pitchFamily="2" charset="0"/>
              </a:rPr>
              <a:t>Application architecture : SSDLC</a:t>
            </a:r>
            <a:br>
              <a:rPr lang="en-US" sz="1400">
                <a:solidFill>
                  <a:schemeClr val="accent1"/>
                </a:solidFill>
                <a:latin typeface="Encode Sans" pitchFamily="2" charset="0"/>
              </a:rPr>
            </a:br>
            <a:endParaRPr lang="en-US" sz="1400">
              <a:solidFill>
                <a:schemeClr val="accent1"/>
              </a:solidFill>
              <a:latin typeface="Encode Sans" pitchFamily="2" charset="0"/>
            </a:endParaRPr>
          </a:p>
          <a:p>
            <a:pPr lvl="1"/>
            <a:endParaRPr lang="en-US" sz="9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p:txBody>
      </p:sp>
      <p:sp>
        <p:nvSpPr>
          <p:cNvPr id="7" name="ZoneTexte 6">
            <a:extLst>
              <a:ext uri="{FF2B5EF4-FFF2-40B4-BE49-F238E27FC236}">
                <a16:creationId xmlns:a16="http://schemas.microsoft.com/office/drawing/2014/main" id="{99C1B2FD-C721-800B-2907-32968A99196F}"/>
              </a:ext>
            </a:extLst>
          </p:cNvPr>
          <p:cNvSpPr txBox="1"/>
          <p:nvPr/>
        </p:nvSpPr>
        <p:spPr>
          <a:xfrm>
            <a:off x="6626832" y="2197294"/>
            <a:ext cx="1939318"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u="none">
                <a:latin typeface="Encode Sans" pitchFamily="2" charset="0"/>
              </a:rPr>
              <a:t>SSDLC documentation:</a:t>
            </a:r>
          </a:p>
          <a:p>
            <a:pPr marL="171450" indent="-171450">
              <a:buFont typeface="Arial" panose="020B0604020202020204" pitchFamily="34" charset="0"/>
              <a:buChar char="•"/>
            </a:pPr>
            <a:r>
              <a:rPr lang="fr-FR">
                <a:hlinkClick r:id="rId4" tooltip="https://docinfogroupe.stellantis.com/ead/doc/ref.20373_24_06448/v.vc/pj"/>
              </a:rPr>
              <a:t>AWS</a:t>
            </a:r>
            <a:endParaRPr lang="fr-FR"/>
          </a:p>
          <a:p>
            <a:pPr marL="171450" indent="-171450">
              <a:buFont typeface="Arial" panose="020B0604020202020204" pitchFamily="34" charset="0"/>
              <a:buChar char="•"/>
            </a:pPr>
            <a:r>
              <a:rPr lang="fr-FR" u="none">
                <a:latin typeface="Encode Sans" pitchFamily="2" charset="0"/>
                <a:hlinkClick r:id="rId5"/>
              </a:rPr>
              <a:t>On </a:t>
            </a:r>
            <a:r>
              <a:rPr lang="fr-FR" u="none" err="1">
                <a:latin typeface="Encode Sans" pitchFamily="2" charset="0"/>
                <a:hlinkClick r:id="rId5"/>
              </a:rPr>
              <a:t>premise</a:t>
            </a:r>
            <a:endParaRPr lang="en-US" u="none">
              <a:latin typeface="Encode Sans" pitchFamily="2" charset="0"/>
            </a:endParaRPr>
          </a:p>
          <a:p>
            <a:br>
              <a:rPr lang="en-US" u="none">
                <a:latin typeface="Encode Sans" pitchFamily="2" charset="0"/>
              </a:rPr>
            </a:br>
            <a:r>
              <a:rPr lang="en-US">
                <a:latin typeface="Encode Sans" pitchFamily="2" charset="0"/>
              </a:rPr>
              <a:t>Action</a:t>
            </a:r>
            <a:r>
              <a:rPr lang="en-US" u="none">
                <a:latin typeface="Encode Sans" pitchFamily="2" charset="0"/>
              </a:rPr>
              <a:t>:</a:t>
            </a:r>
            <a:br>
              <a:rPr lang="en-US" u="none">
                <a:latin typeface="Encode Sans" pitchFamily="2" charset="0"/>
              </a:rPr>
            </a:br>
            <a:r>
              <a:rPr lang="en-US" u="none">
                <a:latin typeface="Encode Sans" pitchFamily="2" charset="0"/>
              </a:rPr>
              <a:t>Show the progress on this slide. </a:t>
            </a:r>
          </a:p>
        </p:txBody>
      </p:sp>
      <p:sp>
        <p:nvSpPr>
          <p:cNvPr id="4" name="Rectangle 3">
            <a:extLst>
              <a:ext uri="{FF2B5EF4-FFF2-40B4-BE49-F238E27FC236}">
                <a16:creationId xmlns:a16="http://schemas.microsoft.com/office/drawing/2014/main" id="{A779C0CE-58C3-E222-9CD3-6AFDC08566E7}"/>
              </a:ext>
            </a:extLst>
          </p:cNvPr>
          <p:cNvSpPr/>
          <p:nvPr/>
        </p:nvSpPr>
        <p:spPr>
          <a:xfrm>
            <a:off x="1004424" y="2191860"/>
            <a:ext cx="5437707" cy="400110"/>
          </a:xfrm>
          <a:prstGeom prst="rect">
            <a:avLst/>
          </a:prstGeom>
          <a:noFill/>
        </p:spPr>
        <p:txBody>
          <a:bodyPr wrap="none" lIns="91440" tIns="45720" rIns="91440" bIns="45720">
            <a:spAutoFit/>
            <a:scene3d>
              <a:camera prst="isometricRightUp"/>
              <a:lightRig rig="threePt" dir="t"/>
            </a:scene3d>
          </a:bodyPr>
          <a:lstStyle/>
          <a:p>
            <a:pPr algn="ctr"/>
            <a:r>
              <a:rPr lang="fr-FR" sz="2000" b="1" cap="none" spc="50">
                <a:ln w="0"/>
                <a:solidFill>
                  <a:schemeClr val="bg2"/>
                </a:solidFill>
                <a:effectLst/>
              </a:rPr>
              <a:t>Copy last version </a:t>
            </a:r>
            <a:r>
              <a:rPr lang="fr-FR" sz="2000" b="1" cap="none" spc="50" err="1">
                <a:ln w="0"/>
                <a:solidFill>
                  <a:schemeClr val="bg2"/>
                </a:solidFill>
                <a:effectLst/>
              </a:rPr>
              <a:t>from</a:t>
            </a:r>
            <a:r>
              <a:rPr lang="fr-FR" sz="2000" b="1" cap="none" spc="50">
                <a:ln w="0"/>
                <a:solidFill>
                  <a:schemeClr val="bg2"/>
                </a:solidFill>
                <a:effectLst/>
              </a:rPr>
              <a:t> SSDLC document</a:t>
            </a:r>
          </a:p>
        </p:txBody>
      </p:sp>
    </p:spTree>
    <p:extLst>
      <p:ext uri="{BB962C8B-B14F-4D97-AF65-F5344CB8AC3E}">
        <p14:creationId xmlns:p14="http://schemas.microsoft.com/office/powerpoint/2010/main" val="39905443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EBE6B18-62AE-5FF2-E395-EDE84DB9DAFA}"/>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ACCESS RIGHTS</a:t>
            </a:r>
            <a:endParaRPr lang="en-GB"/>
          </a:p>
        </p:txBody>
      </p:sp>
      <p:sp>
        <p:nvSpPr>
          <p:cNvPr id="6" name="Espace réservé du contenu 1">
            <a:extLst>
              <a:ext uri="{FF2B5EF4-FFF2-40B4-BE49-F238E27FC236}">
                <a16:creationId xmlns:a16="http://schemas.microsoft.com/office/drawing/2014/main" id="{FCAB53F3-F525-98DF-CBB6-84FE305D1866}"/>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dirty="0">
                <a:solidFill>
                  <a:schemeClr val="accent1"/>
                </a:solidFill>
                <a:latin typeface="Encode Sans" pitchFamily="2" charset="0"/>
              </a:rPr>
              <a:t>Matrix of Application Roles (Application &amp; Database):</a:t>
            </a:r>
            <a:br>
              <a:rPr lang="en-US" sz="1400" dirty="0">
                <a:solidFill>
                  <a:schemeClr val="accent1"/>
                </a:solidFill>
                <a:latin typeface="Encode Sans" pitchFamily="2" charset="0"/>
              </a:rPr>
            </a:br>
            <a:endParaRPr lang="en-US" sz="1400" dirty="0">
              <a:solidFill>
                <a:schemeClr val="accent1"/>
              </a:solidFill>
              <a:latin typeface="Encode Sans" pitchFamily="2" charset="0"/>
            </a:endParaRPr>
          </a:p>
          <a:p>
            <a:pPr lvl="1"/>
            <a:r>
              <a:rPr lang="en-US" sz="1200" dirty="0">
                <a:solidFill>
                  <a:schemeClr val="accent1"/>
                </a:solidFill>
                <a:latin typeface="Encode Sans" pitchFamily="2" charset="0"/>
              </a:rPr>
              <a:t>Business, </a:t>
            </a:r>
          </a:p>
          <a:p>
            <a:pPr lvl="1"/>
            <a:r>
              <a:rPr lang="en-US" sz="1200" dirty="0" err="1">
                <a:solidFill>
                  <a:schemeClr val="accent1"/>
                </a:solidFill>
                <a:latin typeface="Encode Sans" pitchFamily="2" charset="0"/>
              </a:rPr>
              <a:t>Dev&amp;Ops</a:t>
            </a:r>
            <a:r>
              <a:rPr lang="en-US" sz="1200" dirty="0">
                <a:solidFill>
                  <a:schemeClr val="accent1"/>
                </a:solidFill>
                <a:latin typeface="Encode Sans" pitchFamily="2" charset="0"/>
              </a:rPr>
              <a:t> and Release account,</a:t>
            </a:r>
          </a:p>
          <a:p>
            <a:pPr lvl="1"/>
            <a:r>
              <a:rPr lang="en-US" sz="1200" dirty="0">
                <a:solidFill>
                  <a:schemeClr val="accent1"/>
                </a:solidFill>
                <a:latin typeface="Encode Sans" pitchFamily="2" charset="0"/>
              </a:rPr>
              <a:t>Technical account? …</a:t>
            </a:r>
          </a:p>
          <a:p>
            <a:pPr lvl="1"/>
            <a:endParaRPr lang="en-US" sz="1200" dirty="0">
              <a:solidFill>
                <a:schemeClr val="accent1"/>
              </a:solidFill>
              <a:latin typeface="Encode Sans" pitchFamily="2" charset="0"/>
            </a:endParaRPr>
          </a:p>
          <a:p>
            <a:r>
              <a:rPr lang="en-US" sz="1400" dirty="0">
                <a:solidFill>
                  <a:schemeClr val="accent1"/>
                </a:solidFill>
                <a:latin typeface="Encode Sans" pitchFamily="2" charset="0"/>
              </a:rPr>
              <a:t>Link to the table (+ version &amp; Date)</a:t>
            </a:r>
          </a:p>
          <a:p>
            <a:pPr marL="371475" lvl="1" indent="0">
              <a:buNone/>
            </a:pPr>
            <a:endParaRPr lang="en-US" sz="1200" dirty="0">
              <a:solidFill>
                <a:schemeClr val="accent1"/>
              </a:solidFill>
              <a:latin typeface="Encode Sans" pitchFamily="2" charset="0"/>
            </a:endParaRPr>
          </a:p>
          <a:p>
            <a:pPr lvl="1"/>
            <a:endParaRPr lang="en-US" sz="900" dirty="0">
              <a:solidFill>
                <a:schemeClr val="accent1"/>
              </a:solidFill>
              <a:latin typeface="Encode Sans" pitchFamily="2" charset="0"/>
            </a:endParaRPr>
          </a:p>
          <a:p>
            <a:pPr marL="371475" lvl="1" indent="0">
              <a:buNone/>
            </a:pPr>
            <a:endParaRPr lang="en-US" sz="900" dirty="0">
              <a:solidFill>
                <a:schemeClr val="accent1"/>
              </a:solidFill>
              <a:latin typeface="Encode Sans" pitchFamily="2" charset="0"/>
            </a:endParaRPr>
          </a:p>
        </p:txBody>
      </p:sp>
      <p:sp>
        <p:nvSpPr>
          <p:cNvPr id="4" name="ZoneTexte 3">
            <a:extLst>
              <a:ext uri="{FF2B5EF4-FFF2-40B4-BE49-F238E27FC236}">
                <a16:creationId xmlns:a16="http://schemas.microsoft.com/office/drawing/2014/main" id="{232C63AA-D19F-6BBB-5C56-A40B5CCFD62B}"/>
              </a:ext>
            </a:extLst>
          </p:cNvPr>
          <p:cNvSpPr txBox="1"/>
          <p:nvPr/>
        </p:nvSpPr>
        <p:spPr>
          <a:xfrm>
            <a:off x="5393636" y="1162238"/>
            <a:ext cx="2439070" cy="24622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u="none">
                <a:latin typeface="Encode Sans" pitchFamily="2" charset="0"/>
                <a:hlinkClick r:id="rId3"/>
              </a:rPr>
              <a:t>Link</a:t>
            </a:r>
            <a:r>
              <a:rPr lang="en-US" u="none">
                <a:latin typeface="Encode Sans" pitchFamily="2" charset="0"/>
              </a:rPr>
              <a:t> to the template.</a:t>
            </a:r>
          </a:p>
        </p:txBody>
      </p:sp>
    </p:spTree>
    <p:extLst>
      <p:ext uri="{BB962C8B-B14F-4D97-AF65-F5344CB8AC3E}">
        <p14:creationId xmlns:p14="http://schemas.microsoft.com/office/powerpoint/2010/main" val="33422415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EBE6B18-62AE-5FF2-E395-EDE84DB9DAFA}"/>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ENVIRONMENT DEPLOYEMENT</a:t>
            </a:r>
            <a:endParaRPr lang="en-GB"/>
          </a:p>
        </p:txBody>
      </p:sp>
      <p:sp>
        <p:nvSpPr>
          <p:cNvPr id="6" name="Espace réservé du contenu 1">
            <a:extLst>
              <a:ext uri="{FF2B5EF4-FFF2-40B4-BE49-F238E27FC236}">
                <a16:creationId xmlns:a16="http://schemas.microsoft.com/office/drawing/2014/main" id="{FCAB53F3-F525-98DF-CBB6-84FE305D1866}"/>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it-IT" sz="1400">
                <a:solidFill>
                  <a:schemeClr val="accent1"/>
                </a:solidFill>
                <a:latin typeface="Encode Sans" pitchFamily="2" charset="0"/>
              </a:rPr>
              <a:t>Pipeline CI/CD pattern: </a:t>
            </a:r>
            <a:r>
              <a:rPr lang="it-IT" sz="1400">
                <a:solidFill>
                  <a:schemeClr val="accent1"/>
                </a:solidFill>
                <a:latin typeface="Encode Sans" pitchFamily="2" charset="0"/>
                <a:hlinkClick r:id="rId3"/>
              </a:rPr>
              <a:t>Link</a:t>
            </a:r>
            <a:r>
              <a:rPr lang="it-IT" sz="1400">
                <a:solidFill>
                  <a:schemeClr val="accent1"/>
                </a:solidFill>
                <a:latin typeface="Encode Sans" pitchFamily="2" charset="0"/>
              </a:rPr>
              <a:t> </a:t>
            </a:r>
          </a:p>
          <a:p>
            <a:pPr marL="0" indent="0">
              <a:buNone/>
            </a:pPr>
            <a:endParaRPr lang="en-US" sz="1400">
              <a:solidFill>
                <a:schemeClr val="accent1"/>
              </a:solidFill>
              <a:latin typeface="Encode Sans" pitchFamily="2" charset="0"/>
            </a:endParaRPr>
          </a:p>
          <a:p>
            <a:pPr marL="371475" lvl="1" indent="0">
              <a:buNone/>
            </a:pPr>
            <a:endParaRPr lang="en-US" sz="1200">
              <a:solidFill>
                <a:schemeClr val="accent1"/>
              </a:solidFill>
              <a:latin typeface="Encode Sans" pitchFamily="2" charset="0"/>
            </a:endParaRPr>
          </a:p>
          <a:p>
            <a:pPr lvl="1"/>
            <a:endParaRPr lang="en-US" sz="9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p:txBody>
      </p:sp>
      <p:sp>
        <p:nvSpPr>
          <p:cNvPr id="2" name="ZoneTexte 1">
            <a:extLst>
              <a:ext uri="{FF2B5EF4-FFF2-40B4-BE49-F238E27FC236}">
                <a16:creationId xmlns:a16="http://schemas.microsoft.com/office/drawing/2014/main" id="{6528EC9B-5505-33AA-B29E-EDBC583BAC57}"/>
              </a:ext>
            </a:extLst>
          </p:cNvPr>
          <p:cNvSpPr txBox="1"/>
          <p:nvPr/>
        </p:nvSpPr>
        <p:spPr>
          <a:xfrm>
            <a:off x="7042861" y="1687728"/>
            <a:ext cx="1762595" cy="2585323"/>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900" u="none">
                <a:latin typeface="Encode Sans" pitchFamily="2" charset="0"/>
              </a:rPr>
              <a:t>- Copying images before deployment</a:t>
            </a:r>
            <a:br>
              <a:rPr lang="en-US" sz="900" u="none">
                <a:latin typeface="Encode Sans" pitchFamily="2" charset="0"/>
              </a:rPr>
            </a:br>
            <a:endParaRPr lang="en-US" sz="900" u="none">
              <a:latin typeface="Encode Sans" pitchFamily="2" charset="0"/>
            </a:endParaRPr>
          </a:p>
          <a:p>
            <a:r>
              <a:rPr lang="en-US" sz="900" u="none">
                <a:latin typeface="Encode Sans" pitchFamily="2" charset="0"/>
              </a:rPr>
              <a:t>- Deployment of application infrastructure elements</a:t>
            </a:r>
            <a:br>
              <a:rPr lang="en-US" sz="900" u="none">
                <a:latin typeface="Encode Sans" pitchFamily="2" charset="0"/>
              </a:rPr>
            </a:br>
            <a:endParaRPr lang="en-US" sz="900" u="none">
              <a:latin typeface="Encode Sans" pitchFamily="2" charset="0"/>
            </a:endParaRPr>
          </a:p>
          <a:p>
            <a:r>
              <a:rPr lang="en-US" sz="900" u="none">
                <a:latin typeface="Encode Sans" pitchFamily="2" charset="0"/>
              </a:rPr>
              <a:t>- Automatic purge of unused images in ECR(AWS)​</a:t>
            </a:r>
            <a:br>
              <a:rPr lang="en-US" sz="900" u="none">
                <a:latin typeface="Encode Sans" pitchFamily="2" charset="0"/>
              </a:rPr>
            </a:br>
            <a:endParaRPr lang="en-US" sz="900" u="none">
              <a:latin typeface="Encode Sans" pitchFamily="2" charset="0"/>
            </a:endParaRPr>
          </a:p>
          <a:p>
            <a:r>
              <a:rPr lang="en-US" sz="900" u="none">
                <a:latin typeface="Encode Sans" pitchFamily="2" charset="0"/>
              </a:rPr>
              <a:t>- Historization of images in </a:t>
            </a:r>
            <a:r>
              <a:rPr lang="en-US" sz="900" u="none" err="1">
                <a:latin typeface="Encode Sans" pitchFamily="2" charset="0"/>
              </a:rPr>
              <a:t>artifactory</a:t>
            </a:r>
            <a:r>
              <a:rPr lang="en-US" sz="900" u="none">
                <a:latin typeface="Encode Sans" pitchFamily="2" charset="0"/>
              </a:rPr>
              <a:t> (On-Premise)​</a:t>
            </a:r>
            <a:br>
              <a:rPr lang="en-US" sz="900" u="none">
                <a:latin typeface="Encode Sans" pitchFamily="2" charset="0"/>
              </a:rPr>
            </a:br>
            <a:endParaRPr lang="en-US" sz="900" u="none">
              <a:latin typeface="Encode Sans" pitchFamily="2" charset="0"/>
            </a:endParaRPr>
          </a:p>
          <a:p>
            <a:r>
              <a:rPr lang="en-US" sz="900" u="none">
                <a:latin typeface="Encode Sans" pitchFamily="2" charset="0"/>
              </a:rPr>
              <a:t>- Rules for managing non-production environments to be defined during the project (Stop / Relaunch)​</a:t>
            </a:r>
          </a:p>
        </p:txBody>
      </p:sp>
      <p:pic>
        <p:nvPicPr>
          <p:cNvPr id="7" name="Image 6">
            <a:extLst>
              <a:ext uri="{FF2B5EF4-FFF2-40B4-BE49-F238E27FC236}">
                <a16:creationId xmlns:a16="http://schemas.microsoft.com/office/drawing/2014/main" id="{C91857CA-4B88-A651-AC72-DFA00CD45C68}"/>
              </a:ext>
            </a:extLst>
          </p:cNvPr>
          <p:cNvPicPr>
            <a:picLocks noChangeAspect="1"/>
          </p:cNvPicPr>
          <p:nvPr/>
        </p:nvPicPr>
        <p:blipFill>
          <a:blip r:embed="rId4"/>
          <a:stretch>
            <a:fillRect/>
          </a:stretch>
        </p:blipFill>
        <p:spPr>
          <a:xfrm>
            <a:off x="286603" y="1261496"/>
            <a:ext cx="6227052" cy="3882004"/>
          </a:xfrm>
          <a:prstGeom prst="rect">
            <a:avLst/>
          </a:prstGeom>
        </p:spPr>
      </p:pic>
    </p:spTree>
    <p:extLst>
      <p:ext uri="{BB962C8B-B14F-4D97-AF65-F5344CB8AC3E}">
        <p14:creationId xmlns:p14="http://schemas.microsoft.com/office/powerpoint/2010/main" val="42307985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EBE6B18-62AE-5FF2-E395-EDE84DB9DAFA}"/>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TAGGING AND FINOPS STRATEGY</a:t>
            </a:r>
            <a:endParaRPr lang="en-GB"/>
          </a:p>
        </p:txBody>
      </p:sp>
      <p:sp>
        <p:nvSpPr>
          <p:cNvPr id="6" name="Espace réservé du contenu 1">
            <a:extLst>
              <a:ext uri="{FF2B5EF4-FFF2-40B4-BE49-F238E27FC236}">
                <a16:creationId xmlns:a16="http://schemas.microsoft.com/office/drawing/2014/main" id="{FCAB53F3-F525-98DF-CBB6-84FE305D1866}"/>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a:solidFill>
                  <a:schemeClr val="accent1"/>
                </a:solidFill>
                <a:latin typeface="Encode Sans" pitchFamily="2" charset="0"/>
              </a:rPr>
              <a:t>Tagging policy: </a:t>
            </a:r>
            <a:r>
              <a:rPr lang="en-US" sz="1400" b="0">
                <a:solidFill>
                  <a:schemeClr val="accent1"/>
                </a:solidFill>
                <a:latin typeface="Encode Sans" pitchFamily="2" charset="0"/>
                <a:hlinkClick r:id="rId3"/>
              </a:rPr>
              <a:t>Link</a:t>
            </a:r>
            <a:endParaRPr lang="en-US" sz="1400" b="0">
              <a:solidFill>
                <a:schemeClr val="accent1"/>
              </a:solidFill>
              <a:latin typeface="Encode Sans" pitchFamily="2" charset="0"/>
            </a:endParaRPr>
          </a:p>
          <a:p>
            <a:r>
              <a:rPr lang="en-US" sz="1400">
                <a:solidFill>
                  <a:schemeClr val="accent1"/>
                </a:solidFill>
                <a:latin typeface="Encode Sans" pitchFamily="2" charset="0"/>
              </a:rPr>
              <a:t>FINOPS Guidelines: </a:t>
            </a:r>
            <a:r>
              <a:rPr lang="en-US" sz="1400" b="0">
                <a:solidFill>
                  <a:schemeClr val="accent1"/>
                </a:solidFill>
                <a:latin typeface="Encode Sans" pitchFamily="2" charset="0"/>
                <a:hlinkClick r:id="rId4"/>
              </a:rPr>
              <a:t>Link</a:t>
            </a:r>
            <a:endParaRPr lang="en-US" sz="1400" b="0">
              <a:solidFill>
                <a:schemeClr val="accent1"/>
              </a:solidFill>
              <a:latin typeface="Encode Sans" pitchFamily="2" charset="0"/>
            </a:endParaRPr>
          </a:p>
          <a:p>
            <a:r>
              <a:rPr lang="en-US" sz="1400">
                <a:solidFill>
                  <a:schemeClr val="accent1"/>
                </a:solidFill>
                <a:latin typeface="Encode Sans" pitchFamily="2" charset="0"/>
              </a:rPr>
              <a:t>FINOPS:</a:t>
            </a:r>
          </a:p>
          <a:p>
            <a:pPr lvl="1"/>
            <a:r>
              <a:rPr lang="en-US" sz="1200">
                <a:solidFill>
                  <a:schemeClr val="accent1"/>
                </a:solidFill>
                <a:latin typeface="Encode Sans" pitchFamily="2" charset="0"/>
              </a:rPr>
              <a:t>Resource Automation (start and stop instances in predefined period),</a:t>
            </a:r>
            <a:br>
              <a:rPr lang="en-US" sz="1200">
                <a:solidFill>
                  <a:schemeClr val="accent1"/>
                </a:solidFill>
                <a:latin typeface="Encode Sans" pitchFamily="2" charset="0"/>
              </a:rPr>
            </a:br>
            <a:endParaRPr lang="en-US" sz="1200">
              <a:solidFill>
                <a:schemeClr val="accent1"/>
              </a:solidFill>
              <a:latin typeface="Encode Sans" pitchFamily="2" charset="0"/>
            </a:endParaRPr>
          </a:p>
          <a:p>
            <a:pPr lvl="1"/>
            <a:r>
              <a:rPr lang="en-US" sz="1200">
                <a:solidFill>
                  <a:schemeClr val="accent1"/>
                </a:solidFill>
                <a:latin typeface="Encode Sans" pitchFamily="2" charset="0"/>
              </a:rPr>
              <a:t>Performance versus Cost ratio,</a:t>
            </a:r>
            <a:br>
              <a:rPr lang="en-US" sz="1200">
                <a:solidFill>
                  <a:schemeClr val="accent1"/>
                </a:solidFill>
                <a:latin typeface="Encode Sans" pitchFamily="2" charset="0"/>
              </a:rPr>
            </a:br>
            <a:endParaRPr lang="en-US" sz="1200">
              <a:solidFill>
                <a:schemeClr val="accent1"/>
              </a:solidFill>
              <a:latin typeface="Encode Sans" pitchFamily="2" charset="0"/>
            </a:endParaRPr>
          </a:p>
          <a:p>
            <a:pPr lvl="1"/>
            <a:r>
              <a:rPr lang="en-US" sz="1200">
                <a:solidFill>
                  <a:schemeClr val="accent1"/>
                </a:solidFill>
                <a:latin typeface="Encode Sans" pitchFamily="2" charset="0"/>
              </a:rPr>
              <a:t>Optimize the different environments: Prod/</a:t>
            </a:r>
            <a:r>
              <a:rPr lang="en-US" sz="1200" err="1">
                <a:solidFill>
                  <a:schemeClr val="accent1"/>
                </a:solidFill>
                <a:latin typeface="Encode Sans" pitchFamily="2" charset="0"/>
              </a:rPr>
              <a:t>PProd</a:t>
            </a:r>
            <a:r>
              <a:rPr lang="en-US" sz="1200">
                <a:solidFill>
                  <a:schemeClr val="accent1"/>
                </a:solidFill>
                <a:latin typeface="Encode Sans" pitchFamily="2" charset="0"/>
              </a:rPr>
              <a:t> ≠ Dev,</a:t>
            </a:r>
            <a:br>
              <a:rPr lang="en-US" sz="1200">
                <a:solidFill>
                  <a:schemeClr val="accent1"/>
                </a:solidFill>
                <a:latin typeface="Encode Sans" pitchFamily="2" charset="0"/>
              </a:rPr>
            </a:br>
            <a:endParaRPr lang="en-US" sz="1200">
              <a:solidFill>
                <a:schemeClr val="accent1"/>
              </a:solidFill>
              <a:latin typeface="Encode Sans" pitchFamily="2" charset="0"/>
            </a:endParaRPr>
          </a:p>
          <a:p>
            <a:pPr lvl="1"/>
            <a:r>
              <a:rPr lang="en-US" sz="1200">
                <a:solidFill>
                  <a:schemeClr val="accent1"/>
                </a:solidFill>
                <a:latin typeface="Encode Sans" pitchFamily="2" charset="0"/>
              </a:rPr>
              <a:t>Cost follow-up / monitoring:</a:t>
            </a:r>
          </a:p>
          <a:p>
            <a:pPr lvl="2"/>
            <a:r>
              <a:rPr lang="en-US" sz="1000">
                <a:solidFill>
                  <a:schemeClr val="accent1"/>
                </a:solidFill>
                <a:latin typeface="Encode Sans" pitchFamily="2" charset="0"/>
              </a:rPr>
              <a:t>To avoid cost drifts,</a:t>
            </a:r>
          </a:p>
          <a:p>
            <a:pPr lvl="2"/>
            <a:r>
              <a:rPr lang="en-US" sz="1000">
                <a:solidFill>
                  <a:schemeClr val="accent1"/>
                </a:solidFill>
                <a:latin typeface="Encode Sans" pitchFamily="2" charset="0"/>
              </a:rPr>
              <a:t>See if the application can be optimized :</a:t>
            </a:r>
          </a:p>
          <a:p>
            <a:pPr lvl="3"/>
            <a:r>
              <a:rPr lang="en-US" sz="900">
                <a:solidFill>
                  <a:schemeClr val="accent1"/>
                </a:solidFill>
                <a:latin typeface="Encode Sans" pitchFamily="2" charset="0"/>
              </a:rPr>
              <a:t>Check the design, the AWS services implemented,</a:t>
            </a:r>
          </a:p>
          <a:p>
            <a:pPr lvl="3"/>
            <a:r>
              <a:rPr lang="en-US" sz="900">
                <a:solidFill>
                  <a:schemeClr val="accent1"/>
                </a:solidFill>
                <a:latin typeface="Encode Sans" pitchFamily="2" charset="0"/>
              </a:rPr>
              <a:t>Understand if resources are under or over-provisioned,</a:t>
            </a:r>
          </a:p>
          <a:p>
            <a:pPr lvl="3"/>
            <a:r>
              <a:rPr lang="en-US" sz="900">
                <a:solidFill>
                  <a:schemeClr val="accent1"/>
                </a:solidFill>
                <a:latin typeface="Encode Sans" pitchFamily="2" charset="0"/>
              </a:rPr>
              <a:t>Resize instances and services based on system performance and finances,</a:t>
            </a:r>
          </a:p>
          <a:p>
            <a:pPr lvl="3"/>
            <a:r>
              <a:rPr lang="en-US" sz="900">
                <a:solidFill>
                  <a:schemeClr val="accent1"/>
                </a:solidFill>
                <a:latin typeface="Encode Sans" pitchFamily="2" charset="0"/>
              </a:rPr>
              <a:t>…</a:t>
            </a:r>
          </a:p>
          <a:p>
            <a:pPr lvl="2"/>
            <a:r>
              <a:rPr lang="en-US" sz="1000">
                <a:solidFill>
                  <a:schemeClr val="accent1"/>
                </a:solidFill>
                <a:latin typeface="Encode Sans" pitchFamily="2" charset="0"/>
              </a:rPr>
              <a:t>Alerting on consumption threshold.</a:t>
            </a:r>
          </a:p>
          <a:p>
            <a:pPr lvl="1"/>
            <a:endParaRPr lang="en-US" sz="1200">
              <a:solidFill>
                <a:schemeClr val="accent1"/>
              </a:solidFill>
              <a:latin typeface="Encode Sans" pitchFamily="2" charset="0"/>
            </a:endParaRPr>
          </a:p>
          <a:p>
            <a:pPr marL="371475" lvl="1" indent="0">
              <a:buNone/>
            </a:pPr>
            <a:endParaRPr lang="en-US" sz="1200">
              <a:solidFill>
                <a:schemeClr val="accent1"/>
              </a:solidFill>
              <a:latin typeface="Encode Sans" pitchFamily="2" charset="0"/>
            </a:endParaRPr>
          </a:p>
          <a:p>
            <a:pPr lvl="1"/>
            <a:endParaRPr lang="en-US" sz="9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p:txBody>
      </p:sp>
      <p:pic>
        <p:nvPicPr>
          <p:cNvPr id="2" name="Graphique 1" descr="Télécharger du cloud avec un remplissage uni">
            <a:extLst>
              <a:ext uri="{FF2B5EF4-FFF2-40B4-BE49-F238E27FC236}">
                <a16:creationId xmlns:a16="http://schemas.microsoft.com/office/drawing/2014/main" id="{67E9B7F9-72A6-620B-6A00-8C96F21656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5868" y="757066"/>
            <a:ext cx="387531" cy="387531"/>
          </a:xfrm>
          <a:prstGeom prst="rect">
            <a:avLst/>
          </a:prstGeom>
        </p:spPr>
      </p:pic>
      <p:sp>
        <p:nvSpPr>
          <p:cNvPr id="4" name="ZoneTexte 3">
            <a:extLst>
              <a:ext uri="{FF2B5EF4-FFF2-40B4-BE49-F238E27FC236}">
                <a16:creationId xmlns:a16="http://schemas.microsoft.com/office/drawing/2014/main" id="{E1E9845B-563E-05E1-35B3-6E5B81D904FE}"/>
              </a:ext>
            </a:extLst>
          </p:cNvPr>
          <p:cNvSpPr txBox="1"/>
          <p:nvPr/>
        </p:nvSpPr>
        <p:spPr>
          <a:xfrm>
            <a:off x="7460524" y="1115447"/>
            <a:ext cx="998220" cy="338554"/>
          </a:xfrm>
          <a:prstGeom prst="rect">
            <a:avLst/>
          </a:prstGeom>
          <a:noFill/>
        </p:spPr>
        <p:txBody>
          <a:bodyPr wrap="square" rtlCol="0">
            <a:spAutoFit/>
          </a:bodyPr>
          <a:lstStyle/>
          <a:p>
            <a:pPr algn="ctr"/>
            <a:r>
              <a:rPr lang="en-GB" sz="800">
                <a:solidFill>
                  <a:schemeClr val="accent1"/>
                </a:solidFill>
                <a:latin typeface="Encode Sans" pitchFamily="2" charset="0"/>
              </a:rPr>
              <a:t>CLOUD SPECIFIC</a:t>
            </a:r>
          </a:p>
        </p:txBody>
      </p:sp>
    </p:spTree>
    <p:extLst>
      <p:ext uri="{BB962C8B-B14F-4D97-AF65-F5344CB8AC3E}">
        <p14:creationId xmlns:p14="http://schemas.microsoft.com/office/powerpoint/2010/main" val="30393549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dirty="0">
                <a:ln>
                  <a:noFill/>
                </a:ln>
                <a:solidFill>
                  <a:prstClr val="white"/>
                </a:solidFill>
                <a:effectLst/>
                <a:uLnTx/>
                <a:uFillTx/>
                <a:latin typeface="Encode Sans" pitchFamily="2" charset="0"/>
                <a:ea typeface="+mj-ea"/>
                <a:cs typeface="+mj-cs"/>
              </a:rPr>
              <a:t>monitoring</a:t>
            </a:r>
            <a:endParaRPr dirty="0">
              <a:latin typeface="Encode Sans" pitchFamily="2" charset="0"/>
            </a:endParaRPr>
          </a:p>
        </p:txBody>
      </p:sp>
      <p:sp>
        <p:nvSpPr>
          <p:cNvPr id="4" name="Espace réservé du contenu 1">
            <a:extLst>
              <a:ext uri="{FF2B5EF4-FFF2-40B4-BE49-F238E27FC236}">
                <a16:creationId xmlns:a16="http://schemas.microsoft.com/office/drawing/2014/main" id="{88DB6436-48F6-4332-8675-0A7A2CF1327B}"/>
              </a:ext>
            </a:extLst>
          </p:cNvPr>
          <p:cNvSpPr txBox="1">
            <a:spLocks/>
          </p:cNvSpPr>
          <p:nvPr/>
        </p:nvSpPr>
        <p:spPr>
          <a:xfrm>
            <a:off x="296863" y="771550"/>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dirty="0">
                <a:solidFill>
                  <a:schemeClr val="accent1"/>
                </a:solidFill>
                <a:latin typeface="Encode Sans" pitchFamily="2" charset="0"/>
              </a:rPr>
              <a:t>Important </a:t>
            </a:r>
            <a:r>
              <a:rPr lang="fr-FR" dirty="0" err="1">
                <a:solidFill>
                  <a:schemeClr val="accent1"/>
                </a:solidFill>
                <a:latin typeface="Encode Sans" pitchFamily="2" charset="0"/>
              </a:rPr>
              <a:t>metrics</a:t>
            </a:r>
            <a:r>
              <a:rPr lang="fr-FR" dirty="0">
                <a:solidFill>
                  <a:schemeClr val="accent1"/>
                </a:solidFill>
                <a:latin typeface="Encode Sans" pitchFamily="2" charset="0"/>
              </a:rPr>
              <a:t> to monitor :</a:t>
            </a:r>
          </a:p>
          <a:p>
            <a:pPr lvl="1"/>
            <a:r>
              <a:rPr lang="fr-FR" dirty="0">
                <a:solidFill>
                  <a:schemeClr val="accent1"/>
                </a:solidFill>
                <a:latin typeface="Encode Sans" pitchFamily="2" charset="0"/>
              </a:rPr>
              <a:t>Infrastructure </a:t>
            </a:r>
            <a:r>
              <a:rPr lang="fr-FR" dirty="0" err="1">
                <a:solidFill>
                  <a:schemeClr val="accent1"/>
                </a:solidFill>
                <a:latin typeface="Encode Sans" pitchFamily="2" charset="0"/>
              </a:rPr>
              <a:t>cost</a:t>
            </a:r>
            <a:r>
              <a:rPr lang="fr-FR" dirty="0">
                <a:solidFill>
                  <a:schemeClr val="accent1"/>
                </a:solidFill>
                <a:latin typeface="Encode Sans" pitchFamily="2" charset="0"/>
              </a:rPr>
              <a:t> : </a:t>
            </a:r>
            <a:r>
              <a:rPr lang="fr-FR" dirty="0" err="1">
                <a:solidFill>
                  <a:schemeClr val="accent1"/>
                </a:solidFill>
                <a:latin typeface="Encode Sans" pitchFamily="2" charset="0"/>
              </a:rPr>
              <a:t>mandatory</a:t>
            </a:r>
            <a:r>
              <a:rPr lang="fr-FR" dirty="0">
                <a:solidFill>
                  <a:schemeClr val="accent1"/>
                </a:solidFill>
                <a:latin typeface="Encode Sans" pitchFamily="2" charset="0"/>
              </a:rPr>
              <a:t> to monitor</a:t>
            </a:r>
          </a:p>
          <a:p>
            <a:pPr lvl="1"/>
            <a:r>
              <a:rPr lang="fr-FR" dirty="0">
                <a:solidFill>
                  <a:schemeClr val="accent1"/>
                </a:solidFill>
                <a:latin typeface="Encode Sans" pitchFamily="2" charset="0"/>
              </a:rPr>
              <a:t>For </a:t>
            </a:r>
            <a:r>
              <a:rPr lang="fr-FR" dirty="0" err="1">
                <a:solidFill>
                  <a:schemeClr val="accent1"/>
                </a:solidFill>
                <a:latin typeface="Encode Sans" pitchFamily="2" charset="0"/>
              </a:rPr>
              <a:t>each</a:t>
            </a:r>
            <a:r>
              <a:rPr lang="fr-FR" dirty="0">
                <a:solidFill>
                  <a:schemeClr val="accent1"/>
                </a:solidFill>
                <a:latin typeface="Encode Sans" pitchFamily="2" charset="0"/>
              </a:rPr>
              <a:t> </a:t>
            </a:r>
            <a:r>
              <a:rPr lang="fr-FR" dirty="0" err="1">
                <a:solidFill>
                  <a:schemeClr val="accent1"/>
                </a:solidFill>
                <a:latin typeface="Encode Sans" pitchFamily="2" charset="0"/>
              </a:rPr>
              <a:t>environment</a:t>
            </a:r>
            <a:r>
              <a:rPr lang="fr-FR" dirty="0">
                <a:solidFill>
                  <a:schemeClr val="accent1"/>
                </a:solidFill>
                <a:latin typeface="Encode Sans" pitchFamily="2" charset="0"/>
              </a:rPr>
              <a:t>, </a:t>
            </a:r>
            <a:r>
              <a:rPr lang="fr-FR" dirty="0" err="1">
                <a:solidFill>
                  <a:schemeClr val="accent1"/>
                </a:solidFill>
                <a:latin typeface="Encode Sans" pitchFamily="2" charset="0"/>
              </a:rPr>
              <a:t>it</a:t>
            </a:r>
            <a:r>
              <a:rPr lang="fr-FR" dirty="0">
                <a:solidFill>
                  <a:schemeClr val="accent1"/>
                </a:solidFill>
                <a:latin typeface="Encode Sans" pitchFamily="2" charset="0"/>
              </a:rPr>
              <a:t> </a:t>
            </a:r>
            <a:r>
              <a:rPr lang="fr-FR" dirty="0" err="1">
                <a:solidFill>
                  <a:schemeClr val="accent1"/>
                </a:solidFill>
                <a:latin typeface="Encode Sans" pitchFamily="2" charset="0"/>
              </a:rPr>
              <a:t>is</a:t>
            </a:r>
            <a:r>
              <a:rPr lang="fr-FR" dirty="0">
                <a:solidFill>
                  <a:schemeClr val="accent1"/>
                </a:solidFill>
                <a:latin typeface="Encode Sans" pitchFamily="2" charset="0"/>
              </a:rPr>
              <a:t> important to monitor :</a:t>
            </a:r>
          </a:p>
          <a:p>
            <a:pPr lvl="2"/>
            <a:r>
              <a:rPr lang="fr-FR" dirty="0" err="1">
                <a:solidFill>
                  <a:schemeClr val="accent1"/>
                </a:solidFill>
                <a:highlight>
                  <a:srgbClr val="FFFF00"/>
                </a:highlight>
                <a:latin typeface="Encode Sans" pitchFamily="2" charset="0"/>
              </a:rPr>
              <a:t>Database</a:t>
            </a:r>
            <a:r>
              <a:rPr lang="fr-FR" dirty="0">
                <a:solidFill>
                  <a:schemeClr val="accent1"/>
                </a:solidFill>
                <a:highlight>
                  <a:srgbClr val="FFFF00"/>
                </a:highlight>
                <a:latin typeface="Encode Sans" pitchFamily="2" charset="0"/>
              </a:rPr>
              <a:t> size : </a:t>
            </a:r>
            <a:r>
              <a:rPr lang="fr-FR" dirty="0" err="1">
                <a:solidFill>
                  <a:schemeClr val="accent1"/>
                </a:solidFill>
                <a:highlight>
                  <a:srgbClr val="FFFF00"/>
                </a:highlight>
                <a:latin typeface="Encode Sans" pitchFamily="2" charset="0"/>
              </a:rPr>
              <a:t>alert</a:t>
            </a:r>
            <a:r>
              <a:rPr lang="fr-FR" dirty="0">
                <a:solidFill>
                  <a:schemeClr val="accent1"/>
                </a:solidFill>
                <a:highlight>
                  <a:srgbClr val="FFFF00"/>
                </a:highlight>
                <a:latin typeface="Encode Sans" pitchFamily="2" charset="0"/>
              </a:rPr>
              <a:t> if &gt; 2TB</a:t>
            </a:r>
          </a:p>
          <a:p>
            <a:pPr lvl="2"/>
            <a:r>
              <a:rPr lang="fr-FR" dirty="0" err="1">
                <a:solidFill>
                  <a:schemeClr val="accent1"/>
                </a:solidFill>
                <a:highlight>
                  <a:srgbClr val="FFFF00"/>
                </a:highlight>
                <a:latin typeface="Encode Sans" pitchFamily="2" charset="0"/>
              </a:rPr>
              <a:t>Others</a:t>
            </a:r>
            <a:r>
              <a:rPr lang="fr-FR" dirty="0">
                <a:solidFill>
                  <a:schemeClr val="accent1"/>
                </a:solidFill>
                <a:highlight>
                  <a:srgbClr val="FFFF00"/>
                </a:highlight>
                <a:latin typeface="Encode Sans" pitchFamily="2" charset="0"/>
              </a:rPr>
              <a:t>…</a:t>
            </a:r>
          </a:p>
          <a:p>
            <a:pPr lvl="2"/>
            <a:endParaRPr lang="fr-FR" dirty="0">
              <a:solidFill>
                <a:schemeClr val="accent1"/>
              </a:solidFill>
              <a:highlight>
                <a:srgbClr val="FFFF00"/>
              </a:highlight>
              <a:latin typeface="Encode Sans" pitchFamily="2" charset="0"/>
            </a:endParaRPr>
          </a:p>
          <a:p>
            <a:pPr lvl="1"/>
            <a:r>
              <a:rPr lang="fr-FR" dirty="0" err="1">
                <a:solidFill>
                  <a:schemeClr val="accent1"/>
                </a:solidFill>
                <a:latin typeface="Encode Sans" pitchFamily="2" charset="0"/>
              </a:rPr>
              <a:t>Alerting</a:t>
            </a:r>
            <a:r>
              <a:rPr lang="fr-FR" dirty="0">
                <a:solidFill>
                  <a:schemeClr val="accent1"/>
                </a:solidFill>
                <a:latin typeface="Encode Sans" pitchFamily="2" charset="0"/>
              </a:rPr>
              <a:t> : </a:t>
            </a:r>
            <a:r>
              <a:rPr lang="fr-FR" dirty="0">
                <a:solidFill>
                  <a:schemeClr val="accent1"/>
                </a:solidFill>
                <a:highlight>
                  <a:srgbClr val="FFFF00"/>
                </a:highlight>
                <a:latin typeface="Encode Sans" pitchFamily="2" charset="0"/>
              </a:rPr>
              <a:t>email to the </a:t>
            </a:r>
            <a:r>
              <a:rPr lang="fr-FR" dirty="0" err="1">
                <a:solidFill>
                  <a:schemeClr val="accent1"/>
                </a:solidFill>
                <a:highlight>
                  <a:srgbClr val="FFFF00"/>
                </a:highlight>
                <a:latin typeface="Encode Sans" pitchFamily="2" charset="0"/>
              </a:rPr>
              <a:t>product</a:t>
            </a:r>
            <a:r>
              <a:rPr lang="fr-FR" dirty="0">
                <a:solidFill>
                  <a:schemeClr val="accent1"/>
                </a:solidFill>
                <a:highlight>
                  <a:srgbClr val="FFFF00"/>
                </a:highlight>
                <a:latin typeface="Encode Sans" pitchFamily="2" charset="0"/>
              </a:rPr>
              <a:t> team (</a:t>
            </a:r>
            <a:r>
              <a:rPr lang="fr-FR" dirty="0" err="1">
                <a:solidFill>
                  <a:schemeClr val="accent1"/>
                </a:solidFill>
                <a:highlight>
                  <a:srgbClr val="FFFF00"/>
                </a:highlight>
                <a:latin typeface="Encode Sans" pitchFamily="2" charset="0"/>
              </a:rPr>
              <a:t>target</a:t>
            </a:r>
            <a:r>
              <a:rPr lang="fr-FR" dirty="0">
                <a:solidFill>
                  <a:schemeClr val="accent1"/>
                </a:solidFill>
                <a:highlight>
                  <a:srgbClr val="FFFF00"/>
                </a:highlight>
                <a:latin typeface="Encode Sans" pitchFamily="2" charset="0"/>
              </a:rPr>
              <a:t> : SDI / </a:t>
            </a:r>
            <a:r>
              <a:rPr lang="fr-FR" dirty="0" err="1">
                <a:solidFill>
                  <a:schemeClr val="accent1"/>
                </a:solidFill>
                <a:highlight>
                  <a:srgbClr val="FFFF00"/>
                </a:highlight>
                <a:latin typeface="Encode Sans" pitchFamily="2" charset="0"/>
              </a:rPr>
              <a:t>DriveIT</a:t>
            </a:r>
            <a:r>
              <a:rPr lang="fr-FR" dirty="0">
                <a:solidFill>
                  <a:schemeClr val="accent1"/>
                </a:solidFill>
                <a:highlight>
                  <a:srgbClr val="FFFF00"/>
                </a:highlight>
                <a:latin typeface="Encode Sans" pitchFamily="2" charset="0"/>
              </a:rPr>
              <a:t> or </a:t>
            </a:r>
            <a:r>
              <a:rPr lang="fr-FR" dirty="0" err="1">
                <a:solidFill>
                  <a:schemeClr val="accent1"/>
                </a:solidFill>
                <a:highlight>
                  <a:srgbClr val="FFFF00"/>
                </a:highlight>
                <a:latin typeface="Encode Sans" pitchFamily="2" charset="0"/>
              </a:rPr>
              <a:t>DigitalMe</a:t>
            </a:r>
            <a:r>
              <a:rPr lang="fr-FR" dirty="0">
                <a:solidFill>
                  <a:schemeClr val="accent1"/>
                </a:solidFill>
                <a:highlight>
                  <a:srgbClr val="FFFF00"/>
                </a:highlight>
                <a:latin typeface="Encode Sans" pitchFamily="2" charset="0"/>
              </a:rPr>
              <a:t>)</a:t>
            </a:r>
          </a:p>
          <a:p>
            <a:pPr lvl="1"/>
            <a:endParaRPr lang="fr-FR" dirty="0">
              <a:solidFill>
                <a:schemeClr val="accent1"/>
              </a:solidFill>
              <a:highlight>
                <a:srgbClr val="FFFF00"/>
              </a:highlight>
              <a:latin typeface="Encode Sans" pitchFamily="2" charset="0"/>
            </a:endParaRPr>
          </a:p>
          <a:p>
            <a:pPr lvl="1"/>
            <a:r>
              <a:rPr lang="en-US" sz="1400" dirty="0">
                <a:highlight>
                  <a:srgbClr val="FFFF00"/>
                </a:highlight>
              </a:rPr>
              <a:t>Gate 3 : update </a:t>
            </a:r>
            <a:r>
              <a:rPr lang="en-US" dirty="0">
                <a:highlight>
                  <a:srgbClr val="FFFF00"/>
                </a:highlight>
              </a:rPr>
              <a:t>monitoring </a:t>
            </a:r>
            <a:r>
              <a:rPr lang="en-US" sz="1400" dirty="0">
                <a:highlight>
                  <a:srgbClr val="FFFF00"/>
                </a:highlight>
              </a:rPr>
              <a:t>if it is </a:t>
            </a:r>
            <a:r>
              <a:rPr lang="en-US" sz="1400" dirty="0" err="1">
                <a:highlight>
                  <a:srgbClr val="FFFF00"/>
                </a:highlight>
              </a:rPr>
              <a:t>differents</a:t>
            </a:r>
            <a:r>
              <a:rPr lang="en-US" sz="1400" dirty="0">
                <a:highlight>
                  <a:srgbClr val="FFFF00"/>
                </a:highlight>
              </a:rPr>
              <a:t> than in Gate 2 and highlight differences</a:t>
            </a:r>
          </a:p>
          <a:p>
            <a:pPr lvl="1"/>
            <a:endParaRPr lang="fr-FR" dirty="0">
              <a:solidFill>
                <a:schemeClr val="accent1"/>
              </a:solidFill>
              <a:highlight>
                <a:srgbClr val="FFFF00"/>
              </a:highlight>
              <a:latin typeface="Encode Sans" pitchFamily="2" charset="0"/>
            </a:endParaRPr>
          </a:p>
          <a:p>
            <a:pPr lvl="2"/>
            <a:endParaRPr lang="fr-FR" dirty="0">
              <a:solidFill>
                <a:schemeClr val="accent1"/>
              </a:solidFill>
              <a:highlight>
                <a:srgbClr val="FFFF00"/>
              </a:highlight>
              <a:latin typeface="Encode Sans" pitchFamily="2" charset="0"/>
            </a:endParaRPr>
          </a:p>
          <a:p>
            <a:pPr lvl="2"/>
            <a:endParaRPr lang="fr-FR" dirty="0">
              <a:solidFill>
                <a:schemeClr val="accent1"/>
              </a:solidFill>
              <a:latin typeface="Encode Sans" pitchFamily="2" charset="0"/>
            </a:endParaRPr>
          </a:p>
          <a:p>
            <a:pPr marL="371475" lvl="1" indent="0">
              <a:buNone/>
            </a:pPr>
            <a:endParaRPr lang="fr-FR" dirty="0">
              <a:solidFill>
                <a:schemeClr val="accent1"/>
              </a:solidFill>
              <a:latin typeface="Encode Sans" pitchFamily="2" charset="0"/>
            </a:endParaRPr>
          </a:p>
          <a:p>
            <a:pPr marL="371475" lvl="1" indent="0">
              <a:buNone/>
            </a:pPr>
            <a:endParaRPr lang="fr-FR" dirty="0">
              <a:solidFill>
                <a:schemeClr val="accent1"/>
              </a:solidFill>
              <a:latin typeface="Encode Sans" pitchFamily="2" charset="0"/>
            </a:endParaRPr>
          </a:p>
          <a:p>
            <a:pPr lvl="1"/>
            <a:endParaRPr lang="en-US" dirty="0">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666855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RPA (remote process automation)</a:t>
            </a:r>
            <a:endParaRPr>
              <a:latin typeface="Encode Sans" pitchFamily="2" charset="0"/>
            </a:endParaRPr>
          </a:p>
        </p:txBody>
      </p:sp>
      <p:sp>
        <p:nvSpPr>
          <p:cNvPr id="5" name="Espace réservé du contenu 1">
            <a:extLst>
              <a:ext uri="{FF2B5EF4-FFF2-40B4-BE49-F238E27FC236}">
                <a16:creationId xmlns:a16="http://schemas.microsoft.com/office/drawing/2014/main" id="{1F28BC34-6B79-4464-93D1-3FB589648A46}"/>
              </a:ext>
            </a:extLst>
          </p:cNvPr>
          <p:cNvSpPr txBox="1">
            <a:spLocks/>
          </p:cNvSpPr>
          <p:nvPr/>
        </p:nvSpPr>
        <p:spPr>
          <a:xfrm>
            <a:off x="296863" y="795614"/>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solidFill>
                  <a:schemeClr val="accent1"/>
                </a:solidFill>
                <a:latin typeface="Encode Sans" pitchFamily="2" charset="0"/>
              </a:rPr>
              <a:t>Idea recorded in RPA Portal : </a:t>
            </a:r>
            <a:r>
              <a:rPr lang="en-US">
                <a:solidFill>
                  <a:schemeClr val="accent1"/>
                </a:solidFill>
                <a:highlight>
                  <a:srgbClr val="FFFF00"/>
                </a:highlight>
                <a:latin typeface="Encode Sans" pitchFamily="2" charset="0"/>
              </a:rPr>
              <a:t>#IdeaNumber</a:t>
            </a:r>
          </a:p>
          <a:p>
            <a:r>
              <a:rPr lang="en-US">
                <a:solidFill>
                  <a:schemeClr val="accent1"/>
                </a:solidFill>
                <a:latin typeface="Encode Sans" pitchFamily="2" charset="0"/>
              </a:rPr>
              <a:t>RPA demand form : </a:t>
            </a:r>
            <a:r>
              <a:rPr lang="en-US">
                <a:solidFill>
                  <a:schemeClr val="accent1"/>
                </a:solidFill>
                <a:highlight>
                  <a:srgbClr val="FFFF00"/>
                </a:highlight>
                <a:latin typeface="Encode Sans" pitchFamily="2" charset="0"/>
              </a:rPr>
              <a:t>#demandNumber</a:t>
            </a:r>
          </a:p>
          <a:p>
            <a:r>
              <a:rPr lang="en-US">
                <a:solidFill>
                  <a:schemeClr val="accent1"/>
                </a:solidFill>
                <a:latin typeface="Encode Sans" pitchFamily="2" charset="0"/>
              </a:rPr>
              <a:t>Opportunity Assessment Template : </a:t>
            </a:r>
            <a:r>
              <a:rPr lang="en-US">
                <a:solidFill>
                  <a:schemeClr val="accent1"/>
                </a:solidFill>
                <a:highlight>
                  <a:srgbClr val="FFFF00"/>
                </a:highlight>
                <a:latin typeface="Encode Sans" pitchFamily="2" charset="0"/>
              </a:rPr>
              <a:t>Link to the document, approval OK</a:t>
            </a:r>
          </a:p>
          <a:p>
            <a:r>
              <a:rPr lang="en-US">
                <a:solidFill>
                  <a:schemeClr val="accent1"/>
                </a:solidFill>
                <a:latin typeface="Encode Sans" pitchFamily="2" charset="0"/>
              </a:rPr>
              <a:t>Process Document Description : </a:t>
            </a:r>
            <a:r>
              <a:rPr lang="en-US">
                <a:solidFill>
                  <a:schemeClr val="accent1"/>
                </a:solidFill>
                <a:highlight>
                  <a:srgbClr val="FFFF00"/>
                </a:highlight>
                <a:latin typeface="Encode Sans" pitchFamily="2" charset="0"/>
              </a:rPr>
              <a:t>Link to the document</a:t>
            </a:r>
          </a:p>
          <a:p>
            <a:r>
              <a:rPr lang="en-US">
                <a:solidFill>
                  <a:schemeClr val="accent1"/>
                </a:solidFill>
                <a:latin typeface="Encode Sans" pitchFamily="2" charset="0"/>
              </a:rPr>
              <a:t>Complexity evaluation matrix : </a:t>
            </a:r>
            <a:r>
              <a:rPr lang="en-US">
                <a:solidFill>
                  <a:schemeClr val="accent1"/>
                </a:solidFill>
                <a:highlight>
                  <a:srgbClr val="FFFF00"/>
                </a:highlight>
                <a:latin typeface="Encode Sans" pitchFamily="2" charset="0"/>
              </a:rPr>
              <a:t>link to the document</a:t>
            </a:r>
          </a:p>
          <a:p>
            <a:r>
              <a:rPr lang="en-US">
                <a:solidFill>
                  <a:schemeClr val="accent1"/>
                </a:solidFill>
                <a:latin typeface="Encode Sans" pitchFamily="2" charset="0"/>
              </a:rPr>
              <a:t>RPA technical checkpoint : </a:t>
            </a:r>
            <a:r>
              <a:rPr lang="en-US">
                <a:solidFill>
                  <a:schemeClr val="accent1"/>
                </a:solidFill>
                <a:highlight>
                  <a:srgbClr val="FFFF00"/>
                </a:highlight>
                <a:latin typeface="Encode Sans" pitchFamily="2" charset="0"/>
              </a:rPr>
              <a:t>to do / done</a:t>
            </a:r>
          </a:p>
          <a:p>
            <a:endParaRPr lang="en-US">
              <a:solidFill>
                <a:schemeClr val="accent1"/>
              </a:solidFill>
              <a:latin typeface="Encode Sans" pitchFamily="2" charset="0"/>
            </a:endParaRPr>
          </a:p>
          <a:p>
            <a:pPr marL="0" indent="0">
              <a:buNone/>
            </a:pPr>
            <a:endParaRPr lang="en-US" sz="1400" b="0" i="1">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9130697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Low code &amp; Citizen development</a:t>
            </a:r>
            <a:endParaRPr>
              <a:latin typeface="Encode Sans" pitchFamily="2" charset="0"/>
            </a:endParaRPr>
          </a:p>
        </p:txBody>
      </p:sp>
      <p:sp>
        <p:nvSpPr>
          <p:cNvPr id="5" name="Espace réservé du contenu 1">
            <a:extLst>
              <a:ext uri="{FF2B5EF4-FFF2-40B4-BE49-F238E27FC236}">
                <a16:creationId xmlns:a16="http://schemas.microsoft.com/office/drawing/2014/main" id="{1F28BC34-6B79-4464-93D1-3FB589648A46}"/>
              </a:ext>
            </a:extLst>
          </p:cNvPr>
          <p:cNvSpPr txBox="1">
            <a:spLocks/>
          </p:cNvSpPr>
          <p:nvPr/>
        </p:nvSpPr>
        <p:spPr>
          <a:xfrm>
            <a:off x="296863" y="795614"/>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solidFill>
                  <a:schemeClr val="accent1"/>
                </a:solidFill>
                <a:latin typeface="Encode Sans" pitchFamily="2" charset="0"/>
              </a:rPr>
              <a:t>Roles &amp; Permission are implemented (Gate 3) :</a:t>
            </a:r>
            <a:r>
              <a:rPr lang="en-US">
                <a:solidFill>
                  <a:schemeClr val="accent1"/>
                </a:solidFill>
                <a:highlight>
                  <a:srgbClr val="FFFF00"/>
                </a:highlight>
                <a:latin typeface="Encode Sans" pitchFamily="2" charset="0"/>
              </a:rPr>
              <a:t> Y/N</a:t>
            </a:r>
          </a:p>
          <a:p>
            <a:r>
              <a:rPr lang="en-US">
                <a:solidFill>
                  <a:schemeClr val="accent1"/>
                </a:solidFill>
                <a:latin typeface="Encode Sans" pitchFamily="2" charset="0"/>
              </a:rPr>
              <a:t>Solution package for deployment ready (Gate 3) :</a:t>
            </a:r>
            <a:r>
              <a:rPr lang="en-US">
                <a:solidFill>
                  <a:schemeClr val="accent1"/>
                </a:solidFill>
                <a:highlight>
                  <a:srgbClr val="FFFF00"/>
                </a:highlight>
                <a:latin typeface="Encode Sans" pitchFamily="2" charset="0"/>
              </a:rPr>
              <a:t> Y/N</a:t>
            </a:r>
          </a:p>
          <a:p>
            <a:r>
              <a:rPr lang="en-US">
                <a:solidFill>
                  <a:schemeClr val="accent1"/>
                </a:solidFill>
                <a:latin typeface="Encode Sans" pitchFamily="2" charset="0"/>
              </a:rPr>
              <a:t>Applications Solutions deployed using GitHub (Gate 3) : </a:t>
            </a:r>
            <a:r>
              <a:rPr lang="en-US">
                <a:solidFill>
                  <a:schemeClr val="accent1"/>
                </a:solidFill>
                <a:highlight>
                  <a:srgbClr val="FFFF00"/>
                </a:highlight>
                <a:latin typeface="Encode Sans" pitchFamily="2" charset="0"/>
              </a:rPr>
              <a:t>Y/N</a:t>
            </a:r>
          </a:p>
          <a:p>
            <a:pPr marL="0" indent="0">
              <a:buNone/>
            </a:pPr>
            <a:endParaRPr lang="en-US" sz="1400" b="0" i="1">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38578823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(Solution X)  - Costs</a:t>
            </a:r>
            <a:endParaRPr>
              <a:latin typeface="Encode Sans" pitchFamily="2" charset="0"/>
            </a:endParaRPr>
          </a:p>
        </p:txBody>
      </p:sp>
      <p:sp>
        <p:nvSpPr>
          <p:cNvPr id="5" name="Espace réservé du contenu 1">
            <a:extLst>
              <a:ext uri="{FF2B5EF4-FFF2-40B4-BE49-F238E27FC236}">
                <a16:creationId xmlns:a16="http://schemas.microsoft.com/office/drawing/2014/main" id="{5198D10D-5A9F-4272-91E8-3006A98B3E35}"/>
              </a:ext>
            </a:extLst>
          </p:cNvPr>
          <p:cNvSpPr txBox="1">
            <a:spLocks/>
          </p:cNvSpPr>
          <p:nvPr/>
        </p:nvSpPr>
        <p:spPr>
          <a:xfrm>
            <a:off x="296863" y="771550"/>
            <a:ext cx="8523609" cy="317561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dirty="0">
                <a:solidFill>
                  <a:schemeClr val="bg2"/>
                </a:solidFill>
                <a:latin typeface="Encode Sans" pitchFamily="2" charset="0"/>
              </a:rPr>
              <a:t>Cost estimate per environment (Multi-AZ), present:</a:t>
            </a:r>
          </a:p>
          <a:p>
            <a:endParaRPr lang="en-GB" dirty="0">
              <a:solidFill>
                <a:schemeClr val="bg2"/>
              </a:solidFill>
              <a:latin typeface="Encode Sans" pitchFamily="2" charset="0"/>
            </a:endParaRPr>
          </a:p>
          <a:p>
            <a:pPr lvl="1"/>
            <a:r>
              <a:rPr lang="en-US" dirty="0">
                <a:solidFill>
                  <a:schemeClr val="bg2"/>
                </a:solidFill>
                <a:latin typeface="Encode Sans" pitchFamily="2" charset="0"/>
              </a:rPr>
              <a:t>The selected region(s),</a:t>
            </a:r>
          </a:p>
          <a:p>
            <a:pPr lvl="1"/>
            <a:r>
              <a:rPr lang="en-US" dirty="0">
                <a:solidFill>
                  <a:schemeClr val="bg2"/>
                </a:solidFill>
                <a:latin typeface="Encode Sans" pitchFamily="2" charset="0"/>
              </a:rPr>
              <a:t>AWS services,</a:t>
            </a:r>
          </a:p>
          <a:p>
            <a:pPr lvl="1"/>
            <a:r>
              <a:rPr lang="en-US" dirty="0">
                <a:solidFill>
                  <a:schemeClr val="bg2"/>
                </a:solidFill>
                <a:latin typeface="Encode Sans" pitchFamily="2" charset="0"/>
              </a:rPr>
              <a:t>Monthly costs,</a:t>
            </a:r>
          </a:p>
          <a:p>
            <a:pPr lvl="1"/>
            <a:r>
              <a:rPr lang="en-US" dirty="0">
                <a:solidFill>
                  <a:schemeClr val="bg2"/>
                </a:solidFill>
                <a:latin typeface="Encode Sans" pitchFamily="2" charset="0"/>
              </a:rPr>
              <a:t>Annual costs,</a:t>
            </a:r>
          </a:p>
          <a:p>
            <a:pPr lvl="1"/>
            <a:r>
              <a:rPr lang="en-US" dirty="0">
                <a:solidFill>
                  <a:schemeClr val="bg2"/>
                </a:solidFill>
                <a:latin typeface="Encode Sans" pitchFamily="2" charset="0"/>
              </a:rPr>
              <a:t>Currency,</a:t>
            </a:r>
          </a:p>
          <a:p>
            <a:pPr lvl="1"/>
            <a:r>
              <a:rPr lang="en-US" dirty="0">
                <a:solidFill>
                  <a:schemeClr val="bg2"/>
                </a:solidFill>
                <a:latin typeface="Encode Sans" pitchFamily="2" charset="0"/>
              </a:rPr>
              <a:t>Configuration summary.</a:t>
            </a:r>
            <a:br>
              <a:rPr lang="en-US" dirty="0">
                <a:solidFill>
                  <a:schemeClr val="bg2"/>
                </a:solidFill>
                <a:latin typeface="Encode Sans" pitchFamily="2" charset="0"/>
              </a:rPr>
            </a:br>
            <a:endParaRPr lang="en-US" dirty="0">
              <a:solidFill>
                <a:schemeClr val="bg2"/>
              </a:solidFill>
              <a:latin typeface="Encode Sans" pitchFamily="2" charset="0"/>
            </a:endParaRPr>
          </a:p>
          <a:p>
            <a:r>
              <a:rPr lang="en-US" dirty="0">
                <a:solidFill>
                  <a:schemeClr val="bg2"/>
                </a:solidFill>
                <a:latin typeface="Encode Sans" pitchFamily="2" charset="0"/>
              </a:rPr>
              <a:t>By using </a:t>
            </a:r>
            <a:r>
              <a:rPr lang="en-US" dirty="0" err="1">
                <a:solidFill>
                  <a:schemeClr val="bg2"/>
                </a:solidFill>
                <a:latin typeface="Encode Sans" pitchFamily="2" charset="0"/>
              </a:rPr>
              <a:t>l'AWS</a:t>
            </a:r>
            <a:r>
              <a:rPr lang="en-US" dirty="0">
                <a:solidFill>
                  <a:schemeClr val="bg2"/>
                </a:solidFill>
                <a:latin typeface="Encode Sans" pitchFamily="2" charset="0"/>
              </a:rPr>
              <a:t> Calculator : Link to the shared AWS calculator estimation.</a:t>
            </a:r>
            <a:br>
              <a:rPr lang="en-US" dirty="0">
                <a:solidFill>
                  <a:schemeClr val="bg2"/>
                </a:solidFill>
                <a:latin typeface="Encode Sans" pitchFamily="2" charset="0"/>
              </a:rPr>
            </a:br>
            <a:br>
              <a:rPr lang="en-US" dirty="0">
                <a:solidFill>
                  <a:schemeClr val="bg2"/>
                </a:solidFill>
                <a:latin typeface="Encode Sans" pitchFamily="2" charset="0"/>
              </a:rPr>
            </a:br>
            <a:endParaRPr lang="en-US" dirty="0">
              <a:solidFill>
                <a:schemeClr val="bg2"/>
              </a:solidFill>
              <a:latin typeface="Encode Sans" pitchFamily="2" charset="0"/>
            </a:endParaRPr>
          </a:p>
          <a:p>
            <a:endParaRPr lang="en-GB" dirty="0">
              <a:solidFill>
                <a:schemeClr val="bg2"/>
              </a:solidFill>
              <a:latin typeface="Encode Sans" pitchFamily="2" charset="0"/>
            </a:endParaRPr>
          </a:p>
          <a:p>
            <a:pPr marL="0" indent="0">
              <a:buNone/>
            </a:pPr>
            <a:endParaRPr lang="en-GB" dirty="0">
              <a:solidFill>
                <a:schemeClr val="bg2"/>
              </a:solidFill>
              <a:latin typeface="Encode Sans" pitchFamily="2" charset="0"/>
            </a:endParaRPr>
          </a:p>
          <a:p>
            <a:endParaRPr lang="en-GB" dirty="0">
              <a:solidFill>
                <a:schemeClr val="bg2"/>
              </a:solidFill>
              <a:latin typeface="Encode Sans" pitchFamily="2" charset="0"/>
            </a:endParaRPr>
          </a:p>
        </p:txBody>
      </p:sp>
      <p:graphicFrame>
        <p:nvGraphicFramePr>
          <p:cNvPr id="2" name="Tableau 1">
            <a:extLst>
              <a:ext uri="{FF2B5EF4-FFF2-40B4-BE49-F238E27FC236}">
                <a16:creationId xmlns:a16="http://schemas.microsoft.com/office/drawing/2014/main" id="{F89267A7-BF41-A2EF-993C-B052E73151DD}"/>
              </a:ext>
            </a:extLst>
          </p:cNvPr>
          <p:cNvGraphicFramePr>
            <a:graphicFrameLocks noGrp="1"/>
          </p:cNvGraphicFramePr>
          <p:nvPr/>
        </p:nvGraphicFramePr>
        <p:xfrm>
          <a:off x="535219" y="3683219"/>
          <a:ext cx="8073562" cy="1377461"/>
        </p:xfrm>
        <a:graphic>
          <a:graphicData uri="http://schemas.openxmlformats.org/drawingml/2006/table">
            <a:tbl>
              <a:tblPr/>
              <a:tblGrid>
                <a:gridCol w="462198">
                  <a:extLst>
                    <a:ext uri="{9D8B030D-6E8A-4147-A177-3AD203B41FA5}">
                      <a16:colId xmlns:a16="http://schemas.microsoft.com/office/drawing/2014/main" val="1146620878"/>
                    </a:ext>
                  </a:extLst>
                </a:gridCol>
                <a:gridCol w="1207680">
                  <a:extLst>
                    <a:ext uri="{9D8B030D-6E8A-4147-A177-3AD203B41FA5}">
                      <a16:colId xmlns:a16="http://schemas.microsoft.com/office/drawing/2014/main" val="880603594"/>
                    </a:ext>
                  </a:extLst>
                </a:gridCol>
                <a:gridCol w="335466">
                  <a:extLst>
                    <a:ext uri="{9D8B030D-6E8A-4147-A177-3AD203B41FA5}">
                      <a16:colId xmlns:a16="http://schemas.microsoft.com/office/drawing/2014/main" val="3122126727"/>
                    </a:ext>
                  </a:extLst>
                </a:gridCol>
                <a:gridCol w="350376">
                  <a:extLst>
                    <a:ext uri="{9D8B030D-6E8A-4147-A177-3AD203B41FA5}">
                      <a16:colId xmlns:a16="http://schemas.microsoft.com/office/drawing/2014/main" val="1199139720"/>
                    </a:ext>
                  </a:extLst>
                </a:gridCol>
                <a:gridCol w="342921">
                  <a:extLst>
                    <a:ext uri="{9D8B030D-6E8A-4147-A177-3AD203B41FA5}">
                      <a16:colId xmlns:a16="http://schemas.microsoft.com/office/drawing/2014/main" val="420965517"/>
                    </a:ext>
                  </a:extLst>
                </a:gridCol>
                <a:gridCol w="5374921">
                  <a:extLst>
                    <a:ext uri="{9D8B030D-6E8A-4147-A177-3AD203B41FA5}">
                      <a16:colId xmlns:a16="http://schemas.microsoft.com/office/drawing/2014/main" val="1518009022"/>
                    </a:ext>
                  </a:extLst>
                </a:gridCol>
              </a:tblGrid>
              <a:tr h="151325">
                <a:tc>
                  <a:txBody>
                    <a:bodyPr/>
                    <a:lstStyle/>
                    <a:p>
                      <a:pPr algn="l" fontAlgn="ctr"/>
                      <a:r>
                        <a:rPr lang="fr-FR" sz="700" b="1" i="0" u="none" strike="noStrike" err="1">
                          <a:solidFill>
                            <a:srgbClr val="FFFFFF"/>
                          </a:solidFill>
                          <a:effectLst/>
                          <a:latin typeface="Calibri"/>
                        </a:rPr>
                        <a:t>Region</a:t>
                      </a:r>
                      <a:r>
                        <a:rPr lang="fr-FR" sz="700" b="1" i="0" u="none" strike="noStrike">
                          <a:solidFill>
                            <a:srgbClr val="FFFFFF"/>
                          </a:solidFill>
                          <a:effectLst/>
                          <a:latin typeface="Calibri"/>
                        </a:rPr>
                        <a:t>(s)</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dirty="0">
                          <a:solidFill>
                            <a:srgbClr val="FFFFFF"/>
                          </a:solidFill>
                          <a:effectLst/>
                          <a:latin typeface="Calibri"/>
                        </a:rPr>
                        <a:t>Service</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err="1">
                          <a:solidFill>
                            <a:srgbClr val="FFFFFF"/>
                          </a:solidFill>
                          <a:effectLst/>
                          <a:latin typeface="Calibri"/>
                        </a:rPr>
                        <a:t>Monthly</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err="1">
                          <a:solidFill>
                            <a:srgbClr val="FFFFFF"/>
                          </a:solidFill>
                          <a:effectLst/>
                          <a:latin typeface="Calibri"/>
                        </a:rPr>
                        <a:t>Annual</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a:solidFill>
                            <a:srgbClr val="FFFFFF"/>
                          </a:solidFill>
                          <a:effectLst/>
                          <a:latin typeface="Calibri"/>
                        </a:rPr>
                        <a:t>Currency</a:t>
                      </a: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fr-FR" sz="700" b="1" i="0" u="none" strike="noStrike">
                          <a:solidFill>
                            <a:srgbClr val="FFFFFF"/>
                          </a:solidFill>
                          <a:effectLst/>
                          <a:latin typeface="Calibri" panose="020F0502020204030204" pitchFamily="34" charset="0"/>
                        </a:rPr>
                        <a:t>Configuration </a:t>
                      </a:r>
                      <a:r>
                        <a:rPr lang="fr-FR" sz="700" b="1" i="0" u="none" strike="noStrike" err="1">
                          <a:solidFill>
                            <a:srgbClr val="FFFFFF"/>
                          </a:solidFill>
                          <a:effectLst/>
                          <a:latin typeface="Calibri" panose="020F0502020204030204" pitchFamily="34" charset="0"/>
                        </a:rPr>
                        <a:t>summary</a:t>
                      </a:r>
                      <a:endParaRPr lang="fr-FR" sz="700" b="1" i="0" u="none" strike="noStrike">
                        <a:solidFill>
                          <a:srgbClr val="FFFFFF"/>
                        </a:solidFill>
                        <a:effectLst/>
                        <a:latin typeface="Calibri" panose="020F0502020204030204" pitchFamily="34" charset="0"/>
                      </a:endParaRPr>
                    </a:p>
                  </a:txBody>
                  <a:tcPr marL="5151" marR="5151" marT="5151" marB="0" anchor="ctr">
                    <a:lnL>
                      <a:noFill/>
                    </a:lnL>
                    <a:lnR>
                      <a:noFill/>
                    </a:lnR>
                    <a:lnT>
                      <a:noFill/>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274155465"/>
                  </a:ext>
                </a:extLst>
              </a:tr>
              <a:tr h="119866">
                <a:tc>
                  <a:txBody>
                    <a:bodyPr/>
                    <a:lstStyle/>
                    <a:p>
                      <a:pPr algn="l" fontAlgn="ctr"/>
                      <a:r>
                        <a:rPr lang="fr-FR" sz="700" b="0" i="0" u="none" strike="noStrike">
                          <a:solidFill>
                            <a:srgbClr val="000000"/>
                          </a:solidFill>
                          <a:effectLst/>
                          <a:latin typeface="Calibri"/>
                        </a:rPr>
                        <a:t>EU (Paris)</a:t>
                      </a:r>
                    </a:p>
                  </a:txBody>
                  <a:tcPr marL="5151" marR="5151" marT="515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Application </a:t>
                      </a:r>
                      <a:r>
                        <a:rPr lang="fr-FR" sz="700" b="0" i="0" u="none" strike="noStrike" err="1">
                          <a:solidFill>
                            <a:srgbClr val="000000"/>
                          </a:solidFill>
                          <a:effectLst/>
                          <a:latin typeface="Calibri"/>
                        </a:rPr>
                        <a:t>Load</a:t>
                      </a:r>
                      <a:r>
                        <a:rPr lang="fr-FR" sz="700" b="0" i="0" u="none" strike="noStrike">
                          <a:solidFill>
                            <a:srgbClr val="000000"/>
                          </a:solidFill>
                          <a:effectLst/>
                          <a:latin typeface="Calibri"/>
                        </a:rPr>
                        <a:t> balancer</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203,59</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2443,08</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USD</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err="1">
                          <a:solidFill>
                            <a:srgbClr val="000000"/>
                          </a:solidFill>
                          <a:effectLst/>
                          <a:latin typeface="Calibri"/>
                        </a:rPr>
                        <a:t>Number</a:t>
                      </a:r>
                      <a:r>
                        <a:rPr lang="fr-FR" sz="700" b="0" i="0" u="none" strike="noStrike">
                          <a:solidFill>
                            <a:srgbClr val="000000"/>
                          </a:solidFill>
                          <a:effectLst/>
                          <a:latin typeface="Calibri"/>
                        </a:rPr>
                        <a:t> of ALB: 8</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7774752"/>
                  </a:ext>
                </a:extLst>
              </a:tr>
              <a:tr h="385880">
                <a:tc>
                  <a:txBody>
                    <a:bodyPr/>
                    <a:lstStyle/>
                    <a:p>
                      <a:pPr algn="l" fontAlgn="ctr"/>
                      <a:r>
                        <a:rPr lang="fr-FR" sz="700" b="0" i="0" u="none" strike="noStrike">
                          <a:solidFill>
                            <a:srgbClr val="000000"/>
                          </a:solidFill>
                          <a:effectLst/>
                          <a:latin typeface="Calibri"/>
                        </a:rPr>
                        <a:t>EU (Paris)</a:t>
                      </a:r>
                    </a:p>
                  </a:txBody>
                  <a:tcPr marL="5151" marR="5151" marT="515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AWS ECS </a:t>
                      </a:r>
                      <a:r>
                        <a:rPr lang="fr-FR" sz="700" b="0" i="0" u="none" strike="noStrike" err="1">
                          <a:solidFill>
                            <a:srgbClr val="000000"/>
                          </a:solidFill>
                          <a:effectLst/>
                          <a:latin typeface="Calibri"/>
                        </a:rPr>
                        <a:t>Fargate</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777,88</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9334,56</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USD</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dirty="0">
                          <a:solidFill>
                            <a:srgbClr val="000000"/>
                          </a:solidFill>
                          <a:effectLst/>
                          <a:latin typeface="Calibri"/>
                        </a:rPr>
                        <a:t>Operating system (Linux), CPU Architecture (x86), Average duration (24 hours), Number of service (6 services each service execute per day 3 min 9 max tasks), Amount of memory allocated (2 GB), Amount of ephemeral storage allocated for Amazon ECS (20 GB) 18x24x(cost </a:t>
                      </a:r>
                      <a:r>
                        <a:rPr lang="en-US" sz="700" b="0" i="0" u="none" strike="noStrike" dirty="0" err="1">
                          <a:solidFill>
                            <a:srgbClr val="000000"/>
                          </a:solidFill>
                          <a:effectLst/>
                          <a:latin typeface="Calibri"/>
                        </a:rPr>
                        <a:t>vCPU+cost</a:t>
                      </a:r>
                      <a:r>
                        <a:rPr lang="en-US" sz="700" b="0" i="0" u="none" strike="noStrike" dirty="0">
                          <a:solidFill>
                            <a:srgbClr val="000000"/>
                          </a:solidFill>
                          <a:effectLst/>
                          <a:latin typeface="Calibri"/>
                        </a:rPr>
                        <a:t> RAM)</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3252514"/>
                  </a:ext>
                </a:extLst>
              </a:tr>
              <a:tr h="240130">
                <a:tc>
                  <a:txBody>
                    <a:bodyPr/>
                    <a:lstStyle/>
                    <a:p>
                      <a:pPr algn="l" fontAlgn="ctr"/>
                      <a:r>
                        <a:rPr lang="fr-FR" sz="700" b="0" i="0" u="none" strike="noStrike">
                          <a:solidFill>
                            <a:srgbClr val="000000"/>
                          </a:solidFill>
                          <a:effectLst/>
                          <a:latin typeface="Calibri"/>
                        </a:rPr>
                        <a:t>EU (Paris)</a:t>
                      </a:r>
                    </a:p>
                  </a:txBody>
                  <a:tcPr marL="5151" marR="5151" marT="515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Amazon </a:t>
                      </a:r>
                      <a:r>
                        <a:rPr lang="fr-FR" sz="700" b="0" i="0" u="none" strike="noStrike" err="1">
                          <a:solidFill>
                            <a:srgbClr val="000000"/>
                          </a:solidFill>
                          <a:effectLst/>
                          <a:latin typeface="Calibri"/>
                        </a:rPr>
                        <a:t>Elastic</a:t>
                      </a:r>
                      <a:r>
                        <a:rPr lang="fr-FR" sz="700" b="0" i="0" u="none" strike="noStrike">
                          <a:solidFill>
                            <a:srgbClr val="000000"/>
                          </a:solidFill>
                          <a:effectLst/>
                          <a:latin typeface="Calibri"/>
                        </a:rPr>
                        <a:t> Container </a:t>
                      </a:r>
                      <a:r>
                        <a:rPr lang="fr-FR" sz="700" b="0" i="0" u="none" strike="noStrike" err="1">
                          <a:solidFill>
                            <a:srgbClr val="000000"/>
                          </a:solidFill>
                          <a:effectLst/>
                          <a:latin typeface="Calibri"/>
                        </a:rPr>
                        <a:t>Registry</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dirty="0">
                          <a:solidFill>
                            <a:srgbClr val="000000"/>
                          </a:solidFill>
                          <a:effectLst/>
                          <a:latin typeface="Calibri"/>
                        </a:rPr>
                        <a:t>5,32</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63,84</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USD</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000000"/>
                          </a:solidFill>
                          <a:effectLst/>
                          <a:latin typeface="Calibri"/>
                        </a:rPr>
                        <a:t>DT Inbound: Internet (28 GB per month), DT Outbound:  Amount of data stored (28 GB per month)</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9923826"/>
                  </a:ext>
                </a:extLst>
              </a:tr>
              <a:tr h="240130">
                <a:tc>
                  <a:txBody>
                    <a:bodyPr/>
                    <a:lstStyle/>
                    <a:p>
                      <a:pPr algn="l" fontAlgn="ctr"/>
                      <a:r>
                        <a:rPr lang="fr-FR" sz="700" b="0" i="0" u="none" strike="noStrike">
                          <a:solidFill>
                            <a:srgbClr val="000000"/>
                          </a:solidFill>
                          <a:effectLst/>
                          <a:latin typeface="Calibri"/>
                        </a:rPr>
                        <a:t>EU (Paris)</a:t>
                      </a:r>
                    </a:p>
                  </a:txBody>
                  <a:tcPr marL="5151" marR="5151" marT="515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Amazon </a:t>
                      </a:r>
                      <a:r>
                        <a:rPr lang="fr-FR" sz="700" b="0" i="0" u="none" strike="noStrike" err="1">
                          <a:solidFill>
                            <a:srgbClr val="000000"/>
                          </a:solidFill>
                          <a:effectLst/>
                          <a:latin typeface="Calibri"/>
                        </a:rPr>
                        <a:t>CloudFront</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132,96</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fr-FR" sz="700" b="0" i="0" u="none" strike="noStrike">
                          <a:solidFill>
                            <a:srgbClr val="000000"/>
                          </a:solidFill>
                          <a:effectLst/>
                          <a:latin typeface="Calibri"/>
                        </a:rPr>
                        <a:t>1595,52</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fr-FR" sz="700" b="0" i="0" u="none" strike="noStrike">
                          <a:solidFill>
                            <a:srgbClr val="000000"/>
                          </a:solidFill>
                          <a:effectLst/>
                          <a:latin typeface="Calibri"/>
                        </a:rPr>
                        <a:t>USD</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0" i="0" u="none" strike="noStrike">
                          <a:solidFill>
                            <a:srgbClr val="000000"/>
                          </a:solidFill>
                          <a:effectLst/>
                          <a:latin typeface="Calibri" panose="020F0502020204030204" pitchFamily="34" charset="0"/>
                        </a:rPr>
                        <a:t> Data transfer out to internet (1,5 TB per month), Data transfer out to origin (30 GB per month), Number of requests (HTTPS) (1,5 million per month)</a:t>
                      </a:r>
                    </a:p>
                  </a:txBody>
                  <a:tcPr marL="5151" marR="5151" marT="5151"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204079"/>
                  </a:ext>
                </a:extLst>
              </a:tr>
              <a:tr h="240130">
                <a:tc>
                  <a:txBody>
                    <a:bodyPr/>
                    <a:lstStyle/>
                    <a:p>
                      <a:pPr lvl="0" algn="l">
                        <a:buNone/>
                      </a:pPr>
                      <a:r>
                        <a:rPr lang="fr-FR" sz="700" b="0" i="0" u="none" strike="noStrike">
                          <a:solidFill>
                            <a:srgbClr val="000000"/>
                          </a:solidFill>
                          <a:effectLst/>
                          <a:latin typeface="Calibri"/>
                        </a:rPr>
                        <a:t>...</a:t>
                      </a: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l">
                        <a:buNone/>
                      </a:pPr>
                      <a:endParaRPr lang="fr-FR"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r">
                        <a:buNone/>
                      </a:pPr>
                      <a:endParaRPr lang="fr-FR"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r">
                        <a:buNone/>
                      </a:pPr>
                      <a:endParaRPr lang="fr-FR"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l">
                        <a:buNone/>
                      </a:pPr>
                      <a:endParaRPr lang="fr-FR" sz="700" b="0" i="0" u="none" strike="noStrike">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tc>
                  <a:txBody>
                    <a:bodyPr/>
                    <a:lstStyle/>
                    <a:p>
                      <a:pPr lvl="0" algn="l">
                        <a:buNone/>
                      </a:pPr>
                      <a:endParaRPr lang="en-US" sz="700" b="0" i="0" u="none" strike="noStrike" dirty="0">
                        <a:solidFill>
                          <a:srgbClr val="000000"/>
                        </a:solidFill>
                        <a:effectLst/>
                        <a:latin typeface="Calibri"/>
                      </a:endParaRPr>
                    </a:p>
                  </a:txBody>
                  <a:tcPr marL="5151" marR="5151" marT="5151" marB="0">
                    <a:lnL w="6350">
                      <a:solidFill>
                        <a:srgbClr val="000000"/>
                      </a:solidFill>
                    </a:lnL>
                    <a:lnR w="6350">
                      <a:solidFill>
                        <a:srgbClr val="000000"/>
                      </a:solidFill>
                    </a:lnR>
                    <a:lnT w="6350">
                      <a:solidFill>
                        <a:srgbClr val="000000"/>
                      </a:solidFill>
                    </a:lnT>
                    <a:lnB w="6350">
                      <a:solidFill>
                        <a:srgbClr val="000000"/>
                      </a:solidFill>
                    </a:lnB>
                  </a:tcPr>
                </a:tc>
                <a:extLst>
                  <a:ext uri="{0D108BD9-81ED-4DB2-BD59-A6C34878D82A}">
                    <a16:rowId xmlns:a16="http://schemas.microsoft.com/office/drawing/2014/main" val="3449967704"/>
                  </a:ext>
                </a:extLst>
              </a:tr>
            </a:tbl>
          </a:graphicData>
        </a:graphic>
      </p:graphicFrame>
      <p:sp>
        <p:nvSpPr>
          <p:cNvPr id="3" name="ZoneTexte 2">
            <a:extLst>
              <a:ext uri="{FF2B5EF4-FFF2-40B4-BE49-F238E27FC236}">
                <a16:creationId xmlns:a16="http://schemas.microsoft.com/office/drawing/2014/main" id="{52B1AED2-54E4-70CF-8AEC-48467A3D7E98}"/>
              </a:ext>
            </a:extLst>
          </p:cNvPr>
          <p:cNvSpPr txBox="1"/>
          <p:nvPr/>
        </p:nvSpPr>
        <p:spPr>
          <a:xfrm>
            <a:off x="3895110" y="3429836"/>
            <a:ext cx="781044" cy="2616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100" i="1">
                <a:solidFill>
                  <a:schemeClr val="bg1"/>
                </a:solidFill>
                <a:latin typeface="Encode Sans" pitchFamily="2" charset="0"/>
              </a:rPr>
              <a:t>Example</a:t>
            </a:r>
          </a:p>
        </p:txBody>
      </p:sp>
      <p:pic>
        <p:nvPicPr>
          <p:cNvPr id="4" name="Graphique 3" descr="Télécharger du cloud avec un remplissage uni">
            <a:extLst>
              <a:ext uri="{FF2B5EF4-FFF2-40B4-BE49-F238E27FC236}">
                <a16:creationId xmlns:a16="http://schemas.microsoft.com/office/drawing/2014/main" id="{C312B5DD-7D34-49F6-CD82-1F4F1C5DCD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65868" y="757066"/>
            <a:ext cx="387531" cy="387531"/>
          </a:xfrm>
          <a:prstGeom prst="rect">
            <a:avLst/>
          </a:prstGeom>
        </p:spPr>
      </p:pic>
      <p:sp>
        <p:nvSpPr>
          <p:cNvPr id="6" name="ZoneTexte 5">
            <a:extLst>
              <a:ext uri="{FF2B5EF4-FFF2-40B4-BE49-F238E27FC236}">
                <a16:creationId xmlns:a16="http://schemas.microsoft.com/office/drawing/2014/main" id="{91C4249E-A8EB-28A1-B395-0849F69E1916}"/>
              </a:ext>
            </a:extLst>
          </p:cNvPr>
          <p:cNvSpPr txBox="1"/>
          <p:nvPr/>
        </p:nvSpPr>
        <p:spPr>
          <a:xfrm>
            <a:off x="7460524" y="1115447"/>
            <a:ext cx="998220" cy="338554"/>
          </a:xfrm>
          <a:prstGeom prst="rect">
            <a:avLst/>
          </a:prstGeom>
          <a:noFill/>
        </p:spPr>
        <p:txBody>
          <a:bodyPr wrap="square" rtlCol="0">
            <a:spAutoFit/>
          </a:bodyPr>
          <a:lstStyle/>
          <a:p>
            <a:pPr algn="ctr"/>
            <a:r>
              <a:rPr lang="en-GB" sz="800">
                <a:solidFill>
                  <a:schemeClr val="accent1"/>
                </a:solidFill>
                <a:latin typeface="Encode Sans" pitchFamily="2" charset="0"/>
              </a:rPr>
              <a:t>CLOUD SPECIFIC</a:t>
            </a:r>
          </a:p>
        </p:txBody>
      </p:sp>
    </p:spTree>
    <p:custDataLst>
      <p:tags r:id="rId1"/>
    </p:custDataLst>
    <p:extLst>
      <p:ext uri="{BB962C8B-B14F-4D97-AF65-F5344CB8AC3E}">
        <p14:creationId xmlns:p14="http://schemas.microsoft.com/office/powerpoint/2010/main" val="14711269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57">
          <a:extLst>
            <a:ext uri="{FF2B5EF4-FFF2-40B4-BE49-F238E27FC236}">
              <a16:creationId xmlns:a16="http://schemas.microsoft.com/office/drawing/2014/main" id="{FD109BA5-3808-E7BE-F3B6-7C6858313800}"/>
            </a:ext>
          </a:extLst>
        </p:cNvPr>
        <p:cNvGrpSpPr/>
        <p:nvPr/>
      </p:nvGrpSpPr>
      <p:grpSpPr>
        <a:xfrm>
          <a:off x="0" y="0"/>
          <a:ext cx="0" cy="0"/>
          <a:chOff x="0" y="0"/>
          <a:chExt cx="0" cy="0"/>
        </a:xfrm>
      </p:grpSpPr>
      <p:sp>
        <p:nvSpPr>
          <p:cNvPr id="1158" name="Google Shape;1158;p132">
            <a:extLst>
              <a:ext uri="{FF2B5EF4-FFF2-40B4-BE49-F238E27FC236}">
                <a16:creationId xmlns:a16="http://schemas.microsoft.com/office/drawing/2014/main" id="{0B6CF48E-B272-4EDD-9DCB-41789F985DEB}"/>
              </a:ext>
            </a:extLst>
          </p:cNvPr>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dirty="0">
                <a:ln>
                  <a:noFill/>
                </a:ln>
                <a:solidFill>
                  <a:prstClr val="white"/>
                </a:solidFill>
                <a:effectLst/>
                <a:uLnTx/>
                <a:uFillTx/>
                <a:latin typeface="Encode Sans"/>
                <a:ea typeface="+mj-ea"/>
                <a:cs typeface="+mj-cs"/>
              </a:rPr>
              <a:t>Costs (for Gate 1 </a:t>
            </a:r>
            <a:r>
              <a:rPr kumimoji="0" lang="en-US" sz="1200" b="1" i="0" u="none" strike="noStrike" kern="1200" cap="all" spc="0" normalizeH="0" baseline="0" noProof="0" dirty="0" err="1">
                <a:ln>
                  <a:noFill/>
                </a:ln>
                <a:solidFill>
                  <a:prstClr val="white"/>
                </a:solidFill>
                <a:effectLst/>
                <a:uLnTx/>
                <a:uFillTx/>
                <a:latin typeface="Encode Sans"/>
                <a:ea typeface="+mj-ea"/>
                <a:cs typeface="+mj-cs"/>
              </a:rPr>
              <a:t>Poc</a:t>
            </a:r>
            <a:r>
              <a:rPr kumimoji="0" lang="en-US" sz="1200" b="1" i="0" u="none" strike="noStrike" kern="1200" cap="all" spc="0" normalizeH="0" baseline="0" noProof="0" dirty="0">
                <a:ln>
                  <a:noFill/>
                </a:ln>
                <a:solidFill>
                  <a:prstClr val="white"/>
                </a:solidFill>
                <a:effectLst/>
                <a:uLnTx/>
                <a:uFillTx/>
                <a:latin typeface="Encode Sans"/>
                <a:ea typeface="+mj-ea"/>
                <a:cs typeface="+mj-cs"/>
              </a:rPr>
              <a:t> and Gate 2/4)</a:t>
            </a:r>
            <a:endParaRPr dirty="0">
              <a:latin typeface="Encode Sans" pitchFamily="2" charset="0"/>
            </a:endParaRPr>
          </a:p>
        </p:txBody>
      </p:sp>
      <p:sp>
        <p:nvSpPr>
          <p:cNvPr id="5" name="Espace réservé du contenu 1">
            <a:extLst>
              <a:ext uri="{FF2B5EF4-FFF2-40B4-BE49-F238E27FC236}">
                <a16:creationId xmlns:a16="http://schemas.microsoft.com/office/drawing/2014/main" id="{A1407699-C8F6-4263-92BF-5F8E22DBA014}"/>
              </a:ext>
            </a:extLst>
          </p:cNvPr>
          <p:cNvSpPr txBox="1">
            <a:spLocks/>
          </p:cNvSpPr>
          <p:nvPr/>
        </p:nvSpPr>
        <p:spPr>
          <a:xfrm>
            <a:off x="296863" y="771550"/>
            <a:ext cx="8523609" cy="4032447"/>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GB">
                <a:solidFill>
                  <a:schemeClr val="bg2"/>
                </a:solidFill>
                <a:latin typeface="Encode Sans" pitchFamily="2" charset="0"/>
              </a:rPr>
              <a:t>Cost global view:</a:t>
            </a: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endParaRPr lang="en-GB">
              <a:solidFill>
                <a:schemeClr val="bg2"/>
              </a:solidFill>
              <a:latin typeface="Encode Sans" pitchFamily="2" charset="0"/>
            </a:endParaRPr>
          </a:p>
          <a:p>
            <a:r>
              <a:rPr lang="en-GB">
                <a:solidFill>
                  <a:schemeClr val="bg2"/>
                </a:solidFill>
                <a:latin typeface="Encode Sans" pitchFamily="2" charset="0"/>
              </a:rPr>
              <a:t>Cloud Provider cost details </a:t>
            </a:r>
            <a:r>
              <a:rPr lang="en-GB" sz="1200" b="0">
                <a:solidFill>
                  <a:schemeClr val="bg2"/>
                </a:solidFill>
                <a:highlight>
                  <a:srgbClr val="FFFF00"/>
                </a:highlight>
                <a:latin typeface="Encode Sans" pitchFamily="2" charset="0"/>
              </a:rPr>
              <a:t>link to document with detailed Cost (see next slide)</a:t>
            </a:r>
            <a:endParaRPr lang="en-GB" b="0">
              <a:solidFill>
                <a:schemeClr val="bg2"/>
              </a:solidFill>
              <a:latin typeface="Encode Sans" pitchFamily="2" charset="0"/>
            </a:endParaRPr>
          </a:p>
          <a:p>
            <a:r>
              <a:rPr lang="en-GB">
                <a:solidFill>
                  <a:schemeClr val="bg2"/>
                </a:solidFill>
                <a:latin typeface="Encode Sans" pitchFamily="2" charset="0"/>
              </a:rPr>
              <a:t>Cost details </a:t>
            </a:r>
            <a:r>
              <a:rPr lang="en-GB" sz="1200" b="0">
                <a:solidFill>
                  <a:schemeClr val="bg2"/>
                </a:solidFill>
                <a:highlight>
                  <a:srgbClr val="FFFF00"/>
                </a:highlight>
                <a:latin typeface="Encode Sans" pitchFamily="2" charset="0"/>
              </a:rPr>
              <a:t>link to document with detailed Cost</a:t>
            </a:r>
            <a:r>
              <a:rPr lang="en-GB">
                <a:solidFill>
                  <a:schemeClr val="bg2"/>
                </a:solidFill>
                <a:latin typeface="Encode Sans" pitchFamily="2" charset="0"/>
              </a:rPr>
              <a:t>:</a:t>
            </a:r>
          </a:p>
          <a:p>
            <a:r>
              <a:rPr lang="en-US" sz="1600">
                <a:highlight>
                  <a:srgbClr val="FFFF00"/>
                </a:highlight>
              </a:rPr>
              <a:t>Gate 3 : update the planned cost if it is </a:t>
            </a:r>
            <a:r>
              <a:rPr lang="en-US" sz="1600" err="1">
                <a:highlight>
                  <a:srgbClr val="FFFF00"/>
                </a:highlight>
              </a:rPr>
              <a:t>differents</a:t>
            </a:r>
            <a:r>
              <a:rPr lang="en-US" sz="1600">
                <a:highlight>
                  <a:srgbClr val="FFFF00"/>
                </a:highlight>
              </a:rPr>
              <a:t> than in Gate 2 and highlight differences</a:t>
            </a:r>
          </a:p>
          <a:p>
            <a:endParaRPr lang="en-US">
              <a:solidFill>
                <a:schemeClr val="bg2"/>
              </a:solidFill>
              <a:latin typeface="Encode Sans" pitchFamily="2" charset="0"/>
            </a:endParaRPr>
          </a:p>
        </p:txBody>
      </p:sp>
      <p:graphicFrame>
        <p:nvGraphicFramePr>
          <p:cNvPr id="8" name="Tableau 4">
            <a:extLst>
              <a:ext uri="{FF2B5EF4-FFF2-40B4-BE49-F238E27FC236}">
                <a16:creationId xmlns:a16="http://schemas.microsoft.com/office/drawing/2014/main" id="{649C8B05-A794-91FB-F8B1-B8E672EF494A}"/>
              </a:ext>
            </a:extLst>
          </p:cNvPr>
          <p:cNvGraphicFramePr>
            <a:graphicFrameLocks noGrp="1"/>
          </p:cNvGraphicFramePr>
          <p:nvPr/>
        </p:nvGraphicFramePr>
        <p:xfrm>
          <a:off x="289932" y="1211425"/>
          <a:ext cx="8532000" cy="2156092"/>
        </p:xfrm>
        <a:graphic>
          <a:graphicData uri="http://schemas.openxmlformats.org/drawingml/2006/table">
            <a:tbl>
              <a:tblPr firstRow="1" bandRow="1"/>
              <a:tblGrid>
                <a:gridCol w="2484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152000">
                  <a:extLst>
                    <a:ext uri="{9D8B030D-6E8A-4147-A177-3AD203B41FA5}">
                      <a16:colId xmlns:a16="http://schemas.microsoft.com/office/drawing/2014/main" val="1252417788"/>
                    </a:ext>
                  </a:extLst>
                </a:gridCol>
                <a:gridCol w="1152000">
                  <a:extLst>
                    <a:ext uri="{9D8B030D-6E8A-4147-A177-3AD203B41FA5}">
                      <a16:colId xmlns:a16="http://schemas.microsoft.com/office/drawing/2014/main" val="2100904827"/>
                    </a:ext>
                  </a:extLst>
                </a:gridCol>
                <a:gridCol w="1152000">
                  <a:extLst>
                    <a:ext uri="{9D8B030D-6E8A-4147-A177-3AD203B41FA5}">
                      <a16:colId xmlns:a16="http://schemas.microsoft.com/office/drawing/2014/main" val="1527594410"/>
                    </a:ext>
                  </a:extLst>
                </a:gridCol>
                <a:gridCol w="1440000">
                  <a:extLst>
                    <a:ext uri="{9D8B030D-6E8A-4147-A177-3AD203B41FA5}">
                      <a16:colId xmlns:a16="http://schemas.microsoft.com/office/drawing/2014/main" val="3042211738"/>
                    </a:ext>
                  </a:extLst>
                </a:gridCol>
              </a:tblGrid>
              <a:tr h="447910">
                <a:tc>
                  <a:txBody>
                    <a:bodyPr/>
                    <a:lstStyle/>
                    <a:p>
                      <a:pPr marL="0" algn="l" defTabSz="457189" rtl="0" eaLnBrk="1" latinLnBrk="0" hangingPunct="1"/>
                      <a:r>
                        <a:rPr lang="en-US" sz="1200" b="1" kern="1200" noProof="0">
                          <a:solidFill>
                            <a:schemeClr val="tx1"/>
                          </a:solidFill>
                          <a:latin typeface="Encode Sans" pitchFamily="2" charset="0"/>
                          <a:ea typeface="+mn-ea"/>
                          <a:cs typeface="+mn-cs"/>
                        </a:rPr>
                        <a:t>Costs types</a:t>
                      </a:r>
                    </a:p>
                  </a:txBody>
                  <a:tcPr anchor="ctr">
                    <a:lnL w="12700" cmpd="sng">
                      <a:solidFill>
                        <a:srgbClr val="272B35"/>
                      </a:solidFill>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Q1</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Q2</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Q3</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Q4</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Encode Sans" pitchFamily="2" charset="0"/>
                        </a:rPr>
                        <a:t>Next year recurrent costs</a:t>
                      </a: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extLst>
                  <a:ext uri="{0D108BD9-81ED-4DB2-BD59-A6C34878D82A}">
                    <a16:rowId xmlns:a16="http://schemas.microsoft.com/office/drawing/2014/main" val="2823245606"/>
                  </a:ext>
                </a:extLst>
              </a:tr>
              <a:tr h="447910">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algn="l" defTabSz="457189" rtl="0" eaLnBrk="1" latinLnBrk="0" hangingPunct="1"/>
                      <a:r>
                        <a:rPr lang="en-US" sz="1200" b="0" kern="1200" noProof="0">
                          <a:latin typeface="Encode Sans" pitchFamily="2" charset="0"/>
                        </a:rPr>
                        <a:t>IT costs</a:t>
                      </a:r>
                      <a:br>
                        <a:rPr lang="en-US" sz="1200" b="0" kern="1200" noProof="0">
                          <a:latin typeface="Encode Sans" pitchFamily="2" charset="0"/>
                        </a:rPr>
                      </a:br>
                      <a:r>
                        <a:rPr lang="en-US" sz="1200" b="0" kern="1200" noProof="0">
                          <a:latin typeface="Encode Sans" pitchFamily="2" charset="0"/>
                        </a:rPr>
                        <a:t>    Included outsourcing</a:t>
                      </a:r>
                      <a:endParaRPr lang="en-US" sz="1200" b="0" kern="1200" noProof="0">
                        <a:solidFill>
                          <a:schemeClr val="lt1"/>
                        </a:solidFill>
                        <a:latin typeface="Encode Sans" pitchFamily="2" charset="0"/>
                        <a:ea typeface="+mn-ea"/>
                        <a:cs typeface="+mn-cs"/>
                      </a:endParaRPr>
                    </a:p>
                  </a:txBody>
                  <a:tcPr anchor="ctr">
                    <a:lnL w="12700" cmpd="sng">
                      <a:solidFill>
                        <a:srgbClr val="272B35"/>
                      </a:solidFill>
                    </a:lnL>
                    <a:lnR w="12700" cmpd="sng">
                      <a:solidFill>
                        <a:srgbClr val="272B35"/>
                      </a:solidFill>
                    </a:lnR>
                    <a:lnT w="12700" cap="flat" cmpd="sng" algn="ctr">
                      <a:solidFill>
                        <a:srgbClr val="272B35"/>
                      </a:solidFill>
                      <a:prstDash val="solid"/>
                      <a:round/>
                      <a:headEnd type="none" w="med" len="med"/>
                      <a:tailEnd type="none" w="med" len="med"/>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mpd="sng">
                      <a:solidFill>
                        <a:srgbClr val="272B35"/>
                      </a:solidFill>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b="0" kern="1200" noProof="0" err="1">
                          <a:latin typeface="Encode Sans" pitchFamily="2" charset="0"/>
                          <a:sym typeface="Wingdings"/>
                        </a:rPr>
                        <a:t>Xxx</a:t>
                      </a:r>
                      <a:r>
                        <a:rPr lang="en-US" sz="1200" b="0" kern="1200" noProof="0">
                          <a:latin typeface="Encode Sans" pitchFamily="2" charset="0"/>
                          <a:sym typeface="Wingdings"/>
                        </a:rPr>
                        <a:t> K€</a:t>
                      </a:r>
                      <a:endParaRPr lang="en-US" sz="1200" b="0" noProof="0">
                        <a:solidFill>
                          <a:srgbClr val="FF0000"/>
                        </a:solidFill>
                        <a:latin typeface="Encode Sans" pitchFamily="2" charset="0"/>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extLst>
                  <a:ext uri="{0D108BD9-81ED-4DB2-BD59-A6C34878D82A}">
                    <a16:rowId xmlns:a16="http://schemas.microsoft.com/office/drawing/2014/main" val="10000"/>
                  </a:ext>
                </a:extLst>
              </a:tr>
              <a:tr h="266431">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1200" kern="1200" noProof="0">
                          <a:latin typeface="Encode Sans" pitchFamily="2" charset="0"/>
                        </a:rPr>
                        <a:t>Cloud consumption</a:t>
                      </a:r>
                      <a:endParaRPr lang="en-US" sz="1200" b="1" kern="1200" noProof="0">
                        <a:solidFill>
                          <a:schemeClr val="dk1"/>
                        </a:solidFill>
                        <a:latin typeface="Encode Sans" pitchFamily="2" charset="0"/>
                        <a:ea typeface="+mn-ea"/>
                        <a:cs typeface="+mn-cs"/>
                      </a:endParaRPr>
                    </a:p>
                  </a:txBody>
                  <a:tcPr anchor="ctr">
                    <a:lnL w="12700" cmpd="sng">
                      <a:solidFill>
                        <a:srgbClr val="272B35"/>
                      </a:solidFill>
                    </a:lnL>
                    <a:lnR w="12700" cmpd="sng">
                      <a:solidFill>
                        <a:srgbClr val="272B35"/>
                      </a:solidFill>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mpd="sng">
                      <a:solidFill>
                        <a:srgbClr val="272B35"/>
                      </a:solidFill>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extLst>
                  <a:ext uri="{0D108BD9-81ED-4DB2-BD59-A6C34878D82A}">
                    <a16:rowId xmlns:a16="http://schemas.microsoft.com/office/drawing/2014/main" val="10001"/>
                  </a:ext>
                </a:extLst>
              </a:tr>
              <a:tr h="514812">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200" kern="1200" noProof="0">
                          <a:latin typeface="Encode Sans" pitchFamily="2" charset="0"/>
                        </a:rPr>
                        <a:t>Investments:</a:t>
                      </a:r>
                    </a:p>
                    <a:p>
                      <a:pPr marL="0" algn="l" defTabSz="457189" rtl="0" eaLnBrk="1" latinLnBrk="0" hangingPunct="1"/>
                      <a:r>
                        <a:rPr lang="en-US" sz="1200" kern="1200" noProof="0">
                          <a:latin typeface="Encode Sans" pitchFamily="2" charset="0"/>
                        </a:rPr>
                        <a:t>    Hardware</a:t>
                      </a:r>
                      <a:r>
                        <a:rPr lang="en-US" sz="1200" kern="1200" baseline="0" noProof="0">
                          <a:latin typeface="Encode Sans" pitchFamily="2" charset="0"/>
                        </a:rPr>
                        <a:t> costs </a:t>
                      </a:r>
                      <a:r>
                        <a:rPr lang="en-US" sz="1200" kern="1200" noProof="0">
                          <a:latin typeface="Encode Sans" pitchFamily="2" charset="0"/>
                        </a:rPr>
                        <a:t>(servers, …)</a:t>
                      </a:r>
                    </a:p>
                    <a:p>
                      <a:pPr marL="0" algn="l" defTabSz="457189" rtl="0" eaLnBrk="1" latinLnBrk="0" hangingPunct="1"/>
                      <a:r>
                        <a:rPr lang="en-US" sz="1200" kern="1200" noProof="0">
                          <a:latin typeface="Encode Sans" pitchFamily="2" charset="0"/>
                        </a:rPr>
                        <a:t>    Software license costs</a:t>
                      </a:r>
                    </a:p>
                  </a:txBody>
                  <a:tcPr anchor="ctr">
                    <a:lnL w="12700" cmpd="sng">
                      <a:solidFill>
                        <a:srgbClr val="272B35"/>
                      </a:solidFill>
                    </a:lnL>
                    <a:lnR w="12700" cmpd="sng">
                      <a:solidFill>
                        <a:srgbClr val="272B35"/>
                      </a:solidFill>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mpd="sng">
                      <a:solidFill>
                        <a:srgbClr val="272B35"/>
                      </a:solidFill>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US" sz="1200" noProof="0">
                        <a:latin typeface="Encode Sans" pitchFamily="2" charset="0"/>
                        <a:sym typeface="Wingdings"/>
                      </a:endParaRP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p>
                    <a:p>
                      <a:pPr marL="0" marR="0" indent="0" algn="ctr" defTabSz="457189" rtl="0" eaLnBrk="1" fontAlgn="auto" latinLnBrk="0" hangingPunct="1">
                        <a:lnSpc>
                          <a:spcPct val="100000"/>
                        </a:lnSpc>
                        <a:spcBef>
                          <a:spcPts val="0"/>
                        </a:spcBef>
                        <a:spcAft>
                          <a:spcPts val="0"/>
                        </a:spcAft>
                        <a:buClrTx/>
                        <a:buSzTx/>
                        <a:buFontTx/>
                        <a:buNone/>
                        <a:tabLst/>
                        <a:defRPr/>
                      </a:pPr>
                      <a:r>
                        <a:rPr lang="en-US" sz="1200" kern="1200" noProof="0" err="1">
                          <a:latin typeface="Encode Sans" pitchFamily="2" charset="0"/>
                          <a:sym typeface="Wingdings"/>
                        </a:rPr>
                        <a:t>Xxx</a:t>
                      </a:r>
                      <a:r>
                        <a:rPr lang="en-US" sz="1200"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20000"/>
                      </a:srgbClr>
                    </a:solidFill>
                  </a:tcPr>
                </a:tc>
                <a:extLst>
                  <a:ext uri="{0D108BD9-81ED-4DB2-BD59-A6C34878D82A}">
                    <a16:rowId xmlns:a16="http://schemas.microsoft.com/office/drawing/2014/main" val="10002"/>
                  </a:ext>
                </a:extLst>
              </a:tr>
              <a:tr h="327292">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200" b="1" kern="1200" noProof="0">
                          <a:latin typeface="Encode Sans" pitchFamily="2" charset="0"/>
                        </a:rPr>
                        <a:t>Total cost</a:t>
                      </a:r>
                      <a:endParaRPr lang="en-US" sz="1200" b="1" kern="1200" noProof="0">
                        <a:solidFill>
                          <a:schemeClr val="dk1"/>
                        </a:solidFill>
                        <a:latin typeface="Encode Sans" pitchFamily="2" charset="0"/>
                        <a:ea typeface="+mn-ea"/>
                        <a:cs typeface="+mn-cs"/>
                      </a:endParaRPr>
                    </a:p>
                  </a:txBody>
                  <a:tcPr anchor="ctr">
                    <a:lnL w="12700" cmpd="sng">
                      <a:solidFill>
                        <a:srgbClr val="272B35"/>
                      </a:solidFill>
                    </a:lnL>
                    <a:lnR w="12700" cmpd="sng">
                      <a:solidFill>
                        <a:srgbClr val="272B35"/>
                      </a:solidFill>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mpd="sng">
                      <a:solidFill>
                        <a:srgbClr val="272B35"/>
                      </a:solidFill>
                    </a:lnL>
                    <a:lnR w="12700" cap="flat" cmpd="sng" algn="ctr">
                      <a:solidFill>
                        <a:srgbClr val="272B35"/>
                      </a:solidFill>
                      <a:prstDash val="solid"/>
                      <a:round/>
                      <a:headEnd type="none" w="med" len="med"/>
                      <a:tailEnd type="none" w="med" len="med"/>
                    </a:lnR>
                    <a:lnT w="12700" cmpd="sng">
                      <a:solidFill>
                        <a:srgbClr val="272B35"/>
                      </a:solidFill>
                    </a:lnT>
                    <a:lnB w="12700" cmpd="sng">
                      <a:solidFill>
                        <a:srgbClr val="272B35"/>
                      </a:solidFill>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r>
                        <a:rPr lang="en-US" sz="1200" b="1" kern="1200" noProof="0" err="1">
                          <a:latin typeface="Encode Sans" pitchFamily="2" charset="0"/>
                          <a:sym typeface="Wingdings"/>
                        </a:rPr>
                        <a:t>Xxx</a:t>
                      </a:r>
                      <a:r>
                        <a:rPr lang="en-US" sz="1200" b="1" kern="1200" noProof="0">
                          <a:latin typeface="Encode Sans" pitchFamily="2" charset="0"/>
                          <a:sym typeface="Wingdings"/>
                        </a:rPr>
                        <a:t> K€</a:t>
                      </a:r>
                      <a:endParaRPr lang="en-US" sz="1200" b="1" kern="1200" noProof="0">
                        <a:solidFill>
                          <a:srgbClr val="FF0000"/>
                        </a:solidFill>
                        <a:latin typeface="Encode Sans" pitchFamily="2" charset="0"/>
                        <a:ea typeface="+mn-ea"/>
                        <a:cs typeface="+mn-cs"/>
                        <a:sym typeface="Wingdings"/>
                      </a:endParaRPr>
                    </a:p>
                  </a:txBody>
                  <a:tcPr anchor="ctr">
                    <a:lnL w="12700" cap="flat" cmpd="sng" algn="ctr">
                      <a:solidFill>
                        <a:srgbClr val="272B35"/>
                      </a:solidFill>
                      <a:prstDash val="solid"/>
                      <a:round/>
                      <a:headEnd type="none" w="med" len="med"/>
                      <a:tailEnd type="none" w="med" len="med"/>
                    </a:lnL>
                    <a:lnR w="12700" cap="flat" cmpd="sng" algn="ctr">
                      <a:solidFill>
                        <a:srgbClr val="272B35"/>
                      </a:solidFill>
                      <a:prstDash val="solid"/>
                      <a:round/>
                      <a:headEnd type="none" w="med" len="med"/>
                      <a:tailEnd type="none" w="med" len="med"/>
                    </a:lnR>
                    <a:lnT w="12700" cap="flat" cmpd="sng" algn="ctr">
                      <a:solidFill>
                        <a:srgbClr val="272B35"/>
                      </a:solidFill>
                      <a:prstDash val="solid"/>
                      <a:round/>
                      <a:headEnd type="none" w="med" len="med"/>
                      <a:tailEnd type="none" w="med" len="med"/>
                    </a:lnT>
                    <a:lnB w="12700" cap="flat" cmpd="sng" algn="ctr">
                      <a:solidFill>
                        <a:srgbClr val="272B35"/>
                      </a:solidFill>
                      <a:prstDash val="solid"/>
                      <a:round/>
                      <a:headEnd type="none" w="med" len="med"/>
                      <a:tailEnd type="none" w="med" len="med"/>
                    </a:lnB>
                    <a:lnTlToBr w="12700" cmpd="sng">
                      <a:noFill/>
                      <a:prstDash val="solid"/>
                    </a:lnTlToBr>
                    <a:lnBlToTr w="12700" cmpd="sng">
                      <a:noFill/>
                      <a:prstDash val="solid"/>
                    </a:lnBlToTr>
                    <a:solidFill>
                      <a:srgbClr val="272B35">
                        <a:tint val="40000"/>
                      </a:srgbClr>
                    </a:solidFill>
                  </a:tcPr>
                </a:tc>
                <a:extLst>
                  <a:ext uri="{0D108BD9-81ED-4DB2-BD59-A6C34878D82A}">
                    <a16:rowId xmlns:a16="http://schemas.microsoft.com/office/drawing/2014/main" val="10003"/>
                  </a:ext>
                </a:extLst>
              </a:tr>
            </a:tbl>
          </a:graphicData>
        </a:graphic>
      </p:graphicFrame>
      <p:sp>
        <p:nvSpPr>
          <p:cNvPr id="2" name="Rectangle: Top Corners One Rounded and One Snipped 1">
            <a:extLst>
              <a:ext uri="{FF2B5EF4-FFF2-40B4-BE49-F238E27FC236}">
                <a16:creationId xmlns:a16="http://schemas.microsoft.com/office/drawing/2014/main" id="{6FD1FBAF-A834-F496-3682-6BADBD44E12B}"/>
              </a:ext>
            </a:extLst>
          </p:cNvPr>
          <p:cNvSpPr/>
          <p:nvPr/>
        </p:nvSpPr>
        <p:spPr>
          <a:xfrm>
            <a:off x="2768600" y="948267"/>
            <a:ext cx="4622799" cy="263158"/>
          </a:xfrm>
          <a:prstGeom prst="snipRoundRect">
            <a:avLst>
              <a:gd name="adj1" fmla="val 16667"/>
              <a:gd name="adj2" fmla="val 50000"/>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err="1">
                <a:solidFill>
                  <a:schemeClr val="tx1"/>
                </a:solidFill>
              </a:rPr>
              <a:t>Year</a:t>
            </a:r>
            <a:r>
              <a:rPr lang="fr-FR">
                <a:solidFill>
                  <a:schemeClr val="tx1"/>
                </a:solidFill>
              </a:rPr>
              <a:t> 1</a:t>
            </a:r>
            <a:endParaRPr lang="en-US">
              <a:solidFill>
                <a:schemeClr val="tx1"/>
              </a:solidFill>
            </a:endParaRPr>
          </a:p>
        </p:txBody>
      </p:sp>
      <p:sp>
        <p:nvSpPr>
          <p:cNvPr id="3" name="Rectangle: Top Corners One Rounded and One Snipped 2">
            <a:extLst>
              <a:ext uri="{FF2B5EF4-FFF2-40B4-BE49-F238E27FC236}">
                <a16:creationId xmlns:a16="http://schemas.microsoft.com/office/drawing/2014/main" id="{FAE6FE9F-3F0B-E148-01D5-5E4199F676BC}"/>
              </a:ext>
            </a:extLst>
          </p:cNvPr>
          <p:cNvSpPr/>
          <p:nvPr/>
        </p:nvSpPr>
        <p:spPr>
          <a:xfrm>
            <a:off x="7391399" y="948267"/>
            <a:ext cx="1429803" cy="263158"/>
          </a:xfrm>
          <a:prstGeom prst="snipRoundRect">
            <a:avLst>
              <a:gd name="adj1" fmla="val 16667"/>
              <a:gd name="adj2" fmla="val 50000"/>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err="1">
                <a:solidFill>
                  <a:schemeClr val="tx1"/>
                </a:solidFill>
              </a:rPr>
              <a:t>Year</a:t>
            </a:r>
            <a:r>
              <a:rPr lang="fr-FR">
                <a:solidFill>
                  <a:schemeClr val="tx1"/>
                </a:solidFill>
              </a:rPr>
              <a:t> 2</a:t>
            </a:r>
            <a:endParaRPr lang="en-US">
              <a:solidFill>
                <a:schemeClr val="tx1"/>
              </a:solidFill>
            </a:endParaRPr>
          </a:p>
        </p:txBody>
      </p:sp>
    </p:spTree>
    <p:custDataLst>
      <p:tags r:id="rId1"/>
    </p:custDataLst>
    <p:extLst>
      <p:ext uri="{BB962C8B-B14F-4D97-AF65-F5344CB8AC3E}">
        <p14:creationId xmlns:p14="http://schemas.microsoft.com/office/powerpoint/2010/main" val="9825207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EBE6B18-62AE-5FF2-E395-EDE84DB9DAFA}"/>
              </a:ext>
            </a:extLst>
          </p:cNvPr>
          <p:cNvSpPr>
            <a:spLocks noGrp="1"/>
          </p:cNvSpPr>
          <p:nvPr>
            <p:ph type="title" idx="2"/>
          </p:nvPr>
        </p:nvSpPr>
        <p:spPr/>
        <p:txBody>
          <a:bodyPr/>
          <a:lstStyle/>
          <a:p>
            <a:r>
              <a:rPr kumimoji="0" lang="en-US" sz="1100" b="1" i="0" u="none" strike="noStrike" kern="1200" cap="all" spc="0" normalizeH="0" baseline="0" noProof="0" dirty="0">
                <a:ln>
                  <a:noFill/>
                </a:ln>
                <a:solidFill>
                  <a:prstClr val="white"/>
                </a:solidFill>
                <a:effectLst/>
                <a:uLnTx/>
                <a:uFillTx/>
                <a:latin typeface="Encode Sans"/>
                <a:ea typeface="+mj-ea"/>
                <a:cs typeface="+mj-cs"/>
              </a:rPr>
              <a:t>(Solution X)  - </a:t>
            </a:r>
            <a:r>
              <a:rPr lang="en-US" sz="1100" dirty="0">
                <a:latin typeface="Arial"/>
                <a:cs typeface="Arial"/>
              </a:rPr>
              <a:t>TECHNICAL DESCRIPTION OF THE SOLUTIONS</a:t>
            </a:r>
            <a:endParaRPr lang="en-GB" dirty="0"/>
          </a:p>
        </p:txBody>
      </p:sp>
      <p:sp>
        <p:nvSpPr>
          <p:cNvPr id="6" name="Espace réservé du contenu 1">
            <a:extLst>
              <a:ext uri="{FF2B5EF4-FFF2-40B4-BE49-F238E27FC236}">
                <a16:creationId xmlns:a16="http://schemas.microsoft.com/office/drawing/2014/main" id="{FCAB53F3-F525-98DF-CBB6-84FE305D1866}"/>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a:solidFill>
                  <a:schemeClr val="accent1"/>
                </a:solidFill>
                <a:latin typeface="Encode Sans" pitchFamily="2" charset="0"/>
              </a:rPr>
              <a:t>Threat modeling - Report</a:t>
            </a:r>
            <a:br>
              <a:rPr lang="en-US" sz="1400">
                <a:solidFill>
                  <a:schemeClr val="accent1"/>
                </a:solidFill>
                <a:latin typeface="Encode Sans" pitchFamily="2" charset="0"/>
              </a:rPr>
            </a:br>
            <a:endParaRPr lang="en-US" sz="1400">
              <a:solidFill>
                <a:schemeClr val="accent1"/>
              </a:solidFill>
              <a:latin typeface="Encode Sans" pitchFamily="2" charset="0"/>
            </a:endParaRPr>
          </a:p>
          <a:p>
            <a:pPr lvl="1"/>
            <a:r>
              <a:rPr lang="en-US" sz="1200">
                <a:solidFill>
                  <a:schemeClr val="accent1"/>
                </a:solidFill>
                <a:latin typeface="Encode Sans" pitchFamily="2" charset="0"/>
              </a:rPr>
              <a:t>Threat modeling is a process by which potential threats, such as structural vulnerabilities or the absence of appropriate safeguards, can be identified, enumerated, and mitigations can be prioritized. </a:t>
            </a:r>
          </a:p>
          <a:p>
            <a:pPr lvl="1"/>
            <a:endParaRPr lang="en-US" sz="9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p:txBody>
      </p:sp>
      <p:graphicFrame>
        <p:nvGraphicFramePr>
          <p:cNvPr id="2" name="Objet 1">
            <a:extLst>
              <a:ext uri="{FF2B5EF4-FFF2-40B4-BE49-F238E27FC236}">
                <a16:creationId xmlns:a16="http://schemas.microsoft.com/office/drawing/2014/main" id="{E2B75AD7-0445-940A-1194-01B24FB6904F}"/>
              </a:ext>
            </a:extLst>
          </p:cNvPr>
          <p:cNvGraphicFramePr>
            <a:graphicFrameLocks noChangeAspect="1"/>
          </p:cNvGraphicFramePr>
          <p:nvPr/>
        </p:nvGraphicFramePr>
        <p:xfrm>
          <a:off x="842854" y="2129675"/>
          <a:ext cx="6096000" cy="2571750"/>
        </p:xfrm>
        <a:graphic>
          <a:graphicData uri="http://schemas.openxmlformats.org/presentationml/2006/ole">
            <mc:AlternateContent xmlns:mc="http://schemas.openxmlformats.org/markup-compatibility/2006">
              <mc:Choice xmlns:v="urn:schemas-microsoft-com:vml" Requires="v">
                <p:oleObj name="Feuille de calcul" r:id="rId3" imgW="12760085" imgH="5378392" progId="Excel.Sheet.12">
                  <p:embed/>
                </p:oleObj>
              </mc:Choice>
              <mc:Fallback>
                <p:oleObj name="Feuille de calcul" r:id="rId3" imgW="12760085" imgH="5378392" progId="Excel.Sheet.12">
                  <p:embed/>
                  <p:pic>
                    <p:nvPicPr>
                      <p:cNvPr id="2" name="Objet 1">
                        <a:extLst>
                          <a:ext uri="{FF2B5EF4-FFF2-40B4-BE49-F238E27FC236}">
                            <a16:creationId xmlns:a16="http://schemas.microsoft.com/office/drawing/2014/main" id="{E2B75AD7-0445-940A-1194-01B24FB6904F}"/>
                          </a:ext>
                        </a:extLst>
                      </p:cNvPr>
                      <p:cNvPicPr/>
                      <p:nvPr/>
                    </p:nvPicPr>
                    <p:blipFill>
                      <a:blip r:embed="rId4"/>
                      <a:stretch>
                        <a:fillRect/>
                      </a:stretch>
                    </p:blipFill>
                    <p:spPr>
                      <a:xfrm>
                        <a:off x="842854" y="2129675"/>
                        <a:ext cx="6096000" cy="2571750"/>
                      </a:xfrm>
                      <a:prstGeom prst="rect">
                        <a:avLst/>
                      </a:prstGeom>
                    </p:spPr>
                  </p:pic>
                </p:oleObj>
              </mc:Fallback>
            </mc:AlternateContent>
          </a:graphicData>
        </a:graphic>
      </p:graphicFrame>
      <p:sp>
        <p:nvSpPr>
          <p:cNvPr id="4" name="ZoneTexte 3">
            <a:extLst>
              <a:ext uri="{FF2B5EF4-FFF2-40B4-BE49-F238E27FC236}">
                <a16:creationId xmlns:a16="http://schemas.microsoft.com/office/drawing/2014/main" id="{1F8FA7C2-3C5F-9C85-C60A-959C61FF05B4}"/>
              </a:ext>
            </a:extLst>
          </p:cNvPr>
          <p:cNvSpPr txBox="1"/>
          <p:nvPr/>
        </p:nvSpPr>
        <p:spPr>
          <a:xfrm>
            <a:off x="7236497" y="1984389"/>
            <a:ext cx="1352467" cy="2400657"/>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latin typeface="Encode Sans" pitchFamily="2" charset="0"/>
              </a:rPr>
              <a:t>Remark</a:t>
            </a:r>
            <a:r>
              <a:rPr lang="en-US" u="none" dirty="0">
                <a:latin typeface="Encode Sans" pitchFamily="2" charset="0"/>
              </a:rPr>
              <a:t>: To be planned and validated before the CCT with SFES Cybersecurity team</a:t>
            </a:r>
            <a:br>
              <a:rPr lang="en-US" u="none" dirty="0">
                <a:latin typeface="Encode Sans" pitchFamily="2" charset="0"/>
              </a:rPr>
            </a:br>
            <a:br>
              <a:rPr lang="en-US" u="none" dirty="0">
                <a:latin typeface="Encode Sans" pitchFamily="2" charset="0"/>
              </a:rPr>
            </a:br>
            <a:r>
              <a:rPr lang="en-US" dirty="0">
                <a:latin typeface="Encode Sans" pitchFamily="2" charset="0"/>
              </a:rPr>
              <a:t>Action</a:t>
            </a:r>
            <a:r>
              <a:rPr lang="en-US" u="none" dirty="0">
                <a:latin typeface="Encode Sans" pitchFamily="2" charset="0"/>
              </a:rPr>
              <a:t>:</a:t>
            </a:r>
            <a:br>
              <a:rPr lang="en-US" u="none" dirty="0">
                <a:latin typeface="Encode Sans" pitchFamily="2" charset="0"/>
              </a:rPr>
            </a:br>
            <a:r>
              <a:rPr lang="en-GB" u="none" dirty="0">
                <a:latin typeface="Encode Sans" pitchFamily="2" charset="0"/>
              </a:rPr>
              <a:t>Show the numbers of threads in the thread modelling, add the </a:t>
            </a:r>
            <a:r>
              <a:rPr lang="en-GB" u="none" dirty="0" err="1">
                <a:latin typeface="Encode Sans" pitchFamily="2" charset="0"/>
              </a:rPr>
              <a:t>docinfo</a:t>
            </a:r>
            <a:r>
              <a:rPr lang="en-GB" u="none" dirty="0">
                <a:latin typeface="Encode Sans" pitchFamily="2" charset="0"/>
              </a:rPr>
              <a:t> link to the TM document, and copy specific threads if relevant</a:t>
            </a:r>
            <a:endParaRPr lang="en-US" u="none" dirty="0">
              <a:latin typeface="Encode Sans" pitchFamily="2" charset="0"/>
            </a:endParaRPr>
          </a:p>
        </p:txBody>
      </p:sp>
      <p:sp>
        <p:nvSpPr>
          <p:cNvPr id="5" name="TextBox 4">
            <a:extLst>
              <a:ext uri="{FF2B5EF4-FFF2-40B4-BE49-F238E27FC236}">
                <a16:creationId xmlns:a16="http://schemas.microsoft.com/office/drawing/2014/main" id="{7B5709E9-0A3C-A5C2-3158-EB0BC335F5C7}"/>
              </a:ext>
            </a:extLst>
          </p:cNvPr>
          <p:cNvSpPr txBox="1"/>
          <p:nvPr/>
        </p:nvSpPr>
        <p:spPr>
          <a:xfrm rot="20009453">
            <a:off x="5783582" y="4057991"/>
            <a:ext cx="1568654" cy="307777"/>
          </a:xfrm>
          <a:prstGeom prst="rect">
            <a:avLst/>
          </a:prstGeom>
          <a:noFill/>
        </p:spPr>
        <p:txBody>
          <a:bodyPr wrap="square">
            <a:spAutoFit/>
          </a:bodyPr>
          <a:lstStyle/>
          <a:p>
            <a:r>
              <a:rPr lang="en-GB" dirty="0">
                <a:solidFill>
                  <a:srgbClr val="FF0000"/>
                </a:solidFill>
              </a:rPr>
              <a:t>Gate 2 </a:t>
            </a:r>
            <a:endParaRPr lang="en-GB" dirty="0"/>
          </a:p>
        </p:txBody>
      </p:sp>
    </p:spTree>
    <p:extLst>
      <p:ext uri="{BB962C8B-B14F-4D97-AF65-F5344CB8AC3E}">
        <p14:creationId xmlns:p14="http://schemas.microsoft.com/office/powerpoint/2010/main" val="3358278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C70D-EA90-765F-D496-B4838EDB912A}"/>
            </a:ext>
          </a:extLst>
        </p:cNvPr>
        <p:cNvGrpSpPr/>
        <p:nvPr/>
      </p:nvGrpSpPr>
      <p:grpSpPr>
        <a:xfrm>
          <a:off x="0" y="0"/>
          <a:ext cx="0" cy="0"/>
          <a:chOff x="0" y="0"/>
          <a:chExt cx="0" cy="0"/>
        </a:xfrm>
      </p:grpSpPr>
      <p:pic>
        <p:nvPicPr>
          <p:cNvPr id="8" name="Image 7">
            <a:extLst>
              <a:ext uri="{FF2B5EF4-FFF2-40B4-BE49-F238E27FC236}">
                <a16:creationId xmlns:a16="http://schemas.microsoft.com/office/drawing/2014/main" id="{5FDFD9CC-E960-E538-81A0-E7E275C150E4}"/>
              </a:ext>
            </a:extLst>
          </p:cNvPr>
          <p:cNvPicPr>
            <a:picLocks noChangeAspect="1"/>
          </p:cNvPicPr>
          <p:nvPr/>
        </p:nvPicPr>
        <p:blipFill>
          <a:blip r:embed="rId3"/>
          <a:stretch>
            <a:fillRect/>
          </a:stretch>
        </p:blipFill>
        <p:spPr>
          <a:xfrm>
            <a:off x="660323" y="1322881"/>
            <a:ext cx="5622408" cy="2811204"/>
          </a:xfrm>
          <a:prstGeom prst="rect">
            <a:avLst/>
          </a:prstGeom>
        </p:spPr>
      </p:pic>
      <p:sp>
        <p:nvSpPr>
          <p:cNvPr id="3" name="Titre 2">
            <a:extLst>
              <a:ext uri="{FF2B5EF4-FFF2-40B4-BE49-F238E27FC236}">
                <a16:creationId xmlns:a16="http://schemas.microsoft.com/office/drawing/2014/main" id="{6387B2E4-C37D-2271-1F32-4D903B653086}"/>
              </a:ext>
            </a:extLst>
          </p:cNvPr>
          <p:cNvSpPr>
            <a:spLocks noGrp="1"/>
          </p:cNvSpPr>
          <p:nvPr>
            <p:ph type="title" idx="2"/>
          </p:nvPr>
        </p:nvSpPr>
        <p:spPr/>
        <p:txBody>
          <a:bodyPr/>
          <a:lstStyle/>
          <a:p>
            <a:r>
              <a:rPr kumimoji="0" lang="en-US" sz="1100" b="1" i="0" u="none" strike="noStrike" kern="1200" cap="all" spc="0" normalizeH="0" baseline="0" noProof="0">
                <a:ln>
                  <a:noFill/>
                </a:ln>
                <a:solidFill>
                  <a:prstClr val="white"/>
                </a:solidFill>
                <a:effectLst/>
                <a:uLnTx/>
                <a:uFillTx/>
                <a:latin typeface="Encode Sans"/>
                <a:ea typeface="+mj-ea"/>
                <a:cs typeface="+mj-cs"/>
              </a:rPr>
              <a:t>(Solution X)  - </a:t>
            </a:r>
            <a:r>
              <a:rPr lang="en-US" sz="1100">
                <a:latin typeface="Arial"/>
                <a:cs typeface="Arial"/>
              </a:rPr>
              <a:t>TECHNICAL DESCRIPTION OF THE SOLUTIONS</a:t>
            </a:r>
            <a:endParaRPr lang="en-GB"/>
          </a:p>
        </p:txBody>
      </p:sp>
      <p:sp>
        <p:nvSpPr>
          <p:cNvPr id="6" name="Espace réservé du contenu 1">
            <a:extLst>
              <a:ext uri="{FF2B5EF4-FFF2-40B4-BE49-F238E27FC236}">
                <a16:creationId xmlns:a16="http://schemas.microsoft.com/office/drawing/2014/main" id="{9D6F3F33-B5F1-D816-6B9A-57AE722F737F}"/>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a:solidFill>
                  <a:schemeClr val="accent1"/>
                </a:solidFill>
                <a:latin typeface="Encode Sans" pitchFamily="2" charset="0"/>
              </a:rPr>
              <a:t>Application architecture : SSDLC</a:t>
            </a:r>
            <a:br>
              <a:rPr lang="en-US" sz="1400">
                <a:solidFill>
                  <a:schemeClr val="accent1"/>
                </a:solidFill>
                <a:latin typeface="Encode Sans" pitchFamily="2" charset="0"/>
              </a:rPr>
            </a:br>
            <a:endParaRPr lang="en-US" sz="1400">
              <a:solidFill>
                <a:schemeClr val="accent1"/>
              </a:solidFill>
              <a:latin typeface="Encode Sans" pitchFamily="2" charset="0"/>
            </a:endParaRPr>
          </a:p>
          <a:p>
            <a:pPr lvl="1"/>
            <a:endParaRPr lang="en-US" sz="900">
              <a:solidFill>
                <a:schemeClr val="accent1"/>
              </a:solidFill>
              <a:latin typeface="Encode Sans" pitchFamily="2" charset="0"/>
            </a:endParaRPr>
          </a:p>
          <a:p>
            <a:pPr marL="371475" lvl="1" indent="0">
              <a:buNone/>
            </a:pPr>
            <a:endParaRPr lang="en-US" sz="900">
              <a:solidFill>
                <a:schemeClr val="accent1"/>
              </a:solidFill>
              <a:latin typeface="Encode Sans" pitchFamily="2" charset="0"/>
            </a:endParaRPr>
          </a:p>
        </p:txBody>
      </p:sp>
      <p:sp>
        <p:nvSpPr>
          <p:cNvPr id="7" name="ZoneTexte 6">
            <a:extLst>
              <a:ext uri="{FF2B5EF4-FFF2-40B4-BE49-F238E27FC236}">
                <a16:creationId xmlns:a16="http://schemas.microsoft.com/office/drawing/2014/main" id="{F1824034-C568-E0AE-4D51-C94E9B19C676}"/>
              </a:ext>
            </a:extLst>
          </p:cNvPr>
          <p:cNvSpPr txBox="1"/>
          <p:nvPr/>
        </p:nvSpPr>
        <p:spPr>
          <a:xfrm>
            <a:off x="6626832" y="2197294"/>
            <a:ext cx="1939318" cy="147732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u="none" dirty="0">
                <a:latin typeface="Encode Sans" pitchFamily="2" charset="0"/>
              </a:rPr>
              <a:t>SSDLC documentation:</a:t>
            </a:r>
          </a:p>
          <a:p>
            <a:pPr lvl="0"/>
            <a:r>
              <a:rPr lang="en-GB" dirty="0">
                <a:hlinkClick r:id="rId4" tooltip="https://docinfogroupe.inetpsa.com/ead/doc/ref.20373_24_06449/v.vc/fiche"/>
              </a:rPr>
              <a:t>SSDLC On-Premise</a:t>
            </a:r>
            <a:endParaRPr lang="en-GB" dirty="0"/>
          </a:p>
          <a:p>
            <a:pPr lvl="0"/>
            <a:r>
              <a:rPr lang="en-GB" dirty="0">
                <a:hlinkClick r:id="rId5" tooltip="https://docinfogroupe.inetpsa.com/ead/doc/ref.20373_24_06448/v.vc/fiche"/>
              </a:rPr>
              <a:t>SSDLC AWS</a:t>
            </a:r>
            <a:endParaRPr lang="en-GB" dirty="0"/>
          </a:p>
          <a:p>
            <a:pPr lvl="0"/>
            <a:r>
              <a:rPr lang="en-GB" dirty="0">
                <a:hlinkClick r:id="rId6" tooltip="https://docinfogroupe.inetpsa.com/ead/doc/ref.20373_25_01242/v.vc/fiche"/>
              </a:rPr>
              <a:t>SSDLC SaaS</a:t>
            </a:r>
            <a:endParaRPr lang="en-GB" dirty="0"/>
          </a:p>
          <a:p>
            <a:pPr lvl="0"/>
            <a:r>
              <a:rPr lang="en-GB" dirty="0">
                <a:hlinkClick r:id="rId7" tooltip="https://docinfogroupe.inetpsa.com/ead/doc/ref.20373_26_01890/v.vc/fiche"/>
              </a:rPr>
              <a:t>SSDLC Microsoft Azure</a:t>
            </a:r>
            <a:endParaRPr lang="en-GB" dirty="0"/>
          </a:p>
          <a:p>
            <a:br>
              <a:rPr lang="en-US" u="none" dirty="0">
                <a:latin typeface="Encode Sans" pitchFamily="2" charset="0"/>
              </a:rPr>
            </a:br>
            <a:r>
              <a:rPr lang="en-US" dirty="0">
                <a:latin typeface="Encode Sans" pitchFamily="2" charset="0"/>
              </a:rPr>
              <a:t>Action</a:t>
            </a:r>
            <a:r>
              <a:rPr lang="en-US" u="none" dirty="0">
                <a:latin typeface="Encode Sans" pitchFamily="2" charset="0"/>
              </a:rPr>
              <a:t>:</a:t>
            </a:r>
            <a:br>
              <a:rPr lang="en-US" u="none" dirty="0">
                <a:latin typeface="Encode Sans" pitchFamily="2" charset="0"/>
              </a:rPr>
            </a:br>
            <a:r>
              <a:rPr lang="en-US" u="none" dirty="0">
                <a:latin typeface="Encode Sans" pitchFamily="2" charset="0"/>
              </a:rPr>
              <a:t>Show the progress on this slide. </a:t>
            </a:r>
          </a:p>
        </p:txBody>
      </p:sp>
      <p:sp>
        <p:nvSpPr>
          <p:cNvPr id="4" name="Rectangle 3">
            <a:extLst>
              <a:ext uri="{FF2B5EF4-FFF2-40B4-BE49-F238E27FC236}">
                <a16:creationId xmlns:a16="http://schemas.microsoft.com/office/drawing/2014/main" id="{43BE9755-2454-1304-CA9E-FD3D39862E71}"/>
              </a:ext>
            </a:extLst>
          </p:cNvPr>
          <p:cNvSpPr/>
          <p:nvPr/>
        </p:nvSpPr>
        <p:spPr>
          <a:xfrm>
            <a:off x="1004424" y="2191860"/>
            <a:ext cx="5437707" cy="400110"/>
          </a:xfrm>
          <a:prstGeom prst="rect">
            <a:avLst/>
          </a:prstGeom>
          <a:noFill/>
        </p:spPr>
        <p:txBody>
          <a:bodyPr wrap="none" lIns="91440" tIns="45720" rIns="91440" bIns="45720">
            <a:spAutoFit/>
            <a:scene3d>
              <a:camera prst="isometricRightUp"/>
              <a:lightRig rig="threePt" dir="t"/>
            </a:scene3d>
          </a:bodyPr>
          <a:lstStyle/>
          <a:p>
            <a:pPr algn="ctr"/>
            <a:r>
              <a:rPr lang="fr-FR" sz="2000" b="1" cap="none" spc="50">
                <a:ln w="0"/>
                <a:solidFill>
                  <a:schemeClr val="bg2"/>
                </a:solidFill>
                <a:effectLst/>
              </a:rPr>
              <a:t>Copy last version </a:t>
            </a:r>
            <a:r>
              <a:rPr lang="fr-FR" sz="2000" b="1" cap="none" spc="50" err="1">
                <a:ln w="0"/>
                <a:solidFill>
                  <a:schemeClr val="bg2"/>
                </a:solidFill>
                <a:effectLst/>
              </a:rPr>
              <a:t>from</a:t>
            </a:r>
            <a:r>
              <a:rPr lang="fr-FR" sz="2000" b="1" cap="none" spc="50">
                <a:ln w="0"/>
                <a:solidFill>
                  <a:schemeClr val="bg2"/>
                </a:solidFill>
                <a:effectLst/>
              </a:rPr>
              <a:t> SSDLC document</a:t>
            </a:r>
          </a:p>
        </p:txBody>
      </p:sp>
    </p:spTree>
    <p:extLst>
      <p:ext uri="{BB962C8B-B14F-4D97-AF65-F5344CB8AC3E}">
        <p14:creationId xmlns:p14="http://schemas.microsoft.com/office/powerpoint/2010/main" val="286858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57">
          <a:extLst>
            <a:ext uri="{FF2B5EF4-FFF2-40B4-BE49-F238E27FC236}">
              <a16:creationId xmlns:a16="http://schemas.microsoft.com/office/drawing/2014/main" id="{477F11BB-5B3B-4EFC-1337-F559CED24448}"/>
            </a:ext>
          </a:extLst>
        </p:cNvPr>
        <p:cNvGrpSpPr/>
        <p:nvPr/>
      </p:nvGrpSpPr>
      <p:grpSpPr>
        <a:xfrm>
          <a:off x="0" y="0"/>
          <a:ext cx="0" cy="0"/>
          <a:chOff x="0" y="0"/>
          <a:chExt cx="0" cy="0"/>
        </a:xfrm>
      </p:grpSpPr>
      <p:sp>
        <p:nvSpPr>
          <p:cNvPr id="1158" name="Google Shape;1158;p132">
            <a:extLst>
              <a:ext uri="{FF2B5EF4-FFF2-40B4-BE49-F238E27FC236}">
                <a16:creationId xmlns:a16="http://schemas.microsoft.com/office/drawing/2014/main" id="{85FFCD1E-B961-BC8B-5E04-622678504498}"/>
              </a:ext>
            </a:extLst>
          </p:cNvPr>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Solution – Residual RISKs  (For Gate 1 PoC and Gate 2/4)</a:t>
            </a:r>
            <a:endParaRPr>
              <a:latin typeface="Encode Sans" pitchFamily="2" charset="0"/>
            </a:endParaRPr>
          </a:p>
        </p:txBody>
      </p:sp>
      <p:sp>
        <p:nvSpPr>
          <p:cNvPr id="5" name="Espace réservé du contenu 1">
            <a:extLst>
              <a:ext uri="{FF2B5EF4-FFF2-40B4-BE49-F238E27FC236}">
                <a16:creationId xmlns:a16="http://schemas.microsoft.com/office/drawing/2014/main" id="{5B432D4E-2389-3808-F6B7-60F88E9A431E}"/>
              </a:ext>
            </a:extLst>
          </p:cNvPr>
          <p:cNvSpPr txBox="1">
            <a:spLocks/>
          </p:cNvSpPr>
          <p:nvPr/>
        </p:nvSpPr>
        <p:spPr>
          <a:xfrm>
            <a:off x="296863" y="795614"/>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sz="1400" b="0" i="1">
              <a:solidFill>
                <a:schemeClr val="accent1"/>
              </a:solidFill>
              <a:latin typeface="Encode Sans" pitchFamily="2" charset="0"/>
            </a:endParaRPr>
          </a:p>
        </p:txBody>
      </p:sp>
      <p:graphicFrame>
        <p:nvGraphicFramePr>
          <p:cNvPr id="2" name="Tableau 1">
            <a:extLst>
              <a:ext uri="{FF2B5EF4-FFF2-40B4-BE49-F238E27FC236}">
                <a16:creationId xmlns:a16="http://schemas.microsoft.com/office/drawing/2014/main" id="{46F49E31-0BFE-ACE3-9BDB-0E2199380362}"/>
              </a:ext>
            </a:extLst>
          </p:cNvPr>
          <p:cNvGraphicFramePr>
            <a:graphicFrameLocks noGrp="1"/>
          </p:cNvGraphicFramePr>
          <p:nvPr/>
        </p:nvGraphicFramePr>
        <p:xfrm>
          <a:off x="346364" y="2247371"/>
          <a:ext cx="8451272" cy="2631440"/>
        </p:xfrm>
        <a:graphic>
          <a:graphicData uri="http://schemas.openxmlformats.org/drawingml/2006/table">
            <a:tbl>
              <a:tblPr firstRow="1" bandRow="1">
                <a:tableStyleId>{5C22544A-7EE6-4342-B048-85BDC9FD1C3A}</a:tableStyleId>
              </a:tblPr>
              <a:tblGrid>
                <a:gridCol w="1195565">
                  <a:extLst>
                    <a:ext uri="{9D8B030D-6E8A-4147-A177-3AD203B41FA5}">
                      <a16:colId xmlns:a16="http://schemas.microsoft.com/office/drawing/2014/main" val="2165160315"/>
                    </a:ext>
                  </a:extLst>
                </a:gridCol>
                <a:gridCol w="842683">
                  <a:extLst>
                    <a:ext uri="{9D8B030D-6E8A-4147-A177-3AD203B41FA5}">
                      <a16:colId xmlns:a16="http://schemas.microsoft.com/office/drawing/2014/main" val="1639002924"/>
                    </a:ext>
                  </a:extLst>
                </a:gridCol>
                <a:gridCol w="851647">
                  <a:extLst>
                    <a:ext uri="{9D8B030D-6E8A-4147-A177-3AD203B41FA5}">
                      <a16:colId xmlns:a16="http://schemas.microsoft.com/office/drawing/2014/main" val="2688043695"/>
                    </a:ext>
                  </a:extLst>
                </a:gridCol>
                <a:gridCol w="3244853">
                  <a:extLst>
                    <a:ext uri="{9D8B030D-6E8A-4147-A177-3AD203B41FA5}">
                      <a16:colId xmlns:a16="http://schemas.microsoft.com/office/drawing/2014/main" val="2040168161"/>
                    </a:ext>
                  </a:extLst>
                </a:gridCol>
                <a:gridCol w="2316524">
                  <a:extLst>
                    <a:ext uri="{9D8B030D-6E8A-4147-A177-3AD203B41FA5}">
                      <a16:colId xmlns:a16="http://schemas.microsoft.com/office/drawing/2014/main" val="4150041649"/>
                    </a:ext>
                  </a:extLst>
                </a:gridCol>
              </a:tblGrid>
              <a:tr h="370840">
                <a:tc>
                  <a:txBody>
                    <a:bodyPr/>
                    <a:lstStyle/>
                    <a:p>
                      <a:r>
                        <a:rPr lang="fr-FR" sz="1100"/>
                        <a:t>Risk </a:t>
                      </a:r>
                      <a:r>
                        <a:rPr lang="fr-FR" sz="1100" err="1"/>
                        <a:t>name</a:t>
                      </a:r>
                      <a:endParaRPr lang="en-US" sz="1100"/>
                    </a:p>
                  </a:txBody>
                  <a:tcPr/>
                </a:tc>
                <a:tc>
                  <a:txBody>
                    <a:bodyPr/>
                    <a:lstStyle/>
                    <a:p>
                      <a:r>
                        <a:rPr lang="fr-FR" sz="1100"/>
                        <a:t>Impact (0..3)</a:t>
                      </a:r>
                      <a:endParaRPr lang="en-US" sz="1100"/>
                    </a:p>
                  </a:txBody>
                  <a:tcPr/>
                </a:tc>
                <a:tc>
                  <a:txBody>
                    <a:bodyPr/>
                    <a:lstStyle/>
                    <a:p>
                      <a:r>
                        <a:rPr lang="fr-FR" sz="1100" err="1"/>
                        <a:t>Likehood</a:t>
                      </a:r>
                      <a:r>
                        <a:rPr lang="fr-FR" sz="1100"/>
                        <a:t> (0..3)</a:t>
                      </a:r>
                      <a:endParaRPr lang="en-US" sz="1100"/>
                    </a:p>
                  </a:txBody>
                  <a:tcPr/>
                </a:tc>
                <a:tc>
                  <a:txBody>
                    <a:bodyPr/>
                    <a:lstStyle/>
                    <a:p>
                      <a:r>
                        <a:rPr lang="fr-FR" sz="1100"/>
                        <a:t>Mitigation plan</a:t>
                      </a:r>
                      <a:endParaRPr lang="en-US" sz="1100"/>
                    </a:p>
                  </a:txBody>
                  <a:tcPr/>
                </a:tc>
                <a:tc>
                  <a:txBody>
                    <a:bodyPr/>
                    <a:lstStyle/>
                    <a:p>
                      <a:r>
                        <a:rPr lang="fr-FR" sz="1100" err="1"/>
                        <a:t>Comments</a:t>
                      </a:r>
                      <a:endParaRPr lang="en-US" sz="1100"/>
                    </a:p>
                  </a:txBody>
                  <a:tcPr/>
                </a:tc>
                <a:extLst>
                  <a:ext uri="{0D108BD9-81ED-4DB2-BD59-A6C34878D82A}">
                    <a16:rowId xmlns:a16="http://schemas.microsoft.com/office/drawing/2014/main" val="3522484072"/>
                  </a:ext>
                </a:extLst>
              </a:tr>
              <a:tr h="370840">
                <a:tc>
                  <a:txBody>
                    <a:bodyPr/>
                    <a:lstStyle/>
                    <a:p>
                      <a:r>
                        <a:rPr lang="fr-FR" sz="1200" err="1"/>
                        <a:t>Gen</a:t>
                      </a:r>
                      <a:r>
                        <a:rPr lang="fr-FR" sz="1200"/>
                        <a:t> AI</a:t>
                      </a:r>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000"/>
                    </a:p>
                  </a:txBody>
                  <a:tcPr/>
                </a:tc>
                <a:extLst>
                  <a:ext uri="{0D108BD9-81ED-4DB2-BD59-A6C34878D82A}">
                    <a16:rowId xmlns:a16="http://schemas.microsoft.com/office/drawing/2014/main" val="1796398201"/>
                  </a:ext>
                </a:extLst>
              </a:tr>
              <a:tr h="370840">
                <a:tc>
                  <a:txBody>
                    <a:bodyPr/>
                    <a:lstStyle/>
                    <a:p>
                      <a:r>
                        <a:rPr lang="fr-FR" sz="1200" err="1"/>
                        <a:t>Accessibility</a:t>
                      </a:r>
                      <a:r>
                        <a:rPr lang="fr-FR" sz="1200"/>
                        <a:t> ? </a:t>
                      </a:r>
                      <a:r>
                        <a:rPr lang="fr-FR" sz="1200" err="1"/>
                        <a:t>Lack</a:t>
                      </a:r>
                      <a:r>
                        <a:rPr lang="fr-FR" sz="1200"/>
                        <a:t> of </a:t>
                      </a:r>
                      <a:r>
                        <a:rPr lang="fr-FR" sz="1200" err="1"/>
                        <a:t>accessibility</a:t>
                      </a:r>
                      <a:r>
                        <a:rPr lang="fr-FR" sz="1200"/>
                        <a:t> </a:t>
                      </a:r>
                      <a:r>
                        <a:rPr lang="fr-FR" sz="1200" err="1"/>
                        <a:t>awareness</a:t>
                      </a:r>
                      <a:r>
                        <a:rPr lang="fr-FR" sz="1200"/>
                        <a:t> ? (</a:t>
                      </a:r>
                      <a:r>
                        <a:rPr lang="fr-FR" sz="1200" err="1"/>
                        <a:t>Gate</a:t>
                      </a:r>
                      <a:r>
                        <a:rPr lang="fr-FR" sz="1200"/>
                        <a:t> 2 &amp; 3)</a:t>
                      </a:r>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r>
                        <a:rPr lang="fr-FR" sz="1000"/>
                        <a:t>Applicable if </a:t>
                      </a:r>
                      <a:r>
                        <a:rPr lang="fr-FR" sz="1000" err="1"/>
                        <a:t>there</a:t>
                      </a:r>
                      <a:r>
                        <a:rPr lang="fr-FR" sz="1000"/>
                        <a:t> </a:t>
                      </a:r>
                      <a:r>
                        <a:rPr lang="fr-FR" sz="1000" err="1"/>
                        <a:t>is</a:t>
                      </a:r>
                      <a:r>
                        <a:rPr lang="fr-FR" sz="1000"/>
                        <a:t> visible interface for user (</a:t>
                      </a:r>
                      <a:r>
                        <a:rPr lang="fr-FR" sz="1000" err="1"/>
                        <a:t>Gate</a:t>
                      </a:r>
                      <a:r>
                        <a:rPr lang="fr-FR" sz="1000"/>
                        <a:t> Architecture One Pager)</a:t>
                      </a:r>
                      <a:endParaRPr lang="en-US" sz="1000"/>
                    </a:p>
                  </a:txBody>
                  <a:tcPr/>
                </a:tc>
                <a:extLst>
                  <a:ext uri="{0D108BD9-81ED-4DB2-BD59-A6C34878D82A}">
                    <a16:rowId xmlns:a16="http://schemas.microsoft.com/office/drawing/2014/main" val="94426883"/>
                  </a:ext>
                </a:extLst>
              </a:tr>
              <a:tr h="370840">
                <a:tc>
                  <a:txBody>
                    <a:bodyPr/>
                    <a:lstStyle/>
                    <a:p>
                      <a:r>
                        <a:rPr lang="fr-FR" sz="1200" err="1"/>
                        <a:t>Lack</a:t>
                      </a:r>
                      <a:r>
                        <a:rPr lang="fr-FR" sz="1200"/>
                        <a:t> of training</a:t>
                      </a:r>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000"/>
                    </a:p>
                  </a:txBody>
                  <a:tcPr/>
                </a:tc>
                <a:extLst>
                  <a:ext uri="{0D108BD9-81ED-4DB2-BD59-A6C34878D82A}">
                    <a16:rowId xmlns:a16="http://schemas.microsoft.com/office/drawing/2014/main" val="4183698169"/>
                  </a:ext>
                </a:extLst>
              </a:tr>
              <a:tr h="370840">
                <a:tc>
                  <a:txBody>
                    <a:bodyPr/>
                    <a:lstStyle/>
                    <a:p>
                      <a:r>
                        <a:rPr lang="fr-FR" sz="1200"/>
                        <a:t>Data</a:t>
                      </a:r>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000"/>
                    </a:p>
                  </a:txBody>
                  <a:tcPr/>
                </a:tc>
                <a:extLst>
                  <a:ext uri="{0D108BD9-81ED-4DB2-BD59-A6C34878D82A}">
                    <a16:rowId xmlns:a16="http://schemas.microsoft.com/office/drawing/2014/main" val="1520368789"/>
                  </a:ext>
                </a:extLst>
              </a:tr>
            </a:tbl>
          </a:graphicData>
        </a:graphic>
      </p:graphicFrame>
      <p:sp>
        <p:nvSpPr>
          <p:cNvPr id="3" name="Espace réservé du contenu 1">
            <a:extLst>
              <a:ext uri="{FF2B5EF4-FFF2-40B4-BE49-F238E27FC236}">
                <a16:creationId xmlns:a16="http://schemas.microsoft.com/office/drawing/2014/main" id="{C6E1A561-7F0D-6FEE-B4C5-55661F1861BA}"/>
              </a:ext>
            </a:extLst>
          </p:cNvPr>
          <p:cNvSpPr txBox="1">
            <a:spLocks/>
          </p:cNvSpPr>
          <p:nvPr/>
        </p:nvSpPr>
        <p:spPr>
          <a:xfrm>
            <a:off x="158476" y="784404"/>
            <a:ext cx="8523609" cy="155570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fr-FR" sz="1400">
              <a:solidFill>
                <a:schemeClr val="accent1"/>
              </a:solidFill>
              <a:highlight>
                <a:srgbClr val="FFFF00"/>
              </a:highlight>
              <a:latin typeface="Encode Sans" pitchFamily="2" charset="0"/>
            </a:endParaRPr>
          </a:p>
          <a:p>
            <a:pPr marL="0" indent="0">
              <a:buNone/>
            </a:pPr>
            <a:endParaRPr lang="fr-FR" sz="1400">
              <a:solidFill>
                <a:schemeClr val="accent1"/>
              </a:solidFill>
              <a:highlight>
                <a:srgbClr val="FFFF00"/>
              </a:highlight>
              <a:latin typeface="Encode Sans" pitchFamily="2" charset="0"/>
            </a:endParaRPr>
          </a:p>
          <a:p>
            <a:pPr marL="0" indent="0">
              <a:buNone/>
            </a:pPr>
            <a:endParaRPr lang="fr-FR" sz="1400">
              <a:solidFill>
                <a:schemeClr val="accent1"/>
              </a:solidFill>
              <a:highlight>
                <a:srgbClr val="FFFF00"/>
              </a:highlight>
              <a:latin typeface="Encode Sans" pitchFamily="2" charset="0"/>
            </a:endParaRPr>
          </a:p>
          <a:p>
            <a:pPr marL="0" indent="0">
              <a:buNone/>
            </a:pPr>
            <a:endParaRPr lang="fr-FR" sz="1400">
              <a:solidFill>
                <a:schemeClr val="accent1"/>
              </a:solidFill>
              <a:highlight>
                <a:srgbClr val="FFFF00"/>
              </a:highlight>
              <a:latin typeface="Encode Sans" pitchFamily="2" charset="0"/>
            </a:endParaRPr>
          </a:p>
          <a:p>
            <a:pPr marL="0" indent="0">
              <a:buNone/>
            </a:pPr>
            <a:r>
              <a:rPr lang="fr-FR" sz="1400">
                <a:solidFill>
                  <a:schemeClr val="accent1"/>
                </a:solidFill>
                <a:highlight>
                  <a:srgbClr val="FFFF00"/>
                </a:highlight>
                <a:latin typeface="Encode Sans" pitchFamily="2" charset="0"/>
              </a:rPr>
              <a:t>Example :</a:t>
            </a:r>
            <a:endParaRPr lang="en-US" sz="1400">
              <a:solidFill>
                <a:schemeClr val="accent1"/>
              </a:solidFill>
              <a:latin typeface="Encode Sans" pitchFamily="2" charset="0"/>
            </a:endParaRPr>
          </a:p>
        </p:txBody>
      </p:sp>
    </p:spTree>
    <p:custDataLst>
      <p:tags r:id="rId1"/>
    </p:custDataLst>
    <p:extLst>
      <p:ext uri="{BB962C8B-B14F-4D97-AF65-F5344CB8AC3E}">
        <p14:creationId xmlns:p14="http://schemas.microsoft.com/office/powerpoint/2010/main" val="19162720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Technical Check Committee after Design </a:t>
            </a:r>
            <a:r>
              <a:rPr kumimoji="0" lang="en-GB" sz="1200" b="1" i="0" u="none" strike="noStrike" kern="1200" cap="all" spc="0" normalizeH="0" baseline="0" noProof="0">
                <a:ln>
                  <a:noFill/>
                </a:ln>
                <a:solidFill>
                  <a:prstClr val="white"/>
                </a:solidFill>
                <a:effectLst/>
                <a:uLnTx/>
                <a:uFillTx/>
                <a:latin typeface="Encode Sans"/>
                <a:ea typeface="+mj-ea"/>
                <a:cs typeface="+mj-cs"/>
              </a:rPr>
              <a:t>- Approvers &amp; informed persons</a:t>
            </a:r>
            <a:endParaRPr>
              <a:latin typeface="Encode Sans" pitchFamily="2" charset="0"/>
            </a:endParaRPr>
          </a:p>
        </p:txBody>
      </p:sp>
      <p:sp>
        <p:nvSpPr>
          <p:cNvPr id="6" name="ZoneTexte 5">
            <a:extLst>
              <a:ext uri="{FF2B5EF4-FFF2-40B4-BE49-F238E27FC236}">
                <a16:creationId xmlns:a16="http://schemas.microsoft.com/office/drawing/2014/main" id="{064D00C3-531A-40D3-9FB2-9D987AA904A1}"/>
              </a:ext>
            </a:extLst>
          </p:cNvPr>
          <p:cNvSpPr txBox="1"/>
          <p:nvPr/>
        </p:nvSpPr>
        <p:spPr>
          <a:xfrm>
            <a:off x="228601" y="4808850"/>
            <a:ext cx="4993105" cy="246221"/>
          </a:xfrm>
          <a:prstGeom prst="rect">
            <a:avLst/>
          </a:prstGeom>
          <a:noFill/>
        </p:spPr>
        <p:txBody>
          <a:bodyPr wrap="square">
            <a:spAutoFit/>
          </a:bodyPr>
          <a:lstStyle/>
          <a:p>
            <a:pPr marL="82550" indent="0">
              <a:buNone/>
            </a:pPr>
            <a:r>
              <a:rPr lang="en-US" sz="1000" b="1" i="1">
                <a:solidFill>
                  <a:schemeClr val="accent3">
                    <a:lumMod val="75000"/>
                  </a:schemeClr>
                </a:solidFill>
                <a:latin typeface="Encode Sans" pitchFamily="2" charset="0"/>
                <a:hlinkClick r:id="" action="ppaction://noaction">
                  <a:extLst>
                    <a:ext uri="{A12FA001-AC4F-418D-AE19-62706E023703}">
                      <ahyp:hlinkClr xmlns:ahyp="http://schemas.microsoft.com/office/drawing/2018/hyperlinkcolor" val="tx"/>
                    </a:ext>
                  </a:extLst>
                </a:hlinkClick>
              </a:rPr>
              <a:t>Click here to see Architects &amp; Subject Matter Experts managers</a:t>
            </a:r>
            <a:endParaRPr lang="en-US" sz="1000" b="1" i="1">
              <a:solidFill>
                <a:schemeClr val="accent3">
                  <a:lumMod val="75000"/>
                </a:schemeClr>
              </a:solidFill>
              <a:latin typeface="Encode Sans" pitchFamily="2" charset="0"/>
            </a:endParaRPr>
          </a:p>
        </p:txBody>
      </p:sp>
      <p:graphicFrame>
        <p:nvGraphicFramePr>
          <p:cNvPr id="7" name="Tableau 6">
            <a:extLst>
              <a:ext uri="{FF2B5EF4-FFF2-40B4-BE49-F238E27FC236}">
                <a16:creationId xmlns:a16="http://schemas.microsoft.com/office/drawing/2014/main" id="{D2CC54C2-1509-4BCF-A33D-6E3D1CF31D80}"/>
              </a:ext>
            </a:extLst>
          </p:cNvPr>
          <p:cNvGraphicFramePr>
            <a:graphicFrameLocks noGrp="1"/>
          </p:cNvGraphicFramePr>
          <p:nvPr/>
        </p:nvGraphicFramePr>
        <p:xfrm>
          <a:off x="169336" y="591750"/>
          <a:ext cx="8805327" cy="4069391"/>
        </p:xfrm>
        <a:graphic>
          <a:graphicData uri="http://schemas.openxmlformats.org/drawingml/2006/table">
            <a:tbl>
              <a:tblPr firstRow="1" bandRow="1"/>
              <a:tblGrid>
                <a:gridCol w="1944522">
                  <a:extLst>
                    <a:ext uri="{9D8B030D-6E8A-4147-A177-3AD203B41FA5}">
                      <a16:colId xmlns:a16="http://schemas.microsoft.com/office/drawing/2014/main" val="20000"/>
                    </a:ext>
                  </a:extLst>
                </a:gridCol>
                <a:gridCol w="4348127">
                  <a:extLst>
                    <a:ext uri="{9D8B030D-6E8A-4147-A177-3AD203B41FA5}">
                      <a16:colId xmlns:a16="http://schemas.microsoft.com/office/drawing/2014/main" val="20001"/>
                    </a:ext>
                  </a:extLst>
                </a:gridCol>
                <a:gridCol w="891348">
                  <a:extLst>
                    <a:ext uri="{9D8B030D-6E8A-4147-A177-3AD203B41FA5}">
                      <a16:colId xmlns:a16="http://schemas.microsoft.com/office/drawing/2014/main" val="20002"/>
                    </a:ext>
                  </a:extLst>
                </a:gridCol>
                <a:gridCol w="760719">
                  <a:extLst>
                    <a:ext uri="{9D8B030D-6E8A-4147-A177-3AD203B41FA5}">
                      <a16:colId xmlns:a16="http://schemas.microsoft.com/office/drawing/2014/main" val="20004"/>
                    </a:ext>
                  </a:extLst>
                </a:gridCol>
                <a:gridCol w="860611">
                  <a:extLst>
                    <a:ext uri="{9D8B030D-6E8A-4147-A177-3AD203B41FA5}">
                      <a16:colId xmlns:a16="http://schemas.microsoft.com/office/drawing/2014/main" val="20005"/>
                    </a:ext>
                  </a:extLst>
                </a:gridCol>
              </a:tblGrid>
              <a:tr h="295759">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Name</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Role in the project</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Resp.</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Present</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Approved</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extLst>
                  <a:ext uri="{0D108BD9-81ED-4DB2-BD59-A6C34878D82A}">
                    <a16:rowId xmlns:a16="http://schemas.microsoft.com/office/drawing/2014/main" val="10000"/>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pPr>
                      <a:r>
                        <a:rPr lang="en-US" sz="800" b="0" kern="1200" noProof="0">
                          <a:solidFill>
                            <a:schemeClr val="dk1"/>
                          </a:solidFill>
                          <a:latin typeface="Encode Sans"/>
                          <a:ea typeface="+mn-ea"/>
                          <a:cs typeface="+mn-cs"/>
                        </a:rPr>
                        <a:t>IT project manager</a:t>
                      </a:r>
                    </a:p>
                  </a:txBody>
                  <a:tcPr marT="34259" marB="34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Organizer </a:t>
                      </a:r>
                      <a:endParaRPr lang="en-US" sz="900" kern="1200" noProof="0">
                        <a:solidFill>
                          <a:schemeClr val="dk1"/>
                        </a:solidFill>
                        <a:latin typeface="Encode Sans" pitchFamily="2" charset="0"/>
                        <a:ea typeface="+mn-ea"/>
                        <a:cs typeface="+mn-cs"/>
                      </a:endParaRPr>
                    </a:p>
                  </a:txBody>
                  <a:tcPr marT="34259" marB="34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900" kern="1200" noProof="0">
                          <a:latin typeface="Encode Sans"/>
                        </a:rPr>
                        <a:t>Yes/No</a:t>
                      </a:r>
                      <a:endParaRPr lang="en-US" sz="90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4055207338"/>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kern="1200" noProof="0">
                          <a:latin typeface="Encode Sans"/>
                        </a:rPr>
                        <a:t>IT Manager (Level 4  - Level 3)</a:t>
                      </a:r>
                      <a:endParaRPr lang="en-US" sz="800" b="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2"/>
                  </a:ext>
                </a:extLst>
              </a:tr>
              <a:tr h="247455">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kern="1200" noProof="0">
                          <a:solidFill>
                            <a:schemeClr val="dk1"/>
                          </a:solidFill>
                          <a:latin typeface="Encode Sans"/>
                          <a:ea typeface="+mn-ea"/>
                          <a:cs typeface="+mn-cs"/>
                        </a:rPr>
                        <a:t>Enterprise architect </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753162096"/>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kern="1200" noProof="0">
                          <a:latin typeface="Encode Sans"/>
                        </a:rPr>
                        <a:t>Solution architect</a:t>
                      </a:r>
                      <a:endParaRPr lang="en-US" sz="800" b="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4"/>
                  </a:ext>
                </a:extLst>
              </a:tr>
              <a:tr h="216831">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b="0" i="0" u="none" strike="noStrike" kern="1200" cap="none" noProof="0">
                        <a:solidFill>
                          <a:schemeClr val="dk1"/>
                        </a:solidFill>
                        <a:latin typeface="Encode Sans" pitchFamily="2" charset="0"/>
                        <a:ea typeface="+mn-ea"/>
                        <a:cs typeface="+mn-cs"/>
                        <a:sym typeface="Arial"/>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Security architect</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Approver</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Yes/No</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Yes/No</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extLst>
                  <a:ext uri="{0D108BD9-81ED-4DB2-BD59-A6C34878D82A}">
                    <a16:rowId xmlns:a16="http://schemas.microsoft.com/office/drawing/2014/main" val="222476575"/>
                  </a:ext>
                </a:extLst>
              </a:tr>
              <a:tr h="216831">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Data Privacy representative</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2045415143"/>
                  </a:ext>
                </a:extLst>
              </a:tr>
              <a:tr h="216831">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b="0" kern="1200" noProof="0">
                          <a:solidFill>
                            <a:schemeClr val="dk1"/>
                          </a:solidFill>
                          <a:latin typeface="Encode Sans"/>
                          <a:ea typeface="+mn-ea"/>
                          <a:cs typeface="+mn-cs"/>
                        </a:rPr>
                        <a:t>Cybersecurity referent (CISO team)</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extLst>
                  <a:ext uri="{0D108BD9-81ED-4DB2-BD59-A6C34878D82A}">
                    <a16:rowId xmlns:a16="http://schemas.microsoft.com/office/drawing/2014/main" val="174227987"/>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ts val="0"/>
                        </a:spcBef>
                        <a:spcAft>
                          <a:spcPct val="25000"/>
                        </a:spcAft>
                        <a:buClrTx/>
                        <a:buSzPct val="125000"/>
                        <a:buFontTx/>
                        <a:buNone/>
                      </a:pPr>
                      <a:r>
                        <a:rPr lang="en-US" sz="800" kern="1200" noProof="0">
                          <a:solidFill>
                            <a:schemeClr val="dk1"/>
                          </a:solidFill>
                          <a:latin typeface="Encode Sans"/>
                          <a:ea typeface="+mn-ea"/>
                          <a:cs typeface="+mn-cs"/>
                        </a:rPr>
                        <a:t>Platform Architect  ( Cloud, API, …..referents) add all relevant architects </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extLst>
                  <a:ext uri="{0D108BD9-81ED-4DB2-BD59-A6C34878D82A}">
                    <a16:rowId xmlns:a16="http://schemas.microsoft.com/office/drawing/2014/main" val="2713659941"/>
                  </a:ext>
                </a:extLst>
              </a:tr>
              <a:tr h="26895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kern="1200" noProof="0">
                          <a:solidFill>
                            <a:schemeClr val="dk1"/>
                          </a:solidFill>
                          <a:latin typeface="Encode Sans"/>
                          <a:ea typeface="+mn-ea"/>
                          <a:cs typeface="+mn-cs"/>
                        </a:rPr>
                        <a:t>Solution delivery referent </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843283656"/>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kern="1200">
                          <a:solidFill>
                            <a:schemeClr val="tx1"/>
                          </a:solidFill>
                          <a:latin typeface="Encode Sans"/>
                          <a:ea typeface="+mn-ea"/>
                          <a:cs typeface="+mn-cs"/>
                        </a:rPr>
                        <a:t>Infrastructure  referent (</a:t>
                      </a:r>
                      <a:r>
                        <a:rPr lang="en-US" sz="800" kern="1200" noProof="0">
                          <a:solidFill>
                            <a:schemeClr val="dk1"/>
                          </a:solidFill>
                          <a:latin typeface="Encode Sans"/>
                          <a:ea typeface="+mn-ea"/>
                          <a:cs typeface="+mn-cs"/>
                        </a:rPr>
                        <a:t>Network, Database, Middleware …..)  add all relevant referents </a:t>
                      </a:r>
                      <a:endParaRPr lang="en-US" sz="800" kern="1200">
                        <a:solidFill>
                          <a:srgbClr val="FF0000"/>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3205877714"/>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b="0" kern="1200" noProof="0">
                          <a:solidFill>
                            <a:schemeClr val="dk1"/>
                          </a:solidFill>
                          <a:latin typeface="Encode Sans"/>
                          <a:ea typeface="+mn-ea"/>
                          <a:cs typeface="+mn-cs"/>
                        </a:rPr>
                        <a:t>Maintain software in production resp. </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86054862"/>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b="0" kern="1200" noProof="0">
                          <a:solidFill>
                            <a:schemeClr val="dk1"/>
                          </a:solidFill>
                          <a:latin typeface="Encode Sans"/>
                          <a:ea typeface="+mn-ea"/>
                          <a:cs typeface="+mn-cs"/>
                        </a:rPr>
                        <a:t>Contract Manager</a:t>
                      </a:r>
                    </a:p>
                  </a:txBody>
                  <a:tcPr marT="34259" marB="34259"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561569132"/>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b="0" kern="1200" noProof="0">
                          <a:solidFill>
                            <a:schemeClr val="dk1"/>
                          </a:solidFill>
                          <a:latin typeface="Encode Sans"/>
                          <a:ea typeface="+mn-ea"/>
                          <a:cs typeface="+mn-cs"/>
                        </a:rPr>
                        <a:t>OPS owner</a:t>
                      </a:r>
                    </a:p>
                  </a:txBody>
                  <a:tcPr marT="34259" marB="34259"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931506107"/>
                  </a:ext>
                </a:extLst>
              </a:tr>
              <a:tr h="204561">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b="0" kern="1200" noProof="0">
                          <a:solidFill>
                            <a:schemeClr val="dk1"/>
                          </a:solidFill>
                          <a:latin typeface="Encode Sans"/>
                          <a:ea typeface="+mn-ea"/>
                          <a:cs typeface="+mn-cs"/>
                        </a:rPr>
                        <a:t>DRP referent</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2021537953"/>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b="0" kern="1200" noProof="0">
                          <a:solidFill>
                            <a:schemeClr val="dk1"/>
                          </a:solidFill>
                          <a:latin typeface="Encode Sans"/>
                          <a:ea typeface="+mn-ea"/>
                          <a:cs typeface="+mn-cs"/>
                        </a:rPr>
                        <a:t>API catalog referent</a:t>
                      </a:r>
                    </a:p>
                  </a:txBody>
                  <a:tcPr marT="34259" marB="34259"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3305289624"/>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b="0" kern="1200" noProof="0">
                          <a:solidFill>
                            <a:schemeClr val="dk1"/>
                          </a:solidFill>
                          <a:latin typeface="Encode Sans"/>
                          <a:ea typeface="+mn-ea"/>
                          <a:cs typeface="+mn-cs"/>
                        </a:rPr>
                        <a:t>Data platform referent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900" kern="1200" noProof="0">
                        <a:solidFill>
                          <a:schemeClr val="dk1"/>
                        </a:solidFill>
                        <a:latin typeface="Encode Sans"/>
                        <a:ea typeface="+mn-ea"/>
                        <a:cs typeface="+mn-cs"/>
                      </a:endParaRP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90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90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3421873922"/>
                  </a:ext>
                </a:extLst>
              </a:tr>
              <a:tr h="20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kern="1200" noProof="0">
                          <a:solidFill>
                            <a:schemeClr val="dk1"/>
                          </a:solidFill>
                          <a:latin typeface="Encode Sans"/>
                          <a:ea typeface="+mn-ea"/>
                          <a:cs typeface="+mn-cs"/>
                        </a:rPr>
                        <a:t>sibs-cct@stellantis.com</a:t>
                      </a: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kern="1200" noProof="0">
                          <a:latin typeface="Encode Sans"/>
                        </a:rPr>
                        <a:t>Infrastructure &amp; Architecture team mailbox (add it in the meeting)</a:t>
                      </a:r>
                      <a:endParaRPr lang="en-US" sz="800" b="0" kern="1200" noProof="0">
                        <a:solidFill>
                          <a:schemeClr val="dk1"/>
                        </a:solidFill>
                        <a:latin typeface="Encode Sans"/>
                        <a:ea typeface="+mn-ea"/>
                        <a:cs typeface="+mn-cs"/>
                      </a:endParaRPr>
                    </a:p>
                  </a:txBody>
                  <a:tcPr marT="34259" marB="34259"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3037384387"/>
                  </a:ext>
                </a:extLst>
              </a:tr>
            </a:tbl>
          </a:graphicData>
        </a:graphic>
      </p:graphicFrame>
      <p:sp>
        <p:nvSpPr>
          <p:cNvPr id="2" name="ZoneTexte 1">
            <a:extLst>
              <a:ext uri="{FF2B5EF4-FFF2-40B4-BE49-F238E27FC236}">
                <a16:creationId xmlns:a16="http://schemas.microsoft.com/office/drawing/2014/main" id="{5139D645-EAC6-36B4-BB50-396362BA547A}"/>
              </a:ext>
            </a:extLst>
          </p:cNvPr>
          <p:cNvSpPr txBox="1"/>
          <p:nvPr/>
        </p:nvSpPr>
        <p:spPr>
          <a:xfrm>
            <a:off x="5221706" y="4624470"/>
            <a:ext cx="3693693" cy="307777"/>
          </a:xfrm>
          <a:prstGeom prst="rect">
            <a:avLst/>
          </a:prstGeom>
          <a:noFill/>
        </p:spPr>
        <p:txBody>
          <a:bodyPr wrap="square" rtlCol="0">
            <a:spAutoFit/>
          </a:bodyPr>
          <a:lstStyle/>
          <a:p>
            <a:r>
              <a:rPr lang="fr-FR">
                <a:solidFill>
                  <a:srgbClr val="FF0000"/>
                </a:solidFill>
              </a:rPr>
              <a:t>To </a:t>
            </a:r>
            <a:r>
              <a:rPr lang="fr-FR" err="1">
                <a:solidFill>
                  <a:srgbClr val="FF0000"/>
                </a:solidFill>
              </a:rPr>
              <a:t>add</a:t>
            </a:r>
            <a:r>
              <a:rPr lang="fr-FR">
                <a:solidFill>
                  <a:srgbClr val="FF0000"/>
                </a:solidFill>
              </a:rPr>
              <a:t> Saas Manager – </a:t>
            </a:r>
            <a:r>
              <a:rPr lang="fr-FR" err="1">
                <a:solidFill>
                  <a:srgbClr val="FF0000"/>
                </a:solidFill>
              </a:rPr>
              <a:t>informed</a:t>
            </a:r>
            <a:endParaRPr lang="en-GB">
              <a:solidFill>
                <a:srgbClr val="FF0000"/>
              </a:solidFill>
            </a:endParaRPr>
          </a:p>
        </p:txBody>
      </p:sp>
    </p:spTree>
    <p:custDataLst>
      <p:tags r:id="rId1"/>
    </p:custDataLst>
    <p:extLst>
      <p:ext uri="{BB962C8B-B14F-4D97-AF65-F5344CB8AC3E}">
        <p14:creationId xmlns:p14="http://schemas.microsoft.com/office/powerpoint/2010/main" val="37367110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Summary of the Solutions</a:t>
            </a:r>
            <a:endParaRPr>
              <a:latin typeface="Encode Sans" pitchFamily="2" charset="0"/>
            </a:endParaRPr>
          </a:p>
        </p:txBody>
      </p:sp>
      <p:graphicFrame>
        <p:nvGraphicFramePr>
          <p:cNvPr id="15" name="Tableau 4">
            <a:extLst>
              <a:ext uri="{FF2B5EF4-FFF2-40B4-BE49-F238E27FC236}">
                <a16:creationId xmlns:a16="http://schemas.microsoft.com/office/drawing/2014/main" id="{A3E03952-77D0-48E2-8449-ED8E8BD8F973}"/>
              </a:ext>
            </a:extLst>
          </p:cNvPr>
          <p:cNvGraphicFramePr>
            <a:graphicFrameLocks noGrp="1"/>
          </p:cNvGraphicFramePr>
          <p:nvPr/>
        </p:nvGraphicFramePr>
        <p:xfrm>
          <a:off x="400357" y="716882"/>
          <a:ext cx="8373756" cy="4276470"/>
        </p:xfrm>
        <a:graphic>
          <a:graphicData uri="http://schemas.openxmlformats.org/drawingml/2006/table">
            <a:tbl>
              <a:tblPr firstRow="1" bandRow="1"/>
              <a:tblGrid>
                <a:gridCol w="4548131">
                  <a:extLst>
                    <a:ext uri="{9D8B030D-6E8A-4147-A177-3AD203B41FA5}">
                      <a16:colId xmlns:a16="http://schemas.microsoft.com/office/drawing/2014/main" val="20000"/>
                    </a:ext>
                  </a:extLst>
                </a:gridCol>
                <a:gridCol w="1270342">
                  <a:extLst>
                    <a:ext uri="{9D8B030D-6E8A-4147-A177-3AD203B41FA5}">
                      <a16:colId xmlns:a16="http://schemas.microsoft.com/office/drawing/2014/main" val="20001"/>
                    </a:ext>
                  </a:extLst>
                </a:gridCol>
                <a:gridCol w="1284568">
                  <a:extLst>
                    <a:ext uri="{9D8B030D-6E8A-4147-A177-3AD203B41FA5}">
                      <a16:colId xmlns:a16="http://schemas.microsoft.com/office/drawing/2014/main" val="20002"/>
                    </a:ext>
                  </a:extLst>
                </a:gridCol>
                <a:gridCol w="1270715">
                  <a:extLst>
                    <a:ext uri="{9D8B030D-6E8A-4147-A177-3AD203B41FA5}">
                      <a16:colId xmlns:a16="http://schemas.microsoft.com/office/drawing/2014/main" val="20003"/>
                    </a:ext>
                  </a:extLst>
                </a:gridCol>
              </a:tblGrid>
              <a:tr h="28575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r>
                        <a:rPr lang="en-GB" sz="1200" noProof="0">
                          <a:solidFill>
                            <a:schemeClr val="bg1"/>
                          </a:solidFill>
                          <a:latin typeface="Encode Sans" pitchFamily="2" charset="0"/>
                        </a:rPr>
                        <a:t>CRITERIA</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algn="ctr"/>
                      <a:r>
                        <a:rPr lang="en-GB" sz="1200" noProof="0">
                          <a:solidFill>
                            <a:schemeClr val="bg1"/>
                          </a:solidFill>
                          <a:latin typeface="Encode Sans" pitchFamily="2" charset="0"/>
                        </a:rPr>
                        <a:t>SOLUTION 1</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algn="ctr"/>
                      <a:r>
                        <a:rPr lang="en-GB" sz="1200" noProof="0">
                          <a:solidFill>
                            <a:schemeClr val="bg1"/>
                          </a:solidFill>
                          <a:latin typeface="Encode Sans" pitchFamily="2" charset="0"/>
                        </a:rPr>
                        <a:t>SOLUTION 2</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algn="ctr"/>
                      <a:r>
                        <a:rPr lang="en-GB" sz="1200" noProof="0">
                          <a:solidFill>
                            <a:schemeClr val="bg1"/>
                          </a:solidFill>
                          <a:latin typeface="Encode Sans" pitchFamily="2" charset="0"/>
                        </a:rPr>
                        <a:t>SOLUTION 3</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extLst>
                  <a:ext uri="{0D108BD9-81ED-4DB2-BD59-A6C34878D82A}">
                    <a16:rowId xmlns:a16="http://schemas.microsoft.com/office/drawing/2014/main" val="10000"/>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Functional coverage</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1"/>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Non-Functional Requirements implementation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2"/>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Technical expertise</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3"/>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Implementation complexity</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4"/>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Performance and reliability</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900" b="1" i="0" u="sng" strike="noStrike" cap="none" noProof="0">
                        <a:solidFill>
                          <a:schemeClr val="dk1"/>
                        </a:solidFill>
                        <a:latin typeface="Encode Sans" pitchFamily="2" charset="0"/>
                        <a:ea typeface="+mn-ea"/>
                        <a:cs typeface="+mn-cs"/>
                        <a:sym typeface="Arial"/>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5"/>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Project costs (business and IT)</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GB" sz="1100" noProof="0">
                        <a:latin typeface="Encode Sans"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6"/>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r>
                        <a:rPr lang="en-US" sz="1100" b="0" kern="1200" noProof="0">
                          <a:solidFill>
                            <a:schemeClr val="dk1"/>
                          </a:solidFill>
                          <a:latin typeface="Encode Sans" pitchFamily="2" charset="0"/>
                          <a:ea typeface="+mn-ea"/>
                          <a:cs typeface="+mn-cs"/>
                        </a:rPr>
                        <a:t>Investments:  Hardware cost (servers, …)</a:t>
                      </a:r>
                    </a:p>
                    <a:p>
                      <a:pPr marL="0" algn="l" defTabSz="457189" rtl="0" eaLnBrk="1" latinLnBrk="0" hangingPunct="1"/>
                      <a:r>
                        <a:rPr lang="en-US" sz="1100" b="0" kern="1200" noProof="0">
                          <a:solidFill>
                            <a:schemeClr val="dk1"/>
                          </a:solidFill>
                          <a:latin typeface="Encode Sans" pitchFamily="2" charset="0"/>
                          <a:ea typeface="+mn-ea"/>
                          <a:cs typeface="+mn-cs"/>
                        </a:rPr>
                        <a:t>                         Cost of software licenses</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900" b="1" i="0" u="sng" strike="noStrike" cap="none" noProof="0">
                        <a:solidFill>
                          <a:schemeClr val="dk1"/>
                        </a:solidFill>
                        <a:latin typeface="Encode Sans" pitchFamily="2" charset="0"/>
                        <a:ea typeface="+mn-ea"/>
                        <a:cs typeface="+mn-cs"/>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7"/>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1100" b="0" kern="1200" noProof="0">
                          <a:solidFill>
                            <a:schemeClr val="dk1"/>
                          </a:solidFill>
                          <a:latin typeface="Encode Sans" pitchFamily="2" charset="0"/>
                          <a:ea typeface="+mn-ea"/>
                          <a:cs typeface="+mn-cs"/>
                        </a:rPr>
                        <a:t>Schedule</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8"/>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1100" b="0" kern="1200" noProof="0">
                          <a:solidFill>
                            <a:schemeClr val="dk1"/>
                          </a:solidFill>
                          <a:latin typeface="Encode Sans" pitchFamily="2" charset="0"/>
                          <a:ea typeface="+mn-ea"/>
                          <a:cs typeface="+mn-cs"/>
                        </a:rPr>
                        <a:t>Cloud (cloud solution is mandatory)</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3354857989"/>
                  </a:ext>
                </a:extLst>
              </a:tr>
              <a:tr h="39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l" defTabSz="457189" rtl="0" eaLnBrk="1" fontAlgn="auto" latinLnBrk="0" hangingPunct="1">
                        <a:lnSpc>
                          <a:spcPct val="100000"/>
                        </a:lnSpc>
                        <a:spcBef>
                          <a:spcPts val="0"/>
                        </a:spcBef>
                        <a:spcAft>
                          <a:spcPts val="0"/>
                        </a:spcAft>
                        <a:buClrTx/>
                        <a:buSzTx/>
                        <a:buFontTx/>
                        <a:buNone/>
                        <a:tabLst/>
                        <a:defRPr/>
                      </a:pPr>
                      <a:r>
                        <a:rPr lang="en-US" sz="1400" b="1" kern="1200" noProof="0">
                          <a:solidFill>
                            <a:schemeClr val="dk1"/>
                          </a:solidFill>
                          <a:latin typeface="Encode Sans" pitchFamily="2" charset="0"/>
                          <a:ea typeface="+mn-ea"/>
                          <a:cs typeface="+mn-cs"/>
                        </a:rPr>
                        <a:t>Recommended solution</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indent="0" algn="ctr" defTabSz="457189" rtl="0" eaLnBrk="1" fontAlgn="auto" latinLnBrk="0" hangingPunct="1">
                        <a:lnSpc>
                          <a:spcPct val="100000"/>
                        </a:lnSpc>
                        <a:spcBef>
                          <a:spcPts val="0"/>
                        </a:spcBef>
                        <a:spcAft>
                          <a:spcPts val="0"/>
                        </a:spcAft>
                        <a:buClrTx/>
                        <a:buSzTx/>
                        <a:buFontTx/>
                        <a:buNone/>
                        <a:tabLst/>
                        <a:defRPr/>
                      </a:pPr>
                      <a:endParaRPr lang="en-GB" sz="1100" b="1" i="1" noProof="0">
                        <a:latin typeface="Encode Sans" pitchFamily="2" charset="0"/>
                        <a:sym typeface="Wingding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9"/>
                  </a:ext>
                </a:extLst>
              </a:tr>
            </a:tbl>
          </a:graphicData>
        </a:graphic>
      </p:graphicFrame>
      <p:pic>
        <p:nvPicPr>
          <p:cNvPr id="16" name="Picture 2">
            <a:extLst>
              <a:ext uri="{FF2B5EF4-FFF2-40B4-BE49-F238E27FC236}">
                <a16:creationId xmlns:a16="http://schemas.microsoft.com/office/drawing/2014/main" id="{FA0B0B6F-A4F0-4F54-BD07-08FB21DCAD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64369" y="1003791"/>
            <a:ext cx="407810" cy="407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a:extLst>
              <a:ext uri="{FF2B5EF4-FFF2-40B4-BE49-F238E27FC236}">
                <a16:creationId xmlns:a16="http://schemas.microsoft.com/office/drawing/2014/main" id="{6F6D7AC2-0F07-45C1-947D-AF17645E693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42122" y="1032366"/>
            <a:ext cx="365425" cy="349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a:extLst>
              <a:ext uri="{FF2B5EF4-FFF2-40B4-BE49-F238E27FC236}">
                <a16:creationId xmlns:a16="http://schemas.microsoft.com/office/drawing/2014/main" id="{5E8769F8-574F-4FDB-92C8-0EEA60427E3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64663" y="1032366"/>
            <a:ext cx="378712" cy="36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 coins arrondis 3">
            <a:extLst>
              <a:ext uri="{FF2B5EF4-FFF2-40B4-BE49-F238E27FC236}">
                <a16:creationId xmlns:a16="http://schemas.microsoft.com/office/drawing/2014/main" id="{7CA3E400-F736-42DD-85BB-504D5EEE9D42}"/>
              </a:ext>
            </a:extLst>
          </p:cNvPr>
          <p:cNvSpPr/>
          <p:nvPr/>
        </p:nvSpPr>
        <p:spPr>
          <a:xfrm>
            <a:off x="5250720" y="1490104"/>
            <a:ext cx="3218464" cy="611682"/>
          </a:xfrm>
          <a:prstGeom prst="roundRect">
            <a:avLst/>
          </a:prstGeom>
          <a:solidFill>
            <a:srgbClr val="243782"/>
          </a:solidFill>
          <a:ln w="12700" cap="flat" cmpd="sng" algn="ctr">
            <a:solidFill>
              <a:srgbClr val="243782">
                <a:shade val="50000"/>
              </a:srgbClr>
            </a:solidFill>
            <a:prstDash val="solid"/>
            <a:miter lim="800000"/>
          </a:ln>
          <a:effectLst/>
        </p:spPr>
        <p:txBody>
          <a:bodyPr rtlCol="0" anchor="t"/>
          <a:lstStyle/>
          <a:p>
            <a:pPr marL="263525" marR="0" lvl="0" indent="-263525"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Encode Sans ExpandedMedium" pitchFamily="2" charset="0"/>
                <a:ea typeface="+mn-ea"/>
                <a:cs typeface="Arial"/>
                <a:sym typeface="Arial"/>
              </a:rPr>
              <a:t>For each cell of the table, place a smiley of suitable color</a:t>
            </a:r>
            <a:endParaRPr kumimoji="0" lang="en-US" sz="1050" b="0" i="0" u="none" strike="noStrike" kern="0" cap="none" spc="0" normalizeH="0" baseline="0" noProof="0">
              <a:ln>
                <a:noFill/>
              </a:ln>
              <a:solidFill>
                <a:prstClr val="white"/>
              </a:solidFill>
              <a:effectLst/>
              <a:uLnTx/>
              <a:uFillTx/>
              <a:latin typeface="Encode Sans ExpandedMedium" pitchFamily="2" charset="0"/>
              <a:ea typeface="+mn-ea"/>
              <a:cs typeface="Arial"/>
              <a:sym typeface="Arial"/>
            </a:endParaRPr>
          </a:p>
        </p:txBody>
      </p:sp>
      <p:sp>
        <p:nvSpPr>
          <p:cNvPr id="2" name="ZoneTexte 1">
            <a:extLst>
              <a:ext uri="{FF2B5EF4-FFF2-40B4-BE49-F238E27FC236}">
                <a16:creationId xmlns:a16="http://schemas.microsoft.com/office/drawing/2014/main" id="{AE2643B2-413B-969B-B8AE-88AADEA2010A}"/>
              </a:ext>
            </a:extLst>
          </p:cNvPr>
          <p:cNvSpPr txBox="1"/>
          <p:nvPr/>
        </p:nvSpPr>
        <p:spPr>
          <a:xfrm>
            <a:off x="5618121" y="4147130"/>
            <a:ext cx="2725254" cy="661720"/>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1200"/>
              </a:spcAft>
              <a:buClr>
                <a:srgbClr val="000000"/>
              </a:buClr>
              <a:buSzTx/>
              <a:buFont typeface="Arial"/>
              <a:buNone/>
              <a:tabLst/>
              <a:defRPr/>
            </a:pPr>
            <a:r>
              <a:rPr kumimoji="0" lang="en-US" sz="900" b="0" i="0" u="none" strike="noStrike" kern="0" cap="none" spc="0" normalizeH="0" baseline="0" noProof="0">
                <a:ln>
                  <a:noFill/>
                </a:ln>
                <a:solidFill>
                  <a:srgbClr val="272B35"/>
                </a:solidFill>
                <a:effectLst/>
                <a:uLnTx/>
                <a:uFillTx/>
                <a:latin typeface="Encode Sans" pitchFamily="2" charset="0"/>
                <a:ea typeface="+mn-ea"/>
                <a:cs typeface="+mn-cs"/>
                <a:sym typeface="Arial"/>
              </a:rPr>
              <a:t>Remark: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272B35"/>
                </a:solidFill>
                <a:effectLst/>
                <a:uLnTx/>
                <a:uFillTx/>
                <a:latin typeface="Encode Sans" pitchFamily="2" charset="0"/>
                <a:ea typeface="+mn-ea"/>
                <a:cs typeface="+mn-cs"/>
                <a:sym typeface="Arial"/>
              </a:rPr>
              <a:t>Selection criteria are proposed; they can be fulfilled or withdrawn. </a:t>
            </a:r>
          </a:p>
        </p:txBody>
      </p:sp>
    </p:spTree>
    <p:custDataLst>
      <p:tags r:id="rId1"/>
    </p:custDataLst>
    <p:extLst>
      <p:ext uri="{BB962C8B-B14F-4D97-AF65-F5344CB8AC3E}">
        <p14:creationId xmlns:p14="http://schemas.microsoft.com/office/powerpoint/2010/main" val="21284582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Technical Check Committee initial - Approval</a:t>
            </a:r>
            <a:endParaRPr>
              <a:latin typeface="Encode Sans" pitchFamily="2" charset="0"/>
            </a:endParaRPr>
          </a:p>
        </p:txBody>
      </p:sp>
      <p:sp>
        <p:nvSpPr>
          <p:cNvPr id="8" name="Google Shape;246;p33">
            <a:extLst>
              <a:ext uri="{FF2B5EF4-FFF2-40B4-BE49-F238E27FC236}">
                <a16:creationId xmlns:a16="http://schemas.microsoft.com/office/drawing/2014/main" id="{664C6DED-65E5-4EA0-B9B0-CDEB76FF9FD8}"/>
              </a:ext>
            </a:extLst>
          </p:cNvPr>
          <p:cNvSpPr/>
          <p:nvPr/>
        </p:nvSpPr>
        <p:spPr>
          <a:xfrm>
            <a:off x="411590" y="929678"/>
            <a:ext cx="8369113" cy="791840"/>
          </a:xfrm>
          <a:prstGeom prst="rect">
            <a:avLst/>
          </a:prstGeom>
          <a:solidFill>
            <a:srgbClr val="D7E8F8"/>
          </a:solid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b="1" i="0" u="none" strike="noStrike" kern="0" cap="none" spc="0" normalizeH="0" baseline="0" noProof="0">
              <a:ln>
                <a:noFill/>
              </a:ln>
              <a:solidFill>
                <a:srgbClr val="243782"/>
              </a:solidFill>
              <a:effectLst/>
              <a:uLnTx/>
              <a:uFillTx/>
              <a:latin typeface="Encode Sans" pitchFamily="2" charset="0"/>
              <a:cs typeface="Arial"/>
              <a:sym typeface="Arial"/>
            </a:endParaRPr>
          </a:p>
        </p:txBody>
      </p:sp>
      <p:sp>
        <p:nvSpPr>
          <p:cNvPr id="9" name="Google Shape;250;p33">
            <a:extLst>
              <a:ext uri="{FF2B5EF4-FFF2-40B4-BE49-F238E27FC236}">
                <a16:creationId xmlns:a16="http://schemas.microsoft.com/office/drawing/2014/main" id="{941F6C4B-854B-46BA-91B5-5217D3573567}"/>
              </a:ext>
            </a:extLst>
          </p:cNvPr>
          <p:cNvSpPr/>
          <p:nvPr/>
        </p:nvSpPr>
        <p:spPr>
          <a:xfrm>
            <a:off x="494665" y="995253"/>
            <a:ext cx="1827701"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Encode Sans" pitchFamily="2" charset="0"/>
                <a:cs typeface="Arial"/>
                <a:sym typeface="Arial"/>
              </a:rPr>
              <a:t>Organization</a:t>
            </a:r>
          </a:p>
        </p:txBody>
      </p:sp>
      <p:sp>
        <p:nvSpPr>
          <p:cNvPr id="10" name="Google Shape;279;p33">
            <a:extLst>
              <a:ext uri="{FF2B5EF4-FFF2-40B4-BE49-F238E27FC236}">
                <a16:creationId xmlns:a16="http://schemas.microsoft.com/office/drawing/2014/main" id="{B2E36F4A-12A7-4AA0-BCEF-047CEC8FF56A}"/>
              </a:ext>
            </a:extLst>
          </p:cNvPr>
          <p:cNvSpPr/>
          <p:nvPr/>
        </p:nvSpPr>
        <p:spPr>
          <a:xfrm>
            <a:off x="2322355" y="1001797"/>
            <a:ext cx="6561468" cy="277800"/>
          </a:xfrm>
          <a:prstGeom prst="rect">
            <a:avLst/>
          </a:prstGeom>
          <a:noFill/>
          <a:ln>
            <a:noFill/>
          </a:ln>
        </p:spPr>
        <p:txBody>
          <a:bodyPr spcFirstLastPara="1" wrap="square" lIns="98150" tIns="49075" rIns="98150" bIns="490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7F7F7F"/>
                </a:solidFill>
                <a:effectLst/>
                <a:uLnTx/>
                <a:uFillTx/>
                <a:latin typeface="Encode Sans" pitchFamily="2" charset="0"/>
                <a:cs typeface="Arial"/>
                <a:sym typeface="Arial"/>
              </a:rPr>
              <a:t>Formal meeting / document workflow</a:t>
            </a:r>
          </a:p>
        </p:txBody>
      </p:sp>
      <p:sp>
        <p:nvSpPr>
          <p:cNvPr id="11" name="Google Shape;274;p33">
            <a:extLst>
              <a:ext uri="{FF2B5EF4-FFF2-40B4-BE49-F238E27FC236}">
                <a16:creationId xmlns:a16="http://schemas.microsoft.com/office/drawing/2014/main" id="{786B2542-72DA-47A7-9ACA-4B8ACB06762D}"/>
              </a:ext>
            </a:extLst>
          </p:cNvPr>
          <p:cNvSpPr/>
          <p:nvPr/>
        </p:nvSpPr>
        <p:spPr>
          <a:xfrm>
            <a:off x="411591" y="1899728"/>
            <a:ext cx="8374344" cy="277800"/>
          </a:xfrm>
          <a:prstGeom prst="round2SameRect">
            <a:avLst>
              <a:gd name="adj1" fmla="val 16667"/>
              <a:gd name="adj2" fmla="val 0"/>
            </a:avLst>
          </a:prstGeom>
          <a:solidFill>
            <a:srgbClr val="7F7F7F"/>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Encode Sans" pitchFamily="2" charset="0"/>
                <a:cs typeface="Arial"/>
                <a:sym typeface="Arial"/>
              </a:rPr>
              <a:t>Comments</a:t>
            </a:r>
            <a:endParaRPr kumimoji="0" lang="en-GB" sz="1100" b="1" i="0" u="none" strike="noStrike" kern="0" cap="none" spc="0" normalizeH="0" baseline="0" noProof="0">
              <a:ln>
                <a:noFill/>
              </a:ln>
              <a:solidFill>
                <a:srgbClr val="FFFFFF"/>
              </a:solidFill>
              <a:effectLst/>
              <a:uLnTx/>
              <a:uFillTx/>
              <a:latin typeface="Encode Sans" pitchFamily="2" charset="0"/>
              <a:cs typeface="Arial"/>
              <a:sym typeface="Arial"/>
            </a:endParaRPr>
          </a:p>
        </p:txBody>
      </p:sp>
      <p:sp>
        <p:nvSpPr>
          <p:cNvPr id="12" name="Google Shape;273;p33">
            <a:extLst>
              <a:ext uri="{FF2B5EF4-FFF2-40B4-BE49-F238E27FC236}">
                <a16:creationId xmlns:a16="http://schemas.microsoft.com/office/drawing/2014/main" id="{C2638AE8-666C-4DBD-BFB7-D152CA80EDBD}"/>
              </a:ext>
            </a:extLst>
          </p:cNvPr>
          <p:cNvSpPr/>
          <p:nvPr/>
        </p:nvSpPr>
        <p:spPr>
          <a:xfrm>
            <a:off x="425340" y="2197768"/>
            <a:ext cx="8348773" cy="2669507"/>
          </a:xfrm>
          <a:prstGeom prst="rect">
            <a:avLst/>
          </a:prstGeom>
          <a:solidFill>
            <a:sysClr val="window" lastClr="FFFFFF"/>
          </a:solidFill>
          <a:ln w="25400" cap="flat" cmpd="sng">
            <a:solidFill>
              <a:srgbClr val="272B35"/>
            </a:solidFill>
            <a:prstDash val="solid"/>
            <a:round/>
            <a:headEnd type="none" w="sm" len="sm"/>
            <a:tailEnd type="none" w="sm" len="sm"/>
          </a:ln>
        </p:spPr>
        <p:txBody>
          <a:bodyPr spcFirstLastPara="1" wrap="square" lIns="98150" tIns="49075" rIns="98150" bIns="49075" anchor="t" anchorCtr="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ysClr val="windowText" lastClr="000000"/>
                </a:solidFill>
                <a:effectLst/>
                <a:uLnTx/>
                <a:uFillTx/>
                <a:latin typeface="Encode Sans" pitchFamily="2" charset="0"/>
                <a:cs typeface="Arial"/>
                <a:sym typeface="Arial"/>
              </a:rPr>
              <a:t>Number and description of the approved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ysClr val="windowText" lastClr="000000"/>
              </a:solidFill>
              <a:effectLst/>
              <a:uLnTx/>
              <a:uFillTx/>
              <a:latin typeface="Encode Sans" pitchFamily="2" charset="0"/>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ysClr val="windowText" lastClr="000000"/>
                </a:solidFill>
                <a:effectLst/>
                <a:uLnTx/>
                <a:uFillTx/>
                <a:latin typeface="Encode Sans" pitchFamily="2" charset="0"/>
                <a:cs typeface="Arial"/>
                <a:sym typeface="Arial"/>
              </a:rPr>
              <a:t>If the comments are numerous, add a link to an external document (comments / important exchanges, questions / answers collected during the gate).</a:t>
            </a:r>
            <a:endParaRPr kumimoji="0" lang="fr-FR" sz="1050" b="0" i="0" u="none" strike="noStrike" kern="0" cap="none" spc="0" normalizeH="0" baseline="0" noProof="0">
              <a:ln>
                <a:noFill/>
              </a:ln>
              <a:solidFill>
                <a:sysClr val="windowText" lastClr="000000"/>
              </a:solidFill>
              <a:effectLst/>
              <a:uLnTx/>
              <a:uFillTx/>
              <a:latin typeface="Encode Sans" pitchFamily="2" charset="0"/>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ysClr val="windowText" lastClr="000000"/>
              </a:solidFill>
              <a:effectLst/>
              <a:uLnTx/>
              <a:uFillTx/>
              <a:latin typeface="Encode Sans" pitchFamily="2" charset="0"/>
              <a:cs typeface="Arial"/>
              <a:sym typeface="Aria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050" b="0" i="1" u="none" strike="noStrike" kern="0" cap="none" spc="0" normalizeH="0" baseline="0" noProof="0">
              <a:ln>
                <a:noFill/>
              </a:ln>
              <a:solidFill>
                <a:srgbClr val="7F7F7F"/>
              </a:solidFill>
              <a:effectLst/>
              <a:uLnTx/>
              <a:uFillTx/>
              <a:latin typeface="Encode Sans" pitchFamily="2" charset="0"/>
              <a:cs typeface="Arial"/>
              <a:sym typeface="Aria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0" cap="none" spc="0" normalizeH="0" baseline="0" noProof="0">
                <a:ln>
                  <a:noFill/>
                </a:ln>
                <a:solidFill>
                  <a:srgbClr val="7F7F7F"/>
                </a:solidFill>
                <a:effectLst/>
                <a:uLnTx/>
                <a:uFillTx/>
                <a:latin typeface="Encode Sans" pitchFamily="2" charset="0"/>
                <a:cs typeface="Arial"/>
                <a:sym typeface="Arial"/>
              </a:rPr>
              <a:t>   </a:t>
            </a:r>
          </a:p>
        </p:txBody>
      </p:sp>
      <p:sp>
        <p:nvSpPr>
          <p:cNvPr id="13" name="Google Shape;250;p33">
            <a:extLst>
              <a:ext uri="{FF2B5EF4-FFF2-40B4-BE49-F238E27FC236}">
                <a16:creationId xmlns:a16="http://schemas.microsoft.com/office/drawing/2014/main" id="{53B59487-A8E5-4CCE-8CA5-EB6AE0D33473}"/>
              </a:ext>
            </a:extLst>
          </p:cNvPr>
          <p:cNvSpPr/>
          <p:nvPr/>
        </p:nvSpPr>
        <p:spPr>
          <a:xfrm>
            <a:off x="494665" y="1338028"/>
            <a:ext cx="1827701" cy="277200"/>
          </a:xfrm>
          <a:prstGeom prst="round2SameRect">
            <a:avLst>
              <a:gd name="adj1" fmla="val 16667"/>
              <a:gd name="adj2" fmla="val 0"/>
            </a:avLst>
          </a:prstGeom>
          <a:solidFill>
            <a:srgbClr val="243782"/>
          </a:solidFill>
          <a:ln>
            <a:noFill/>
          </a:ln>
          <a:effectLst>
            <a:outerShdw dist="35921" dir="2700000" algn="ctr" rotWithShape="0">
              <a:srgbClr val="EEECE1"/>
            </a:outerShdw>
          </a:effectLst>
        </p:spPr>
        <p:txBody>
          <a:bodyPr spcFirstLastPara="1" wrap="square" lIns="91425" tIns="45700" rIns="91425" bIns="45700" anchor="ctr" anchorCtr="0">
            <a:noAutofit/>
          </a:bodyPr>
          <a:lstStyle/>
          <a:p>
            <a:pPr marL="381000" marR="0" lvl="0" indent="-38100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FFFFFF"/>
                </a:solidFill>
                <a:effectLst/>
                <a:uLnTx/>
                <a:uFillTx/>
                <a:latin typeface="Encode Sans" pitchFamily="2" charset="0"/>
                <a:cs typeface="Arial"/>
                <a:sym typeface="Arial"/>
              </a:rPr>
              <a:t>global decision</a:t>
            </a:r>
            <a:endParaRPr kumimoji="0" lang="en-GB" sz="1100" b="0" i="0" u="none" strike="noStrike" kern="0" cap="none" spc="0" normalizeH="0" baseline="0" noProof="0" dirty="0">
              <a:ln>
                <a:noFill/>
              </a:ln>
              <a:solidFill>
                <a:sysClr val="windowText" lastClr="000000"/>
              </a:solidFill>
              <a:effectLst/>
              <a:uLnTx/>
              <a:uFillTx/>
              <a:latin typeface="Encode Sans" pitchFamily="2" charset="0"/>
              <a:cs typeface="Arial"/>
              <a:sym typeface="Arial"/>
            </a:endParaRPr>
          </a:p>
        </p:txBody>
      </p:sp>
      <p:sp>
        <p:nvSpPr>
          <p:cNvPr id="14" name="Google Shape;279;p33">
            <a:extLst>
              <a:ext uri="{FF2B5EF4-FFF2-40B4-BE49-F238E27FC236}">
                <a16:creationId xmlns:a16="http://schemas.microsoft.com/office/drawing/2014/main" id="{053E85F2-D089-4482-B899-23E624F73107}"/>
              </a:ext>
            </a:extLst>
          </p:cNvPr>
          <p:cNvSpPr/>
          <p:nvPr/>
        </p:nvSpPr>
        <p:spPr>
          <a:xfrm>
            <a:off x="2322355" y="1344572"/>
            <a:ext cx="6561468" cy="277800"/>
          </a:xfrm>
          <a:prstGeom prst="rect">
            <a:avLst/>
          </a:prstGeom>
          <a:noFill/>
          <a:ln>
            <a:noFill/>
          </a:ln>
        </p:spPr>
        <p:txBody>
          <a:bodyPr spcFirstLastPara="1" wrap="square" lIns="98150" tIns="49075" rIns="98150" bIns="490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7F7F7F"/>
                </a:solidFill>
                <a:effectLst/>
                <a:uLnTx/>
                <a:uFillTx/>
                <a:latin typeface="Encode Sans" pitchFamily="2" charset="0"/>
                <a:cs typeface="Arial"/>
                <a:sym typeface="Arial"/>
              </a:rPr>
              <a:t>Approved solution</a:t>
            </a:r>
          </a:p>
        </p:txBody>
      </p:sp>
      <p:sp>
        <p:nvSpPr>
          <p:cNvPr id="2" name="ZoneTexte 1">
            <a:extLst>
              <a:ext uri="{FF2B5EF4-FFF2-40B4-BE49-F238E27FC236}">
                <a16:creationId xmlns:a16="http://schemas.microsoft.com/office/drawing/2014/main" id="{8119E8B6-884E-0BB4-8E6C-1938B9AD3234}"/>
              </a:ext>
            </a:extLst>
          </p:cNvPr>
          <p:cNvSpPr txBox="1"/>
          <p:nvPr/>
        </p:nvSpPr>
        <p:spPr>
          <a:xfrm>
            <a:off x="5603089" y="3398985"/>
            <a:ext cx="2725254" cy="1215717"/>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1200"/>
              </a:spcAft>
              <a:buClr>
                <a:srgbClr val="000000"/>
              </a:buClr>
              <a:buSzTx/>
              <a:buFont typeface="Arial"/>
              <a:buNone/>
              <a:tabLst/>
              <a:defRPr/>
            </a:pPr>
            <a:r>
              <a:rPr kumimoji="0" lang="en-US" sz="900" b="0" i="0" u="none" strike="noStrike" kern="0" cap="none" spc="0" normalizeH="0" baseline="0" noProof="0">
                <a:ln>
                  <a:noFill/>
                </a:ln>
                <a:solidFill>
                  <a:srgbClr val="272B35"/>
                </a:solidFill>
                <a:effectLst/>
                <a:uLnTx/>
                <a:uFillTx/>
                <a:latin typeface="Encode Sans" pitchFamily="2" charset="0"/>
                <a:ea typeface="+mn-ea"/>
                <a:cs typeface="+mn-cs"/>
                <a:sym typeface="Arial"/>
              </a:rPr>
              <a:t>Remark: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272B35"/>
                </a:solidFill>
                <a:effectLst/>
                <a:uLnTx/>
                <a:uFillTx/>
                <a:latin typeface="Encode Sans" pitchFamily="2" charset="0"/>
                <a:ea typeface="+mn-ea"/>
                <a:cs typeface="+mn-cs"/>
                <a:sym typeface="Arial"/>
              </a:rPr>
              <a:t>The Technical check Committee Gate is mandatory before presenting the project to the DOPCO</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272B35"/>
                </a:solidFill>
                <a:effectLst/>
                <a:uLnTx/>
                <a:uFillTx/>
                <a:latin typeface="Encode Sans" pitchFamily="2" charset="0"/>
                <a:ea typeface="+mn-ea"/>
                <a:cs typeface="+mn-cs"/>
                <a:sym typeface="Arial"/>
              </a:rPr>
              <a:t>Any dispense (ex: small evolution with no impact on architecture) must be validated by the architect team. </a:t>
            </a:r>
          </a:p>
        </p:txBody>
      </p:sp>
    </p:spTree>
    <p:custDataLst>
      <p:tags r:id="rId1"/>
    </p:custDataLst>
    <p:extLst>
      <p:ext uri="{BB962C8B-B14F-4D97-AF65-F5344CB8AC3E}">
        <p14:creationId xmlns:p14="http://schemas.microsoft.com/office/powerpoint/2010/main" val="18736686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Technical Check Committee initial </a:t>
            </a:r>
            <a:r>
              <a:rPr kumimoji="0" lang="en-GB" sz="1200" b="1" i="0" u="none" strike="noStrike" kern="1200" cap="all" spc="0" normalizeH="0" baseline="0" noProof="0">
                <a:ln>
                  <a:noFill/>
                </a:ln>
                <a:solidFill>
                  <a:prstClr val="white"/>
                </a:solidFill>
                <a:effectLst/>
                <a:uLnTx/>
                <a:uFillTx/>
                <a:latin typeface="Encode Sans"/>
                <a:ea typeface="+mj-ea"/>
                <a:cs typeface="+mj-cs"/>
              </a:rPr>
              <a:t>- Actions requested by approvers</a:t>
            </a:r>
            <a:endParaRPr>
              <a:latin typeface="Encode Sans" pitchFamily="2" charset="0"/>
            </a:endParaRPr>
          </a:p>
        </p:txBody>
      </p:sp>
      <p:graphicFrame>
        <p:nvGraphicFramePr>
          <p:cNvPr id="15" name="Tableau 4">
            <a:extLst>
              <a:ext uri="{FF2B5EF4-FFF2-40B4-BE49-F238E27FC236}">
                <a16:creationId xmlns:a16="http://schemas.microsoft.com/office/drawing/2014/main" id="{4A5321E5-446F-45CC-84B0-86D941F4A87E}"/>
              </a:ext>
            </a:extLst>
          </p:cNvPr>
          <p:cNvGraphicFramePr>
            <a:graphicFrameLocks noGrp="1"/>
          </p:cNvGraphicFramePr>
          <p:nvPr/>
        </p:nvGraphicFramePr>
        <p:xfrm>
          <a:off x="395802" y="924781"/>
          <a:ext cx="8378310" cy="1940729"/>
        </p:xfrm>
        <a:graphic>
          <a:graphicData uri="http://schemas.openxmlformats.org/drawingml/2006/table">
            <a:tbl>
              <a:tblPr firstRow="1" bandRow="1"/>
              <a:tblGrid>
                <a:gridCol w="3360054">
                  <a:extLst>
                    <a:ext uri="{9D8B030D-6E8A-4147-A177-3AD203B41FA5}">
                      <a16:colId xmlns:a16="http://schemas.microsoft.com/office/drawing/2014/main" val="20000"/>
                    </a:ext>
                  </a:extLst>
                </a:gridCol>
                <a:gridCol w="2059576">
                  <a:extLst>
                    <a:ext uri="{9D8B030D-6E8A-4147-A177-3AD203B41FA5}">
                      <a16:colId xmlns:a16="http://schemas.microsoft.com/office/drawing/2014/main" val="20001"/>
                    </a:ext>
                  </a:extLst>
                </a:gridCol>
                <a:gridCol w="1766844">
                  <a:extLst>
                    <a:ext uri="{9D8B030D-6E8A-4147-A177-3AD203B41FA5}">
                      <a16:colId xmlns:a16="http://schemas.microsoft.com/office/drawing/2014/main" val="20002"/>
                    </a:ext>
                  </a:extLst>
                </a:gridCol>
                <a:gridCol w="1191836">
                  <a:extLst>
                    <a:ext uri="{9D8B030D-6E8A-4147-A177-3AD203B41FA5}">
                      <a16:colId xmlns:a16="http://schemas.microsoft.com/office/drawing/2014/main" val="20003"/>
                    </a:ext>
                  </a:extLst>
                </a:gridCol>
              </a:tblGrid>
              <a:tr h="306514">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pitchFamily="2" charset="0"/>
                        </a:rPr>
                        <a:t>Code and</a:t>
                      </a:r>
                      <a:r>
                        <a:rPr lang="en-US" sz="1200" kern="1200" baseline="0" noProof="0">
                          <a:latin typeface="Encode Sans" pitchFamily="2" charset="0"/>
                        </a:rPr>
                        <a:t> description of the </a:t>
                      </a:r>
                      <a:r>
                        <a:rPr lang="en-US" sz="1200" kern="1200" noProof="0">
                          <a:latin typeface="Encode Sans" pitchFamily="2" charset="0"/>
                        </a:rPr>
                        <a:t>action </a:t>
                      </a:r>
                      <a:endParaRPr lang="en-US" sz="1200" b="1" kern="1200" noProof="0">
                        <a:solidFill>
                          <a:schemeClr val="lt1"/>
                        </a:solidFill>
                        <a:latin typeface="Encode Sans" pitchFamily="2" charset="0"/>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pitchFamily="2" charset="0"/>
                        </a:rPr>
                        <a:t>Responsible</a:t>
                      </a:r>
                      <a:endParaRPr lang="en-US" sz="1200" b="1" kern="1200" noProof="0">
                        <a:solidFill>
                          <a:schemeClr val="lt1"/>
                        </a:solidFill>
                        <a:latin typeface="Encode Sans" pitchFamily="2" charset="0"/>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pitchFamily="2" charset="0"/>
                        </a:rPr>
                        <a:t>Other actors</a:t>
                      </a:r>
                      <a:endParaRPr lang="en-US" sz="1200" b="1" kern="1200" noProof="0">
                        <a:solidFill>
                          <a:schemeClr val="lt1"/>
                        </a:solidFill>
                        <a:latin typeface="Encode Sans" pitchFamily="2" charset="0"/>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pitchFamily="2" charset="0"/>
                        </a:rPr>
                        <a:t>Due date</a:t>
                      </a:r>
                      <a:endParaRPr lang="en-US" sz="1200" b="1" kern="1200" noProof="0">
                        <a:solidFill>
                          <a:schemeClr val="lt1"/>
                        </a:solidFill>
                        <a:latin typeface="Encode Sans" pitchFamily="2" charset="0"/>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extLst>
                  <a:ext uri="{0D108BD9-81ED-4DB2-BD59-A6C34878D82A}">
                    <a16:rowId xmlns:a16="http://schemas.microsoft.com/office/drawing/2014/main" val="10000"/>
                  </a:ext>
                </a:extLst>
              </a:tr>
              <a:tr h="26463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endParaRPr lang="en-US" sz="1100" noProof="0">
                        <a:solidFill>
                          <a:srgbClr val="FF0000"/>
                        </a:solidFill>
                        <a:latin typeface="Encode Sans" pitchFamily="2" charset="0"/>
                      </a:endParaRPr>
                    </a:p>
                  </a:txBody>
                  <a:tcPr marT="34262" marB="34262" anchor="ctr"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1"/>
                  </a:ext>
                </a:extLst>
              </a:tr>
              <a:tr h="277097">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2"/>
                  </a:ext>
                </a:extLst>
              </a:tr>
              <a:tr h="276446">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3"/>
                  </a:ext>
                </a:extLst>
              </a:tr>
              <a:tr h="235746">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4"/>
                  </a:ext>
                </a:extLst>
              </a:tr>
              <a:tr h="31223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0005"/>
                  </a:ext>
                </a:extLst>
              </a:tr>
              <a:tr h="26764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ctr" defTabSz="457189" rtl="0" eaLnBrk="1" latinLnBrk="0" hangingPunct="1"/>
                      <a:endParaRPr lang="en-US" sz="1100" kern="1200" noProof="0">
                        <a:solidFill>
                          <a:srgbClr val="FF0000"/>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24952668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pPr marL="0" lvl="0" indent="0" algn="l" rtl="0">
              <a:lnSpc>
                <a:spcPct val="95000"/>
              </a:lnSpc>
              <a:spcBef>
                <a:spcPts val="0"/>
              </a:spcBef>
              <a:spcAft>
                <a:spcPts val="0"/>
              </a:spcAft>
              <a:buClr>
                <a:srgbClr val="FFFFFF"/>
              </a:buClr>
              <a:buSzPts val="1100"/>
              <a:buNone/>
            </a:pPr>
            <a:r>
              <a:rPr kumimoji="0" lang="en-US" sz="1200" b="1" i="0" u="none" strike="noStrike" kern="1200" cap="all" spc="0" normalizeH="0" baseline="0" noProof="0">
                <a:ln>
                  <a:noFill/>
                </a:ln>
                <a:solidFill>
                  <a:prstClr val="white"/>
                </a:solidFill>
                <a:effectLst/>
                <a:uLnTx/>
                <a:uFillTx/>
                <a:latin typeface="Encode Sans"/>
                <a:ea typeface="+mj-ea"/>
                <a:cs typeface="+mj-cs"/>
              </a:rPr>
              <a:t>Technical Check Committee initial </a:t>
            </a:r>
            <a:r>
              <a:rPr kumimoji="0" lang="en-GB" sz="1200" b="1" i="0" u="none" strike="noStrike" kern="1200" cap="all" spc="0" normalizeH="0" baseline="0" noProof="0">
                <a:ln>
                  <a:noFill/>
                </a:ln>
                <a:solidFill>
                  <a:prstClr val="white"/>
                </a:solidFill>
                <a:effectLst/>
                <a:uLnTx/>
                <a:uFillTx/>
                <a:latin typeface="Encode Sans"/>
                <a:ea typeface="+mj-ea"/>
                <a:cs typeface="+mj-cs"/>
              </a:rPr>
              <a:t>- Approvers &amp; informed persons</a:t>
            </a:r>
            <a:endParaRPr>
              <a:latin typeface="Encode Sans" pitchFamily="2" charset="0"/>
            </a:endParaRPr>
          </a:p>
        </p:txBody>
      </p:sp>
      <p:sp>
        <p:nvSpPr>
          <p:cNvPr id="6" name="ZoneTexte 5">
            <a:extLst>
              <a:ext uri="{FF2B5EF4-FFF2-40B4-BE49-F238E27FC236}">
                <a16:creationId xmlns:a16="http://schemas.microsoft.com/office/drawing/2014/main" id="{064D00C3-531A-40D3-9FB2-9D987AA904A1}"/>
              </a:ext>
            </a:extLst>
          </p:cNvPr>
          <p:cNvSpPr txBox="1"/>
          <p:nvPr/>
        </p:nvSpPr>
        <p:spPr>
          <a:xfrm>
            <a:off x="228601" y="4808850"/>
            <a:ext cx="4993105" cy="246221"/>
          </a:xfrm>
          <a:prstGeom prst="rect">
            <a:avLst/>
          </a:prstGeom>
          <a:noFill/>
        </p:spPr>
        <p:txBody>
          <a:bodyPr wrap="square">
            <a:spAutoFit/>
          </a:bodyPr>
          <a:lstStyle/>
          <a:p>
            <a:pPr marL="82550" indent="0">
              <a:buNone/>
            </a:pPr>
            <a:r>
              <a:rPr lang="en-US" sz="1000" b="1" i="1">
                <a:solidFill>
                  <a:schemeClr val="accent3">
                    <a:lumMod val="75000"/>
                  </a:schemeClr>
                </a:solidFill>
                <a:latin typeface="Encode Sans" pitchFamily="2" charset="0"/>
                <a:hlinkClick r:id="rId4" action="ppaction://hlinksldjump">
                  <a:extLst>
                    <a:ext uri="{A12FA001-AC4F-418D-AE19-62706E023703}">
                      <ahyp:hlinkClr xmlns:ahyp="http://schemas.microsoft.com/office/drawing/2018/hyperlinkcolor" val="tx"/>
                    </a:ext>
                  </a:extLst>
                </a:hlinkClick>
              </a:rPr>
              <a:t>Click here to see Architects &amp; Subject Matter Experts managers</a:t>
            </a:r>
            <a:endParaRPr lang="en-US" sz="1000" b="1" i="1">
              <a:solidFill>
                <a:schemeClr val="accent3">
                  <a:lumMod val="75000"/>
                </a:schemeClr>
              </a:solidFill>
              <a:latin typeface="Encode Sans" pitchFamily="2" charset="0"/>
            </a:endParaRPr>
          </a:p>
        </p:txBody>
      </p:sp>
      <p:graphicFrame>
        <p:nvGraphicFramePr>
          <p:cNvPr id="7" name="Tableau 6">
            <a:extLst>
              <a:ext uri="{FF2B5EF4-FFF2-40B4-BE49-F238E27FC236}">
                <a16:creationId xmlns:a16="http://schemas.microsoft.com/office/drawing/2014/main" id="{D2CC54C2-1509-4BCF-A33D-6E3D1CF31D80}"/>
              </a:ext>
            </a:extLst>
          </p:cNvPr>
          <p:cNvGraphicFramePr>
            <a:graphicFrameLocks noGrp="1"/>
          </p:cNvGraphicFramePr>
          <p:nvPr/>
        </p:nvGraphicFramePr>
        <p:xfrm>
          <a:off x="169623" y="666137"/>
          <a:ext cx="8805327" cy="3930906"/>
        </p:xfrm>
        <a:graphic>
          <a:graphicData uri="http://schemas.openxmlformats.org/drawingml/2006/table">
            <a:tbl>
              <a:tblPr firstRow="1" bandRow="1"/>
              <a:tblGrid>
                <a:gridCol w="1944522">
                  <a:extLst>
                    <a:ext uri="{9D8B030D-6E8A-4147-A177-3AD203B41FA5}">
                      <a16:colId xmlns:a16="http://schemas.microsoft.com/office/drawing/2014/main" val="20000"/>
                    </a:ext>
                  </a:extLst>
                </a:gridCol>
                <a:gridCol w="4348127">
                  <a:extLst>
                    <a:ext uri="{9D8B030D-6E8A-4147-A177-3AD203B41FA5}">
                      <a16:colId xmlns:a16="http://schemas.microsoft.com/office/drawing/2014/main" val="20001"/>
                    </a:ext>
                  </a:extLst>
                </a:gridCol>
                <a:gridCol w="891348">
                  <a:extLst>
                    <a:ext uri="{9D8B030D-6E8A-4147-A177-3AD203B41FA5}">
                      <a16:colId xmlns:a16="http://schemas.microsoft.com/office/drawing/2014/main" val="20002"/>
                    </a:ext>
                  </a:extLst>
                </a:gridCol>
                <a:gridCol w="760719">
                  <a:extLst>
                    <a:ext uri="{9D8B030D-6E8A-4147-A177-3AD203B41FA5}">
                      <a16:colId xmlns:a16="http://schemas.microsoft.com/office/drawing/2014/main" val="20004"/>
                    </a:ext>
                  </a:extLst>
                </a:gridCol>
                <a:gridCol w="860611">
                  <a:extLst>
                    <a:ext uri="{9D8B030D-6E8A-4147-A177-3AD203B41FA5}">
                      <a16:colId xmlns:a16="http://schemas.microsoft.com/office/drawing/2014/main" val="20005"/>
                    </a:ext>
                  </a:extLst>
                </a:gridCol>
              </a:tblGrid>
              <a:tr h="303264">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Name</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Role in the project</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Resp.</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Present</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Encode Sans"/>
                          <a:sym typeface="Aria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noProof="0">
                          <a:latin typeface="Encode Sans"/>
                        </a:rPr>
                        <a:t>Approved</a:t>
                      </a:r>
                      <a:endParaRPr lang="en-US" sz="1200" b="1" kern="1200" noProof="0">
                        <a:solidFill>
                          <a:schemeClr val="lt1"/>
                        </a:solidFill>
                        <a:latin typeface="Encode Sans"/>
                        <a:ea typeface="+mn-ea"/>
                        <a:cs typeface="Arial" panose="020B0604020202020204" pitchFamily="34" charset="0"/>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43782"/>
                    </a:solidFill>
                  </a:tcPr>
                </a:tc>
                <a:extLst>
                  <a:ext uri="{0D108BD9-81ED-4DB2-BD59-A6C34878D82A}">
                    <a16:rowId xmlns:a16="http://schemas.microsoft.com/office/drawing/2014/main" val="10000"/>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pPr>
                      <a:r>
                        <a:rPr lang="en-US" sz="800" b="0" kern="1200" noProof="0">
                          <a:solidFill>
                            <a:schemeClr val="dk1"/>
                          </a:solidFill>
                          <a:latin typeface="Encode Sans"/>
                          <a:ea typeface="+mn-ea"/>
                          <a:cs typeface="+mn-cs"/>
                        </a:rPr>
                        <a:t>IT project manager</a:t>
                      </a:r>
                    </a:p>
                  </a:txBody>
                  <a:tcPr marT="34259" marB="34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Organizer </a:t>
                      </a:r>
                      <a:endParaRPr lang="en-US" sz="900" kern="1200" noProof="0">
                        <a:solidFill>
                          <a:schemeClr val="dk1"/>
                        </a:solidFill>
                        <a:latin typeface="Encode Sans" pitchFamily="2" charset="0"/>
                        <a:ea typeface="+mn-ea"/>
                        <a:cs typeface="+mn-cs"/>
                      </a:endParaRPr>
                    </a:p>
                  </a:txBody>
                  <a:tcPr marT="34259" marB="34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900" kern="1200" noProof="0">
                          <a:latin typeface="Encode Sans"/>
                        </a:rPr>
                        <a:t>Yes/No</a:t>
                      </a:r>
                      <a:endParaRPr lang="en-US" sz="90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4055207338"/>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kern="1200" noProof="0">
                          <a:latin typeface="Encode Sans"/>
                        </a:rPr>
                        <a:t>IT Manager (Level 4  - Level 3)</a:t>
                      </a:r>
                      <a:endParaRPr lang="en-US" sz="800" b="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2"/>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algn="l" defTabSz="457189" rtl="0" eaLnBrk="1" latinLnBrk="0" hangingPunct="1"/>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kern="1200" noProof="0">
                          <a:solidFill>
                            <a:schemeClr val="dk1"/>
                          </a:solidFill>
                          <a:latin typeface="Encode Sans"/>
                          <a:ea typeface="+mn-ea"/>
                          <a:cs typeface="+mn-cs"/>
                        </a:rPr>
                        <a:t>Enterprise architect </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753162096"/>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kern="1200" noProof="0">
                          <a:latin typeface="Encode Sans"/>
                        </a:rPr>
                        <a:t>Solution architect</a:t>
                      </a:r>
                      <a:endParaRPr lang="en-US" sz="800" b="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0004"/>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b="0" i="0" u="none" strike="noStrike" kern="1200" cap="none" noProof="0">
                        <a:solidFill>
                          <a:schemeClr val="dk1"/>
                        </a:solidFill>
                        <a:latin typeface="Encode Sans" pitchFamily="2" charset="0"/>
                        <a:ea typeface="+mn-ea"/>
                        <a:cs typeface="+mn-cs"/>
                        <a:sym typeface="Arial"/>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Security architect</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Approver</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Yes/No</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Yes/No</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extLst>
                  <a:ext uri="{0D108BD9-81ED-4DB2-BD59-A6C34878D82A}">
                    <a16:rowId xmlns:a16="http://schemas.microsoft.com/office/drawing/2014/main" val="222476575"/>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800" b="0" i="0" u="none" strike="noStrike" kern="1200" cap="none" noProof="0">
                          <a:solidFill>
                            <a:schemeClr val="dk1"/>
                          </a:solidFill>
                          <a:latin typeface="Encode Sans" pitchFamily="2" charset="0"/>
                          <a:ea typeface="+mn-ea"/>
                          <a:cs typeface="+mn-cs"/>
                          <a:sym typeface="Arial"/>
                        </a:rPr>
                        <a:t>Data Privacy representative</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2045415143"/>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b="0" kern="1200" noProof="0">
                          <a:solidFill>
                            <a:schemeClr val="dk1"/>
                          </a:solidFill>
                          <a:latin typeface="Encode Sans"/>
                          <a:ea typeface="+mn-ea"/>
                          <a:cs typeface="+mn-cs"/>
                        </a:rPr>
                        <a:t>Cybersecurity referent (CISO team)</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extLst>
                  <a:ext uri="{0D108BD9-81ED-4DB2-BD59-A6C34878D82A}">
                    <a16:rowId xmlns:a16="http://schemas.microsoft.com/office/drawing/2014/main" val="174227987"/>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ts val="0"/>
                        </a:spcBef>
                        <a:spcAft>
                          <a:spcPct val="25000"/>
                        </a:spcAft>
                        <a:buClrTx/>
                        <a:buSzPct val="125000"/>
                        <a:buFontTx/>
                        <a:buNone/>
                      </a:pPr>
                      <a:r>
                        <a:rPr lang="en-US" sz="800" kern="1200" noProof="0">
                          <a:solidFill>
                            <a:schemeClr val="dk1"/>
                          </a:solidFill>
                          <a:latin typeface="Encode Sans"/>
                          <a:ea typeface="+mn-ea"/>
                          <a:cs typeface="+mn-cs"/>
                        </a:rPr>
                        <a:t>Platform Architect  ( Cloud, API, …..referents) add all relevant architects </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CED8"/>
                    </a:solidFill>
                  </a:tcPr>
                </a:tc>
                <a:extLst>
                  <a:ext uri="{0D108BD9-81ED-4DB2-BD59-A6C34878D82A}">
                    <a16:rowId xmlns:a16="http://schemas.microsoft.com/office/drawing/2014/main" val="2713659941"/>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kern="1200" noProof="0">
                          <a:solidFill>
                            <a:schemeClr val="dk1"/>
                          </a:solidFill>
                          <a:latin typeface="Encode Sans"/>
                          <a:ea typeface="+mn-ea"/>
                          <a:cs typeface="+mn-cs"/>
                        </a:rPr>
                        <a:t>Solution delivery referent </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843283656"/>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kern="1200">
                          <a:solidFill>
                            <a:schemeClr val="tx1"/>
                          </a:solidFill>
                          <a:latin typeface="Encode Sans"/>
                          <a:ea typeface="+mn-ea"/>
                          <a:cs typeface="+mn-cs"/>
                        </a:rPr>
                        <a:t>Infrastructure  referent (</a:t>
                      </a:r>
                      <a:r>
                        <a:rPr lang="en-US" sz="800" kern="1200" noProof="0">
                          <a:solidFill>
                            <a:schemeClr val="dk1"/>
                          </a:solidFill>
                          <a:latin typeface="Encode Sans"/>
                          <a:ea typeface="+mn-ea"/>
                          <a:cs typeface="+mn-cs"/>
                        </a:rPr>
                        <a:t>Network, Database, Middleware …..)  add all relevant referents </a:t>
                      </a:r>
                      <a:endParaRPr lang="en-US" sz="800" kern="1200">
                        <a:solidFill>
                          <a:srgbClr val="FF0000"/>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3205877714"/>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b="0" kern="1200" noProof="0">
                          <a:solidFill>
                            <a:schemeClr val="dk1"/>
                          </a:solidFill>
                          <a:latin typeface="Encode Sans"/>
                          <a:ea typeface="+mn-ea"/>
                          <a:cs typeface="+mn-cs"/>
                        </a:rPr>
                        <a:t>Maintain software in production resp. </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Approver</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72B35"/>
                          </a:solidFill>
                          <a:effectLst/>
                          <a:uLnTx/>
                          <a:uFillTx/>
                          <a:latin typeface="Encode Sans"/>
                          <a:ea typeface="+mn-ea"/>
                          <a:cs typeface="+mn-cs"/>
                        </a:rPr>
                        <a:t>Yes/No</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86054862"/>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b="0" kern="1200" noProof="0">
                          <a:solidFill>
                            <a:schemeClr val="dk1"/>
                          </a:solidFill>
                          <a:latin typeface="Encode Sans"/>
                          <a:ea typeface="+mn-ea"/>
                          <a:cs typeface="+mn-cs"/>
                        </a:rPr>
                        <a:t>Contract Manager</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1561569132"/>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b="0" kern="1200" noProof="0">
                          <a:solidFill>
                            <a:schemeClr val="dk1"/>
                          </a:solidFill>
                          <a:latin typeface="Encode Sans"/>
                          <a:ea typeface="+mn-ea"/>
                          <a:cs typeface="+mn-cs"/>
                        </a:rPr>
                        <a:t>OPS owner</a:t>
                      </a:r>
                    </a:p>
                  </a:txBody>
                  <a:tcPr marT="34259" marB="34259"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1931506107"/>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b="0" kern="1200" noProof="0">
                          <a:solidFill>
                            <a:schemeClr val="dk1"/>
                          </a:solidFill>
                          <a:latin typeface="Encode Sans"/>
                          <a:ea typeface="+mn-ea"/>
                          <a:cs typeface="+mn-cs"/>
                        </a:rPr>
                        <a:t>DRP referent</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2021537953"/>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pitchFamily="2" charset="0"/>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b="0" kern="1200" noProof="0">
                          <a:solidFill>
                            <a:schemeClr val="dk1"/>
                          </a:solidFill>
                          <a:latin typeface="Encode Sans"/>
                          <a:ea typeface="+mn-ea"/>
                          <a:cs typeface="+mn-cs"/>
                        </a:rPr>
                        <a:t>API catalog referent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3305289624"/>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endParaRPr lang="en-US" sz="900" kern="1200" noProof="0">
                        <a:solidFill>
                          <a:schemeClr val="dk1"/>
                        </a:solidFill>
                        <a:latin typeface="Encode Sans"/>
                        <a:ea typeface="+mn-ea"/>
                        <a:cs typeface="+mn-cs"/>
                      </a:endParaRP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914400" rtl="0" eaLnBrk="1" fontAlgn="base" latinLnBrk="0" hangingPunct="1">
                        <a:lnSpc>
                          <a:spcPct val="85000"/>
                        </a:lnSpc>
                        <a:spcBef>
                          <a:spcPct val="100000"/>
                        </a:spcBef>
                        <a:spcAft>
                          <a:spcPct val="25000"/>
                        </a:spcAft>
                        <a:buClrTx/>
                        <a:buSzPct val="125000"/>
                        <a:buFontTx/>
                        <a:buNone/>
                        <a:tabLst/>
                        <a:defRPr/>
                      </a:pPr>
                      <a:r>
                        <a:rPr lang="en-US" sz="800" b="0" kern="1200" noProof="0">
                          <a:solidFill>
                            <a:schemeClr val="dk1"/>
                          </a:solidFill>
                          <a:latin typeface="Encode Sans"/>
                          <a:ea typeface="+mn-ea"/>
                          <a:cs typeface="+mn-cs"/>
                        </a:rPr>
                        <a:t>Data platform referent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90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90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endParaRPr lang="en-US" sz="90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20000"/>
                      </a:srgbClr>
                    </a:solidFill>
                  </a:tcPr>
                </a:tc>
                <a:extLst>
                  <a:ext uri="{0D108BD9-81ED-4DB2-BD59-A6C34878D82A}">
                    <a16:rowId xmlns:a16="http://schemas.microsoft.com/office/drawing/2014/main" val="3421873922"/>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kern="1200" noProof="0">
                          <a:solidFill>
                            <a:schemeClr val="dk1"/>
                          </a:solidFill>
                          <a:latin typeface="Encode Sans"/>
                          <a:ea typeface="+mn-ea"/>
                          <a:cs typeface="+mn-cs"/>
                        </a:rPr>
                        <a:t>sibs-cct@stellantis.com</a:t>
                      </a:r>
                    </a:p>
                  </a:txBody>
                  <a:tcPr marT="34262" marB="34262" anchor="ctr" horzOverflow="overflow">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marL="0" marR="0" lvl="0" indent="0" algn="l" rtl="0" eaLnBrk="1" fontAlgn="base" latinLnBrk="0" hangingPunct="1">
                        <a:lnSpc>
                          <a:spcPct val="85000"/>
                        </a:lnSpc>
                        <a:spcBef>
                          <a:spcPct val="100000"/>
                        </a:spcBef>
                        <a:spcAft>
                          <a:spcPct val="25000"/>
                        </a:spcAft>
                        <a:buClrTx/>
                        <a:buSzPct val="125000"/>
                        <a:buFontTx/>
                        <a:buNone/>
                      </a:pPr>
                      <a:r>
                        <a:rPr lang="en-US" sz="800" kern="1200" noProof="0">
                          <a:latin typeface="Encode Sans"/>
                        </a:rPr>
                        <a:t>Infrastructure &amp; Architecture team mailbox (add it in the meeting)</a:t>
                      </a:r>
                      <a:endParaRPr lang="en-US" sz="800" b="0" kern="1200" noProof="0">
                        <a:solidFill>
                          <a:schemeClr val="dk1"/>
                        </a:solidFill>
                        <a:latin typeface="Encode Sans"/>
                        <a:ea typeface="+mn-ea"/>
                        <a:cs typeface="+mn-cs"/>
                      </a:endParaRP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Informed</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Encode Sans"/>
                          <a:sym typeface="Arial"/>
                        </a:defRPr>
                      </a:lvl9pPr>
                    </a:lstStyle>
                    <a:p>
                      <a:pPr algn="ctr"/>
                      <a:r>
                        <a:rPr lang="en-US" sz="900" kern="1200" noProof="0">
                          <a:solidFill>
                            <a:schemeClr val="dk1"/>
                          </a:solidFill>
                          <a:latin typeface="Encode Sans"/>
                          <a:ea typeface="+mn-ea"/>
                          <a:cs typeface="+mn-cs"/>
                        </a:rPr>
                        <a:t>-</a:t>
                      </a:r>
                    </a:p>
                  </a:txBody>
                  <a:tcPr marT="34259" marB="34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43782">
                        <a:tint val="40000"/>
                      </a:srgbClr>
                    </a:solidFill>
                  </a:tcPr>
                </a:tc>
                <a:extLst>
                  <a:ext uri="{0D108BD9-81ED-4DB2-BD59-A6C34878D82A}">
                    <a16:rowId xmlns:a16="http://schemas.microsoft.com/office/drawing/2014/main" val="3037384387"/>
                  </a:ext>
                </a:extLst>
              </a:tr>
            </a:tbl>
          </a:graphicData>
        </a:graphic>
      </p:graphicFrame>
    </p:spTree>
    <p:custDataLst>
      <p:tags r:id="rId1"/>
    </p:custDataLst>
    <p:extLst>
      <p:ext uri="{BB962C8B-B14F-4D97-AF65-F5344CB8AC3E}">
        <p14:creationId xmlns:p14="http://schemas.microsoft.com/office/powerpoint/2010/main" val="5075346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8C9E9-48C8-412D-A81C-DD2CD83386C9}"/>
              </a:ext>
            </a:extLst>
          </p:cNvPr>
          <p:cNvSpPr>
            <a:spLocks noGrp="1"/>
          </p:cNvSpPr>
          <p:nvPr>
            <p:ph type="title"/>
          </p:nvPr>
        </p:nvSpPr>
        <p:spPr>
          <a:xfrm>
            <a:off x="657000" y="1462658"/>
            <a:ext cx="7830000" cy="2370600"/>
          </a:xfrm>
        </p:spPr>
        <p:txBody>
          <a:bodyPr/>
          <a:lstStyle/>
          <a:p>
            <a:r>
              <a:rPr lang="en-GB" dirty="0"/>
              <a:t>Reference &amp; examples</a:t>
            </a:r>
            <a:br>
              <a:rPr lang="en-GB" dirty="0"/>
            </a:br>
            <a:r>
              <a:rPr lang="en-GB" dirty="0"/>
              <a:t>(no to fill in </a:t>
            </a:r>
            <a:r>
              <a:rPr lang="en-GB"/>
              <a:t>your presentation)</a:t>
            </a:r>
            <a:endParaRPr lang="en-GB" dirty="0"/>
          </a:p>
        </p:txBody>
      </p:sp>
    </p:spTree>
    <p:extLst>
      <p:ext uri="{BB962C8B-B14F-4D97-AF65-F5344CB8AC3E}">
        <p14:creationId xmlns:p14="http://schemas.microsoft.com/office/powerpoint/2010/main" val="16643824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402350" y="334650"/>
            <a:ext cx="6379500" cy="257100"/>
          </a:xfrm>
          <a:prstGeom prst="rect">
            <a:avLst/>
          </a:prstGeom>
          <a:noFill/>
          <a:ln>
            <a:noFill/>
          </a:ln>
        </p:spPr>
        <p:txBody>
          <a:bodyPr spcFirstLastPara="1" wrap="square" lIns="68575" tIns="34275" rIns="68575" bIns="34275" anchor="ctr" anchorCtr="0">
            <a:noAutofit/>
          </a:bodyPr>
          <a:lstStyle/>
          <a:p>
            <a:r>
              <a:rPr kumimoji="0" lang="en-GB" sz="1200" b="1" i="0" u="none" strike="noStrike" kern="1200" cap="all" spc="0" normalizeH="0" baseline="0" noProof="0">
                <a:ln>
                  <a:noFill/>
                </a:ln>
                <a:solidFill>
                  <a:prstClr val="white"/>
                </a:solidFill>
                <a:effectLst/>
                <a:uLnTx/>
                <a:uFillTx/>
                <a:latin typeface="Encode Sans"/>
                <a:ea typeface="+mj-ea"/>
                <a:cs typeface="+mj-cs"/>
              </a:rPr>
              <a:t>Subject Matter Experts</a:t>
            </a:r>
            <a:endParaRPr lang="fr-FR">
              <a:solidFill>
                <a:prstClr val="white"/>
              </a:solidFill>
              <a:latin typeface="Encode Sans" pitchFamily="2" charset="0"/>
            </a:endParaRPr>
          </a:p>
        </p:txBody>
      </p:sp>
      <p:graphicFrame>
        <p:nvGraphicFramePr>
          <p:cNvPr id="3" name="Table 3">
            <a:extLst>
              <a:ext uri="{FF2B5EF4-FFF2-40B4-BE49-F238E27FC236}">
                <a16:creationId xmlns:a16="http://schemas.microsoft.com/office/drawing/2014/main" id="{7E19104E-CFB9-405C-9FE7-80F57CDCB119}"/>
              </a:ext>
            </a:extLst>
          </p:cNvPr>
          <p:cNvGraphicFramePr>
            <a:graphicFrameLocks noGrp="1"/>
          </p:cNvGraphicFramePr>
          <p:nvPr/>
        </p:nvGraphicFramePr>
        <p:xfrm>
          <a:off x="192140" y="773848"/>
          <a:ext cx="8759719" cy="3811809"/>
        </p:xfrm>
        <a:graphic>
          <a:graphicData uri="http://schemas.openxmlformats.org/drawingml/2006/table">
            <a:tbl>
              <a:tblPr firstRow="1" bandRow="1">
                <a:tableStyleId>{5C22544A-7EE6-4342-B048-85BDC9FD1C3A}</a:tableStyleId>
              </a:tblPr>
              <a:tblGrid>
                <a:gridCol w="2424785">
                  <a:extLst>
                    <a:ext uri="{9D8B030D-6E8A-4147-A177-3AD203B41FA5}">
                      <a16:colId xmlns:a16="http://schemas.microsoft.com/office/drawing/2014/main" val="53397815"/>
                    </a:ext>
                  </a:extLst>
                </a:gridCol>
                <a:gridCol w="2541146">
                  <a:extLst>
                    <a:ext uri="{9D8B030D-6E8A-4147-A177-3AD203B41FA5}">
                      <a16:colId xmlns:a16="http://schemas.microsoft.com/office/drawing/2014/main" val="704037452"/>
                    </a:ext>
                  </a:extLst>
                </a:gridCol>
                <a:gridCol w="1896894">
                  <a:extLst>
                    <a:ext uri="{9D8B030D-6E8A-4147-A177-3AD203B41FA5}">
                      <a16:colId xmlns:a16="http://schemas.microsoft.com/office/drawing/2014/main" val="1162050620"/>
                    </a:ext>
                  </a:extLst>
                </a:gridCol>
                <a:gridCol w="1896894">
                  <a:extLst>
                    <a:ext uri="{9D8B030D-6E8A-4147-A177-3AD203B41FA5}">
                      <a16:colId xmlns:a16="http://schemas.microsoft.com/office/drawing/2014/main" val="1496311327"/>
                    </a:ext>
                  </a:extLst>
                </a:gridCol>
              </a:tblGrid>
              <a:tr h="366299">
                <a:tc>
                  <a:txBody>
                    <a:bodyPr/>
                    <a:lstStyle/>
                    <a:p>
                      <a:pPr algn="ctr"/>
                      <a:r>
                        <a:rPr lang="en-US">
                          <a:latin typeface="Encode Sans" pitchFamily="2" charset="0"/>
                        </a:rPr>
                        <a:t>Topic</a:t>
                      </a:r>
                    </a:p>
                  </a:txBody>
                  <a:tcPr marL="36000" marR="3600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mpd="sng">
                      <a:noFill/>
                    </a:lnB>
                  </a:tcPr>
                </a:tc>
                <a:tc>
                  <a:txBody>
                    <a:bodyPr/>
                    <a:lstStyle/>
                    <a:p>
                      <a:pPr algn="ctr"/>
                      <a:r>
                        <a:rPr lang="en-US">
                          <a:latin typeface="Encode Sans" pitchFamily="2" charset="0"/>
                        </a:rPr>
                        <a:t>Global</a:t>
                      </a:r>
                    </a:p>
                  </a:txBody>
                  <a:tcPr marL="36000" marR="36000" marT="0" marB="0" anchor="ctr">
                    <a:lnT w="12700" cap="flat" cmpd="sng" algn="ctr">
                      <a:solidFill>
                        <a:schemeClr val="tx1"/>
                      </a:solidFill>
                      <a:prstDash val="solid"/>
                      <a:round/>
                      <a:headEnd type="none" w="med" len="med"/>
                      <a:tailEnd type="none" w="med" len="med"/>
                    </a:lnT>
                    <a:lnB w="38100" cmpd="sng">
                      <a:noFill/>
                    </a:lnB>
                  </a:tcPr>
                </a:tc>
                <a:tc gridSpan="2">
                  <a:txBody>
                    <a:bodyPr/>
                    <a:lstStyle/>
                    <a:p>
                      <a:pPr algn="ctr"/>
                      <a:endParaRPr lang="en-US"/>
                    </a:p>
                  </a:txBody>
                  <a:tcPr marL="36000" marR="3600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noFill/>
                    </a:lnB>
                  </a:tcPr>
                </a:tc>
                <a:tc hMerge="1">
                  <a:txBody>
                    <a:bodyPr/>
                    <a:lstStyle/>
                    <a:p>
                      <a:endParaRPr lang="en-GB"/>
                    </a:p>
                  </a:txBody>
                  <a:tcPr/>
                </a:tc>
                <a:extLst>
                  <a:ext uri="{0D108BD9-81ED-4DB2-BD59-A6C34878D82A}">
                    <a16:rowId xmlns:a16="http://schemas.microsoft.com/office/drawing/2014/main" val="48423488"/>
                  </a:ext>
                </a:extLst>
              </a:tr>
              <a:tr h="0">
                <a:tc>
                  <a:txBody>
                    <a:bodyPr/>
                    <a:lstStyle/>
                    <a:p>
                      <a:pPr algn="ctr"/>
                      <a:r>
                        <a:rPr lang="en-US" sz="900" b="1">
                          <a:solidFill>
                            <a:schemeClr val="bg2"/>
                          </a:solidFill>
                          <a:latin typeface="Encode Sans" pitchFamily="2" charset="0"/>
                        </a:rPr>
                        <a:t>Cloud Platform</a:t>
                      </a:r>
                    </a:p>
                  </a:txBody>
                  <a:tcPr marL="36000" marR="36000" marT="0" marB="0" anchor="ctr">
                    <a:lnL w="12700" cap="flat" cmpd="sng" algn="ctr">
                      <a:no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u="none" dirty="0">
                          <a:solidFill>
                            <a:schemeClr val="bg2"/>
                          </a:solidFill>
                          <a:latin typeface="Encode Sans" pitchFamily="2" charset="0"/>
                        </a:rPr>
                        <a:t>Dany SALMAN</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rtl="0" fontAlgn="ctr"/>
                      <a:endParaRPr lang="fr-FR" sz="900" b="0" i="0" u="sng" strike="noStrike">
                        <a:solidFill>
                          <a:srgbClr val="0563C1"/>
                        </a:solidFill>
                        <a:effectLst/>
                        <a:latin typeface="Encode Sans" pitchFamily="2" charset="0"/>
                        <a:hlinkClick r:id="rId4"/>
                      </a:endParaRPr>
                    </a:p>
                  </a:txBody>
                  <a:tcPr marL="6350" marR="6350" marT="635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1747212788"/>
                  </a:ext>
                </a:extLst>
              </a:tr>
              <a:tr h="36000">
                <a:tc>
                  <a:txBody>
                    <a:bodyPr/>
                    <a:lstStyle/>
                    <a:p>
                      <a:pPr algn="ctr"/>
                      <a:r>
                        <a:rPr lang="en-US" sz="900" b="1">
                          <a:solidFill>
                            <a:schemeClr val="bg2"/>
                          </a:solidFill>
                          <a:latin typeface="Encode Sans" pitchFamily="2" charset="0"/>
                        </a:rPr>
                        <a:t>API </a:t>
                      </a:r>
                    </a:p>
                  </a:txBody>
                  <a:tcPr marL="36000" marR="36000" marT="0"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9050">
                      <a:noFill/>
                    </a:lnB>
                    <a:lnTlToBr w="12700" cmpd="sng">
                      <a:noFill/>
                      <a:prstDash val="solid"/>
                    </a:lnTlToBr>
                    <a:lnBlToTr w="12700" cmpd="sng">
                      <a:noFill/>
                      <a:prstDash val="solid"/>
                    </a:lnBlToTr>
                  </a:tcPr>
                </a:tc>
                <a:tc>
                  <a:txBody>
                    <a:bodyPr/>
                    <a:lstStyle/>
                    <a:p>
                      <a:pPr algn="ctr"/>
                      <a:r>
                        <a:rPr lang="en-US" sz="900">
                          <a:solidFill>
                            <a:schemeClr val="bg2"/>
                          </a:solidFill>
                          <a:latin typeface="Encode Sans" pitchFamily="2" charset="0"/>
                        </a:rPr>
                        <a:t>Jean-Olivier AZELIE</a:t>
                      </a:r>
                    </a:p>
                  </a:txBody>
                  <a:tcPr marL="36000" marR="36000" marT="0" marB="0" anchor="ctr">
                    <a:lnL w="12700" cmpd="sng">
                      <a:noFill/>
                    </a:lnL>
                    <a:lnR w="12700" cmpd="sng">
                      <a:noFill/>
                    </a:lnR>
                    <a:lnT w="12700" cap="flat" cmpd="sng" algn="ctr">
                      <a:noFill/>
                      <a:prstDash val="solid"/>
                      <a:round/>
                      <a:headEnd type="none" w="med" len="med"/>
                      <a:tailEnd type="none" w="med" len="med"/>
                    </a:lnT>
                    <a:lnB w="19050">
                      <a:noFill/>
                    </a:lnB>
                    <a:lnTlToBr w="12700" cmpd="sng">
                      <a:noFill/>
                      <a:prstDash val="solid"/>
                    </a:lnTlToBr>
                    <a:lnBlToTr w="12700" cmpd="sng">
                      <a:noFill/>
                      <a:prstDash val="solid"/>
                    </a:lnBlToTr>
                  </a:tcPr>
                </a:tc>
                <a:tc gridSpan="2">
                  <a:txBody>
                    <a:bodyPr/>
                    <a:lstStyle/>
                    <a:p>
                      <a:pPr marR="0" lvl="0" algn="ctr" rtl="0">
                        <a:lnSpc>
                          <a:spcPct val="100000"/>
                        </a:lnSpc>
                        <a:spcBef>
                          <a:spcPts val="0"/>
                        </a:spcBef>
                        <a:spcAft>
                          <a:spcPts val="0"/>
                        </a:spcAft>
                        <a:buClr>
                          <a:srgbClr val="000000"/>
                        </a:buClr>
                        <a:buFont typeface="Arial"/>
                        <a:buNone/>
                      </a:pPr>
                      <a:endParaRPr lang="en-US" sz="900" b="0" i="0" u="none" strike="noStrike" cap="none">
                        <a:solidFill>
                          <a:schemeClr val="bg2"/>
                        </a:solidFill>
                        <a:latin typeface="Encode Sans" pitchFamily="2" charset="0"/>
                        <a:ea typeface="+mn-ea"/>
                        <a:cs typeface="+mn-cs"/>
                        <a:sym typeface="Arial"/>
                      </a:endParaRPr>
                    </a:p>
                  </a:txBody>
                  <a:tcPr marL="36000" marR="36000"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2473486506"/>
                  </a:ext>
                </a:extLst>
              </a:tr>
              <a:tr h="36000">
                <a:tc>
                  <a:txBody>
                    <a:bodyPr/>
                    <a:lstStyle/>
                    <a:p>
                      <a:pPr marR="0" algn="ctr" rtl="0">
                        <a:lnSpc>
                          <a:spcPct val="100000"/>
                        </a:lnSpc>
                        <a:spcBef>
                          <a:spcPts val="0"/>
                        </a:spcBef>
                        <a:spcAft>
                          <a:spcPts val="0"/>
                        </a:spcAft>
                        <a:buClr>
                          <a:srgbClr val="000000"/>
                        </a:buClr>
                        <a:buFont typeface="Arial"/>
                      </a:pPr>
                      <a:r>
                        <a:rPr lang="en-US" sz="900" b="1" i="0" u="none" strike="noStrike" cap="none" err="1">
                          <a:solidFill>
                            <a:schemeClr val="bg2"/>
                          </a:solidFill>
                          <a:latin typeface="Encode Sans" pitchFamily="2" charset="0"/>
                          <a:ea typeface="+mn-ea"/>
                          <a:cs typeface="+mn-cs"/>
                          <a:sym typeface="Arial"/>
                        </a:rPr>
                        <a:t>DevSecops</a:t>
                      </a:r>
                      <a:endParaRPr lang="en-US" sz="900" b="1" i="0" u="none" strike="noStrike" cap="none">
                        <a:solidFill>
                          <a:schemeClr val="bg2"/>
                        </a:solidFill>
                        <a:latin typeface="Encode Sans" pitchFamily="2" charset="0"/>
                        <a:ea typeface="+mn-ea"/>
                        <a:cs typeface="+mn-cs"/>
                        <a:sym typeface="Arial"/>
                      </a:endParaRPr>
                    </a:p>
                  </a:txBody>
                  <a:tcPr marL="36000" marR="36000" marT="0" marB="0" anchor="ctr">
                    <a:lnL w="12700" cap="flat" cmpd="sng" algn="ctr">
                      <a:noFill/>
                      <a:prstDash val="solid"/>
                      <a:round/>
                      <a:headEnd type="none" w="med" len="med"/>
                      <a:tailEnd type="none" w="med" len="med"/>
                    </a:lnL>
                    <a:lnR w="12700" cmpd="sng">
                      <a:noFill/>
                    </a:lnR>
                    <a:lnT w="19050">
                      <a:noFill/>
                    </a:lnT>
                    <a:lnB w="19050">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0" i="0" u="none" strike="noStrike" cap="none" err="1">
                          <a:solidFill>
                            <a:schemeClr val="bg2"/>
                          </a:solidFill>
                          <a:latin typeface="Encode Sans" pitchFamily="2" charset="0"/>
                          <a:ea typeface="+mn-ea"/>
                          <a:cs typeface="+mn-cs"/>
                          <a:sym typeface="Arial"/>
                        </a:rPr>
                        <a:t>Aymeric</a:t>
                      </a:r>
                      <a:r>
                        <a:rPr lang="en-US" sz="900" b="0" i="0" u="none" strike="noStrike" cap="none">
                          <a:solidFill>
                            <a:schemeClr val="bg2"/>
                          </a:solidFill>
                          <a:latin typeface="Encode Sans" pitchFamily="2" charset="0"/>
                          <a:ea typeface="+mn-ea"/>
                          <a:cs typeface="+mn-cs"/>
                          <a:sym typeface="Arial"/>
                        </a:rPr>
                        <a:t> PIERRE</a:t>
                      </a:r>
                    </a:p>
                  </a:txBody>
                  <a:tcPr marL="36000" marR="36000" marT="0" marB="0" anchor="ctr">
                    <a:lnL w="12700" cmpd="sng">
                      <a:noFill/>
                    </a:lnL>
                    <a:lnR w="12700" cmpd="sng">
                      <a:noFill/>
                    </a:lnR>
                    <a:lnT w="19050">
                      <a:noFill/>
                    </a:lnT>
                    <a:lnB w="19050">
                      <a:noFill/>
                    </a:lnB>
                    <a:lnTlToBr w="12700" cmpd="sng">
                      <a:noFill/>
                      <a:prstDash val="solid"/>
                    </a:lnTlToBr>
                    <a:lnBlToTr w="12700" cmpd="sng">
                      <a:noFill/>
                      <a:prstDash val="solid"/>
                    </a:lnBlToTr>
                  </a:tcPr>
                </a:tc>
                <a:tc gridSpan="2">
                  <a:txBody>
                    <a:bodyPr/>
                    <a:lstStyle/>
                    <a:p>
                      <a:pPr marR="0" lvl="0" algn="ctr" rtl="0">
                        <a:lnSpc>
                          <a:spcPct val="100000"/>
                        </a:lnSpc>
                        <a:spcBef>
                          <a:spcPts val="0"/>
                        </a:spcBef>
                        <a:spcAft>
                          <a:spcPts val="0"/>
                        </a:spcAft>
                        <a:buClr>
                          <a:srgbClr val="000000"/>
                        </a:buClr>
                        <a:buFont typeface="Arial"/>
                        <a:buNone/>
                      </a:pPr>
                      <a:endParaRPr lang="en-US" sz="900" b="0" i="0" u="none" strike="noStrike" cap="none">
                        <a:solidFill>
                          <a:schemeClr val="bg2"/>
                        </a:solidFill>
                        <a:latin typeface="Encode Sans" pitchFamily="2" charset="0"/>
                        <a:ea typeface="+mn-ea"/>
                        <a:cs typeface="+mn-cs"/>
                        <a:sym typeface="Arial"/>
                      </a:endParaRPr>
                    </a:p>
                  </a:txBody>
                  <a:tcPr marL="36000" marR="36000" marT="0"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1931268713"/>
                  </a:ext>
                </a:extLst>
              </a:tr>
              <a:tr h="36000">
                <a:tc>
                  <a:txBody>
                    <a:bodyPr/>
                    <a:lstStyle/>
                    <a:p>
                      <a:pPr algn="ctr"/>
                      <a:r>
                        <a:rPr lang="en-US" sz="900" b="1" i="0" u="none" strike="noStrike" cap="none">
                          <a:solidFill>
                            <a:schemeClr val="bg2"/>
                          </a:solidFill>
                          <a:latin typeface="Encode Sans" pitchFamily="2" charset="0"/>
                          <a:ea typeface="+mn-ea"/>
                          <a:cs typeface="+mn-cs"/>
                          <a:sym typeface="Arial"/>
                        </a:rPr>
                        <a:t>Information Security</a:t>
                      </a:r>
                      <a:endParaRPr lang="en-US" sz="900" b="1">
                        <a:solidFill>
                          <a:schemeClr val="bg2"/>
                        </a:solidFill>
                        <a:latin typeface="Encode Sans" pitchFamily="2" charset="0"/>
                      </a:endParaRPr>
                    </a:p>
                  </a:txBody>
                  <a:tcPr marL="36000" marR="36000" marT="0" marB="0" anchor="ctr">
                    <a:lnL w="12700" cap="flat" cmpd="sng" algn="ctr">
                      <a:noFill/>
                      <a:prstDash val="solid"/>
                      <a:round/>
                      <a:headEnd type="none" w="med" len="med"/>
                      <a:tailEnd type="none" w="med" len="med"/>
                    </a:lnL>
                    <a:lnR w="12700" cmpd="sng">
                      <a:noFill/>
                    </a:lnR>
                    <a:lnT w="19050">
                      <a:noFill/>
                    </a:lnT>
                    <a:lnB w="19050">
                      <a:noFill/>
                    </a:lnB>
                    <a:lnTlToBr w="12700" cmpd="sng">
                      <a:noFill/>
                      <a:prstDash val="solid"/>
                    </a:lnTlToBr>
                    <a:lnBlToTr w="12700" cmpd="sng">
                      <a:noFill/>
                      <a:prstDash val="solid"/>
                    </a:lnBlToTr>
                  </a:tcPr>
                </a:tc>
                <a:tc>
                  <a:txBody>
                    <a:bodyPr/>
                    <a:lstStyle/>
                    <a:p>
                      <a:pPr algn="ctr"/>
                      <a:r>
                        <a:rPr lang="en-US" sz="900">
                          <a:solidFill>
                            <a:schemeClr val="bg2"/>
                          </a:solidFill>
                          <a:latin typeface="Encode Sans" pitchFamily="2" charset="0"/>
                        </a:rPr>
                        <a:t>Florent CANONNE</a:t>
                      </a:r>
                    </a:p>
                  </a:txBody>
                  <a:tcPr marL="36000" marR="36000" marT="0" marB="0" anchor="ctr">
                    <a:lnL w="12700" cmpd="sng">
                      <a:noFill/>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a:noFill/>
                    </a:lnB>
                    <a:lnTlToBr w="12700" cmpd="sng">
                      <a:noFill/>
                      <a:prstDash val="solid"/>
                    </a:lnTlToBr>
                    <a:lnBlToTr w="12700" cmpd="sng">
                      <a:noFill/>
                      <a:prstDash val="solid"/>
                    </a:lnBlToTr>
                  </a:tcPr>
                </a:tc>
                <a:tc gridSpan="2">
                  <a:txBody>
                    <a:bodyPr/>
                    <a:lstStyle/>
                    <a:p>
                      <a:pPr marR="0" lvl="0" algn="ctr" rtl="0">
                        <a:lnSpc>
                          <a:spcPct val="100000"/>
                        </a:lnSpc>
                        <a:spcBef>
                          <a:spcPts val="0"/>
                        </a:spcBef>
                        <a:spcAft>
                          <a:spcPts val="0"/>
                        </a:spcAft>
                        <a:buClr>
                          <a:srgbClr val="000000"/>
                        </a:buClr>
                        <a:buFont typeface="Arial"/>
                        <a:buNone/>
                      </a:pPr>
                      <a:endParaRPr lang="fr-FR" sz="900" b="0" i="0" u="none" strike="noStrike" cap="none">
                        <a:solidFill>
                          <a:schemeClr val="bg2"/>
                        </a:solidFill>
                        <a:latin typeface="Encode Sans" pitchFamily="2" charset="0"/>
                        <a:ea typeface="+mn-ea"/>
                        <a:cs typeface="+mn-cs"/>
                        <a:sym typeface="Arial"/>
                      </a:endParaRPr>
                    </a:p>
                  </a:txBody>
                  <a:tcPr marL="36000" marR="36000" marT="0"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3754936205"/>
                  </a:ext>
                </a:extLst>
              </a:tr>
              <a:tr h="36000">
                <a:tc>
                  <a:txBody>
                    <a:bodyPr/>
                    <a:lstStyle/>
                    <a:p>
                      <a:pPr algn="ctr"/>
                      <a:r>
                        <a:rPr lang="en-US" sz="900" b="1">
                          <a:solidFill>
                            <a:schemeClr val="bg2"/>
                          </a:solidFill>
                          <a:latin typeface="Encode Sans" pitchFamily="2" charset="0"/>
                        </a:rPr>
                        <a:t>Data </a:t>
                      </a:r>
                    </a:p>
                  </a:txBody>
                  <a:tcPr marL="36000" marR="36000" marT="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a:noFill/>
                    </a:lnB>
                    <a:lnTlToBr w="12700" cmpd="sng">
                      <a:noFill/>
                      <a:prstDash val="solid"/>
                    </a:lnTlToBr>
                    <a:lnBlToTr w="12700" cmpd="sng">
                      <a:noFill/>
                      <a:prstDash val="solid"/>
                    </a:lnBlToTr>
                  </a:tcPr>
                </a:tc>
                <a:tc>
                  <a:txBody>
                    <a:bodyPr/>
                    <a:lstStyle/>
                    <a:p>
                      <a:pPr algn="ctr"/>
                      <a:r>
                        <a:rPr lang="en-US" sz="900">
                          <a:solidFill>
                            <a:schemeClr val="bg2"/>
                          </a:solidFill>
                          <a:latin typeface="Encode Sans" pitchFamily="2" charset="0"/>
                        </a:rPr>
                        <a:t>Jean-Olivier AZELIE</a:t>
                      </a:r>
                    </a:p>
                  </a:txBody>
                  <a:tcPr marL="36000" marR="36000" marT="0" marB="0" anchor="ctr">
                    <a:lnL w="12700" cmpd="sng">
                      <a:noFill/>
                    </a:lnL>
                    <a:lnR w="12700" cmpd="sng">
                      <a:noFill/>
                    </a:lnR>
                    <a:lnT w="19050" cap="flat" cmpd="sng" algn="ctr">
                      <a:noFill/>
                      <a:prstDash val="solid"/>
                      <a:round/>
                      <a:headEnd type="none" w="med" len="med"/>
                      <a:tailEnd type="none" w="med" len="med"/>
                    </a:lnT>
                    <a:lnB w="19050">
                      <a:noFill/>
                    </a:lnB>
                    <a:lnTlToBr w="12700" cmpd="sng">
                      <a:noFill/>
                      <a:prstDash val="solid"/>
                    </a:lnTlToBr>
                    <a:lnBlToTr w="12700" cmpd="sng">
                      <a:noFill/>
                      <a:prstDash val="solid"/>
                    </a:lnBlToTr>
                  </a:tcPr>
                </a:tc>
                <a:tc gridSpan="2">
                  <a:txBody>
                    <a:bodyPr/>
                    <a:lstStyle/>
                    <a:p>
                      <a:pPr marR="0" lvl="0" algn="ctr" rtl="0">
                        <a:lnSpc>
                          <a:spcPct val="100000"/>
                        </a:lnSpc>
                        <a:spcBef>
                          <a:spcPts val="0"/>
                        </a:spcBef>
                        <a:spcAft>
                          <a:spcPts val="0"/>
                        </a:spcAft>
                        <a:buClr>
                          <a:srgbClr val="000000"/>
                        </a:buClr>
                        <a:buFont typeface="Arial"/>
                        <a:buNone/>
                      </a:pPr>
                      <a:endParaRPr lang="en-US" sz="900" b="0" i="0" u="none" strike="noStrike" cap="none">
                        <a:solidFill>
                          <a:schemeClr val="bg2"/>
                        </a:solidFill>
                        <a:latin typeface="Encode Sans" pitchFamily="2" charset="0"/>
                        <a:ea typeface="+mn-ea"/>
                        <a:cs typeface="+mn-cs"/>
                        <a:sym typeface="Arial"/>
                      </a:endParaRPr>
                    </a:p>
                  </a:txBody>
                  <a:tcPr marL="36000" marR="36000" marT="0" marB="0"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632086342"/>
                  </a:ext>
                </a:extLst>
              </a:tr>
              <a:tr h="36000">
                <a:tc>
                  <a:txBody>
                    <a:bodyPr/>
                    <a:lstStyle/>
                    <a:p>
                      <a:pPr marR="0" algn="ctr" rtl="0">
                        <a:lnSpc>
                          <a:spcPct val="100000"/>
                        </a:lnSpc>
                        <a:spcBef>
                          <a:spcPts val="0"/>
                        </a:spcBef>
                        <a:spcAft>
                          <a:spcPts val="0"/>
                        </a:spcAft>
                        <a:buClr>
                          <a:srgbClr val="000000"/>
                        </a:buClr>
                        <a:buFont typeface="Arial"/>
                      </a:pPr>
                      <a:r>
                        <a:rPr lang="en-US" sz="900" b="1" i="0" u="none" strike="noStrike" cap="none">
                          <a:solidFill>
                            <a:schemeClr val="bg2"/>
                          </a:solidFill>
                          <a:latin typeface="Encode Sans" pitchFamily="2" charset="0"/>
                          <a:ea typeface="+mn-ea"/>
                          <a:cs typeface="+mn-cs"/>
                          <a:sym typeface="Arial"/>
                        </a:rPr>
                        <a:t>Infrastructure </a:t>
                      </a:r>
                    </a:p>
                  </a:txBody>
                  <a:tcPr marL="36000" marR="36000" marT="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Olivier DOIT</a:t>
                      </a:r>
                    </a:p>
                  </a:txBody>
                  <a:tcPr marL="36000" marR="36000" marT="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fr-FR" sz="900" b="0" i="0" u="none" strike="noStrike" cap="none" noProof="0">
                        <a:solidFill>
                          <a:schemeClr val="bg2"/>
                        </a:solidFill>
                        <a:latin typeface="Encode Sans" pitchFamily="2" charset="0"/>
                        <a:ea typeface="+mn-ea"/>
                        <a:cs typeface="+mn-cs"/>
                        <a:sym typeface="Arial"/>
                      </a:endParaRPr>
                    </a:p>
                  </a:txBody>
                  <a:tcPr marL="36000" marR="36000" marT="0" marB="0" anchor="ctr">
                    <a:lnL w="12700" cmpd="sng">
                      <a:noFill/>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116520425"/>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a:solidFill>
                            <a:schemeClr val="bg2"/>
                          </a:solidFill>
                          <a:latin typeface="Encode Sans" pitchFamily="2" charset="0"/>
                          <a:ea typeface="+mn-ea"/>
                          <a:cs typeface="+mn-cs"/>
                          <a:sym typeface="Arial"/>
                        </a:rPr>
                        <a:t>RUN</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Olivier DOIT</a:t>
                      </a:r>
                    </a:p>
                  </a:txBody>
                  <a:tcPr marL="6350" marR="6350" marT="635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rtl="0" fontAlgn="ctr"/>
                      <a:endParaRPr lang="fr-FR" sz="900" b="0" i="0" u="sng" strike="noStrike">
                        <a:solidFill>
                          <a:srgbClr val="0563C1"/>
                        </a:solidFill>
                        <a:effectLst/>
                        <a:latin typeface="Encode Sans" pitchFamily="2"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2171405840"/>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a:solidFill>
                            <a:schemeClr val="bg2"/>
                          </a:solidFill>
                          <a:latin typeface="Encode Sans" pitchFamily="2" charset="0"/>
                          <a:ea typeface="+mn-ea"/>
                          <a:cs typeface="+mn-cs"/>
                          <a:sym typeface="Arial"/>
                        </a:rPr>
                        <a:t>GEN AI </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err="1">
                          <a:solidFill>
                            <a:schemeClr val="bg2"/>
                          </a:solidFill>
                          <a:latin typeface="Encode Sans" pitchFamily="2" charset="0"/>
                          <a:ea typeface="+mn-ea"/>
                          <a:cs typeface="+mn-cs"/>
                          <a:sym typeface="Arial"/>
                        </a:rPr>
                        <a:t>Ilef</a:t>
                      </a:r>
                      <a:r>
                        <a:rPr lang="fr-FR" sz="900" b="0" i="0" u="none" strike="noStrike" cap="none">
                          <a:solidFill>
                            <a:schemeClr val="bg2"/>
                          </a:solidFill>
                          <a:latin typeface="Encode Sans" pitchFamily="2" charset="0"/>
                          <a:ea typeface="+mn-ea"/>
                          <a:cs typeface="+mn-cs"/>
                          <a:sym typeface="Arial"/>
                        </a:rPr>
                        <a:t> BEN FARHAT</a:t>
                      </a:r>
                    </a:p>
                  </a:txBody>
                  <a:tcPr marL="6350" marR="6350" marT="635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rtl="0" fontAlgn="ctr"/>
                      <a:endParaRPr lang="fr-FR" sz="900" b="0" i="0" u="sng" strike="noStrike">
                        <a:solidFill>
                          <a:srgbClr val="0563C1"/>
                        </a:solidFill>
                        <a:effectLst/>
                        <a:latin typeface="Encode Sans" pitchFamily="2"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3491077699"/>
                  </a:ext>
                </a:extLst>
              </a:tr>
              <a:tr h="36000">
                <a:tc>
                  <a:txBody>
                    <a:bodyPr/>
                    <a:lstStyle/>
                    <a:p>
                      <a:pPr algn="ctr"/>
                      <a:r>
                        <a:rPr lang="en-US" sz="900" b="1">
                          <a:solidFill>
                            <a:schemeClr val="bg2"/>
                          </a:solidFill>
                          <a:latin typeface="Encode Sans" pitchFamily="2" charset="0"/>
                        </a:rPr>
                        <a:t>Data Privacy</a:t>
                      </a:r>
                    </a:p>
                  </a:txBody>
                  <a:tcPr marL="36000" marR="36000" marT="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900">
                          <a:solidFill>
                            <a:schemeClr val="bg2"/>
                          </a:solidFill>
                          <a:latin typeface="Encode Sans" pitchFamily="2" charset="0"/>
                        </a:rPr>
                        <a:t>Touria BOIXEL</a:t>
                      </a:r>
                    </a:p>
                    <a:p>
                      <a:pPr algn="ctr"/>
                      <a:r>
                        <a:rPr lang="it-IT" sz="900">
                          <a:solidFill>
                            <a:schemeClr val="bg2"/>
                          </a:solidFill>
                          <a:latin typeface="Encode Sans" pitchFamily="2" charset="0"/>
                        </a:rPr>
                        <a:t>Sunday ADENUGA</a:t>
                      </a:r>
                    </a:p>
                  </a:txBody>
                  <a:tcPr marL="36000" marR="36000" marT="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lvl="0" algn="r">
                        <a:buNone/>
                      </a:pPr>
                      <a:endParaRPr lang="en-US" sz="900">
                        <a:solidFill>
                          <a:schemeClr val="bg2"/>
                        </a:solidFill>
                        <a:latin typeface="Encode Sans" pitchFamily="2" charset="0"/>
                      </a:endParaRPr>
                    </a:p>
                  </a:txBody>
                  <a:tcPr marL="36000" marR="36000" marT="0" marB="0" anchor="ctr">
                    <a:lnL w="12700" cmpd="sng">
                      <a:noFill/>
                    </a:lnL>
                    <a:lnT w="12700" cmpd="sng">
                      <a:noFill/>
                    </a:lnT>
                    <a:lnB w="12700" cmpd="sng">
                      <a:noFill/>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3740330412"/>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err="1">
                          <a:solidFill>
                            <a:schemeClr val="bg2"/>
                          </a:solidFill>
                          <a:latin typeface="Encode Sans" pitchFamily="2" charset="0"/>
                          <a:ea typeface="+mn-ea"/>
                          <a:cs typeface="+mn-cs"/>
                          <a:sym typeface="Arial"/>
                        </a:rPr>
                        <a:t>FinOps</a:t>
                      </a:r>
                      <a:endParaRPr lang="fr-FR" sz="900" b="1" i="0" u="none" strike="noStrike" cap="none">
                        <a:solidFill>
                          <a:schemeClr val="bg2"/>
                        </a:solidFill>
                        <a:latin typeface="Encode Sans" pitchFamily="2" charset="0"/>
                        <a:ea typeface="+mn-ea"/>
                        <a:cs typeface="+mn-cs"/>
                        <a:sym typeface="Arial"/>
                      </a:endParaRP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Arnaud MICHELIN / Olivier BERNARD</a:t>
                      </a:r>
                    </a:p>
                  </a:txBody>
                  <a:tcPr marL="6350" marR="6350" marT="635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rtl="0" fontAlgn="ctr"/>
                      <a:endParaRPr lang="fr-FR" sz="900" b="0" i="0" u="sng" strike="noStrike">
                        <a:solidFill>
                          <a:srgbClr val="0563C1"/>
                        </a:solidFill>
                        <a:effectLst/>
                        <a:latin typeface="Encode Sans" pitchFamily="2"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163730880"/>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a:solidFill>
                            <a:schemeClr val="bg2"/>
                          </a:solidFill>
                          <a:latin typeface="Encode Sans" pitchFamily="2" charset="0"/>
                          <a:ea typeface="+mn-ea"/>
                          <a:cs typeface="+mn-cs"/>
                          <a:sym typeface="Arial"/>
                        </a:rPr>
                        <a:t>DATA Platform</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Christophe SERWINSKI</a:t>
                      </a:r>
                    </a:p>
                  </a:txBody>
                  <a:tcPr marL="6350" marR="6350" marT="635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rtl="0" fontAlgn="ctr"/>
                      <a:endParaRPr lang="fr-FR" sz="900" b="0" i="0" u="sng" strike="noStrike">
                        <a:solidFill>
                          <a:srgbClr val="0563C1"/>
                        </a:solidFill>
                        <a:effectLst/>
                        <a:latin typeface="Encode Sans" pitchFamily="2"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4286865561"/>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a:solidFill>
                            <a:schemeClr val="bg2"/>
                          </a:solidFill>
                          <a:latin typeface="Encode Sans" pitchFamily="2" charset="0"/>
                          <a:ea typeface="+mn-ea"/>
                          <a:cs typeface="+mn-cs"/>
                          <a:sym typeface="Arial"/>
                        </a:rPr>
                        <a:t>SOX Champion</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Pascal LAPORTE</a:t>
                      </a:r>
                    </a:p>
                  </a:txBody>
                  <a:tcPr marL="6350" marR="6350" marT="635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36648712"/>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err="1">
                          <a:solidFill>
                            <a:schemeClr val="bg2"/>
                          </a:solidFill>
                          <a:latin typeface="Encode Sans" pitchFamily="2" charset="0"/>
                          <a:ea typeface="+mn-ea"/>
                          <a:cs typeface="+mn-cs"/>
                          <a:sym typeface="Arial"/>
                        </a:rPr>
                        <a:t>Contract</a:t>
                      </a:r>
                      <a:r>
                        <a:rPr lang="fr-FR" sz="900" b="1" i="0" u="none" strike="noStrike" cap="none">
                          <a:solidFill>
                            <a:schemeClr val="bg2"/>
                          </a:solidFill>
                          <a:latin typeface="Encode Sans" pitchFamily="2" charset="0"/>
                          <a:ea typeface="+mn-ea"/>
                          <a:cs typeface="+mn-cs"/>
                          <a:sym typeface="Arial"/>
                        </a:rPr>
                        <a:t> manager</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Pascal DUPUIS</a:t>
                      </a:r>
                    </a:p>
                  </a:txBody>
                  <a:tcPr marL="6350" marR="6350" marT="635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8255468"/>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a:solidFill>
                            <a:schemeClr val="bg2"/>
                          </a:solidFill>
                          <a:latin typeface="Encode Sans" pitchFamily="2" charset="0"/>
                          <a:ea typeface="+mn-ea"/>
                          <a:cs typeface="+mn-cs"/>
                          <a:sym typeface="Arial"/>
                        </a:rPr>
                        <a:t>OPS Leader</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For new application : Alexandre BAC</a:t>
                      </a:r>
                    </a:p>
                  </a:txBody>
                  <a:tcPr marL="6350" marR="6350" marT="635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OKRETAFO</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Isabelle SALVANEIX</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7482641"/>
                  </a:ext>
                </a:extLst>
              </a:tr>
              <a:tr h="36000">
                <a:tc>
                  <a:txBody>
                    <a:bodyPr/>
                    <a:lstStyle/>
                    <a:p>
                      <a:pPr marR="0" algn="ctr" rtl="0" fontAlgn="ctr">
                        <a:lnSpc>
                          <a:spcPct val="100000"/>
                        </a:lnSpc>
                        <a:spcBef>
                          <a:spcPts val="0"/>
                        </a:spcBef>
                        <a:spcAft>
                          <a:spcPts val="0"/>
                        </a:spcAft>
                        <a:buClr>
                          <a:srgbClr val="000000"/>
                        </a:buClr>
                        <a:buFont typeface="Arial"/>
                      </a:pPr>
                      <a:endParaRPr lang="fr-FR" sz="900" b="1" i="0" u="none" strike="noStrike" cap="none">
                        <a:solidFill>
                          <a:schemeClr val="bg2"/>
                        </a:solidFill>
                        <a:latin typeface="Encode Sans" pitchFamily="2" charset="0"/>
                        <a:ea typeface="+mn-ea"/>
                        <a:cs typeface="+mn-cs"/>
                        <a:sym typeface="Arial"/>
                      </a:endParaRP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endParaRPr lang="fr-FR" sz="900" b="0" i="0" u="none" strike="noStrike" cap="none">
                        <a:solidFill>
                          <a:schemeClr val="bg2"/>
                        </a:solidFill>
                        <a:latin typeface="Encode Sans" pitchFamily="2" charset="0"/>
                        <a:ea typeface="+mn-ea"/>
                        <a:cs typeface="+mn-cs"/>
                        <a:sym typeface="Arial"/>
                      </a:endParaRPr>
                    </a:p>
                  </a:txBody>
                  <a:tcPr marL="6350" marR="6350" marT="6350" marB="0"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OKDEMARK</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Johan HERNANDEZ</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2647498"/>
                  </a:ext>
                </a:extLst>
              </a:tr>
              <a:tr h="36000">
                <a:tc>
                  <a:txBody>
                    <a:bodyPr/>
                    <a:lstStyle/>
                    <a:p>
                      <a:pPr marR="0" algn="ctr" rtl="0" fontAlgn="ctr">
                        <a:lnSpc>
                          <a:spcPct val="100000"/>
                        </a:lnSpc>
                        <a:spcBef>
                          <a:spcPts val="0"/>
                        </a:spcBef>
                        <a:spcAft>
                          <a:spcPts val="0"/>
                        </a:spcAft>
                        <a:buClr>
                          <a:srgbClr val="000000"/>
                        </a:buClr>
                        <a:buFont typeface="Arial"/>
                      </a:pPr>
                      <a:endParaRPr lang="fr-FR" sz="900" b="1" i="0" u="none" strike="noStrike" cap="none">
                        <a:solidFill>
                          <a:schemeClr val="bg2"/>
                        </a:solidFill>
                        <a:latin typeface="Encode Sans" pitchFamily="2" charset="0"/>
                        <a:ea typeface="+mn-ea"/>
                        <a:cs typeface="+mn-cs"/>
                        <a:sym typeface="Arial"/>
                      </a:endParaRP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endParaRPr lang="fr-FR" sz="900" b="0" i="0" u="none" strike="noStrike" cap="none">
                        <a:solidFill>
                          <a:schemeClr val="bg2"/>
                        </a:solidFill>
                        <a:latin typeface="Encode Sans" pitchFamily="2" charset="0"/>
                        <a:ea typeface="+mn-ea"/>
                        <a:cs typeface="+mn-cs"/>
                        <a:sym typeface="Arial"/>
                      </a:endParaRPr>
                    </a:p>
                  </a:txBody>
                  <a:tcPr marL="6350" marR="6350" marT="635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OKRETABO</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Arnaud LIPKA</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2461367"/>
                  </a:ext>
                </a:extLst>
              </a:tr>
              <a:tr h="36000">
                <a:tc>
                  <a:txBody>
                    <a:bodyPr/>
                    <a:lstStyle/>
                    <a:p>
                      <a:pPr marR="0" algn="ctr" rtl="0" fontAlgn="ctr">
                        <a:lnSpc>
                          <a:spcPct val="100000"/>
                        </a:lnSpc>
                        <a:spcBef>
                          <a:spcPts val="0"/>
                        </a:spcBef>
                        <a:spcAft>
                          <a:spcPts val="0"/>
                        </a:spcAft>
                        <a:buClr>
                          <a:srgbClr val="000000"/>
                        </a:buClr>
                        <a:buFont typeface="Arial"/>
                      </a:pPr>
                      <a:endParaRPr lang="fr-FR" sz="900" b="1" i="0" u="none" strike="noStrike" cap="none">
                        <a:solidFill>
                          <a:schemeClr val="bg2"/>
                        </a:solidFill>
                        <a:latin typeface="Encode Sans" pitchFamily="2" charset="0"/>
                        <a:ea typeface="+mn-ea"/>
                        <a:cs typeface="+mn-cs"/>
                        <a:sym typeface="Arial"/>
                      </a:endParaRP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endParaRPr lang="fr-FR" sz="900" b="0" i="0" u="none" strike="noStrike" cap="none">
                        <a:solidFill>
                          <a:schemeClr val="bg2"/>
                        </a:solidFill>
                        <a:latin typeface="Encode Sans" pitchFamily="2" charset="0"/>
                        <a:ea typeface="+mn-ea"/>
                        <a:cs typeface="+mn-cs"/>
                        <a:sym typeface="Arial"/>
                      </a:endParaRPr>
                    </a:p>
                  </a:txBody>
                  <a:tcPr marL="6350" marR="6350" marT="635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OKCECORP</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Anouar ALAMAI</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3652579"/>
                  </a:ext>
                </a:extLst>
              </a:tr>
              <a:tr h="36000">
                <a:tc>
                  <a:txBody>
                    <a:bodyPr/>
                    <a:lstStyle/>
                    <a:p>
                      <a:pPr marR="0" algn="ctr" rtl="0" fontAlgn="ctr">
                        <a:lnSpc>
                          <a:spcPct val="100000"/>
                        </a:lnSpc>
                        <a:spcBef>
                          <a:spcPts val="0"/>
                        </a:spcBef>
                        <a:spcAft>
                          <a:spcPts val="0"/>
                        </a:spcAft>
                        <a:buClr>
                          <a:srgbClr val="000000"/>
                        </a:buClr>
                        <a:buFont typeface="Arial"/>
                      </a:pPr>
                      <a:endParaRPr lang="fr-FR" sz="900" b="1" i="0" u="none" strike="noStrike" cap="none">
                        <a:solidFill>
                          <a:schemeClr val="bg2"/>
                        </a:solidFill>
                        <a:latin typeface="Encode Sans" pitchFamily="2" charset="0"/>
                        <a:ea typeface="+mn-ea"/>
                        <a:cs typeface="+mn-cs"/>
                        <a:sym typeface="Arial"/>
                      </a:endParaRP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endParaRPr lang="fr-FR" sz="900" b="0" i="0" u="none" strike="noStrike" cap="none">
                        <a:solidFill>
                          <a:schemeClr val="bg2"/>
                        </a:solidFill>
                        <a:latin typeface="Encode Sans" pitchFamily="2" charset="0"/>
                        <a:ea typeface="+mn-ea"/>
                        <a:cs typeface="+mn-cs"/>
                        <a:sym typeface="Arial"/>
                      </a:endParaRPr>
                    </a:p>
                  </a:txBody>
                  <a:tcPr marL="6350" marR="6350" marT="635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OKCOMRAF</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Anouar ALAMI</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9584260"/>
                  </a:ext>
                </a:extLst>
              </a:tr>
              <a:tr h="36000">
                <a:tc>
                  <a:txBody>
                    <a:bodyPr/>
                    <a:lstStyle/>
                    <a:p>
                      <a:pPr marR="0" algn="ctr" rtl="0" fontAlgn="ctr">
                        <a:lnSpc>
                          <a:spcPct val="100000"/>
                        </a:lnSpc>
                        <a:spcBef>
                          <a:spcPts val="0"/>
                        </a:spcBef>
                        <a:spcAft>
                          <a:spcPts val="0"/>
                        </a:spcAft>
                        <a:buClr>
                          <a:srgbClr val="000000"/>
                        </a:buClr>
                        <a:buFont typeface="Arial"/>
                      </a:pPr>
                      <a:endParaRPr lang="fr-FR" sz="900" b="1" i="0" u="none" strike="noStrike" cap="none">
                        <a:solidFill>
                          <a:schemeClr val="bg2"/>
                        </a:solidFill>
                        <a:latin typeface="Encode Sans" pitchFamily="2" charset="0"/>
                        <a:ea typeface="+mn-ea"/>
                        <a:cs typeface="+mn-cs"/>
                        <a:sym typeface="Arial"/>
                      </a:endParaRP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endParaRPr lang="fr-FR" sz="900" b="0" i="0" u="none" strike="noStrike" cap="none">
                        <a:solidFill>
                          <a:schemeClr val="bg2"/>
                        </a:solidFill>
                        <a:latin typeface="Encode Sans" pitchFamily="2" charset="0"/>
                        <a:ea typeface="+mn-ea"/>
                        <a:cs typeface="+mn-cs"/>
                        <a:sym typeface="Arial"/>
                      </a:endParaRPr>
                    </a:p>
                  </a:txBody>
                  <a:tcPr marL="6350" marR="6350" marT="635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OKJVINSU</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fr-FR" sz="900" b="0" i="0" u="none" strike="noStrike">
                          <a:solidFill>
                            <a:schemeClr val="bg2"/>
                          </a:solidFill>
                          <a:effectLst/>
                          <a:latin typeface="Encode Sans" pitchFamily="2" charset="0"/>
                        </a:rPr>
                        <a:t>Karim AKSIL</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2911824"/>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a:solidFill>
                            <a:schemeClr val="bg2"/>
                          </a:solidFill>
                          <a:latin typeface="Encode Sans" pitchFamily="2" charset="0"/>
                          <a:ea typeface="+mn-ea"/>
                          <a:cs typeface="+mn-cs"/>
                          <a:sym typeface="Arial"/>
                        </a:rPr>
                        <a:t>Cloud Architecture</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Nicolas HARTMANN</a:t>
                      </a:r>
                    </a:p>
                  </a:txBody>
                  <a:tcPr marL="6350" marR="6350" marT="635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2939111"/>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a:solidFill>
                            <a:schemeClr val="bg2"/>
                          </a:solidFill>
                          <a:latin typeface="Encode Sans" pitchFamily="2" charset="0"/>
                          <a:ea typeface="+mn-ea"/>
                          <a:cs typeface="+mn-cs"/>
                          <a:sym typeface="Arial"/>
                        </a:rPr>
                        <a:t>Security Architecture</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Mathieu BRAJEUL &amp; </a:t>
                      </a:r>
                      <a:r>
                        <a:rPr lang="fr-FR" sz="900" b="0" i="0" u="none" strike="noStrike" cap="none" err="1">
                          <a:solidFill>
                            <a:schemeClr val="bg2"/>
                          </a:solidFill>
                          <a:latin typeface="Encode Sans" pitchFamily="2" charset="0"/>
                          <a:ea typeface="+mn-ea"/>
                          <a:cs typeface="+mn-cs"/>
                          <a:sym typeface="Arial"/>
                        </a:rPr>
                        <a:t>Gunjan</a:t>
                      </a:r>
                      <a:r>
                        <a:rPr lang="fr-FR" sz="900" b="0" i="0" u="none" strike="noStrike" cap="none">
                          <a:solidFill>
                            <a:schemeClr val="bg2"/>
                          </a:solidFill>
                          <a:latin typeface="Encode Sans" pitchFamily="2" charset="0"/>
                          <a:ea typeface="+mn-ea"/>
                          <a:cs typeface="+mn-cs"/>
                          <a:sym typeface="Arial"/>
                        </a:rPr>
                        <a:t> SEHGAL</a:t>
                      </a:r>
                    </a:p>
                  </a:txBody>
                  <a:tcPr marL="6350" marR="6350" marT="635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86137"/>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err="1">
                          <a:solidFill>
                            <a:schemeClr val="bg2"/>
                          </a:solidFill>
                          <a:latin typeface="Encode Sans" pitchFamily="2" charset="0"/>
                          <a:ea typeface="+mn-ea"/>
                          <a:cs typeface="+mn-cs"/>
                          <a:sym typeface="Arial"/>
                        </a:rPr>
                        <a:t>Accessibility</a:t>
                      </a:r>
                      <a:endParaRPr lang="fr-FR" sz="900" b="1" i="0" u="none" strike="noStrike" cap="none">
                        <a:solidFill>
                          <a:schemeClr val="bg2"/>
                        </a:solidFill>
                        <a:latin typeface="Encode Sans" pitchFamily="2" charset="0"/>
                        <a:ea typeface="+mn-ea"/>
                        <a:cs typeface="+mn-cs"/>
                        <a:sym typeface="Arial"/>
                      </a:endParaRP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Lucie Laure NGOUNOU KANGOUE</a:t>
                      </a:r>
                    </a:p>
                  </a:txBody>
                  <a:tcPr marL="6350" marR="6350" marT="635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dirty="0">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2414819"/>
                  </a:ext>
                </a:extLst>
              </a:tr>
              <a:tr h="36000">
                <a:tc>
                  <a:txBody>
                    <a:bodyPr/>
                    <a:lstStyle/>
                    <a:p>
                      <a:pPr marR="0" algn="ctr" rtl="0" fontAlgn="ctr">
                        <a:lnSpc>
                          <a:spcPct val="100000"/>
                        </a:lnSpc>
                        <a:spcBef>
                          <a:spcPts val="0"/>
                        </a:spcBef>
                        <a:spcAft>
                          <a:spcPts val="0"/>
                        </a:spcAft>
                        <a:buClr>
                          <a:srgbClr val="000000"/>
                        </a:buClr>
                        <a:buFont typeface="Arial"/>
                      </a:pPr>
                      <a:r>
                        <a:rPr lang="fr-FR" sz="900" b="1" i="0" u="none" strike="noStrike" cap="none">
                          <a:solidFill>
                            <a:schemeClr val="bg2"/>
                          </a:solidFill>
                          <a:latin typeface="Encode Sans" pitchFamily="2" charset="0"/>
                          <a:ea typeface="+mn-ea"/>
                          <a:cs typeface="+mn-cs"/>
                          <a:sym typeface="Arial"/>
                        </a:rPr>
                        <a:t>Saas Management</a:t>
                      </a:r>
                    </a:p>
                  </a:txBody>
                  <a:tcPr marL="6350" marR="6350" marT="6350" marB="0" anchor="ctr">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pPr>
                      <a:r>
                        <a:rPr lang="fr-FR" sz="900" b="0" i="0" u="none" strike="noStrike" cap="none">
                          <a:solidFill>
                            <a:schemeClr val="bg2"/>
                          </a:solidFill>
                          <a:latin typeface="Encode Sans" pitchFamily="2" charset="0"/>
                          <a:ea typeface="+mn-ea"/>
                          <a:cs typeface="+mn-cs"/>
                          <a:sym typeface="Arial"/>
                        </a:rPr>
                        <a:t>Marc ORTOLO</a:t>
                      </a:r>
                    </a:p>
                  </a:txBody>
                  <a:tcPr marL="6350" marR="6350" marT="635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fr-FR" sz="900" b="0" i="0" u="none" strike="noStrike" dirty="0">
                        <a:solidFill>
                          <a:schemeClr val="bg2"/>
                        </a:solidFill>
                        <a:effectLst/>
                        <a:latin typeface="Encode Sans" pitchFamily="2" charset="0"/>
                      </a:endParaRP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1514754"/>
                  </a:ext>
                </a:extLst>
              </a:tr>
            </a:tbl>
          </a:graphicData>
        </a:graphic>
      </p:graphicFrame>
    </p:spTree>
    <p:custDataLst>
      <p:tags r:id="rId1"/>
    </p:custDataLst>
    <p:extLst>
      <p:ext uri="{BB962C8B-B14F-4D97-AF65-F5344CB8AC3E}">
        <p14:creationId xmlns:p14="http://schemas.microsoft.com/office/powerpoint/2010/main" val="21638556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86CC2-7760-4EC6-BBED-EE7F82C7FF9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AB24476-325C-452A-09F0-844C05C74BB4}"/>
              </a:ext>
            </a:extLst>
          </p:cNvPr>
          <p:cNvSpPr>
            <a:spLocks noGrp="1"/>
          </p:cNvSpPr>
          <p:nvPr>
            <p:ph type="title" idx="2"/>
          </p:nvPr>
        </p:nvSpPr>
        <p:spPr/>
        <p:txBody>
          <a:bodyPr/>
          <a:lstStyle/>
          <a:p>
            <a:r>
              <a:rPr kumimoji="0" lang="en-US" sz="1100" b="1" i="0" u="none" strike="noStrike" kern="1200" cap="all" spc="0" normalizeH="0" baseline="0" noProof="0" dirty="0">
                <a:ln>
                  <a:noFill/>
                </a:ln>
                <a:solidFill>
                  <a:prstClr val="white"/>
                </a:solidFill>
                <a:effectLst/>
                <a:uLnTx/>
                <a:uFillTx/>
                <a:latin typeface="Encode Sans"/>
                <a:ea typeface="+mj-ea"/>
                <a:cs typeface="+mj-cs"/>
              </a:rPr>
              <a:t>Functional &amp; Technical flow mapping </a:t>
            </a:r>
            <a:r>
              <a:rPr kumimoji="0" lang="en-US" sz="1100" b="1" i="0" u="none" strike="noStrike" kern="1200" cap="all" spc="0" normalizeH="0" baseline="0" noProof="0" dirty="0" err="1">
                <a:ln>
                  <a:noFill/>
                </a:ln>
                <a:solidFill>
                  <a:prstClr val="white"/>
                </a:solidFill>
                <a:effectLst/>
                <a:uLnTx/>
                <a:uFillTx/>
                <a:latin typeface="Encode Sans"/>
                <a:ea typeface="+mj-ea"/>
                <a:cs typeface="+mj-cs"/>
              </a:rPr>
              <a:t>guidleine</a:t>
            </a:r>
            <a:endParaRPr lang="en-GB" dirty="0"/>
          </a:p>
        </p:txBody>
      </p:sp>
      <p:sp>
        <p:nvSpPr>
          <p:cNvPr id="6" name="Espace réservé du contenu 1">
            <a:extLst>
              <a:ext uri="{FF2B5EF4-FFF2-40B4-BE49-F238E27FC236}">
                <a16:creationId xmlns:a16="http://schemas.microsoft.com/office/drawing/2014/main" id="{6DF84DFD-BA14-CFE5-70D7-9AB9336A0A39}"/>
              </a:ext>
            </a:extLst>
          </p:cNvPr>
          <p:cNvSpPr txBox="1">
            <a:spLocks/>
          </p:cNvSpPr>
          <p:nvPr/>
        </p:nvSpPr>
        <p:spPr>
          <a:xfrm>
            <a:off x="217991" y="893545"/>
            <a:ext cx="8523609" cy="4135730"/>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dirty="0">
                <a:solidFill>
                  <a:schemeClr val="accent1"/>
                </a:solidFill>
                <a:latin typeface="Encode Sans" pitchFamily="2" charset="0"/>
              </a:rPr>
              <a:t>Functional &amp; Technical flow mapping:</a:t>
            </a:r>
          </a:p>
          <a:p>
            <a:pPr lvl="1"/>
            <a:r>
              <a:rPr lang="en-US" sz="1200" dirty="0" err="1">
                <a:solidFill>
                  <a:schemeClr val="accent1"/>
                </a:solidFill>
                <a:latin typeface="Encode Sans" pitchFamily="2" charset="0"/>
                <a:hlinkClick r:id="rId3"/>
              </a:rPr>
              <a:t>SIBS_CCT_template</a:t>
            </a:r>
            <a:r>
              <a:rPr lang="en-US" sz="1200" dirty="0">
                <a:solidFill>
                  <a:schemeClr val="accent1"/>
                </a:solidFill>
                <a:latin typeface="Encode Sans" pitchFamily="2" charset="0"/>
                <a:hlinkClick r:id="rId3"/>
              </a:rPr>
              <a:t>-flow-mapping</a:t>
            </a:r>
            <a:br>
              <a:rPr lang="en-US" sz="1200" dirty="0">
                <a:solidFill>
                  <a:schemeClr val="accent1"/>
                </a:solidFill>
                <a:latin typeface="Encode Sans" pitchFamily="2" charset="0"/>
              </a:rPr>
            </a:br>
            <a:endParaRPr lang="en-US" sz="900" dirty="0">
              <a:solidFill>
                <a:schemeClr val="accent1"/>
              </a:solidFill>
              <a:latin typeface="Encode Sans" pitchFamily="2" charset="0"/>
            </a:endParaRPr>
          </a:p>
          <a:p>
            <a:pPr marL="371475" lvl="1" indent="0">
              <a:buNone/>
            </a:pPr>
            <a:endParaRPr lang="en-US" sz="900" dirty="0">
              <a:solidFill>
                <a:schemeClr val="accent1"/>
              </a:solidFill>
              <a:latin typeface="Encode Sans" pitchFamily="2" charset="0"/>
            </a:endParaRPr>
          </a:p>
        </p:txBody>
      </p:sp>
      <p:sp>
        <p:nvSpPr>
          <p:cNvPr id="5" name="ZoneTexte 4">
            <a:extLst>
              <a:ext uri="{FF2B5EF4-FFF2-40B4-BE49-F238E27FC236}">
                <a16:creationId xmlns:a16="http://schemas.microsoft.com/office/drawing/2014/main" id="{96B39C49-623B-EE95-8D45-727084A6BB21}"/>
              </a:ext>
            </a:extLst>
          </p:cNvPr>
          <p:cNvSpPr txBox="1"/>
          <p:nvPr/>
        </p:nvSpPr>
        <p:spPr>
          <a:xfrm>
            <a:off x="72001" y="4100964"/>
            <a:ext cx="9000000" cy="707886"/>
          </a:xfrm>
          <a:prstGeom prst="rect">
            <a:avLst/>
          </a:prstGeom>
        </p:spPr>
        <p:style>
          <a:lnRef idx="1">
            <a:schemeClr val="accent3"/>
          </a:lnRef>
          <a:fillRef idx="2">
            <a:schemeClr val="accent3"/>
          </a:fillRef>
          <a:effectRef idx="1">
            <a:schemeClr val="accent3"/>
          </a:effectRef>
          <a:fontRef idx="minor">
            <a:schemeClr val="dk1"/>
          </a:fontRef>
        </p:style>
        <p:txBody>
          <a:bodyPr wrap="square" lIns="91440" tIns="45720" rIns="91440" bIns="45720" rtlCol="0" anchor="t">
            <a:spAutoFit/>
          </a:bodyPr>
          <a:lstStyle>
            <a:defPPr>
              <a:defRPr lang="fr-FR"/>
            </a:defPPr>
            <a:lvl1pPr>
              <a:defRPr sz="1000" u="sng">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latin typeface="Encode Sans" pitchFamily="2" charset="0"/>
              </a:rPr>
              <a:t>Remark</a:t>
            </a:r>
            <a:r>
              <a:rPr lang="en-US" u="none">
                <a:latin typeface="Encode Sans" pitchFamily="2" charset="0"/>
              </a:rPr>
              <a:t>:</a:t>
            </a:r>
          </a:p>
          <a:p>
            <a:pPr marL="171450" indent="-171450">
              <a:buFont typeface="Wingdings" panose="05000000000000000000" pitchFamily="2" charset="2"/>
              <a:buChar char="§"/>
            </a:pPr>
            <a:r>
              <a:rPr lang="en-US" u="none">
                <a:latin typeface="Encode Sans" pitchFamily="2" charset="0"/>
              </a:rPr>
              <a:t>The Functional &amp; Technical flow mapping are mandatory and must be updated continuously (G2, G3 &amp; G4).</a:t>
            </a:r>
          </a:p>
          <a:p>
            <a:pPr marL="171450" indent="-171450">
              <a:buFont typeface="Wingdings" panose="05000000000000000000" pitchFamily="2" charset="2"/>
              <a:buChar char="§"/>
            </a:pPr>
            <a:r>
              <a:rPr lang="en-US" u="none">
                <a:latin typeface="Encode Sans" pitchFamily="2" charset="0"/>
              </a:rPr>
              <a:t>These documents are initialized for the </a:t>
            </a:r>
            <a:r>
              <a:rPr lang="en-US" b="1" u="none">
                <a:latin typeface="Encode Sans" pitchFamily="2" charset="0"/>
              </a:rPr>
              <a:t>End of study G2</a:t>
            </a:r>
            <a:r>
              <a:rPr lang="en-US" u="none">
                <a:latin typeface="Encode Sans" pitchFamily="2" charset="0"/>
              </a:rPr>
              <a:t>, completed for the </a:t>
            </a:r>
            <a:r>
              <a:rPr lang="en-US" b="1" u="none">
                <a:latin typeface="Encode Sans" pitchFamily="2" charset="0"/>
              </a:rPr>
              <a:t>End of design G3 </a:t>
            </a:r>
            <a:r>
              <a:rPr lang="en-US" u="none">
                <a:latin typeface="Encode Sans" pitchFamily="2" charset="0"/>
              </a:rPr>
              <a:t>and validated during the </a:t>
            </a:r>
            <a:r>
              <a:rPr lang="en-US" b="1" u="none">
                <a:latin typeface="Encode Sans" pitchFamily="2" charset="0"/>
              </a:rPr>
              <a:t>Go-Live transition G4</a:t>
            </a:r>
            <a:r>
              <a:rPr lang="en-US" u="none">
                <a:latin typeface="Encode Sans" pitchFamily="2" charset="0"/>
              </a:rPr>
              <a:t>.</a:t>
            </a:r>
          </a:p>
          <a:p>
            <a:pPr marL="171450" indent="-171450">
              <a:buFont typeface="Wingdings" panose="05000000000000000000" pitchFamily="2" charset="2"/>
              <a:buChar char="§"/>
            </a:pPr>
            <a:r>
              <a:rPr lang="en-US" u="none">
                <a:latin typeface="Encode Sans" pitchFamily="2" charset="0"/>
              </a:rPr>
              <a:t>These documents will be centralized under </a:t>
            </a:r>
            <a:r>
              <a:rPr lang="en-US" u="none" err="1">
                <a:latin typeface="Encode Sans" pitchFamily="2" charset="0"/>
              </a:rPr>
              <a:t>DocInfo</a:t>
            </a:r>
            <a:r>
              <a:rPr lang="en-US" u="none">
                <a:latin typeface="Encode Sans" pitchFamily="2" charset="0"/>
              </a:rPr>
              <a:t> and not exclusive to applications.</a:t>
            </a:r>
          </a:p>
        </p:txBody>
      </p:sp>
      <p:sp>
        <p:nvSpPr>
          <p:cNvPr id="7" name="ZoneTexte 6">
            <a:extLst>
              <a:ext uri="{FF2B5EF4-FFF2-40B4-BE49-F238E27FC236}">
                <a16:creationId xmlns:a16="http://schemas.microsoft.com/office/drawing/2014/main" id="{3C7687AF-296F-D813-A19D-00470EB7B669}"/>
              </a:ext>
            </a:extLst>
          </p:cNvPr>
          <p:cNvSpPr txBox="1"/>
          <p:nvPr/>
        </p:nvSpPr>
        <p:spPr>
          <a:xfrm>
            <a:off x="2" y="1855534"/>
            <a:ext cx="2347716" cy="276999"/>
          </a:xfrm>
          <a:prstGeom prst="rect">
            <a:avLst/>
          </a:prstGeom>
          <a:noFill/>
        </p:spPr>
        <p:txBody>
          <a:bodyPr wrap="square" rtlCol="0">
            <a:spAutoFit/>
          </a:bodyPr>
          <a:lstStyle/>
          <a:p>
            <a:r>
              <a:rPr lang="fr-FR" sz="1200">
                <a:latin typeface="Encode Sans" pitchFamily="2" charset="0"/>
              </a:rPr>
              <a:t>Functional flow pattern:</a:t>
            </a:r>
          </a:p>
        </p:txBody>
      </p:sp>
      <p:sp>
        <p:nvSpPr>
          <p:cNvPr id="8" name="ZoneTexte 7">
            <a:extLst>
              <a:ext uri="{FF2B5EF4-FFF2-40B4-BE49-F238E27FC236}">
                <a16:creationId xmlns:a16="http://schemas.microsoft.com/office/drawing/2014/main" id="{20D5B99E-889B-12B0-AC1D-925AC7C52097}"/>
              </a:ext>
            </a:extLst>
          </p:cNvPr>
          <p:cNvSpPr txBox="1"/>
          <p:nvPr/>
        </p:nvSpPr>
        <p:spPr>
          <a:xfrm>
            <a:off x="2" y="2951422"/>
            <a:ext cx="2347716" cy="276999"/>
          </a:xfrm>
          <a:prstGeom prst="rect">
            <a:avLst/>
          </a:prstGeom>
          <a:noFill/>
        </p:spPr>
        <p:txBody>
          <a:bodyPr wrap="square" rtlCol="0">
            <a:spAutoFit/>
          </a:bodyPr>
          <a:lstStyle/>
          <a:p>
            <a:r>
              <a:rPr lang="fr-FR" sz="1200">
                <a:latin typeface="Encode Sans" pitchFamily="2" charset="0"/>
              </a:rPr>
              <a:t>Technical flow pattern:</a:t>
            </a:r>
          </a:p>
        </p:txBody>
      </p:sp>
      <p:pic>
        <p:nvPicPr>
          <p:cNvPr id="9" name="Image 8">
            <a:extLst>
              <a:ext uri="{FF2B5EF4-FFF2-40B4-BE49-F238E27FC236}">
                <a16:creationId xmlns:a16="http://schemas.microsoft.com/office/drawing/2014/main" id="{BD452E20-989B-2C9C-3CF7-F59A8299BACD}"/>
              </a:ext>
            </a:extLst>
          </p:cNvPr>
          <p:cNvPicPr>
            <a:picLocks noChangeAspect="1"/>
          </p:cNvPicPr>
          <p:nvPr/>
        </p:nvPicPr>
        <p:blipFill>
          <a:blip r:embed="rId4"/>
          <a:stretch>
            <a:fillRect/>
          </a:stretch>
        </p:blipFill>
        <p:spPr>
          <a:xfrm>
            <a:off x="72000" y="2142352"/>
            <a:ext cx="9000000" cy="572553"/>
          </a:xfrm>
          <a:prstGeom prst="rect">
            <a:avLst/>
          </a:prstGeom>
        </p:spPr>
      </p:pic>
      <p:cxnSp>
        <p:nvCxnSpPr>
          <p:cNvPr id="10" name="Connecteur droit avec flèche 9">
            <a:extLst>
              <a:ext uri="{FF2B5EF4-FFF2-40B4-BE49-F238E27FC236}">
                <a16:creationId xmlns:a16="http://schemas.microsoft.com/office/drawing/2014/main" id="{109DF1D3-F204-2E82-E6DF-3D0561017DB3}"/>
              </a:ext>
            </a:extLst>
          </p:cNvPr>
          <p:cNvCxnSpPr>
            <a:cxnSpLocks/>
          </p:cNvCxnSpPr>
          <p:nvPr/>
        </p:nvCxnSpPr>
        <p:spPr>
          <a:xfrm>
            <a:off x="419388" y="2428628"/>
            <a:ext cx="0" cy="581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018CDE46-90F7-D9EF-0B23-F8120B712134}"/>
              </a:ext>
            </a:extLst>
          </p:cNvPr>
          <p:cNvCxnSpPr>
            <a:cxnSpLocks/>
          </p:cNvCxnSpPr>
          <p:nvPr/>
        </p:nvCxnSpPr>
        <p:spPr>
          <a:xfrm>
            <a:off x="1945680" y="2428628"/>
            <a:ext cx="547736" cy="746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554323F9-A7D3-42BC-3E94-87B363CE405C}"/>
              </a:ext>
            </a:extLst>
          </p:cNvPr>
          <p:cNvCxnSpPr>
            <a:cxnSpLocks/>
          </p:cNvCxnSpPr>
          <p:nvPr/>
        </p:nvCxnSpPr>
        <p:spPr>
          <a:xfrm>
            <a:off x="2887611" y="2428628"/>
            <a:ext cx="1107080" cy="746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F1E6141B-CADD-896F-59AF-61383F579790}"/>
              </a:ext>
            </a:extLst>
          </p:cNvPr>
          <p:cNvCxnSpPr>
            <a:cxnSpLocks/>
          </p:cNvCxnSpPr>
          <p:nvPr/>
        </p:nvCxnSpPr>
        <p:spPr>
          <a:xfrm>
            <a:off x="3647302" y="2399960"/>
            <a:ext cx="1784098" cy="775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FDFDFAC4-39BC-9AB8-898B-9354AD0E4FB9}"/>
              </a:ext>
            </a:extLst>
          </p:cNvPr>
          <p:cNvCxnSpPr>
            <a:cxnSpLocks/>
          </p:cNvCxnSpPr>
          <p:nvPr/>
        </p:nvCxnSpPr>
        <p:spPr>
          <a:xfrm>
            <a:off x="4359045" y="2399960"/>
            <a:ext cx="1709673" cy="775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F440495D-8526-8919-95D6-EEDAD32AA30D}"/>
              </a:ext>
            </a:extLst>
          </p:cNvPr>
          <p:cNvCxnSpPr>
            <a:cxnSpLocks/>
          </p:cNvCxnSpPr>
          <p:nvPr/>
        </p:nvCxnSpPr>
        <p:spPr>
          <a:xfrm>
            <a:off x="4882705" y="2407747"/>
            <a:ext cx="1813730" cy="767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Image 15">
            <a:extLst>
              <a:ext uri="{FF2B5EF4-FFF2-40B4-BE49-F238E27FC236}">
                <a16:creationId xmlns:a16="http://schemas.microsoft.com/office/drawing/2014/main" id="{4CA41357-1885-FBAB-8CB7-2D9631AC7D5B}"/>
              </a:ext>
            </a:extLst>
          </p:cNvPr>
          <p:cNvPicPr>
            <a:picLocks noChangeAspect="1"/>
          </p:cNvPicPr>
          <p:nvPr/>
        </p:nvPicPr>
        <p:blipFill>
          <a:blip r:embed="rId5"/>
          <a:stretch>
            <a:fillRect/>
          </a:stretch>
        </p:blipFill>
        <p:spPr>
          <a:xfrm>
            <a:off x="72000" y="3228421"/>
            <a:ext cx="9000000" cy="499505"/>
          </a:xfrm>
          <a:prstGeom prst="rect">
            <a:avLst/>
          </a:prstGeom>
        </p:spPr>
      </p:pic>
      <p:sp>
        <p:nvSpPr>
          <p:cNvPr id="4" name="TextBox 3">
            <a:extLst>
              <a:ext uri="{FF2B5EF4-FFF2-40B4-BE49-F238E27FC236}">
                <a16:creationId xmlns:a16="http://schemas.microsoft.com/office/drawing/2014/main" id="{816F48FF-CF3C-4AB3-D394-3926059481FE}"/>
              </a:ext>
            </a:extLst>
          </p:cNvPr>
          <p:cNvSpPr txBox="1"/>
          <p:nvPr/>
        </p:nvSpPr>
        <p:spPr>
          <a:xfrm>
            <a:off x="1768928" y="1823357"/>
            <a:ext cx="150358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0000"/>
                </a:solidFill>
              </a:rPr>
              <a:t>GATE2</a:t>
            </a:r>
          </a:p>
        </p:txBody>
      </p:sp>
      <p:sp>
        <p:nvSpPr>
          <p:cNvPr id="17" name="TextBox 16">
            <a:extLst>
              <a:ext uri="{FF2B5EF4-FFF2-40B4-BE49-F238E27FC236}">
                <a16:creationId xmlns:a16="http://schemas.microsoft.com/office/drawing/2014/main" id="{7E1BAF1C-B381-79EE-6115-99AA3D5508A8}"/>
              </a:ext>
            </a:extLst>
          </p:cNvPr>
          <p:cNvSpPr txBox="1"/>
          <p:nvPr/>
        </p:nvSpPr>
        <p:spPr>
          <a:xfrm>
            <a:off x="1768928" y="2939143"/>
            <a:ext cx="150358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rgbClr val="FF0000"/>
                </a:solidFill>
              </a:rPr>
              <a:t>GATE3&amp;4</a:t>
            </a:r>
          </a:p>
        </p:txBody>
      </p:sp>
    </p:spTree>
    <p:extLst>
      <p:ext uri="{BB962C8B-B14F-4D97-AF65-F5344CB8AC3E}">
        <p14:creationId xmlns:p14="http://schemas.microsoft.com/office/powerpoint/2010/main" val="41835826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57">
          <a:extLst>
            <a:ext uri="{FF2B5EF4-FFF2-40B4-BE49-F238E27FC236}">
              <a16:creationId xmlns:a16="http://schemas.microsoft.com/office/drawing/2014/main" id="{B3FEE8F2-2AB1-2E0A-72E3-D414CF6F4B97}"/>
            </a:ext>
          </a:extLst>
        </p:cNvPr>
        <p:cNvGrpSpPr/>
        <p:nvPr/>
      </p:nvGrpSpPr>
      <p:grpSpPr>
        <a:xfrm>
          <a:off x="0" y="0"/>
          <a:ext cx="0" cy="0"/>
          <a:chOff x="0" y="0"/>
          <a:chExt cx="0" cy="0"/>
        </a:xfrm>
      </p:grpSpPr>
      <p:sp>
        <p:nvSpPr>
          <p:cNvPr id="1158" name="Google Shape;1158;p132">
            <a:extLst>
              <a:ext uri="{FF2B5EF4-FFF2-40B4-BE49-F238E27FC236}">
                <a16:creationId xmlns:a16="http://schemas.microsoft.com/office/drawing/2014/main" id="{D4B075CA-7CD7-C969-D9AA-CD5EDC17D14E}"/>
              </a:ext>
            </a:extLst>
          </p:cNvPr>
          <p:cNvSpPr txBox="1">
            <a:spLocks noGrp="1"/>
          </p:cNvSpPr>
          <p:nvPr>
            <p:ph type="title"/>
          </p:nvPr>
        </p:nvSpPr>
        <p:spPr>
          <a:xfrm>
            <a:off x="402349" y="334650"/>
            <a:ext cx="6769975" cy="257100"/>
          </a:xfrm>
          <a:prstGeom prst="rect">
            <a:avLst/>
          </a:prstGeom>
          <a:noFill/>
          <a:ln>
            <a:noFill/>
          </a:ln>
        </p:spPr>
        <p:txBody>
          <a:bodyPr spcFirstLastPara="1" vert="horz" wrap="square" lIns="68575" tIns="34275" rIns="68575" bIns="34275" rtlCol="0" anchor="ctr" anchorCtr="0">
            <a:noAutofit/>
          </a:bodyPr>
          <a:lstStyle/>
          <a:p>
            <a:r>
              <a:rPr lang="en-US" sz="1200" cap="all">
                <a:solidFill>
                  <a:prstClr val="white"/>
                </a:solidFill>
              </a:rPr>
              <a:t>Architecture OVERVIEW DIAGRAM – Gate 1 review / Gate 1 PoC</a:t>
            </a:r>
            <a:endParaRPr>
              <a:latin typeface="Encode Sans" pitchFamily="2" charset="0"/>
            </a:endParaRPr>
          </a:p>
        </p:txBody>
      </p:sp>
      <p:sp>
        <p:nvSpPr>
          <p:cNvPr id="2" name="TextBox 1">
            <a:extLst>
              <a:ext uri="{FF2B5EF4-FFF2-40B4-BE49-F238E27FC236}">
                <a16:creationId xmlns:a16="http://schemas.microsoft.com/office/drawing/2014/main" id="{C18A1CAB-4C64-979B-FBC3-836E29779836}"/>
              </a:ext>
            </a:extLst>
          </p:cNvPr>
          <p:cNvSpPr txBox="1"/>
          <p:nvPr/>
        </p:nvSpPr>
        <p:spPr>
          <a:xfrm>
            <a:off x="5365234" y="903582"/>
            <a:ext cx="2194832" cy="307777"/>
          </a:xfrm>
          <a:prstGeom prst="rect">
            <a:avLst/>
          </a:prstGeom>
          <a:noFill/>
        </p:spPr>
        <p:txBody>
          <a:bodyPr wrap="none" rtlCol="0">
            <a:spAutoFit/>
          </a:bodyPr>
          <a:lstStyle/>
          <a:p>
            <a:r>
              <a:rPr lang="en-GB"/>
              <a:t>To-Be Overview Diagram</a:t>
            </a:r>
          </a:p>
        </p:txBody>
      </p:sp>
      <p:pic>
        <p:nvPicPr>
          <p:cNvPr id="4" name="Picture 3">
            <a:extLst>
              <a:ext uri="{FF2B5EF4-FFF2-40B4-BE49-F238E27FC236}">
                <a16:creationId xmlns:a16="http://schemas.microsoft.com/office/drawing/2014/main" id="{B4044AC4-7357-56A6-45AA-4044BD570BE5}"/>
              </a:ext>
            </a:extLst>
          </p:cNvPr>
          <p:cNvPicPr>
            <a:picLocks noChangeAspect="1"/>
          </p:cNvPicPr>
          <p:nvPr/>
        </p:nvPicPr>
        <p:blipFill>
          <a:blip r:embed="rId4"/>
          <a:stretch>
            <a:fillRect/>
          </a:stretch>
        </p:blipFill>
        <p:spPr>
          <a:xfrm>
            <a:off x="4201610" y="2030655"/>
            <a:ext cx="740779" cy="740779"/>
          </a:xfrm>
          <a:prstGeom prst="rect">
            <a:avLst/>
          </a:prstGeom>
        </p:spPr>
      </p:pic>
      <p:pic>
        <p:nvPicPr>
          <p:cNvPr id="6" name="Picture 5">
            <a:extLst>
              <a:ext uri="{FF2B5EF4-FFF2-40B4-BE49-F238E27FC236}">
                <a16:creationId xmlns:a16="http://schemas.microsoft.com/office/drawing/2014/main" id="{68510C3F-2A73-8F4E-A21F-11B2E67E8172}"/>
              </a:ext>
            </a:extLst>
          </p:cNvPr>
          <p:cNvPicPr>
            <a:picLocks noChangeAspect="1"/>
          </p:cNvPicPr>
          <p:nvPr/>
        </p:nvPicPr>
        <p:blipFill>
          <a:blip r:embed="rId5"/>
          <a:stretch>
            <a:fillRect/>
          </a:stretch>
        </p:blipFill>
        <p:spPr>
          <a:xfrm>
            <a:off x="5365234" y="1908116"/>
            <a:ext cx="791324" cy="985858"/>
          </a:xfrm>
          <a:prstGeom prst="rect">
            <a:avLst/>
          </a:prstGeom>
        </p:spPr>
      </p:pic>
      <p:pic>
        <p:nvPicPr>
          <p:cNvPr id="8" name="Picture 7">
            <a:extLst>
              <a:ext uri="{FF2B5EF4-FFF2-40B4-BE49-F238E27FC236}">
                <a16:creationId xmlns:a16="http://schemas.microsoft.com/office/drawing/2014/main" id="{2A67B0D7-BD26-E1EB-86E2-196C0EC90739}"/>
              </a:ext>
            </a:extLst>
          </p:cNvPr>
          <p:cNvPicPr>
            <a:picLocks noChangeAspect="1"/>
          </p:cNvPicPr>
          <p:nvPr/>
        </p:nvPicPr>
        <p:blipFill>
          <a:blip r:embed="rId6"/>
          <a:stretch>
            <a:fillRect/>
          </a:stretch>
        </p:blipFill>
        <p:spPr>
          <a:xfrm>
            <a:off x="6594191" y="1901445"/>
            <a:ext cx="856526" cy="992529"/>
          </a:xfrm>
          <a:prstGeom prst="rect">
            <a:avLst/>
          </a:prstGeom>
        </p:spPr>
      </p:pic>
      <p:pic>
        <p:nvPicPr>
          <p:cNvPr id="10" name="Picture 9">
            <a:extLst>
              <a:ext uri="{FF2B5EF4-FFF2-40B4-BE49-F238E27FC236}">
                <a16:creationId xmlns:a16="http://schemas.microsoft.com/office/drawing/2014/main" id="{902943C8-B53A-C71C-08F6-8C92D8556FAC}"/>
              </a:ext>
            </a:extLst>
          </p:cNvPr>
          <p:cNvPicPr>
            <a:picLocks noChangeAspect="1"/>
          </p:cNvPicPr>
          <p:nvPr/>
        </p:nvPicPr>
        <p:blipFill>
          <a:blip r:embed="rId7"/>
          <a:stretch>
            <a:fillRect/>
          </a:stretch>
        </p:blipFill>
        <p:spPr>
          <a:xfrm>
            <a:off x="7992503" y="2059149"/>
            <a:ext cx="752355" cy="677119"/>
          </a:xfrm>
          <a:prstGeom prst="rect">
            <a:avLst/>
          </a:prstGeom>
        </p:spPr>
      </p:pic>
      <p:pic>
        <p:nvPicPr>
          <p:cNvPr id="12" name="Picture 11">
            <a:extLst>
              <a:ext uri="{FF2B5EF4-FFF2-40B4-BE49-F238E27FC236}">
                <a16:creationId xmlns:a16="http://schemas.microsoft.com/office/drawing/2014/main" id="{EC5FB8B2-4C7F-FBEF-B475-6CBF648A49BA}"/>
              </a:ext>
            </a:extLst>
          </p:cNvPr>
          <p:cNvPicPr>
            <a:picLocks noChangeAspect="1"/>
          </p:cNvPicPr>
          <p:nvPr/>
        </p:nvPicPr>
        <p:blipFill>
          <a:blip r:embed="rId8"/>
          <a:stretch>
            <a:fillRect/>
          </a:stretch>
        </p:blipFill>
        <p:spPr>
          <a:xfrm>
            <a:off x="5378931" y="3305262"/>
            <a:ext cx="763929" cy="778398"/>
          </a:xfrm>
          <a:prstGeom prst="rect">
            <a:avLst/>
          </a:prstGeom>
        </p:spPr>
      </p:pic>
      <p:pic>
        <p:nvPicPr>
          <p:cNvPr id="14" name="Picture 13">
            <a:extLst>
              <a:ext uri="{FF2B5EF4-FFF2-40B4-BE49-F238E27FC236}">
                <a16:creationId xmlns:a16="http://schemas.microsoft.com/office/drawing/2014/main" id="{CCF45E52-D8FB-E19F-5D5F-7D5FB9BD497D}"/>
              </a:ext>
            </a:extLst>
          </p:cNvPr>
          <p:cNvPicPr>
            <a:picLocks noChangeAspect="1"/>
          </p:cNvPicPr>
          <p:nvPr/>
        </p:nvPicPr>
        <p:blipFill>
          <a:blip r:embed="rId9"/>
          <a:stretch>
            <a:fillRect/>
          </a:stretch>
        </p:blipFill>
        <p:spPr>
          <a:xfrm>
            <a:off x="6702620" y="3389948"/>
            <a:ext cx="752355" cy="613763"/>
          </a:xfrm>
          <a:prstGeom prst="rect">
            <a:avLst/>
          </a:prstGeom>
        </p:spPr>
      </p:pic>
      <p:pic>
        <p:nvPicPr>
          <p:cNvPr id="16" name="Picture 15">
            <a:extLst>
              <a:ext uri="{FF2B5EF4-FFF2-40B4-BE49-F238E27FC236}">
                <a16:creationId xmlns:a16="http://schemas.microsoft.com/office/drawing/2014/main" id="{44008678-7847-BB35-FEAE-BE8BF93822CE}"/>
              </a:ext>
            </a:extLst>
          </p:cNvPr>
          <p:cNvPicPr>
            <a:picLocks noChangeAspect="1"/>
          </p:cNvPicPr>
          <p:nvPr/>
        </p:nvPicPr>
        <p:blipFill>
          <a:blip r:embed="rId10"/>
          <a:stretch>
            <a:fillRect/>
          </a:stretch>
        </p:blipFill>
        <p:spPr>
          <a:xfrm>
            <a:off x="4286489" y="3971462"/>
            <a:ext cx="621944" cy="621944"/>
          </a:xfrm>
          <a:prstGeom prst="rect">
            <a:avLst/>
          </a:prstGeom>
        </p:spPr>
      </p:pic>
      <p:sp>
        <p:nvSpPr>
          <p:cNvPr id="17" name="TextBox 16">
            <a:extLst>
              <a:ext uri="{FF2B5EF4-FFF2-40B4-BE49-F238E27FC236}">
                <a16:creationId xmlns:a16="http://schemas.microsoft.com/office/drawing/2014/main" id="{87044744-0B45-E827-A0B4-578662C94F46}"/>
              </a:ext>
            </a:extLst>
          </p:cNvPr>
          <p:cNvSpPr txBox="1"/>
          <p:nvPr/>
        </p:nvSpPr>
        <p:spPr>
          <a:xfrm>
            <a:off x="363695" y="903582"/>
            <a:ext cx="2116285" cy="307777"/>
          </a:xfrm>
          <a:prstGeom prst="rect">
            <a:avLst/>
          </a:prstGeom>
          <a:noFill/>
        </p:spPr>
        <p:txBody>
          <a:bodyPr wrap="none" rtlCol="0">
            <a:spAutoFit/>
          </a:bodyPr>
          <a:lstStyle/>
          <a:p>
            <a:r>
              <a:rPr lang="en-GB"/>
              <a:t>As-Is Overview Diagram</a:t>
            </a:r>
          </a:p>
        </p:txBody>
      </p:sp>
      <p:cxnSp>
        <p:nvCxnSpPr>
          <p:cNvPr id="19" name="Straight Arrow Connector 18">
            <a:extLst>
              <a:ext uri="{FF2B5EF4-FFF2-40B4-BE49-F238E27FC236}">
                <a16:creationId xmlns:a16="http://schemas.microsoft.com/office/drawing/2014/main" id="{9C6C0B2D-36F4-9094-CA44-0721BF8CFB86}"/>
              </a:ext>
            </a:extLst>
          </p:cNvPr>
          <p:cNvCxnSpPr>
            <a:stCxn id="4" idx="3"/>
            <a:endCxn id="6" idx="1"/>
          </p:cNvCxnSpPr>
          <p:nvPr/>
        </p:nvCxnSpPr>
        <p:spPr>
          <a:xfrm>
            <a:off x="4942389" y="2401045"/>
            <a:ext cx="4228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4600D9F-C919-8F07-A9F3-FC6943610EED}"/>
              </a:ext>
            </a:extLst>
          </p:cNvPr>
          <p:cNvCxnSpPr>
            <a:stCxn id="6" idx="3"/>
            <a:endCxn id="8" idx="1"/>
          </p:cNvCxnSpPr>
          <p:nvPr/>
        </p:nvCxnSpPr>
        <p:spPr>
          <a:xfrm flipV="1">
            <a:off x="6156558" y="2397710"/>
            <a:ext cx="437633" cy="3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5B79E39-BD62-CC80-9BC7-D196294073E2}"/>
              </a:ext>
            </a:extLst>
          </p:cNvPr>
          <p:cNvCxnSpPr>
            <a:stCxn id="8" idx="3"/>
            <a:endCxn id="10" idx="1"/>
          </p:cNvCxnSpPr>
          <p:nvPr/>
        </p:nvCxnSpPr>
        <p:spPr>
          <a:xfrm flipV="1">
            <a:off x="7450717" y="2397709"/>
            <a:ext cx="54178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C57B2E0-49C3-94E2-7EE9-AF13DF2D75B0}"/>
              </a:ext>
            </a:extLst>
          </p:cNvPr>
          <p:cNvCxnSpPr>
            <a:stCxn id="6" idx="2"/>
            <a:endCxn id="12" idx="0"/>
          </p:cNvCxnSpPr>
          <p:nvPr/>
        </p:nvCxnSpPr>
        <p:spPr>
          <a:xfrm>
            <a:off x="5760896" y="2893974"/>
            <a:ext cx="0" cy="411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12B021B-5B5B-ED7F-A478-1C78CDE9BADF}"/>
              </a:ext>
            </a:extLst>
          </p:cNvPr>
          <p:cNvCxnSpPr>
            <a:stCxn id="12" idx="3"/>
            <a:endCxn id="14" idx="1"/>
          </p:cNvCxnSpPr>
          <p:nvPr/>
        </p:nvCxnSpPr>
        <p:spPr>
          <a:xfrm>
            <a:off x="6142860" y="3694461"/>
            <a:ext cx="559760" cy="2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4" name="Straight Connector 1153">
            <a:extLst>
              <a:ext uri="{FF2B5EF4-FFF2-40B4-BE49-F238E27FC236}">
                <a16:creationId xmlns:a16="http://schemas.microsoft.com/office/drawing/2014/main" id="{EE7590CD-1A90-B924-B0A8-6A61FEA84109}"/>
              </a:ext>
            </a:extLst>
          </p:cNvPr>
          <p:cNvCxnSpPr>
            <a:cxnSpLocks/>
          </p:cNvCxnSpPr>
          <p:nvPr/>
        </p:nvCxnSpPr>
        <p:spPr>
          <a:xfrm>
            <a:off x="6375374" y="1597655"/>
            <a:ext cx="0" cy="286331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55" name="Straight Connector 1154">
            <a:extLst>
              <a:ext uri="{FF2B5EF4-FFF2-40B4-BE49-F238E27FC236}">
                <a16:creationId xmlns:a16="http://schemas.microsoft.com/office/drawing/2014/main" id="{520E1DF7-B5B9-3173-BA82-2177C05B014F}"/>
              </a:ext>
            </a:extLst>
          </p:cNvPr>
          <p:cNvCxnSpPr>
            <a:cxnSpLocks/>
          </p:cNvCxnSpPr>
          <p:nvPr/>
        </p:nvCxnSpPr>
        <p:spPr>
          <a:xfrm>
            <a:off x="7721610" y="1705377"/>
            <a:ext cx="0" cy="270333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162" name="TextBox 1161">
            <a:extLst>
              <a:ext uri="{FF2B5EF4-FFF2-40B4-BE49-F238E27FC236}">
                <a16:creationId xmlns:a16="http://schemas.microsoft.com/office/drawing/2014/main" id="{CE6C4FE4-18EA-8809-95A8-A1054B8C93DA}"/>
              </a:ext>
            </a:extLst>
          </p:cNvPr>
          <p:cNvSpPr txBox="1"/>
          <p:nvPr/>
        </p:nvSpPr>
        <p:spPr>
          <a:xfrm>
            <a:off x="5030920" y="1553930"/>
            <a:ext cx="821059" cy="215444"/>
          </a:xfrm>
          <a:prstGeom prst="rect">
            <a:avLst/>
          </a:prstGeom>
          <a:noFill/>
        </p:spPr>
        <p:txBody>
          <a:bodyPr wrap="none" rtlCol="0">
            <a:spAutoFit/>
          </a:bodyPr>
          <a:lstStyle/>
          <a:p>
            <a:r>
              <a:rPr lang="en-GB" sz="800"/>
              <a:t>Local Country</a:t>
            </a:r>
          </a:p>
        </p:txBody>
      </p:sp>
      <p:sp>
        <p:nvSpPr>
          <p:cNvPr id="1163" name="TextBox 1162">
            <a:extLst>
              <a:ext uri="{FF2B5EF4-FFF2-40B4-BE49-F238E27FC236}">
                <a16:creationId xmlns:a16="http://schemas.microsoft.com/office/drawing/2014/main" id="{3BEF7C08-F47C-A55F-1E14-8EC0716E31A5}"/>
              </a:ext>
            </a:extLst>
          </p:cNvPr>
          <p:cNvSpPr txBox="1"/>
          <p:nvPr/>
        </p:nvSpPr>
        <p:spPr>
          <a:xfrm>
            <a:off x="6798675" y="1489933"/>
            <a:ext cx="453970" cy="215444"/>
          </a:xfrm>
          <a:prstGeom prst="rect">
            <a:avLst/>
          </a:prstGeom>
          <a:noFill/>
        </p:spPr>
        <p:txBody>
          <a:bodyPr wrap="none" rtlCol="0">
            <a:spAutoFit/>
          </a:bodyPr>
          <a:lstStyle/>
          <a:p>
            <a:r>
              <a:rPr lang="en-GB" sz="800"/>
              <a:t>Azure</a:t>
            </a:r>
          </a:p>
        </p:txBody>
      </p:sp>
      <p:sp>
        <p:nvSpPr>
          <p:cNvPr id="1164" name="TextBox 1163">
            <a:extLst>
              <a:ext uri="{FF2B5EF4-FFF2-40B4-BE49-F238E27FC236}">
                <a16:creationId xmlns:a16="http://schemas.microsoft.com/office/drawing/2014/main" id="{1B765AA3-F9A9-C786-450C-F2BE28CE1C85}"/>
              </a:ext>
            </a:extLst>
          </p:cNvPr>
          <p:cNvSpPr txBox="1"/>
          <p:nvPr/>
        </p:nvSpPr>
        <p:spPr>
          <a:xfrm>
            <a:off x="8035897" y="1505147"/>
            <a:ext cx="601447" cy="215444"/>
          </a:xfrm>
          <a:prstGeom prst="rect">
            <a:avLst/>
          </a:prstGeom>
          <a:noFill/>
        </p:spPr>
        <p:txBody>
          <a:bodyPr wrap="none" rtlCol="0">
            <a:spAutoFit/>
          </a:bodyPr>
          <a:lstStyle/>
          <a:p>
            <a:r>
              <a:rPr lang="en-GB" sz="800"/>
              <a:t>On-Prem</a:t>
            </a:r>
          </a:p>
        </p:txBody>
      </p:sp>
      <p:sp>
        <p:nvSpPr>
          <p:cNvPr id="1165" name="TextBox 1164">
            <a:extLst>
              <a:ext uri="{FF2B5EF4-FFF2-40B4-BE49-F238E27FC236}">
                <a16:creationId xmlns:a16="http://schemas.microsoft.com/office/drawing/2014/main" id="{0B62E7C8-2364-A06D-EEC4-7D926503FECC}"/>
              </a:ext>
            </a:extLst>
          </p:cNvPr>
          <p:cNvSpPr txBox="1"/>
          <p:nvPr/>
        </p:nvSpPr>
        <p:spPr>
          <a:xfrm>
            <a:off x="4348220" y="2724144"/>
            <a:ext cx="521297" cy="215444"/>
          </a:xfrm>
          <a:prstGeom prst="rect">
            <a:avLst/>
          </a:prstGeom>
          <a:noFill/>
        </p:spPr>
        <p:txBody>
          <a:bodyPr wrap="none" rtlCol="0">
            <a:spAutoFit/>
          </a:bodyPr>
          <a:lstStyle/>
          <a:p>
            <a:r>
              <a:rPr lang="en-GB" sz="800"/>
              <a:t>IT User</a:t>
            </a:r>
          </a:p>
        </p:txBody>
      </p:sp>
      <p:sp>
        <p:nvSpPr>
          <p:cNvPr id="1166" name="TextBox 1165">
            <a:extLst>
              <a:ext uri="{FF2B5EF4-FFF2-40B4-BE49-F238E27FC236}">
                <a16:creationId xmlns:a16="http://schemas.microsoft.com/office/drawing/2014/main" id="{4C755333-AD72-922A-FBB6-4637ED6E2FA2}"/>
              </a:ext>
            </a:extLst>
          </p:cNvPr>
          <p:cNvSpPr txBox="1"/>
          <p:nvPr/>
        </p:nvSpPr>
        <p:spPr>
          <a:xfrm>
            <a:off x="4201610" y="4574950"/>
            <a:ext cx="848309" cy="215444"/>
          </a:xfrm>
          <a:prstGeom prst="rect">
            <a:avLst/>
          </a:prstGeom>
          <a:noFill/>
        </p:spPr>
        <p:txBody>
          <a:bodyPr wrap="none" rtlCol="0">
            <a:spAutoFit/>
          </a:bodyPr>
          <a:lstStyle/>
          <a:p>
            <a:r>
              <a:rPr lang="en-GB" sz="800"/>
              <a:t>Business User</a:t>
            </a:r>
          </a:p>
        </p:txBody>
      </p:sp>
      <p:cxnSp>
        <p:nvCxnSpPr>
          <p:cNvPr id="1169" name="Connector: Elbow 1168">
            <a:extLst>
              <a:ext uri="{FF2B5EF4-FFF2-40B4-BE49-F238E27FC236}">
                <a16:creationId xmlns:a16="http://schemas.microsoft.com/office/drawing/2014/main" id="{1116660E-CDB3-B8D9-E578-2C99B54E22C7}"/>
              </a:ext>
            </a:extLst>
          </p:cNvPr>
          <p:cNvCxnSpPr>
            <a:stCxn id="14" idx="2"/>
            <a:endCxn id="16" idx="3"/>
          </p:cNvCxnSpPr>
          <p:nvPr/>
        </p:nvCxnSpPr>
        <p:spPr>
          <a:xfrm rot="5400000">
            <a:off x="5854255" y="3057890"/>
            <a:ext cx="278723" cy="217036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72" name="Picture 1171">
            <a:extLst>
              <a:ext uri="{FF2B5EF4-FFF2-40B4-BE49-F238E27FC236}">
                <a16:creationId xmlns:a16="http://schemas.microsoft.com/office/drawing/2014/main" id="{62F32734-2744-6DB8-263D-5840F3F1D4D8}"/>
              </a:ext>
            </a:extLst>
          </p:cNvPr>
          <p:cNvPicPr>
            <a:picLocks noChangeAspect="1"/>
          </p:cNvPicPr>
          <p:nvPr/>
        </p:nvPicPr>
        <p:blipFill>
          <a:blip r:embed="rId4"/>
          <a:stretch>
            <a:fillRect/>
          </a:stretch>
        </p:blipFill>
        <p:spPr>
          <a:xfrm>
            <a:off x="128178" y="1903224"/>
            <a:ext cx="740779" cy="740779"/>
          </a:xfrm>
          <a:prstGeom prst="rect">
            <a:avLst/>
          </a:prstGeom>
        </p:spPr>
      </p:pic>
      <p:sp>
        <p:nvSpPr>
          <p:cNvPr id="1173" name="TextBox 1172">
            <a:extLst>
              <a:ext uri="{FF2B5EF4-FFF2-40B4-BE49-F238E27FC236}">
                <a16:creationId xmlns:a16="http://schemas.microsoft.com/office/drawing/2014/main" id="{6854B6D8-4D64-7B95-38BF-824AFBFB5D39}"/>
              </a:ext>
            </a:extLst>
          </p:cNvPr>
          <p:cNvSpPr txBox="1"/>
          <p:nvPr/>
        </p:nvSpPr>
        <p:spPr>
          <a:xfrm>
            <a:off x="274788" y="2596713"/>
            <a:ext cx="521297" cy="215444"/>
          </a:xfrm>
          <a:prstGeom prst="rect">
            <a:avLst/>
          </a:prstGeom>
          <a:noFill/>
        </p:spPr>
        <p:txBody>
          <a:bodyPr wrap="none" rtlCol="0">
            <a:spAutoFit/>
          </a:bodyPr>
          <a:lstStyle/>
          <a:p>
            <a:r>
              <a:rPr lang="en-GB" sz="800"/>
              <a:t>IT User</a:t>
            </a:r>
          </a:p>
        </p:txBody>
      </p:sp>
      <p:pic>
        <p:nvPicPr>
          <p:cNvPr id="1174" name="Picture 1173">
            <a:extLst>
              <a:ext uri="{FF2B5EF4-FFF2-40B4-BE49-F238E27FC236}">
                <a16:creationId xmlns:a16="http://schemas.microsoft.com/office/drawing/2014/main" id="{F96D9496-2CFE-F5CB-4DAC-6E5C90295D7E}"/>
              </a:ext>
            </a:extLst>
          </p:cNvPr>
          <p:cNvPicPr>
            <a:picLocks noChangeAspect="1"/>
          </p:cNvPicPr>
          <p:nvPr/>
        </p:nvPicPr>
        <p:blipFill>
          <a:blip r:embed="rId7"/>
          <a:stretch>
            <a:fillRect/>
          </a:stretch>
        </p:blipFill>
        <p:spPr>
          <a:xfrm>
            <a:off x="2438065" y="1935053"/>
            <a:ext cx="752355" cy="677119"/>
          </a:xfrm>
          <a:prstGeom prst="rect">
            <a:avLst/>
          </a:prstGeom>
        </p:spPr>
      </p:pic>
      <p:cxnSp>
        <p:nvCxnSpPr>
          <p:cNvPr id="1175" name="Straight Connector 1174">
            <a:extLst>
              <a:ext uri="{FF2B5EF4-FFF2-40B4-BE49-F238E27FC236}">
                <a16:creationId xmlns:a16="http://schemas.microsoft.com/office/drawing/2014/main" id="{834E0ACA-031A-9ED9-498A-277B30A3E6F2}"/>
              </a:ext>
            </a:extLst>
          </p:cNvPr>
          <p:cNvCxnSpPr>
            <a:cxnSpLocks/>
          </p:cNvCxnSpPr>
          <p:nvPr/>
        </p:nvCxnSpPr>
        <p:spPr>
          <a:xfrm>
            <a:off x="2142924" y="1769374"/>
            <a:ext cx="0" cy="270333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176" name="TextBox 1175">
            <a:extLst>
              <a:ext uri="{FF2B5EF4-FFF2-40B4-BE49-F238E27FC236}">
                <a16:creationId xmlns:a16="http://schemas.microsoft.com/office/drawing/2014/main" id="{44DB1079-5DCB-CA2C-C67A-EFF2B3877F01}"/>
              </a:ext>
            </a:extLst>
          </p:cNvPr>
          <p:cNvSpPr txBox="1"/>
          <p:nvPr/>
        </p:nvSpPr>
        <p:spPr>
          <a:xfrm>
            <a:off x="2456678" y="1597655"/>
            <a:ext cx="601447" cy="215444"/>
          </a:xfrm>
          <a:prstGeom prst="rect">
            <a:avLst/>
          </a:prstGeom>
          <a:noFill/>
        </p:spPr>
        <p:txBody>
          <a:bodyPr wrap="none" rtlCol="0">
            <a:spAutoFit/>
          </a:bodyPr>
          <a:lstStyle/>
          <a:p>
            <a:r>
              <a:rPr lang="en-GB" sz="800"/>
              <a:t>On-Prem</a:t>
            </a:r>
          </a:p>
        </p:txBody>
      </p:sp>
      <p:pic>
        <p:nvPicPr>
          <p:cNvPr id="1177" name="Picture 1176">
            <a:extLst>
              <a:ext uri="{FF2B5EF4-FFF2-40B4-BE49-F238E27FC236}">
                <a16:creationId xmlns:a16="http://schemas.microsoft.com/office/drawing/2014/main" id="{A6A119CA-8630-A664-938A-18644762C2DD}"/>
              </a:ext>
            </a:extLst>
          </p:cNvPr>
          <p:cNvPicPr>
            <a:picLocks noChangeAspect="1"/>
          </p:cNvPicPr>
          <p:nvPr/>
        </p:nvPicPr>
        <p:blipFill>
          <a:blip r:embed="rId8"/>
          <a:stretch>
            <a:fillRect/>
          </a:stretch>
        </p:blipFill>
        <p:spPr>
          <a:xfrm>
            <a:off x="158954" y="3055936"/>
            <a:ext cx="763929" cy="778398"/>
          </a:xfrm>
          <a:prstGeom prst="rect">
            <a:avLst/>
          </a:prstGeom>
        </p:spPr>
      </p:pic>
      <p:pic>
        <p:nvPicPr>
          <p:cNvPr id="1178" name="Picture 1177">
            <a:extLst>
              <a:ext uri="{FF2B5EF4-FFF2-40B4-BE49-F238E27FC236}">
                <a16:creationId xmlns:a16="http://schemas.microsoft.com/office/drawing/2014/main" id="{15BB13AE-A710-714C-C41D-BE3F987AC351}"/>
              </a:ext>
            </a:extLst>
          </p:cNvPr>
          <p:cNvPicPr>
            <a:picLocks noChangeAspect="1"/>
          </p:cNvPicPr>
          <p:nvPr/>
        </p:nvPicPr>
        <p:blipFill>
          <a:blip r:embed="rId9"/>
          <a:stretch>
            <a:fillRect/>
          </a:stretch>
        </p:blipFill>
        <p:spPr>
          <a:xfrm>
            <a:off x="1310631" y="3138253"/>
            <a:ext cx="752355" cy="613763"/>
          </a:xfrm>
          <a:prstGeom prst="rect">
            <a:avLst/>
          </a:prstGeom>
        </p:spPr>
      </p:pic>
      <p:pic>
        <p:nvPicPr>
          <p:cNvPr id="1179" name="Picture 1178">
            <a:extLst>
              <a:ext uri="{FF2B5EF4-FFF2-40B4-BE49-F238E27FC236}">
                <a16:creationId xmlns:a16="http://schemas.microsoft.com/office/drawing/2014/main" id="{7992F17A-0F8E-B058-C4B2-55CEC10FA2A8}"/>
              </a:ext>
            </a:extLst>
          </p:cNvPr>
          <p:cNvPicPr>
            <a:picLocks noChangeAspect="1"/>
          </p:cNvPicPr>
          <p:nvPr/>
        </p:nvPicPr>
        <p:blipFill>
          <a:blip r:embed="rId10"/>
          <a:stretch>
            <a:fillRect/>
          </a:stretch>
        </p:blipFill>
        <p:spPr>
          <a:xfrm>
            <a:off x="186489" y="3912049"/>
            <a:ext cx="621944" cy="621944"/>
          </a:xfrm>
          <a:prstGeom prst="rect">
            <a:avLst/>
          </a:prstGeom>
        </p:spPr>
      </p:pic>
      <p:cxnSp>
        <p:nvCxnSpPr>
          <p:cNvPr id="1180" name="Straight Arrow Connector 1179">
            <a:extLst>
              <a:ext uri="{FF2B5EF4-FFF2-40B4-BE49-F238E27FC236}">
                <a16:creationId xmlns:a16="http://schemas.microsoft.com/office/drawing/2014/main" id="{877BFCE8-749B-EEBC-9281-1E03239F9C4D}"/>
              </a:ext>
            </a:extLst>
          </p:cNvPr>
          <p:cNvCxnSpPr>
            <a:stCxn id="1177" idx="3"/>
            <a:endCxn id="1178" idx="1"/>
          </p:cNvCxnSpPr>
          <p:nvPr/>
        </p:nvCxnSpPr>
        <p:spPr>
          <a:xfrm>
            <a:off x="922883" y="3445135"/>
            <a:ext cx="3877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1" name="Connector: Elbow 1180">
            <a:extLst>
              <a:ext uri="{FF2B5EF4-FFF2-40B4-BE49-F238E27FC236}">
                <a16:creationId xmlns:a16="http://schemas.microsoft.com/office/drawing/2014/main" id="{6964BBDB-67B0-29F7-B866-2AB6714EAA3D}"/>
              </a:ext>
            </a:extLst>
          </p:cNvPr>
          <p:cNvCxnSpPr>
            <a:stCxn id="1178" idx="2"/>
            <a:endCxn id="1179" idx="3"/>
          </p:cNvCxnSpPr>
          <p:nvPr/>
        </p:nvCxnSpPr>
        <p:spPr>
          <a:xfrm rot="5400000">
            <a:off x="1012119" y="3548330"/>
            <a:ext cx="471005" cy="8783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82" name="TextBox 1181">
            <a:extLst>
              <a:ext uri="{FF2B5EF4-FFF2-40B4-BE49-F238E27FC236}">
                <a16:creationId xmlns:a16="http://schemas.microsoft.com/office/drawing/2014/main" id="{354F9C49-A154-FFA5-F218-C7CF02C9B47E}"/>
              </a:ext>
            </a:extLst>
          </p:cNvPr>
          <p:cNvSpPr txBox="1"/>
          <p:nvPr/>
        </p:nvSpPr>
        <p:spPr>
          <a:xfrm>
            <a:off x="39702" y="4500124"/>
            <a:ext cx="848309" cy="215444"/>
          </a:xfrm>
          <a:prstGeom prst="rect">
            <a:avLst/>
          </a:prstGeom>
          <a:noFill/>
        </p:spPr>
        <p:txBody>
          <a:bodyPr wrap="none" rtlCol="0">
            <a:spAutoFit/>
          </a:bodyPr>
          <a:lstStyle/>
          <a:p>
            <a:r>
              <a:rPr lang="en-GB" sz="800"/>
              <a:t>Business User</a:t>
            </a:r>
          </a:p>
        </p:txBody>
      </p:sp>
      <p:cxnSp>
        <p:nvCxnSpPr>
          <p:cNvPr id="1185" name="Straight Arrow Connector 1184">
            <a:extLst>
              <a:ext uri="{FF2B5EF4-FFF2-40B4-BE49-F238E27FC236}">
                <a16:creationId xmlns:a16="http://schemas.microsoft.com/office/drawing/2014/main" id="{5B3BCF65-A266-74E4-C13F-00DE832FF620}"/>
              </a:ext>
            </a:extLst>
          </p:cNvPr>
          <p:cNvCxnSpPr>
            <a:stCxn id="1173" idx="2"/>
            <a:endCxn id="1177" idx="0"/>
          </p:cNvCxnSpPr>
          <p:nvPr/>
        </p:nvCxnSpPr>
        <p:spPr>
          <a:xfrm>
            <a:off x="535437" y="2812157"/>
            <a:ext cx="5482" cy="243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9" name="Straight Arrow Connector 1188">
            <a:extLst>
              <a:ext uri="{FF2B5EF4-FFF2-40B4-BE49-F238E27FC236}">
                <a16:creationId xmlns:a16="http://schemas.microsoft.com/office/drawing/2014/main" id="{B77A78A6-C936-BF08-1FA9-940D3E837224}"/>
              </a:ext>
            </a:extLst>
          </p:cNvPr>
          <p:cNvCxnSpPr>
            <a:stCxn id="1172" idx="3"/>
            <a:endCxn id="1174" idx="1"/>
          </p:cNvCxnSpPr>
          <p:nvPr/>
        </p:nvCxnSpPr>
        <p:spPr>
          <a:xfrm flipV="1">
            <a:off x="868957" y="2273613"/>
            <a:ext cx="156910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1" name="TextBox 1190">
            <a:extLst>
              <a:ext uri="{FF2B5EF4-FFF2-40B4-BE49-F238E27FC236}">
                <a16:creationId xmlns:a16="http://schemas.microsoft.com/office/drawing/2014/main" id="{B5C20738-9353-4702-7ACE-7109CB645DA0}"/>
              </a:ext>
            </a:extLst>
          </p:cNvPr>
          <p:cNvSpPr txBox="1"/>
          <p:nvPr/>
        </p:nvSpPr>
        <p:spPr>
          <a:xfrm>
            <a:off x="1179504" y="2059149"/>
            <a:ext cx="813043" cy="200055"/>
          </a:xfrm>
          <a:prstGeom prst="rect">
            <a:avLst/>
          </a:prstGeom>
          <a:noFill/>
        </p:spPr>
        <p:txBody>
          <a:bodyPr wrap="none" rtlCol="0">
            <a:spAutoFit/>
          </a:bodyPr>
          <a:lstStyle/>
          <a:p>
            <a:r>
              <a:rPr lang="en-GB" sz="600"/>
              <a:t>Extract </a:t>
            </a:r>
            <a:r>
              <a:rPr lang="en-GB" sz="700" b="1"/>
              <a:t>C3**</a:t>
            </a:r>
            <a:r>
              <a:rPr lang="en-GB" sz="600"/>
              <a:t> Data</a:t>
            </a:r>
          </a:p>
        </p:txBody>
      </p:sp>
      <p:sp>
        <p:nvSpPr>
          <p:cNvPr id="1192" name="TextBox 1191">
            <a:extLst>
              <a:ext uri="{FF2B5EF4-FFF2-40B4-BE49-F238E27FC236}">
                <a16:creationId xmlns:a16="http://schemas.microsoft.com/office/drawing/2014/main" id="{0A06174F-C98C-C65A-B61D-BEC212F2D633}"/>
              </a:ext>
            </a:extLst>
          </p:cNvPr>
          <p:cNvSpPr txBox="1"/>
          <p:nvPr/>
        </p:nvSpPr>
        <p:spPr>
          <a:xfrm>
            <a:off x="523919" y="2801176"/>
            <a:ext cx="601447" cy="184666"/>
          </a:xfrm>
          <a:prstGeom prst="rect">
            <a:avLst/>
          </a:prstGeom>
          <a:noFill/>
        </p:spPr>
        <p:txBody>
          <a:bodyPr wrap="none" rtlCol="0">
            <a:spAutoFit/>
          </a:bodyPr>
          <a:lstStyle/>
          <a:p>
            <a:r>
              <a:rPr lang="en-GB" sz="600"/>
              <a:t>Report Data</a:t>
            </a:r>
          </a:p>
        </p:txBody>
      </p:sp>
      <p:sp>
        <p:nvSpPr>
          <p:cNvPr id="1193" name="TextBox 1192">
            <a:extLst>
              <a:ext uri="{FF2B5EF4-FFF2-40B4-BE49-F238E27FC236}">
                <a16:creationId xmlns:a16="http://schemas.microsoft.com/office/drawing/2014/main" id="{9B067F05-87C6-6E4A-0C7C-61ADF07326D3}"/>
              </a:ext>
            </a:extLst>
          </p:cNvPr>
          <p:cNvSpPr txBox="1"/>
          <p:nvPr/>
        </p:nvSpPr>
        <p:spPr>
          <a:xfrm>
            <a:off x="788729" y="3209078"/>
            <a:ext cx="623889" cy="184666"/>
          </a:xfrm>
          <a:prstGeom prst="rect">
            <a:avLst/>
          </a:prstGeom>
          <a:noFill/>
        </p:spPr>
        <p:txBody>
          <a:bodyPr wrap="none" rtlCol="0">
            <a:spAutoFit/>
          </a:bodyPr>
          <a:lstStyle/>
          <a:p>
            <a:r>
              <a:rPr lang="en-GB" sz="600"/>
              <a:t>Publish Data</a:t>
            </a:r>
          </a:p>
        </p:txBody>
      </p:sp>
      <p:sp>
        <p:nvSpPr>
          <p:cNvPr id="1194" name="TextBox 1193">
            <a:extLst>
              <a:ext uri="{FF2B5EF4-FFF2-40B4-BE49-F238E27FC236}">
                <a16:creationId xmlns:a16="http://schemas.microsoft.com/office/drawing/2014/main" id="{552595EB-F1A8-ACB8-FFAD-A1058737FDA4}"/>
              </a:ext>
            </a:extLst>
          </p:cNvPr>
          <p:cNvSpPr txBox="1"/>
          <p:nvPr/>
        </p:nvSpPr>
        <p:spPr>
          <a:xfrm>
            <a:off x="935676" y="4000675"/>
            <a:ext cx="700833" cy="184666"/>
          </a:xfrm>
          <a:prstGeom prst="rect">
            <a:avLst/>
          </a:prstGeom>
          <a:noFill/>
        </p:spPr>
        <p:txBody>
          <a:bodyPr wrap="none" rtlCol="0">
            <a:spAutoFit/>
          </a:bodyPr>
          <a:lstStyle/>
          <a:p>
            <a:r>
              <a:rPr lang="en-GB" sz="600"/>
              <a:t>Consume Data</a:t>
            </a:r>
          </a:p>
        </p:txBody>
      </p:sp>
      <p:sp>
        <p:nvSpPr>
          <p:cNvPr id="1195" name="TextBox 1194">
            <a:extLst>
              <a:ext uri="{FF2B5EF4-FFF2-40B4-BE49-F238E27FC236}">
                <a16:creationId xmlns:a16="http://schemas.microsoft.com/office/drawing/2014/main" id="{67B93180-B9B6-D82F-C7F5-C2AC4E733EF6}"/>
              </a:ext>
            </a:extLst>
          </p:cNvPr>
          <p:cNvSpPr txBox="1"/>
          <p:nvPr/>
        </p:nvSpPr>
        <p:spPr>
          <a:xfrm>
            <a:off x="5761817" y="4094701"/>
            <a:ext cx="700833" cy="184666"/>
          </a:xfrm>
          <a:prstGeom prst="rect">
            <a:avLst/>
          </a:prstGeom>
          <a:noFill/>
        </p:spPr>
        <p:txBody>
          <a:bodyPr wrap="none" rtlCol="0">
            <a:spAutoFit/>
          </a:bodyPr>
          <a:lstStyle/>
          <a:p>
            <a:r>
              <a:rPr lang="en-GB" sz="600"/>
              <a:t>Consume Data</a:t>
            </a:r>
          </a:p>
        </p:txBody>
      </p:sp>
      <p:sp>
        <p:nvSpPr>
          <p:cNvPr id="1196" name="TextBox 1195">
            <a:extLst>
              <a:ext uri="{FF2B5EF4-FFF2-40B4-BE49-F238E27FC236}">
                <a16:creationId xmlns:a16="http://schemas.microsoft.com/office/drawing/2014/main" id="{9C747665-73A8-B91E-47E3-ABC4C0B0A6B4}"/>
              </a:ext>
            </a:extLst>
          </p:cNvPr>
          <p:cNvSpPr txBox="1"/>
          <p:nvPr/>
        </p:nvSpPr>
        <p:spPr>
          <a:xfrm>
            <a:off x="6059078" y="3491727"/>
            <a:ext cx="623889" cy="184666"/>
          </a:xfrm>
          <a:prstGeom prst="rect">
            <a:avLst/>
          </a:prstGeom>
          <a:noFill/>
        </p:spPr>
        <p:txBody>
          <a:bodyPr wrap="none" rtlCol="0">
            <a:spAutoFit/>
          </a:bodyPr>
          <a:lstStyle/>
          <a:p>
            <a:r>
              <a:rPr lang="en-GB" sz="600"/>
              <a:t>Publish Data</a:t>
            </a:r>
          </a:p>
        </p:txBody>
      </p:sp>
      <p:sp>
        <p:nvSpPr>
          <p:cNvPr id="1197" name="TextBox 1196">
            <a:extLst>
              <a:ext uri="{FF2B5EF4-FFF2-40B4-BE49-F238E27FC236}">
                <a16:creationId xmlns:a16="http://schemas.microsoft.com/office/drawing/2014/main" id="{E8F570A7-361B-C8DA-7112-E4C1F6F0A004}"/>
              </a:ext>
            </a:extLst>
          </p:cNvPr>
          <p:cNvSpPr txBox="1"/>
          <p:nvPr/>
        </p:nvSpPr>
        <p:spPr>
          <a:xfrm>
            <a:off x="4908433" y="2058567"/>
            <a:ext cx="521297" cy="369332"/>
          </a:xfrm>
          <a:prstGeom prst="rect">
            <a:avLst/>
          </a:prstGeom>
          <a:noFill/>
        </p:spPr>
        <p:txBody>
          <a:bodyPr wrap="square" rtlCol="0">
            <a:spAutoFit/>
          </a:bodyPr>
          <a:lstStyle/>
          <a:p>
            <a:r>
              <a:rPr lang="en-GB" sz="600"/>
              <a:t>Automate manual</a:t>
            </a:r>
          </a:p>
          <a:p>
            <a:r>
              <a:rPr lang="en-GB" sz="600"/>
              <a:t>tasks</a:t>
            </a:r>
          </a:p>
        </p:txBody>
      </p:sp>
      <p:sp>
        <p:nvSpPr>
          <p:cNvPr id="1198" name="TextBox 1197">
            <a:extLst>
              <a:ext uri="{FF2B5EF4-FFF2-40B4-BE49-F238E27FC236}">
                <a16:creationId xmlns:a16="http://schemas.microsoft.com/office/drawing/2014/main" id="{388D243B-C860-67A4-5675-5E33C9F4DFAC}"/>
              </a:ext>
            </a:extLst>
          </p:cNvPr>
          <p:cNvSpPr txBox="1"/>
          <p:nvPr/>
        </p:nvSpPr>
        <p:spPr>
          <a:xfrm>
            <a:off x="5700175" y="3000180"/>
            <a:ext cx="601447" cy="184666"/>
          </a:xfrm>
          <a:prstGeom prst="rect">
            <a:avLst/>
          </a:prstGeom>
          <a:noFill/>
        </p:spPr>
        <p:txBody>
          <a:bodyPr wrap="none" rtlCol="0">
            <a:spAutoFit/>
          </a:bodyPr>
          <a:lstStyle/>
          <a:p>
            <a:r>
              <a:rPr lang="en-GB" sz="600"/>
              <a:t>Report Data</a:t>
            </a:r>
          </a:p>
        </p:txBody>
      </p:sp>
      <p:sp>
        <p:nvSpPr>
          <p:cNvPr id="1199" name="TextBox 1198">
            <a:extLst>
              <a:ext uri="{FF2B5EF4-FFF2-40B4-BE49-F238E27FC236}">
                <a16:creationId xmlns:a16="http://schemas.microsoft.com/office/drawing/2014/main" id="{6C151FFF-5B67-8B14-9DAF-1A57D76E08F4}"/>
              </a:ext>
            </a:extLst>
          </p:cNvPr>
          <p:cNvSpPr txBox="1"/>
          <p:nvPr/>
        </p:nvSpPr>
        <p:spPr>
          <a:xfrm>
            <a:off x="2982069" y="1971785"/>
            <a:ext cx="330540" cy="184666"/>
          </a:xfrm>
          <a:prstGeom prst="rect">
            <a:avLst/>
          </a:prstGeom>
          <a:noFill/>
        </p:spPr>
        <p:txBody>
          <a:bodyPr wrap="none" rtlCol="0">
            <a:spAutoFit/>
          </a:bodyPr>
          <a:lstStyle/>
          <a:p>
            <a:r>
              <a:rPr lang="en-GB" sz="600"/>
              <a:t>DBs</a:t>
            </a:r>
          </a:p>
        </p:txBody>
      </p:sp>
      <p:sp>
        <p:nvSpPr>
          <p:cNvPr id="1200" name="TextBox 1199">
            <a:extLst>
              <a:ext uri="{FF2B5EF4-FFF2-40B4-BE49-F238E27FC236}">
                <a16:creationId xmlns:a16="http://schemas.microsoft.com/office/drawing/2014/main" id="{06185FB4-6026-470B-1B5F-34553D11DBAC}"/>
              </a:ext>
            </a:extLst>
          </p:cNvPr>
          <p:cNvSpPr txBox="1"/>
          <p:nvPr/>
        </p:nvSpPr>
        <p:spPr>
          <a:xfrm>
            <a:off x="8487501" y="2110085"/>
            <a:ext cx="343364" cy="184666"/>
          </a:xfrm>
          <a:prstGeom prst="rect">
            <a:avLst/>
          </a:prstGeom>
          <a:noFill/>
        </p:spPr>
        <p:txBody>
          <a:bodyPr wrap="none" rtlCol="0">
            <a:spAutoFit/>
          </a:bodyPr>
          <a:lstStyle/>
          <a:p>
            <a:r>
              <a:rPr lang="en-GB" sz="600"/>
              <a:t>DBS</a:t>
            </a:r>
          </a:p>
        </p:txBody>
      </p:sp>
      <p:cxnSp>
        <p:nvCxnSpPr>
          <p:cNvPr id="1202" name="Straight Connector 1201">
            <a:extLst>
              <a:ext uri="{FF2B5EF4-FFF2-40B4-BE49-F238E27FC236}">
                <a16:creationId xmlns:a16="http://schemas.microsoft.com/office/drawing/2014/main" id="{D1DDDF78-51EC-D352-E9D7-D19AF4050894}"/>
              </a:ext>
            </a:extLst>
          </p:cNvPr>
          <p:cNvCxnSpPr/>
          <p:nvPr/>
        </p:nvCxnSpPr>
        <p:spPr>
          <a:xfrm>
            <a:off x="3787336" y="1211359"/>
            <a:ext cx="0" cy="3654555"/>
          </a:xfrm>
          <a:prstGeom prst="line">
            <a:avLst/>
          </a:prstGeom>
        </p:spPr>
        <p:style>
          <a:lnRef idx="1">
            <a:schemeClr val="accent1"/>
          </a:lnRef>
          <a:fillRef idx="0">
            <a:schemeClr val="accent1"/>
          </a:fillRef>
          <a:effectRef idx="0">
            <a:schemeClr val="accent1"/>
          </a:effectRef>
          <a:fontRef idx="minor">
            <a:schemeClr val="tx1"/>
          </a:fontRef>
        </p:style>
      </p:cxnSp>
      <p:sp>
        <p:nvSpPr>
          <p:cNvPr id="1203" name="TextBox 1202">
            <a:extLst>
              <a:ext uri="{FF2B5EF4-FFF2-40B4-BE49-F238E27FC236}">
                <a16:creationId xmlns:a16="http://schemas.microsoft.com/office/drawing/2014/main" id="{8C6EAA10-3FF6-2961-F564-44023928722A}"/>
              </a:ext>
            </a:extLst>
          </p:cNvPr>
          <p:cNvSpPr txBox="1"/>
          <p:nvPr/>
        </p:nvSpPr>
        <p:spPr>
          <a:xfrm>
            <a:off x="7307813" y="2088946"/>
            <a:ext cx="813043" cy="200055"/>
          </a:xfrm>
          <a:prstGeom prst="rect">
            <a:avLst/>
          </a:prstGeom>
          <a:noFill/>
        </p:spPr>
        <p:txBody>
          <a:bodyPr wrap="none" rtlCol="0">
            <a:spAutoFit/>
          </a:bodyPr>
          <a:lstStyle/>
          <a:p>
            <a:r>
              <a:rPr lang="en-GB" sz="600"/>
              <a:t>Extract </a:t>
            </a:r>
            <a:r>
              <a:rPr lang="en-GB" sz="700" b="1"/>
              <a:t>C3**</a:t>
            </a:r>
            <a:r>
              <a:rPr lang="en-GB" sz="600"/>
              <a:t> Data</a:t>
            </a:r>
          </a:p>
        </p:txBody>
      </p:sp>
      <p:sp>
        <p:nvSpPr>
          <p:cNvPr id="1205" name="TextBox 1204">
            <a:extLst>
              <a:ext uri="{FF2B5EF4-FFF2-40B4-BE49-F238E27FC236}">
                <a16:creationId xmlns:a16="http://schemas.microsoft.com/office/drawing/2014/main" id="{6B2B51A1-D072-9E46-5637-E39E17A8276A}"/>
              </a:ext>
            </a:extLst>
          </p:cNvPr>
          <p:cNvSpPr txBox="1"/>
          <p:nvPr/>
        </p:nvSpPr>
        <p:spPr>
          <a:xfrm>
            <a:off x="2704368" y="3067511"/>
            <a:ext cx="2379657" cy="954107"/>
          </a:xfrm>
          <a:prstGeom prst="rect">
            <a:avLst/>
          </a:prstGeom>
          <a:noFill/>
        </p:spPr>
        <p:txBody>
          <a:bodyPr wrap="square">
            <a:spAutoFit/>
          </a:bodyPr>
          <a:lstStyle/>
          <a:p>
            <a:pPr>
              <a:buNone/>
            </a:pPr>
            <a:r>
              <a:rPr lang="en-GB" sz="800"/>
              <a:t>C3**</a:t>
            </a:r>
          </a:p>
          <a:p>
            <a:pPr>
              <a:buNone/>
            </a:pPr>
            <a:r>
              <a:rPr lang="en-GB" sz="800"/>
              <a:t>1. Contract &amp; Customer Identification Data</a:t>
            </a:r>
          </a:p>
          <a:p>
            <a:pPr>
              <a:buNone/>
            </a:pPr>
            <a:r>
              <a:rPr lang="en-GB" sz="800"/>
              <a:t>2. Financial Exposure &amp; Risk Indicators</a:t>
            </a:r>
          </a:p>
          <a:p>
            <a:pPr>
              <a:buNone/>
            </a:pPr>
            <a:r>
              <a:rPr lang="en-GB" sz="800"/>
              <a:t>3. Operational &amp; Validation Dates</a:t>
            </a:r>
          </a:p>
          <a:p>
            <a:pPr>
              <a:buNone/>
            </a:pPr>
            <a:r>
              <a:rPr lang="en-GB" sz="800"/>
              <a:t>4. Vehicle &amp; Product Details</a:t>
            </a:r>
          </a:p>
          <a:p>
            <a:pPr>
              <a:buNone/>
            </a:pPr>
            <a:r>
              <a:rPr lang="en-GB" sz="800"/>
              <a:t>5. Dealer &amp; Commercial Network Information</a:t>
            </a:r>
          </a:p>
          <a:p>
            <a:r>
              <a:rPr lang="en-GB" sz="800"/>
              <a:t>6. Compliance information</a:t>
            </a:r>
          </a:p>
        </p:txBody>
      </p:sp>
      <p:sp>
        <p:nvSpPr>
          <p:cNvPr id="1206" name="TextBox 1205">
            <a:extLst>
              <a:ext uri="{FF2B5EF4-FFF2-40B4-BE49-F238E27FC236}">
                <a16:creationId xmlns:a16="http://schemas.microsoft.com/office/drawing/2014/main" id="{84CC155B-354B-85A3-87DA-6995D4069E92}"/>
              </a:ext>
            </a:extLst>
          </p:cNvPr>
          <p:cNvSpPr txBox="1"/>
          <p:nvPr/>
        </p:nvSpPr>
        <p:spPr>
          <a:xfrm>
            <a:off x="274788" y="1603042"/>
            <a:ext cx="821059" cy="215444"/>
          </a:xfrm>
          <a:prstGeom prst="rect">
            <a:avLst/>
          </a:prstGeom>
          <a:noFill/>
        </p:spPr>
        <p:txBody>
          <a:bodyPr wrap="none" rtlCol="0">
            <a:spAutoFit/>
          </a:bodyPr>
          <a:lstStyle/>
          <a:p>
            <a:r>
              <a:rPr lang="en-GB" sz="800"/>
              <a:t>Local Country</a:t>
            </a:r>
          </a:p>
        </p:txBody>
      </p:sp>
      <p:sp>
        <p:nvSpPr>
          <p:cNvPr id="3" name="TextBox 2">
            <a:extLst>
              <a:ext uri="{FF2B5EF4-FFF2-40B4-BE49-F238E27FC236}">
                <a16:creationId xmlns:a16="http://schemas.microsoft.com/office/drawing/2014/main" id="{3DB54851-6E15-1147-EFD8-C527BF0CADE7}"/>
              </a:ext>
            </a:extLst>
          </p:cNvPr>
          <p:cNvSpPr txBox="1"/>
          <p:nvPr/>
        </p:nvSpPr>
        <p:spPr>
          <a:xfrm rot="19768216">
            <a:off x="3840909" y="358801"/>
            <a:ext cx="2819652" cy="707886"/>
          </a:xfrm>
          <a:prstGeom prst="rect">
            <a:avLst/>
          </a:prstGeom>
          <a:noFill/>
        </p:spPr>
        <p:txBody>
          <a:bodyPr wrap="square" rtlCol="0">
            <a:spAutoFit/>
          </a:bodyPr>
          <a:lstStyle/>
          <a:p>
            <a:r>
              <a:rPr lang="en-GB" sz="4000">
                <a:solidFill>
                  <a:srgbClr val="FF0000"/>
                </a:solidFill>
              </a:rPr>
              <a:t>EXAMPLE</a:t>
            </a:r>
          </a:p>
        </p:txBody>
      </p:sp>
      <p:sp>
        <p:nvSpPr>
          <p:cNvPr id="5" name="Oval 4">
            <a:extLst>
              <a:ext uri="{FF2B5EF4-FFF2-40B4-BE49-F238E27FC236}">
                <a16:creationId xmlns:a16="http://schemas.microsoft.com/office/drawing/2014/main" id="{61AA3F7A-168E-D1E7-2424-BF630027FF10}"/>
              </a:ext>
            </a:extLst>
          </p:cNvPr>
          <p:cNvSpPr/>
          <p:nvPr/>
        </p:nvSpPr>
        <p:spPr>
          <a:xfrm>
            <a:off x="2472429" y="1460729"/>
            <a:ext cx="564929" cy="519724"/>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id="{13CE1A92-537A-B90C-8B73-0D63B5684350}"/>
              </a:ext>
            </a:extLst>
          </p:cNvPr>
          <p:cNvCxnSpPr>
            <a:cxnSpLocks/>
          </p:cNvCxnSpPr>
          <p:nvPr/>
        </p:nvCxnSpPr>
        <p:spPr>
          <a:xfrm flipV="1">
            <a:off x="3019512" y="1537213"/>
            <a:ext cx="550573" cy="122936"/>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4FF79327-A5B3-E74C-113F-BCC4EC9DEBF8}"/>
              </a:ext>
            </a:extLst>
          </p:cNvPr>
          <p:cNvSpPr txBox="1"/>
          <p:nvPr/>
        </p:nvSpPr>
        <p:spPr>
          <a:xfrm rot="21049590">
            <a:off x="2907665" y="1202646"/>
            <a:ext cx="603050" cy="338554"/>
          </a:xfrm>
          <a:prstGeom prst="rect">
            <a:avLst/>
          </a:prstGeom>
          <a:noFill/>
        </p:spPr>
        <p:txBody>
          <a:bodyPr wrap="none" rtlCol="0">
            <a:spAutoFit/>
          </a:bodyPr>
          <a:lstStyle/>
          <a:p>
            <a:r>
              <a:rPr lang="en-GB" sz="800" b="1" i="1"/>
              <a:t>Indicate </a:t>
            </a:r>
          </a:p>
          <a:p>
            <a:r>
              <a:rPr lang="en-GB" sz="800" b="1" i="1"/>
              <a:t>location</a:t>
            </a:r>
          </a:p>
        </p:txBody>
      </p:sp>
      <p:sp>
        <p:nvSpPr>
          <p:cNvPr id="13" name="Oval 12">
            <a:extLst>
              <a:ext uri="{FF2B5EF4-FFF2-40B4-BE49-F238E27FC236}">
                <a16:creationId xmlns:a16="http://schemas.microsoft.com/office/drawing/2014/main" id="{D46D5820-0CD5-5FC2-C05D-563D075DA258}"/>
              </a:ext>
            </a:extLst>
          </p:cNvPr>
          <p:cNvSpPr/>
          <p:nvPr/>
        </p:nvSpPr>
        <p:spPr>
          <a:xfrm>
            <a:off x="6508184" y="2352310"/>
            <a:ext cx="1051880" cy="633532"/>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E2E75B07-70AE-D39A-0EE8-E05BED137B9F}"/>
              </a:ext>
            </a:extLst>
          </p:cNvPr>
          <p:cNvSpPr txBox="1"/>
          <p:nvPr/>
        </p:nvSpPr>
        <p:spPr>
          <a:xfrm rot="2183331">
            <a:off x="7797874" y="3120325"/>
            <a:ext cx="729409" cy="338554"/>
          </a:xfrm>
          <a:prstGeom prst="rect">
            <a:avLst/>
          </a:prstGeom>
          <a:noFill/>
        </p:spPr>
        <p:txBody>
          <a:bodyPr wrap="square" rtlCol="0">
            <a:spAutoFit/>
          </a:bodyPr>
          <a:lstStyle/>
          <a:p>
            <a:r>
              <a:rPr lang="en-GB" sz="800" b="1" i="1"/>
              <a:t>Indicate </a:t>
            </a:r>
          </a:p>
          <a:p>
            <a:r>
              <a:rPr lang="en-GB" sz="800" b="1" i="1"/>
              <a:t>technology</a:t>
            </a:r>
          </a:p>
        </p:txBody>
      </p:sp>
      <p:cxnSp>
        <p:nvCxnSpPr>
          <p:cNvPr id="18" name="Straight Connector 17">
            <a:extLst>
              <a:ext uri="{FF2B5EF4-FFF2-40B4-BE49-F238E27FC236}">
                <a16:creationId xmlns:a16="http://schemas.microsoft.com/office/drawing/2014/main" id="{D1C2261F-FD7E-B8EB-6B36-FA773AC1B64B}"/>
              </a:ext>
            </a:extLst>
          </p:cNvPr>
          <p:cNvCxnSpPr>
            <a:cxnSpLocks/>
          </p:cNvCxnSpPr>
          <p:nvPr/>
        </p:nvCxnSpPr>
        <p:spPr>
          <a:xfrm>
            <a:off x="7339451" y="2916438"/>
            <a:ext cx="1148050" cy="778023"/>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1" name="Oval 20">
            <a:extLst>
              <a:ext uri="{FF2B5EF4-FFF2-40B4-BE49-F238E27FC236}">
                <a16:creationId xmlns:a16="http://schemas.microsoft.com/office/drawing/2014/main" id="{F40E37B8-8AEC-A3FC-3A95-CF8F261969D1}"/>
              </a:ext>
            </a:extLst>
          </p:cNvPr>
          <p:cNvSpPr/>
          <p:nvPr/>
        </p:nvSpPr>
        <p:spPr>
          <a:xfrm>
            <a:off x="4201609" y="4456698"/>
            <a:ext cx="879745" cy="475980"/>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cxnSp>
        <p:nvCxnSpPr>
          <p:cNvPr id="23" name="Straight Connector 22">
            <a:extLst>
              <a:ext uri="{FF2B5EF4-FFF2-40B4-BE49-F238E27FC236}">
                <a16:creationId xmlns:a16="http://schemas.microsoft.com/office/drawing/2014/main" id="{07636A4B-BB52-0411-2398-8C0F5AFB4F29}"/>
              </a:ext>
            </a:extLst>
          </p:cNvPr>
          <p:cNvCxnSpPr>
            <a:cxnSpLocks/>
            <a:stCxn id="21" idx="6"/>
          </p:cNvCxnSpPr>
          <p:nvPr/>
        </p:nvCxnSpPr>
        <p:spPr>
          <a:xfrm flipV="1">
            <a:off x="5081354" y="4682672"/>
            <a:ext cx="553092" cy="12016"/>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152" name="TextBox 1151">
            <a:extLst>
              <a:ext uri="{FF2B5EF4-FFF2-40B4-BE49-F238E27FC236}">
                <a16:creationId xmlns:a16="http://schemas.microsoft.com/office/drawing/2014/main" id="{24574697-FAB3-2E35-2C52-835078E80A2A}"/>
              </a:ext>
            </a:extLst>
          </p:cNvPr>
          <p:cNvSpPr txBox="1"/>
          <p:nvPr/>
        </p:nvSpPr>
        <p:spPr>
          <a:xfrm>
            <a:off x="5076744" y="4390541"/>
            <a:ext cx="729409" cy="338554"/>
          </a:xfrm>
          <a:prstGeom prst="rect">
            <a:avLst/>
          </a:prstGeom>
          <a:noFill/>
        </p:spPr>
        <p:txBody>
          <a:bodyPr wrap="square" rtlCol="0">
            <a:spAutoFit/>
          </a:bodyPr>
          <a:lstStyle/>
          <a:p>
            <a:r>
              <a:rPr lang="en-GB" sz="800" b="1" i="1"/>
              <a:t>Indicate </a:t>
            </a:r>
          </a:p>
          <a:p>
            <a:r>
              <a:rPr lang="en-GB" sz="800" b="1" i="1"/>
              <a:t>User</a:t>
            </a:r>
          </a:p>
        </p:txBody>
      </p:sp>
      <p:sp>
        <p:nvSpPr>
          <p:cNvPr id="1153" name="Oval 1152">
            <a:extLst>
              <a:ext uri="{FF2B5EF4-FFF2-40B4-BE49-F238E27FC236}">
                <a16:creationId xmlns:a16="http://schemas.microsoft.com/office/drawing/2014/main" id="{2D049588-C6F6-EE5E-74EC-172BC87069BC}"/>
              </a:ext>
            </a:extLst>
          </p:cNvPr>
          <p:cNvSpPr/>
          <p:nvPr/>
        </p:nvSpPr>
        <p:spPr>
          <a:xfrm>
            <a:off x="2594431" y="2969153"/>
            <a:ext cx="1377772" cy="1216187"/>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cxnSp>
        <p:nvCxnSpPr>
          <p:cNvPr id="1156" name="Straight Connector 1155">
            <a:extLst>
              <a:ext uri="{FF2B5EF4-FFF2-40B4-BE49-F238E27FC236}">
                <a16:creationId xmlns:a16="http://schemas.microsoft.com/office/drawing/2014/main" id="{874BC273-32B0-36EF-E701-5792EFC9A65E}"/>
              </a:ext>
            </a:extLst>
          </p:cNvPr>
          <p:cNvCxnSpPr>
            <a:cxnSpLocks/>
            <a:stCxn id="1153" idx="3"/>
          </p:cNvCxnSpPr>
          <p:nvPr/>
        </p:nvCxnSpPr>
        <p:spPr>
          <a:xfrm flipH="1">
            <a:off x="1756766" y="4007234"/>
            <a:ext cx="1039435" cy="935164"/>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160" name="TextBox 1159">
            <a:extLst>
              <a:ext uri="{FF2B5EF4-FFF2-40B4-BE49-F238E27FC236}">
                <a16:creationId xmlns:a16="http://schemas.microsoft.com/office/drawing/2014/main" id="{4AD43487-EC36-F3BE-1E2A-CF36C1F35BDE}"/>
              </a:ext>
            </a:extLst>
          </p:cNvPr>
          <p:cNvSpPr txBox="1"/>
          <p:nvPr/>
        </p:nvSpPr>
        <p:spPr>
          <a:xfrm rot="19019418">
            <a:off x="2160372" y="4261698"/>
            <a:ext cx="729409" cy="461665"/>
          </a:xfrm>
          <a:prstGeom prst="rect">
            <a:avLst/>
          </a:prstGeom>
          <a:noFill/>
        </p:spPr>
        <p:txBody>
          <a:bodyPr wrap="square" rtlCol="0">
            <a:spAutoFit/>
          </a:bodyPr>
          <a:lstStyle/>
          <a:p>
            <a:r>
              <a:rPr lang="en-GB" sz="800" b="1" i="1"/>
              <a:t>Indicate </a:t>
            </a:r>
          </a:p>
          <a:p>
            <a:r>
              <a:rPr lang="en-GB" sz="800" b="1" i="1"/>
              <a:t>Data sets involved</a:t>
            </a:r>
          </a:p>
        </p:txBody>
      </p:sp>
      <p:sp>
        <p:nvSpPr>
          <p:cNvPr id="1161" name="Oval 1160">
            <a:extLst>
              <a:ext uri="{FF2B5EF4-FFF2-40B4-BE49-F238E27FC236}">
                <a16:creationId xmlns:a16="http://schemas.microsoft.com/office/drawing/2014/main" id="{06252B73-099D-285C-984D-C57674F3DCFE}"/>
              </a:ext>
            </a:extLst>
          </p:cNvPr>
          <p:cNvSpPr/>
          <p:nvPr/>
        </p:nvSpPr>
        <p:spPr>
          <a:xfrm>
            <a:off x="6947361" y="4587278"/>
            <a:ext cx="879745" cy="475980"/>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800" b="1">
              <a:solidFill>
                <a:schemeClr val="tx1"/>
              </a:solidFill>
            </a:endParaRPr>
          </a:p>
        </p:txBody>
      </p:sp>
      <p:sp>
        <p:nvSpPr>
          <p:cNvPr id="1167" name="TextBox 1166">
            <a:extLst>
              <a:ext uri="{FF2B5EF4-FFF2-40B4-BE49-F238E27FC236}">
                <a16:creationId xmlns:a16="http://schemas.microsoft.com/office/drawing/2014/main" id="{D472423B-C3F9-6838-D368-876AAE8CA48E}"/>
              </a:ext>
            </a:extLst>
          </p:cNvPr>
          <p:cNvSpPr txBox="1"/>
          <p:nvPr/>
        </p:nvSpPr>
        <p:spPr>
          <a:xfrm>
            <a:off x="7797873" y="4486714"/>
            <a:ext cx="729409" cy="338554"/>
          </a:xfrm>
          <a:prstGeom prst="rect">
            <a:avLst/>
          </a:prstGeom>
          <a:noFill/>
        </p:spPr>
        <p:txBody>
          <a:bodyPr wrap="square" rtlCol="0">
            <a:spAutoFit/>
          </a:bodyPr>
          <a:lstStyle/>
          <a:p>
            <a:r>
              <a:rPr lang="en-GB" sz="800" b="1" i="1"/>
              <a:t>Attention Points</a:t>
            </a:r>
          </a:p>
        </p:txBody>
      </p:sp>
      <p:cxnSp>
        <p:nvCxnSpPr>
          <p:cNvPr id="1168" name="Straight Connector 1167">
            <a:extLst>
              <a:ext uri="{FF2B5EF4-FFF2-40B4-BE49-F238E27FC236}">
                <a16:creationId xmlns:a16="http://schemas.microsoft.com/office/drawing/2014/main" id="{102DBE45-EC3E-83E4-CED5-70B4EE4AF4DF}"/>
              </a:ext>
            </a:extLst>
          </p:cNvPr>
          <p:cNvCxnSpPr>
            <a:cxnSpLocks/>
          </p:cNvCxnSpPr>
          <p:nvPr/>
        </p:nvCxnSpPr>
        <p:spPr>
          <a:xfrm>
            <a:off x="7827106" y="4805209"/>
            <a:ext cx="541574" cy="0"/>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7" name="Oval 6">
            <a:extLst>
              <a:ext uri="{FF2B5EF4-FFF2-40B4-BE49-F238E27FC236}">
                <a16:creationId xmlns:a16="http://schemas.microsoft.com/office/drawing/2014/main" id="{5FB81646-34CF-C658-BC76-02FCDA84B6E2}"/>
              </a:ext>
            </a:extLst>
          </p:cNvPr>
          <p:cNvSpPr/>
          <p:nvPr/>
        </p:nvSpPr>
        <p:spPr>
          <a:xfrm rot="20141905">
            <a:off x="743734" y="3089390"/>
            <a:ext cx="879745" cy="475980"/>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sz="800" b="1">
              <a:solidFill>
                <a:schemeClr val="tx1"/>
              </a:solidFill>
            </a:endParaRPr>
          </a:p>
        </p:txBody>
      </p:sp>
      <p:cxnSp>
        <p:nvCxnSpPr>
          <p:cNvPr id="20" name="Straight Connector 19">
            <a:extLst>
              <a:ext uri="{FF2B5EF4-FFF2-40B4-BE49-F238E27FC236}">
                <a16:creationId xmlns:a16="http://schemas.microsoft.com/office/drawing/2014/main" id="{976039AE-DE92-4338-6B88-C517D1ACF904}"/>
              </a:ext>
            </a:extLst>
          </p:cNvPr>
          <p:cNvCxnSpPr>
            <a:cxnSpLocks/>
          </p:cNvCxnSpPr>
          <p:nvPr/>
        </p:nvCxnSpPr>
        <p:spPr>
          <a:xfrm flipV="1">
            <a:off x="1539913" y="2724144"/>
            <a:ext cx="611498" cy="396763"/>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1118BCF2-47F3-5161-E689-AD24DC01E872}"/>
              </a:ext>
            </a:extLst>
          </p:cNvPr>
          <p:cNvSpPr txBox="1"/>
          <p:nvPr/>
        </p:nvSpPr>
        <p:spPr>
          <a:xfrm rot="19580822">
            <a:off x="1355755" y="2573936"/>
            <a:ext cx="829550" cy="338554"/>
          </a:xfrm>
          <a:prstGeom prst="rect">
            <a:avLst/>
          </a:prstGeom>
          <a:noFill/>
        </p:spPr>
        <p:txBody>
          <a:bodyPr wrap="square" rtlCol="0">
            <a:spAutoFit/>
          </a:bodyPr>
          <a:lstStyle/>
          <a:p>
            <a:r>
              <a:rPr lang="en-GB" sz="800" b="1" i="1"/>
              <a:t>Indicate logical flows</a:t>
            </a:r>
          </a:p>
        </p:txBody>
      </p:sp>
    </p:spTree>
    <p:custDataLst>
      <p:tags r:id="rId1"/>
    </p:custDataLst>
    <p:extLst>
      <p:ext uri="{BB962C8B-B14F-4D97-AF65-F5344CB8AC3E}">
        <p14:creationId xmlns:p14="http://schemas.microsoft.com/office/powerpoint/2010/main" val="1277467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32"/>
          <p:cNvSpPr txBox="1">
            <a:spLocks noGrp="1"/>
          </p:cNvSpPr>
          <p:nvPr>
            <p:ph type="title"/>
          </p:nvPr>
        </p:nvSpPr>
        <p:spPr>
          <a:xfrm>
            <a:off x="296864" y="85481"/>
            <a:ext cx="8013192" cy="338943"/>
          </a:xfrm>
          <a:prstGeom prst="rect">
            <a:avLst/>
          </a:prstGeom>
          <a:noFill/>
          <a:ln>
            <a:noFill/>
          </a:ln>
        </p:spPr>
        <p:txBody>
          <a:bodyPr spcFirstLastPara="1" vert="horz" wrap="square" lIns="68575" tIns="34275" rIns="68575" bIns="34275" rtlCol="0" anchor="t" anchorCtr="0">
            <a:noAutofit/>
          </a:bodyPr>
          <a:lstStyle/>
          <a:p>
            <a:r>
              <a:rPr lang="fr-FR"/>
              <a:t>[PROJECT NAME]  - </a:t>
            </a:r>
            <a:r>
              <a:rPr lang="en-US" cap="all">
                <a:solidFill>
                  <a:srgbClr val="002060"/>
                </a:solidFill>
                <a:highlight>
                  <a:srgbClr val="FFFF00"/>
                </a:highlight>
              </a:rPr>
              <a:t>Timeline for Data project</a:t>
            </a:r>
            <a:endParaRPr>
              <a:solidFill>
                <a:srgbClr val="002060"/>
              </a:solidFill>
              <a:highlight>
                <a:srgbClr val="FFFF00"/>
              </a:highlight>
            </a:endParaRPr>
          </a:p>
        </p:txBody>
      </p:sp>
      <p:sp>
        <p:nvSpPr>
          <p:cNvPr id="5" name="Espace réservé du contenu 1">
            <a:extLst>
              <a:ext uri="{FF2B5EF4-FFF2-40B4-BE49-F238E27FC236}">
                <a16:creationId xmlns:a16="http://schemas.microsoft.com/office/drawing/2014/main" id="{5198D10D-5A9F-4272-91E8-3006A98B3E35}"/>
              </a:ext>
            </a:extLst>
          </p:cNvPr>
          <p:cNvSpPr txBox="1">
            <a:spLocks/>
          </p:cNvSpPr>
          <p:nvPr/>
        </p:nvSpPr>
        <p:spPr>
          <a:xfrm>
            <a:off x="296864" y="771551"/>
            <a:ext cx="8523609" cy="4032447"/>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600"/>
              </a:spcAft>
              <a:buClr>
                <a:srgbClr val="29385E"/>
              </a:buClr>
              <a:buSzPct val="120000"/>
              <a:buFont typeface="Wingdings" panose="05000000000000000000" pitchFamily="2" charset="2"/>
              <a:buChar char="§"/>
              <a:defRPr sz="1600" b="1" kern="1200">
                <a:solidFill>
                  <a:srgbClr val="29385E"/>
                </a:solidFill>
                <a:latin typeface="Arial" panose="020B0604020202020204" pitchFamily="34" charset="0"/>
                <a:ea typeface="+mn-ea"/>
                <a:cs typeface="Arial" panose="020B0604020202020204" pitchFamily="34" charset="0"/>
              </a:defRPr>
            </a:lvl1pPr>
            <a:lvl2pPr marL="631825" indent="-260350" algn="l" defTabSz="914400" rtl="0" eaLnBrk="1" latinLnBrk="0" hangingPunct="1">
              <a:spcBef>
                <a:spcPts val="0"/>
              </a:spcBef>
              <a:spcAft>
                <a:spcPts val="600"/>
              </a:spcAft>
              <a:buClr>
                <a:srgbClr val="29385E"/>
              </a:buClr>
              <a:buSzPct val="120000"/>
              <a:buFont typeface="Arial" panose="020B0604020202020204" pitchFamily="34" charset="0"/>
              <a:buChar char="•"/>
              <a:defRPr lang="en-GB" sz="1400" kern="1200" noProof="0" dirty="0" smtClean="0">
                <a:solidFill>
                  <a:srgbClr val="29385E"/>
                </a:solidFill>
                <a:latin typeface="Arial" panose="020B0604020202020204" pitchFamily="34" charset="0"/>
                <a:ea typeface="+mn-ea"/>
                <a:cs typeface="Arial" panose="020B0604020202020204" pitchFamily="34" charset="0"/>
              </a:defRPr>
            </a:lvl2pPr>
            <a:lvl3pPr marL="892175" marR="0" indent="-260350" algn="l" defTabSz="914400" rtl="0" eaLnBrk="1" fontAlgn="auto" latinLnBrk="0" hangingPunct="1">
              <a:lnSpc>
                <a:spcPct val="100000"/>
              </a:lnSpc>
              <a:spcBef>
                <a:spcPts val="0"/>
              </a:spcBef>
              <a:spcAft>
                <a:spcPts val="600"/>
              </a:spcAft>
              <a:buClr>
                <a:srgbClr val="83786F"/>
              </a:buClr>
              <a:buSzTx/>
              <a:buFont typeface="Arial" panose="020B0604020202020204" pitchFamily="34" charset="0"/>
              <a:buChar char="-"/>
              <a:tabLst/>
              <a:defRPr lang="en-GB" sz="1200" kern="1200" noProof="0" dirty="0" smtClean="0">
                <a:solidFill>
                  <a:srgbClr val="29385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lang="en-GB" sz="1100" kern="1200" dirty="0" smtClean="0">
                <a:solidFill>
                  <a:srgbClr val="ACA39A"/>
                </a:solidFill>
                <a:latin typeface="Arial" panose="020B0604020202020204" pitchFamily="34" charset="0"/>
                <a:ea typeface="+mn-ea"/>
                <a:cs typeface="Arial" panose="020B0604020202020204" pitchFamily="34" charset="0"/>
              </a:defRPr>
            </a:lvl4pPr>
            <a:lvl5pPr marL="1828800" indent="0" algn="l" defTabSz="914400" rtl="0" eaLnBrk="1" latinLnBrk="0" hangingPunct="1">
              <a:spcBef>
                <a:spcPct val="20000"/>
              </a:spcBef>
              <a:buFont typeface="Arial" panose="020B0604020202020204" pitchFamily="34" charset="0"/>
              <a:buNone/>
              <a:defRPr sz="800" kern="1200">
                <a:solidFill>
                  <a:srgbClr val="ACA39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57175" indent="-257175" defTabSz="685800">
              <a:spcAft>
                <a:spcPts val="450"/>
              </a:spcAft>
            </a:pPr>
            <a:r>
              <a:rPr lang="en-GB" dirty="0">
                <a:solidFill>
                  <a:srgbClr val="002060"/>
                </a:solidFill>
                <a:latin typeface="Encode Sans" pitchFamily="2" charset="0"/>
              </a:rPr>
              <a:t>Macro Schedule (including key milestones):</a:t>
            </a:r>
            <a:r>
              <a:rPr lang="en-GB" dirty="0">
                <a:solidFill>
                  <a:srgbClr val="EEECE1"/>
                </a:solidFill>
                <a:latin typeface="Encode Sans" pitchFamily="2" charset="0"/>
              </a:rPr>
              <a:t>​​​</a:t>
            </a:r>
          </a:p>
        </p:txBody>
      </p:sp>
      <p:graphicFrame>
        <p:nvGraphicFramePr>
          <p:cNvPr id="1160" name="Table 110">
            <a:extLst>
              <a:ext uri="{FF2B5EF4-FFF2-40B4-BE49-F238E27FC236}">
                <a16:creationId xmlns:a16="http://schemas.microsoft.com/office/drawing/2014/main" id="{35E8EBE6-A33E-7ECD-E6BC-93DEEEBAC61E}"/>
              </a:ext>
            </a:extLst>
          </p:cNvPr>
          <p:cNvGraphicFramePr>
            <a:graphicFrameLocks noGrp="1"/>
          </p:cNvGraphicFramePr>
          <p:nvPr/>
        </p:nvGraphicFramePr>
        <p:xfrm>
          <a:off x="178594" y="1167133"/>
          <a:ext cx="8487496" cy="2393633"/>
        </p:xfrm>
        <a:graphic>
          <a:graphicData uri="http://schemas.openxmlformats.org/drawingml/2006/table">
            <a:tbl>
              <a:tblPr firstRow="1" bandRow="1">
                <a:tableStyleId>{5C22544A-7EE6-4342-B048-85BDC9FD1C3A}</a:tableStyleId>
              </a:tblPr>
              <a:tblGrid>
                <a:gridCol w="1362673">
                  <a:extLst>
                    <a:ext uri="{9D8B030D-6E8A-4147-A177-3AD203B41FA5}">
                      <a16:colId xmlns:a16="http://schemas.microsoft.com/office/drawing/2014/main" val="1539051385"/>
                    </a:ext>
                  </a:extLst>
                </a:gridCol>
                <a:gridCol w="1362673">
                  <a:extLst>
                    <a:ext uri="{9D8B030D-6E8A-4147-A177-3AD203B41FA5}">
                      <a16:colId xmlns:a16="http://schemas.microsoft.com/office/drawing/2014/main" val="1518306924"/>
                    </a:ext>
                  </a:extLst>
                </a:gridCol>
                <a:gridCol w="576215">
                  <a:extLst>
                    <a:ext uri="{9D8B030D-6E8A-4147-A177-3AD203B41FA5}">
                      <a16:colId xmlns:a16="http://schemas.microsoft.com/office/drawing/2014/main" val="94231028"/>
                    </a:ext>
                  </a:extLst>
                </a:gridCol>
                <a:gridCol w="576215">
                  <a:extLst>
                    <a:ext uri="{9D8B030D-6E8A-4147-A177-3AD203B41FA5}">
                      <a16:colId xmlns:a16="http://schemas.microsoft.com/office/drawing/2014/main" val="1867284786"/>
                    </a:ext>
                  </a:extLst>
                </a:gridCol>
                <a:gridCol w="576215">
                  <a:extLst>
                    <a:ext uri="{9D8B030D-6E8A-4147-A177-3AD203B41FA5}">
                      <a16:colId xmlns:a16="http://schemas.microsoft.com/office/drawing/2014/main" val="3005673942"/>
                    </a:ext>
                  </a:extLst>
                </a:gridCol>
                <a:gridCol w="576215">
                  <a:extLst>
                    <a:ext uri="{9D8B030D-6E8A-4147-A177-3AD203B41FA5}">
                      <a16:colId xmlns:a16="http://schemas.microsoft.com/office/drawing/2014/main" val="30063078"/>
                    </a:ext>
                  </a:extLst>
                </a:gridCol>
                <a:gridCol w="576215">
                  <a:extLst>
                    <a:ext uri="{9D8B030D-6E8A-4147-A177-3AD203B41FA5}">
                      <a16:colId xmlns:a16="http://schemas.microsoft.com/office/drawing/2014/main" val="3638652835"/>
                    </a:ext>
                  </a:extLst>
                </a:gridCol>
                <a:gridCol w="576215">
                  <a:extLst>
                    <a:ext uri="{9D8B030D-6E8A-4147-A177-3AD203B41FA5}">
                      <a16:colId xmlns:a16="http://schemas.microsoft.com/office/drawing/2014/main" val="3801121072"/>
                    </a:ext>
                  </a:extLst>
                </a:gridCol>
                <a:gridCol w="576215">
                  <a:extLst>
                    <a:ext uri="{9D8B030D-6E8A-4147-A177-3AD203B41FA5}">
                      <a16:colId xmlns:a16="http://schemas.microsoft.com/office/drawing/2014/main" val="3809487416"/>
                    </a:ext>
                  </a:extLst>
                </a:gridCol>
                <a:gridCol w="576215">
                  <a:extLst>
                    <a:ext uri="{9D8B030D-6E8A-4147-A177-3AD203B41FA5}">
                      <a16:colId xmlns:a16="http://schemas.microsoft.com/office/drawing/2014/main" val="2936829597"/>
                    </a:ext>
                  </a:extLst>
                </a:gridCol>
                <a:gridCol w="576215">
                  <a:extLst>
                    <a:ext uri="{9D8B030D-6E8A-4147-A177-3AD203B41FA5}">
                      <a16:colId xmlns:a16="http://schemas.microsoft.com/office/drawing/2014/main" val="3400260566"/>
                    </a:ext>
                  </a:extLst>
                </a:gridCol>
                <a:gridCol w="576215">
                  <a:extLst>
                    <a:ext uri="{9D8B030D-6E8A-4147-A177-3AD203B41FA5}">
                      <a16:colId xmlns:a16="http://schemas.microsoft.com/office/drawing/2014/main" val="1763809544"/>
                    </a:ext>
                  </a:extLst>
                </a:gridCol>
              </a:tblGrid>
              <a:tr h="342900">
                <a:tc gridSpan="2">
                  <a:txBody>
                    <a:bodyPr/>
                    <a:lstStyle/>
                    <a:p>
                      <a:pPr algn="ctr" fontAlgn="base"/>
                      <a:endParaRPr lang="en-US" sz="800">
                        <a:effectLst/>
                      </a:endParaRPr>
                    </a:p>
                  </a:txBody>
                  <a:tcPr marL="68580" marR="68580" marT="34290" marB="34290" anchor="ctr">
                    <a:solidFill>
                      <a:schemeClr val="accent1"/>
                    </a:solidFill>
                  </a:tcPr>
                </a:tc>
                <a:tc hMerge="1">
                  <a:txBody>
                    <a:bodyPr/>
                    <a:lstStyle/>
                    <a:p>
                      <a:pPr algn="ctr" fontAlgn="base"/>
                      <a:endParaRPr lang="en-US">
                        <a:effectLst/>
                      </a:endParaRPr>
                    </a:p>
                  </a:txBody>
                  <a:tcPr anchor="ctr">
                    <a:solidFill>
                      <a:schemeClr val="accent1"/>
                    </a:solidFill>
                  </a:tcPr>
                </a:tc>
                <a:tc gridSpan="10">
                  <a:txBody>
                    <a:bodyPr/>
                    <a:lstStyle/>
                    <a:p>
                      <a:pPr algn="ctr" fontAlgn="base"/>
                      <a:r>
                        <a:rPr lang="en-US" sz="1000" b="1" kern="1200">
                          <a:solidFill>
                            <a:schemeClr val="lt1"/>
                          </a:solidFill>
                          <a:effectLst/>
                          <a:latin typeface="+mn-lt"/>
                          <a:ea typeface="+mn-ea"/>
                          <a:cs typeface="+mn-cs"/>
                        </a:rPr>
                        <a:t>YYYY</a:t>
                      </a:r>
                    </a:p>
                  </a:txBody>
                  <a:tcPr marL="68580" marR="68580" marT="34290" marB="34290" anchor="ctr">
                    <a:solidFill>
                      <a:schemeClr val="accent1"/>
                    </a:solidFill>
                  </a:tcPr>
                </a:tc>
                <a:tc hMerge="1">
                  <a:txBody>
                    <a:bodyPr/>
                    <a:lstStyle/>
                    <a:p>
                      <a:pPr lvl="0" algn="ctr">
                        <a:buNone/>
                      </a:pPr>
                      <a:endParaRPr lang="en-US" sz="1350" b="1" kern="1200">
                        <a:solidFill>
                          <a:schemeClr val="lt1"/>
                        </a:solidFill>
                        <a:effectLst/>
                        <a:latin typeface="+mn-lt"/>
                        <a:ea typeface="+mn-ea"/>
                        <a:cs typeface="+mn-cs"/>
                      </a:endParaRPr>
                    </a:p>
                  </a:txBody>
                  <a:tcPr anchor="ctr">
                    <a:solidFill>
                      <a:schemeClr val="accent1"/>
                    </a:solidFill>
                  </a:tcPr>
                </a:tc>
                <a:tc hMerge="1">
                  <a:txBody>
                    <a:bodyPr/>
                    <a:lstStyle/>
                    <a:p>
                      <a:pPr lvl="0" algn="ctr">
                        <a:buNone/>
                      </a:pPr>
                      <a:endParaRPr lang="en-US" sz="1350" b="1" kern="1200">
                        <a:solidFill>
                          <a:schemeClr val="lt1"/>
                        </a:solidFill>
                        <a:effectLst/>
                        <a:latin typeface="+mn-lt"/>
                        <a:ea typeface="+mn-ea"/>
                        <a:cs typeface="+mn-cs"/>
                      </a:endParaRPr>
                    </a:p>
                  </a:txBody>
                  <a:tcPr anchor="ctr">
                    <a:solidFill>
                      <a:schemeClr val="accent1"/>
                    </a:solidFill>
                  </a:tcPr>
                </a:tc>
                <a:tc hMerge="1">
                  <a:txBody>
                    <a:bodyPr/>
                    <a:lstStyle/>
                    <a:p>
                      <a:pPr lvl="0" algn="ctr">
                        <a:buNone/>
                      </a:pPr>
                      <a:endParaRPr lang="en-US" sz="1350" b="1" kern="1200">
                        <a:solidFill>
                          <a:schemeClr val="lt1"/>
                        </a:solidFill>
                        <a:effectLst/>
                        <a:latin typeface="+mn-lt"/>
                        <a:ea typeface="+mn-ea"/>
                        <a:cs typeface="+mn-cs"/>
                      </a:endParaRPr>
                    </a:p>
                  </a:txBody>
                  <a:tcPr anchor="ctr">
                    <a:solidFill>
                      <a:schemeClr val="accent1"/>
                    </a:solidFill>
                  </a:tcPr>
                </a:tc>
                <a:tc hMerge="1">
                  <a:txBody>
                    <a:bodyPr/>
                    <a:lstStyle/>
                    <a:p>
                      <a:pPr lvl="0" algn="ctr">
                        <a:buNone/>
                      </a:pPr>
                      <a:endParaRPr lang="en-US" sz="1350" b="1" kern="1200">
                        <a:solidFill>
                          <a:schemeClr val="lt1"/>
                        </a:solidFill>
                        <a:effectLst/>
                        <a:latin typeface="+mn-lt"/>
                        <a:ea typeface="+mn-ea"/>
                        <a:cs typeface="+mn-cs"/>
                      </a:endParaRPr>
                    </a:p>
                  </a:txBody>
                  <a:tcPr anchor="ctr">
                    <a:solidFill>
                      <a:schemeClr val="accent1"/>
                    </a:solidFill>
                  </a:tcPr>
                </a:tc>
                <a:tc hMerge="1">
                  <a:txBody>
                    <a:bodyPr/>
                    <a:lstStyle/>
                    <a:p>
                      <a:pPr lvl="0" algn="ctr">
                        <a:buNone/>
                      </a:pPr>
                      <a:endParaRPr lang="en-US" sz="1350" b="1" kern="1200">
                        <a:solidFill>
                          <a:schemeClr val="lt1"/>
                        </a:solidFill>
                        <a:effectLst/>
                        <a:latin typeface="+mn-lt"/>
                        <a:ea typeface="+mn-ea"/>
                        <a:cs typeface="+mn-cs"/>
                      </a:endParaRPr>
                    </a:p>
                  </a:txBody>
                  <a:tcPr anchor="ctr">
                    <a:solidFill>
                      <a:schemeClr val="accent1"/>
                    </a:solidFill>
                  </a:tcPr>
                </a:tc>
                <a:tc hMerge="1">
                  <a:txBody>
                    <a:bodyPr/>
                    <a:lstStyle/>
                    <a:p>
                      <a:pPr lvl="0" algn="ctr">
                        <a:buNone/>
                      </a:pPr>
                      <a:endParaRPr lang="en-US" sz="1350" b="1" kern="1200">
                        <a:solidFill>
                          <a:schemeClr val="lt1"/>
                        </a:solidFill>
                        <a:effectLst/>
                        <a:latin typeface="+mn-lt"/>
                        <a:ea typeface="+mn-ea"/>
                        <a:cs typeface="+mn-cs"/>
                      </a:endParaRPr>
                    </a:p>
                  </a:txBody>
                  <a:tcPr anchor="ctr">
                    <a:solidFill>
                      <a:schemeClr val="accent1"/>
                    </a:solidFill>
                  </a:tcPr>
                </a:tc>
                <a:tc hMerge="1">
                  <a:txBody>
                    <a:bodyPr/>
                    <a:lstStyle/>
                    <a:p>
                      <a:pPr lvl="0" algn="ctr">
                        <a:buNone/>
                      </a:pPr>
                      <a:endParaRPr lang="it-IT" sz="1350" b="1" kern="1200">
                        <a:solidFill>
                          <a:schemeClr val="lt1"/>
                        </a:solidFill>
                        <a:effectLst/>
                        <a:latin typeface="+mn-lt"/>
                        <a:ea typeface="+mn-ea"/>
                        <a:cs typeface="+mn-cs"/>
                      </a:endParaRPr>
                    </a:p>
                  </a:txBody>
                  <a:tcPr anchor="ctr">
                    <a:solidFill>
                      <a:schemeClr val="accent1"/>
                    </a:solidFill>
                  </a:tcPr>
                </a:tc>
                <a:tc hMerge="1">
                  <a:txBody>
                    <a:bodyPr/>
                    <a:lstStyle/>
                    <a:p>
                      <a:pPr lvl="0" algn="ctr">
                        <a:buNone/>
                      </a:pPr>
                      <a:endParaRPr lang="it-IT" sz="1350" b="1" kern="1200">
                        <a:solidFill>
                          <a:schemeClr val="lt1"/>
                        </a:solidFill>
                        <a:effectLst/>
                        <a:latin typeface="+mn-lt"/>
                        <a:ea typeface="+mn-ea"/>
                        <a:cs typeface="+mn-cs"/>
                      </a:endParaRPr>
                    </a:p>
                  </a:txBody>
                  <a:tcPr anchor="ctr">
                    <a:solidFill>
                      <a:schemeClr val="accent1"/>
                    </a:solidFill>
                  </a:tcPr>
                </a:tc>
                <a:tc hMerge="1">
                  <a:txBody>
                    <a:bodyPr/>
                    <a:lstStyle/>
                    <a:p>
                      <a:pPr lvl="0" algn="ctr">
                        <a:buNone/>
                      </a:pPr>
                      <a:endParaRPr lang="it-IT" sz="1350" b="1" kern="1200">
                        <a:solidFill>
                          <a:schemeClr val="lt1"/>
                        </a:solidFill>
                        <a:effectLst/>
                        <a:latin typeface="+mn-lt"/>
                        <a:ea typeface="+mn-ea"/>
                        <a:cs typeface="+mn-cs"/>
                      </a:endParaRPr>
                    </a:p>
                  </a:txBody>
                  <a:tcPr anchor="ctr">
                    <a:solidFill>
                      <a:schemeClr val="accent1"/>
                    </a:solidFill>
                  </a:tcPr>
                </a:tc>
                <a:extLst>
                  <a:ext uri="{0D108BD9-81ED-4DB2-BD59-A6C34878D82A}">
                    <a16:rowId xmlns:a16="http://schemas.microsoft.com/office/drawing/2014/main" val="3665223564"/>
                  </a:ext>
                </a:extLst>
              </a:tr>
              <a:tr h="342900">
                <a:tc>
                  <a:txBody>
                    <a:bodyPr/>
                    <a:lstStyle/>
                    <a:p>
                      <a:pPr algn="ctr" fontAlgn="base"/>
                      <a:r>
                        <a:rPr lang="en-US" sz="1000" b="1" kern="1200">
                          <a:solidFill>
                            <a:schemeClr val="lt1"/>
                          </a:solidFill>
                          <a:effectLst/>
                          <a:latin typeface="+mn-lt"/>
                          <a:ea typeface="+mn-ea"/>
                          <a:cs typeface="+mn-cs"/>
                        </a:rPr>
                        <a:t>Category</a:t>
                      </a:r>
                      <a:r>
                        <a:rPr lang="en-US" sz="800">
                          <a:effectLst/>
                        </a:rPr>
                        <a:t>​​</a:t>
                      </a:r>
                    </a:p>
                  </a:txBody>
                  <a:tcPr marL="68580" marR="68580" marT="34290" marB="34290" anchor="ctr">
                    <a:solidFill>
                      <a:schemeClr val="accent1"/>
                    </a:solidFill>
                  </a:tcPr>
                </a:tc>
                <a:tc>
                  <a:txBody>
                    <a:bodyPr/>
                    <a:lstStyle/>
                    <a:p>
                      <a:pPr algn="ctr" fontAlgn="base"/>
                      <a:r>
                        <a:rPr lang="en-US" sz="1000" b="1" kern="1200">
                          <a:solidFill>
                            <a:schemeClr val="lt1"/>
                          </a:solidFill>
                          <a:effectLst/>
                          <a:latin typeface="+mn-lt"/>
                          <a:ea typeface="+mn-ea"/>
                          <a:cs typeface="+mn-cs"/>
                        </a:rPr>
                        <a:t>Activity</a:t>
                      </a:r>
                      <a:r>
                        <a:rPr lang="en-US" sz="800">
                          <a:effectLst/>
                        </a:rPr>
                        <a:t>​​</a:t>
                      </a:r>
                    </a:p>
                  </a:txBody>
                  <a:tcPr marL="68580" marR="68580" marT="34290" marB="34290" anchor="ctr">
                    <a:solidFill>
                      <a:schemeClr val="accent1"/>
                    </a:solidFill>
                  </a:tcPr>
                </a:tc>
                <a:tc>
                  <a:txBody>
                    <a:bodyPr/>
                    <a:lstStyle/>
                    <a:p>
                      <a:pPr algn="ctr" fontAlgn="base"/>
                      <a:r>
                        <a:rPr lang="en-US" sz="1000" b="1" kern="1200">
                          <a:solidFill>
                            <a:schemeClr val="lt1"/>
                          </a:solidFill>
                          <a:effectLst/>
                          <a:latin typeface="+mn-lt"/>
                          <a:ea typeface="+mn-ea"/>
                          <a:cs typeface="+mn-cs"/>
                        </a:rPr>
                        <a:t>M1</a:t>
                      </a: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M2</a:t>
                      </a: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M3</a:t>
                      </a: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M4</a:t>
                      </a: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M5</a:t>
                      </a: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M6</a:t>
                      </a: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M7</a:t>
                      </a: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M8</a:t>
                      </a:r>
                      <a:endParaRPr lang="it-IT" sz="1000" b="1" kern="1200">
                        <a:solidFill>
                          <a:schemeClr val="lt1"/>
                        </a:solidFill>
                        <a:effectLst/>
                        <a:latin typeface="+mn-lt"/>
                        <a:ea typeface="+mn-ea"/>
                        <a:cs typeface="+mn-cs"/>
                      </a:endParaRP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M9</a:t>
                      </a:r>
                      <a:endParaRPr lang="it-IT" sz="1000" b="1" kern="1200">
                        <a:solidFill>
                          <a:schemeClr val="lt1"/>
                        </a:solidFill>
                        <a:effectLst/>
                        <a:latin typeface="+mn-lt"/>
                        <a:ea typeface="+mn-ea"/>
                        <a:cs typeface="+mn-cs"/>
                      </a:endParaRPr>
                    </a:p>
                  </a:txBody>
                  <a:tcPr marL="68580" marR="68580" marT="34290" marB="34290" anchor="ctr">
                    <a:solidFill>
                      <a:schemeClr val="accent1"/>
                    </a:solidFill>
                  </a:tcPr>
                </a:tc>
                <a:tc>
                  <a:txBody>
                    <a:bodyPr/>
                    <a:lstStyle/>
                    <a:p>
                      <a:pPr lvl="0" algn="ctr">
                        <a:buNone/>
                      </a:pPr>
                      <a:r>
                        <a:rPr lang="en-US" sz="1000" b="1" kern="1200">
                          <a:solidFill>
                            <a:schemeClr val="lt1"/>
                          </a:solidFill>
                          <a:effectLst/>
                          <a:latin typeface="+mn-lt"/>
                          <a:ea typeface="+mn-ea"/>
                          <a:cs typeface="+mn-cs"/>
                        </a:rPr>
                        <a:t>M10</a:t>
                      </a:r>
                      <a:endParaRPr lang="it-IT" sz="1000" b="1" kern="1200">
                        <a:solidFill>
                          <a:schemeClr val="lt1"/>
                        </a:solidFill>
                        <a:effectLst/>
                        <a:latin typeface="+mn-lt"/>
                        <a:ea typeface="+mn-ea"/>
                        <a:cs typeface="+mn-cs"/>
                      </a:endParaRPr>
                    </a:p>
                  </a:txBody>
                  <a:tcPr marL="68580" marR="68580" marT="34290" marB="34290" anchor="ctr">
                    <a:solidFill>
                      <a:schemeClr val="accent1"/>
                    </a:solidFill>
                  </a:tcPr>
                </a:tc>
                <a:extLst>
                  <a:ext uri="{0D108BD9-81ED-4DB2-BD59-A6C34878D82A}">
                    <a16:rowId xmlns:a16="http://schemas.microsoft.com/office/drawing/2014/main" val="2563830962"/>
                  </a:ext>
                </a:extLst>
              </a:tr>
              <a:tr h="411480">
                <a:tc>
                  <a:txBody>
                    <a:bodyPr/>
                    <a:lstStyle/>
                    <a:p>
                      <a:pPr fontAlgn="base"/>
                      <a:r>
                        <a:rPr lang="en-US" sz="800">
                          <a:effectLst/>
                        </a:rPr>
                        <a:t>Start​​</a:t>
                      </a:r>
                    </a:p>
                  </a:txBody>
                  <a:tcPr marL="68580" marR="68580" marT="34290" marB="34290" anchor="ctr"/>
                </a:tc>
                <a:tc>
                  <a:txBody>
                    <a:bodyPr/>
                    <a:lstStyle/>
                    <a:p>
                      <a:pPr marL="342900" lvl="0" indent="-342900" fontAlgn="base">
                        <a:buFont typeface="Arial" panose="020B0604020202020204" pitchFamily="34" charset="0"/>
                        <a:buChar char="•"/>
                      </a:pPr>
                      <a:r>
                        <a:rPr lang="en-US" sz="800">
                          <a:effectLst/>
                        </a:rPr>
                        <a:t>Kick off​​ and detailed analysis phase</a:t>
                      </a:r>
                      <a:endParaRPr lang="en-US" sz="500">
                        <a:effectLst/>
                        <a:latin typeface="Arial" panose="020B0604020202020204" pitchFamily="34" charset="0"/>
                      </a:endParaRPr>
                    </a:p>
                  </a:txBody>
                  <a:tcPr marL="68580" marR="68580" marT="34290" marB="34290" anchor="ctr"/>
                </a:tc>
                <a:tc>
                  <a:txBody>
                    <a:bodyPr/>
                    <a:lstStyle/>
                    <a:p>
                      <a:pPr fontAlgn="base"/>
                      <a:r>
                        <a:rPr lang="en-US" sz="800">
                          <a:effectLst/>
                        </a:rPr>
                        <a:t>​​</a:t>
                      </a:r>
                    </a:p>
                  </a:txBody>
                  <a:tcPr marL="68580" marR="68580" marT="34290" marB="34290" anchor="ctr"/>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extLst>
                  <a:ext uri="{0D108BD9-81ED-4DB2-BD59-A6C34878D82A}">
                    <a16:rowId xmlns:a16="http://schemas.microsoft.com/office/drawing/2014/main" val="932917277"/>
                  </a:ext>
                </a:extLst>
              </a:tr>
              <a:tr h="297180">
                <a:tc rowSpan="2">
                  <a:txBody>
                    <a:bodyPr/>
                    <a:lstStyle/>
                    <a:p>
                      <a:pPr fontAlgn="base"/>
                      <a:r>
                        <a:rPr lang="en-US" sz="800">
                          <a:effectLst/>
                        </a:rPr>
                        <a:t>Develop.​</a:t>
                      </a:r>
                    </a:p>
                  </a:txBody>
                  <a:tcPr marL="68580" marR="68580" marT="34290" marB="34290" anchor="ctr"/>
                </a:tc>
                <a:tc>
                  <a:txBody>
                    <a:bodyPr/>
                    <a:lstStyle/>
                    <a:p>
                      <a:pPr marL="342900" lvl="0" indent="-342900" fontAlgn="base">
                        <a:buFont typeface="Arial" panose="020B0604020202020204" pitchFamily="34" charset="0"/>
                        <a:buChar char="•"/>
                      </a:pPr>
                      <a:r>
                        <a:rPr lang="en-US" sz="800">
                          <a:effectLst/>
                        </a:rPr>
                        <a:t>Data extraction and transfer​</a:t>
                      </a:r>
                      <a:endParaRPr lang="en-US" sz="500">
                        <a:effectLst/>
                        <a:latin typeface="Arial" panose="020B0604020202020204" pitchFamily="34" charset="0"/>
                      </a:endParaRPr>
                    </a:p>
                  </a:txBody>
                  <a:tcPr marL="68580" marR="68580" marT="34290" marB="34290" anchor="ctr"/>
                </a:tc>
                <a:tc>
                  <a:txBody>
                    <a:bodyPr/>
                    <a:lstStyle/>
                    <a:p>
                      <a:pPr fontAlgn="base"/>
                      <a:r>
                        <a:rPr lang="en-US" sz="800">
                          <a:effectLst/>
                        </a:rPr>
                        <a:t>​​</a:t>
                      </a:r>
                    </a:p>
                  </a:txBody>
                  <a:tcPr marL="68580" marR="68580" marT="34290" marB="34290" anchor="ctr"/>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extLst>
                  <a:ext uri="{0D108BD9-81ED-4DB2-BD59-A6C34878D82A}">
                    <a16:rowId xmlns:a16="http://schemas.microsoft.com/office/drawing/2014/main" val="247554167"/>
                  </a:ext>
                </a:extLst>
              </a:tr>
              <a:tr h="297180">
                <a:tc vMerge="1">
                  <a:txBody>
                    <a:bodyPr/>
                    <a:lstStyle/>
                    <a:p>
                      <a:endParaRPr lang="en-US"/>
                    </a:p>
                  </a:txBody>
                  <a:tcPr/>
                </a:tc>
                <a:tc>
                  <a:txBody>
                    <a:bodyPr/>
                    <a:lstStyle/>
                    <a:p>
                      <a:pPr marL="342900" lvl="0" indent="-342900" fontAlgn="base">
                        <a:buFont typeface="Arial" panose="020B0604020202020204" pitchFamily="34" charset="0"/>
                        <a:buChar char="•"/>
                      </a:pPr>
                      <a:r>
                        <a:rPr lang="en-US" sz="800">
                          <a:effectLst/>
                        </a:rPr>
                        <a:t>Ingestion &amp; </a:t>
                      </a:r>
                    </a:p>
                    <a:p>
                      <a:pPr marL="342900" lvl="0" indent="-342900" fontAlgn="base">
                        <a:buFont typeface="Arial" panose="020B0604020202020204" pitchFamily="34" charset="0"/>
                        <a:buNone/>
                      </a:pPr>
                      <a:r>
                        <a:rPr lang="en-US" sz="800">
                          <a:effectLst/>
                        </a:rPr>
                        <a:t>Preparation</a:t>
                      </a:r>
                      <a:endParaRPr lang="en-US" sz="500">
                        <a:effectLst/>
                        <a:latin typeface="Arial" panose="020B0604020202020204" pitchFamily="34" charset="0"/>
                      </a:endParaRPr>
                    </a:p>
                  </a:txBody>
                  <a:tcPr marL="68580" marR="68580" marT="34290" marB="34290" anchor="ctr"/>
                </a:tc>
                <a:tc>
                  <a:txBody>
                    <a:bodyPr/>
                    <a:lstStyle/>
                    <a:p>
                      <a:pPr fontAlgn="base"/>
                      <a:r>
                        <a:rPr lang="en-US" sz="800">
                          <a:effectLst/>
                        </a:rPr>
                        <a:t>​​</a:t>
                      </a:r>
                    </a:p>
                  </a:txBody>
                  <a:tcPr marL="68580" marR="68580" marT="34290" marB="34290" anchor="ctr"/>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extLst>
                  <a:ext uri="{0D108BD9-81ED-4DB2-BD59-A6C34878D82A}">
                    <a16:rowId xmlns:a16="http://schemas.microsoft.com/office/drawing/2014/main" val="1196614415"/>
                  </a:ext>
                </a:extLst>
              </a:tr>
              <a:tr h="214313">
                <a:tc>
                  <a:txBody>
                    <a:bodyPr/>
                    <a:lstStyle/>
                    <a:p>
                      <a:pPr fontAlgn="base"/>
                      <a:r>
                        <a:rPr lang="en-US" sz="800">
                          <a:effectLst/>
                        </a:rPr>
                        <a:t>Test​​</a:t>
                      </a:r>
                    </a:p>
                  </a:txBody>
                  <a:tcPr marL="68580" marR="68580" marT="34290" marB="34290" anchor="ctr"/>
                </a:tc>
                <a:tc>
                  <a:txBody>
                    <a:bodyPr/>
                    <a:lstStyle/>
                    <a:p>
                      <a:pPr marL="342900" lvl="0" indent="-342900" fontAlgn="base">
                        <a:buFont typeface="Arial" panose="020B0604020202020204" pitchFamily="34" charset="0"/>
                        <a:buChar char="•"/>
                      </a:pPr>
                      <a:r>
                        <a:rPr lang="en-US" sz="800">
                          <a:effectLst/>
                        </a:rPr>
                        <a:t>UAT ​​</a:t>
                      </a:r>
                      <a:endParaRPr lang="en-US" sz="500">
                        <a:effectLst/>
                        <a:latin typeface="Arial" panose="020B0604020202020204" pitchFamily="34" charset="0"/>
                      </a:endParaRPr>
                    </a:p>
                  </a:txBody>
                  <a:tcPr marL="68580" marR="68580" marT="34290" marB="34290" anchor="ctr"/>
                </a:tc>
                <a:tc>
                  <a:txBody>
                    <a:bodyPr/>
                    <a:lstStyle/>
                    <a:p>
                      <a:pPr fontAlgn="base"/>
                      <a:r>
                        <a:rPr lang="en-US" sz="800">
                          <a:effectLst/>
                        </a:rPr>
                        <a:t>​​</a:t>
                      </a:r>
                    </a:p>
                  </a:txBody>
                  <a:tcPr marL="68580" marR="68580" marT="34290" marB="34290" anchor="ctr"/>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extLst>
                  <a:ext uri="{0D108BD9-81ED-4DB2-BD59-A6C34878D82A}">
                    <a16:rowId xmlns:a16="http://schemas.microsoft.com/office/drawing/2014/main" val="990672621"/>
                  </a:ext>
                </a:extLst>
              </a:tr>
              <a:tr h="297180">
                <a:tc>
                  <a:txBody>
                    <a:bodyPr/>
                    <a:lstStyle/>
                    <a:p>
                      <a:pPr fontAlgn="base"/>
                      <a:r>
                        <a:rPr lang="en-US" sz="800">
                          <a:effectLst/>
                        </a:rPr>
                        <a:t>Deploy​​</a:t>
                      </a:r>
                    </a:p>
                  </a:txBody>
                  <a:tcPr marL="68580" marR="68580" marT="34290" marB="34290" anchor="ctr"/>
                </a:tc>
                <a:tc>
                  <a:txBody>
                    <a:bodyPr/>
                    <a:lstStyle/>
                    <a:p>
                      <a:pPr marL="342900" lvl="0" indent="-342900" fontAlgn="base">
                        <a:buFont typeface="Arial" panose="020B0604020202020204" pitchFamily="34" charset="0"/>
                        <a:buChar char="•"/>
                      </a:pPr>
                      <a:r>
                        <a:rPr lang="en-US" sz="800">
                          <a:effectLst/>
                        </a:rPr>
                        <a:t>Deploy and Post Go-Live​​</a:t>
                      </a:r>
                      <a:endParaRPr lang="en-US" sz="500">
                        <a:effectLst/>
                        <a:latin typeface="Arial" panose="020B0604020202020204" pitchFamily="34" charset="0"/>
                      </a:endParaRPr>
                    </a:p>
                  </a:txBody>
                  <a:tcPr marL="68580" marR="68580" marT="34290" marB="34290" anchor="ctr"/>
                </a:tc>
                <a:tc>
                  <a:txBody>
                    <a:bodyPr/>
                    <a:lstStyle/>
                    <a:p>
                      <a:pPr fontAlgn="base"/>
                      <a:r>
                        <a:rPr lang="en-US" sz="800">
                          <a:effectLst/>
                        </a:rPr>
                        <a:t>​​</a:t>
                      </a:r>
                    </a:p>
                  </a:txBody>
                  <a:tcPr marL="68580" marR="68580" marT="34290" marB="34290" anchor="ctr"/>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r>
                        <a:rPr lang="en-US" sz="800">
                          <a:effectLst/>
                        </a:rPr>
                        <a:t>​</a:t>
                      </a:r>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tc>
                  <a:txBody>
                    <a:bodyPr/>
                    <a:lstStyle/>
                    <a:p>
                      <a:pPr fontAlgn="auto"/>
                      <a:endParaRPr lang="en-US" sz="800">
                        <a:effectLst/>
                        <a:latin typeface="Raleway" pitchFamily="2" charset="0"/>
                      </a:endParaRPr>
                    </a:p>
                  </a:txBody>
                  <a:tcPr marL="68580" marR="68580" marT="34290" marB="34290"/>
                </a:tc>
                <a:extLst>
                  <a:ext uri="{0D108BD9-81ED-4DB2-BD59-A6C34878D82A}">
                    <a16:rowId xmlns:a16="http://schemas.microsoft.com/office/drawing/2014/main" val="2666435518"/>
                  </a:ext>
                </a:extLst>
              </a:tr>
            </a:tbl>
          </a:graphicData>
        </a:graphic>
      </p:graphicFrame>
      <p:sp>
        <p:nvSpPr>
          <p:cNvPr id="1161" name="Google Shape;217;p28">
            <a:extLst>
              <a:ext uri="{FF2B5EF4-FFF2-40B4-BE49-F238E27FC236}">
                <a16:creationId xmlns:a16="http://schemas.microsoft.com/office/drawing/2014/main" id="{5DD0793F-209F-C817-E9F3-B1301012720C}"/>
              </a:ext>
            </a:extLst>
          </p:cNvPr>
          <p:cNvSpPr/>
          <p:nvPr/>
        </p:nvSpPr>
        <p:spPr>
          <a:xfrm>
            <a:off x="2910207" y="1944933"/>
            <a:ext cx="272638" cy="107882"/>
          </a:xfrm>
          <a:prstGeom prst="roundRect">
            <a:avLst>
              <a:gd name="adj" fmla="val 16667"/>
            </a:avLst>
          </a:prstGeom>
          <a:solidFill>
            <a:srgbClr val="6AA84F"/>
          </a:solidFill>
          <a:ln w="9525"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050" kern="1200">
              <a:latin typeface="Raleway"/>
            </a:endParaRPr>
          </a:p>
        </p:txBody>
      </p:sp>
      <p:sp>
        <p:nvSpPr>
          <p:cNvPr id="1162" name="Google Shape;218;p28">
            <a:extLst>
              <a:ext uri="{FF2B5EF4-FFF2-40B4-BE49-F238E27FC236}">
                <a16:creationId xmlns:a16="http://schemas.microsoft.com/office/drawing/2014/main" id="{F29E23DA-2D92-76DE-1228-705C475D5930}"/>
              </a:ext>
            </a:extLst>
          </p:cNvPr>
          <p:cNvSpPr/>
          <p:nvPr/>
        </p:nvSpPr>
        <p:spPr>
          <a:xfrm>
            <a:off x="2878793" y="1924098"/>
            <a:ext cx="117675" cy="149625"/>
          </a:xfrm>
          <a:prstGeom prst="diamond">
            <a:avLst/>
          </a:prstGeom>
          <a:solidFill>
            <a:srgbClr val="CC0000"/>
          </a:solidFill>
          <a:ln w="12600"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050" kern="1200">
              <a:latin typeface="Raleway"/>
            </a:endParaRPr>
          </a:p>
        </p:txBody>
      </p:sp>
      <p:grpSp>
        <p:nvGrpSpPr>
          <p:cNvPr id="1163" name="Google Shape;219;p28">
            <a:extLst>
              <a:ext uri="{FF2B5EF4-FFF2-40B4-BE49-F238E27FC236}">
                <a16:creationId xmlns:a16="http://schemas.microsoft.com/office/drawing/2014/main" id="{56E66AF4-C92B-837D-8DDE-3EA30DF68A6E}"/>
              </a:ext>
            </a:extLst>
          </p:cNvPr>
          <p:cNvGrpSpPr/>
          <p:nvPr/>
        </p:nvGrpSpPr>
        <p:grpSpPr>
          <a:xfrm>
            <a:off x="4847284" y="3630348"/>
            <a:ext cx="667079" cy="192825"/>
            <a:chOff x="475942" y="6795086"/>
            <a:chExt cx="889439" cy="257100"/>
          </a:xfrm>
        </p:grpSpPr>
        <p:sp>
          <p:nvSpPr>
            <p:cNvPr id="1164" name="Google Shape;220;p28">
              <a:extLst>
                <a:ext uri="{FF2B5EF4-FFF2-40B4-BE49-F238E27FC236}">
                  <a16:creationId xmlns:a16="http://schemas.microsoft.com/office/drawing/2014/main" id="{ADC5F08B-7312-8556-370A-BB582459659B}"/>
                </a:ext>
              </a:extLst>
            </p:cNvPr>
            <p:cNvSpPr/>
            <p:nvPr/>
          </p:nvSpPr>
          <p:spPr>
            <a:xfrm>
              <a:off x="475942" y="6818818"/>
              <a:ext cx="156900" cy="199500"/>
            </a:xfrm>
            <a:prstGeom prst="diamond">
              <a:avLst/>
            </a:prstGeom>
            <a:solidFill>
              <a:srgbClr val="CC0000"/>
            </a:solidFill>
            <a:ln w="12600"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200" kern="1200">
                <a:latin typeface="Raleway"/>
              </a:endParaRPr>
            </a:p>
          </p:txBody>
        </p:sp>
        <p:sp>
          <p:nvSpPr>
            <p:cNvPr id="1165" name="Google Shape;221;p28">
              <a:extLst>
                <a:ext uri="{FF2B5EF4-FFF2-40B4-BE49-F238E27FC236}">
                  <a16:creationId xmlns:a16="http://schemas.microsoft.com/office/drawing/2014/main" id="{9E47BC4D-7FDD-A3CF-CDAC-A6FB2CF13D9D}"/>
                </a:ext>
              </a:extLst>
            </p:cNvPr>
            <p:cNvSpPr txBox="1"/>
            <p:nvPr/>
          </p:nvSpPr>
          <p:spPr>
            <a:xfrm>
              <a:off x="573116" y="6795086"/>
              <a:ext cx="792265" cy="257100"/>
            </a:xfrm>
            <a:prstGeom prst="rect">
              <a:avLst/>
            </a:prstGeom>
            <a:noFill/>
            <a:ln>
              <a:noFill/>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600"/>
              </a:pPr>
              <a:r>
                <a:rPr lang="en" sz="825" kern="1200">
                  <a:latin typeface="Raleway"/>
                  <a:ea typeface="Encode Sans"/>
                  <a:cs typeface="Encode Sans"/>
                  <a:sym typeface="Encode Sans"/>
                </a:rPr>
                <a:t>Kick-off</a:t>
              </a:r>
              <a:endParaRPr lang="en-US" sz="825" kern="1200">
                <a:latin typeface="Raleway"/>
                <a:ea typeface="Encode Sans"/>
                <a:cs typeface="Encode Sans"/>
              </a:endParaRPr>
            </a:p>
          </p:txBody>
        </p:sp>
      </p:grpSp>
      <p:grpSp>
        <p:nvGrpSpPr>
          <p:cNvPr id="1166" name="Google Shape;222;p28">
            <a:extLst>
              <a:ext uri="{FF2B5EF4-FFF2-40B4-BE49-F238E27FC236}">
                <a16:creationId xmlns:a16="http://schemas.microsoft.com/office/drawing/2014/main" id="{39BBDF7E-3B0F-C31E-1411-DE03F0383349}"/>
              </a:ext>
            </a:extLst>
          </p:cNvPr>
          <p:cNvGrpSpPr/>
          <p:nvPr/>
        </p:nvGrpSpPr>
        <p:grpSpPr>
          <a:xfrm>
            <a:off x="5442824" y="3630340"/>
            <a:ext cx="1015446" cy="192825"/>
            <a:chOff x="1269997" y="6795075"/>
            <a:chExt cx="1353928" cy="257100"/>
          </a:xfrm>
        </p:grpSpPr>
        <p:sp>
          <p:nvSpPr>
            <p:cNvPr id="1167" name="Google Shape;223;p28">
              <a:extLst>
                <a:ext uri="{FF2B5EF4-FFF2-40B4-BE49-F238E27FC236}">
                  <a16:creationId xmlns:a16="http://schemas.microsoft.com/office/drawing/2014/main" id="{9800E2CC-1A6A-7576-EAD9-874BA15AC947}"/>
                </a:ext>
              </a:extLst>
            </p:cNvPr>
            <p:cNvSpPr/>
            <p:nvPr/>
          </p:nvSpPr>
          <p:spPr>
            <a:xfrm>
              <a:off x="1269997" y="6858630"/>
              <a:ext cx="232500" cy="110700"/>
            </a:xfrm>
            <a:prstGeom prst="roundRect">
              <a:avLst>
                <a:gd name="adj" fmla="val 16667"/>
              </a:avLst>
            </a:prstGeom>
            <a:solidFill>
              <a:srgbClr val="CFE2F3"/>
            </a:solidFill>
            <a:ln w="9525"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200" kern="1200">
                <a:latin typeface="Raleway"/>
              </a:endParaRPr>
            </a:p>
          </p:txBody>
        </p:sp>
        <p:sp>
          <p:nvSpPr>
            <p:cNvPr id="1168" name="Google Shape;224;p28">
              <a:extLst>
                <a:ext uri="{FF2B5EF4-FFF2-40B4-BE49-F238E27FC236}">
                  <a16:creationId xmlns:a16="http://schemas.microsoft.com/office/drawing/2014/main" id="{E7301436-C63F-1E22-D181-D82205D911C4}"/>
                </a:ext>
              </a:extLst>
            </p:cNvPr>
            <p:cNvSpPr txBox="1"/>
            <p:nvPr/>
          </p:nvSpPr>
          <p:spPr>
            <a:xfrm>
              <a:off x="1472256" y="6795075"/>
              <a:ext cx="1151669" cy="257100"/>
            </a:xfrm>
            <a:prstGeom prst="rect">
              <a:avLst/>
            </a:prstGeom>
            <a:noFill/>
            <a:ln>
              <a:noFill/>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600"/>
              </a:pPr>
              <a:r>
                <a:rPr lang="en" sz="825" kern="1200">
                  <a:latin typeface="Raleway"/>
                  <a:ea typeface="Encode Sans"/>
                  <a:cs typeface="Encode Sans"/>
                  <a:sym typeface="Encode Sans"/>
                </a:rPr>
                <a:t>Development</a:t>
              </a:r>
              <a:endParaRPr lang="en-US" sz="825" kern="1200">
                <a:latin typeface="Raleway"/>
                <a:ea typeface="Encode Sans"/>
                <a:cs typeface="Encode Sans"/>
              </a:endParaRPr>
            </a:p>
          </p:txBody>
        </p:sp>
      </p:grpSp>
      <p:grpSp>
        <p:nvGrpSpPr>
          <p:cNvPr id="1169" name="Google Shape;225;p28">
            <a:extLst>
              <a:ext uri="{FF2B5EF4-FFF2-40B4-BE49-F238E27FC236}">
                <a16:creationId xmlns:a16="http://schemas.microsoft.com/office/drawing/2014/main" id="{670E7502-34BD-ACF6-9A36-9984652F6E4E}"/>
              </a:ext>
            </a:extLst>
          </p:cNvPr>
          <p:cNvGrpSpPr/>
          <p:nvPr/>
        </p:nvGrpSpPr>
        <p:grpSpPr>
          <a:xfrm>
            <a:off x="6363582" y="3615872"/>
            <a:ext cx="581894" cy="192825"/>
            <a:chOff x="2497674" y="6775784"/>
            <a:chExt cx="775858" cy="257100"/>
          </a:xfrm>
        </p:grpSpPr>
        <p:pic>
          <p:nvPicPr>
            <p:cNvPr id="1170" name="Google Shape;226;p28">
              <a:extLst>
                <a:ext uri="{FF2B5EF4-FFF2-40B4-BE49-F238E27FC236}">
                  <a16:creationId xmlns:a16="http://schemas.microsoft.com/office/drawing/2014/main" id="{E6613F0A-E467-81EA-0C2F-539B17D8D815}"/>
                </a:ext>
              </a:extLst>
            </p:cNvPr>
            <p:cNvPicPr preferRelativeResize="0"/>
            <p:nvPr/>
          </p:nvPicPr>
          <p:blipFill rotWithShape="1">
            <a:blip r:embed="rId4">
              <a:alphaModFix/>
            </a:blip>
            <a:srcRect b="10104"/>
            <a:stretch/>
          </p:blipFill>
          <p:spPr>
            <a:xfrm>
              <a:off x="2497674" y="6812862"/>
              <a:ext cx="192300" cy="172868"/>
            </a:xfrm>
            <a:prstGeom prst="rect">
              <a:avLst/>
            </a:prstGeom>
            <a:noFill/>
            <a:ln>
              <a:noFill/>
            </a:ln>
          </p:spPr>
        </p:pic>
        <p:sp>
          <p:nvSpPr>
            <p:cNvPr id="1171" name="Google Shape;227;p28">
              <a:extLst>
                <a:ext uri="{FF2B5EF4-FFF2-40B4-BE49-F238E27FC236}">
                  <a16:creationId xmlns:a16="http://schemas.microsoft.com/office/drawing/2014/main" id="{423362E5-F7CE-EF07-4748-21839AFD14AA}"/>
                </a:ext>
              </a:extLst>
            </p:cNvPr>
            <p:cNvSpPr txBox="1"/>
            <p:nvPr/>
          </p:nvSpPr>
          <p:spPr>
            <a:xfrm>
              <a:off x="2623432" y="6775784"/>
              <a:ext cx="650100" cy="257100"/>
            </a:xfrm>
            <a:prstGeom prst="rect">
              <a:avLst/>
            </a:prstGeom>
            <a:noFill/>
            <a:ln>
              <a:noFill/>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600"/>
              </a:pPr>
              <a:r>
                <a:rPr lang="en" sz="825" kern="1200">
                  <a:latin typeface="Raleway"/>
                  <a:ea typeface="Encode Sans"/>
                  <a:cs typeface="Encode Sans"/>
                  <a:sym typeface="Encode Sans"/>
                </a:rPr>
                <a:t>Agile activity</a:t>
              </a:r>
              <a:endParaRPr lang="en-US" sz="825" kern="1200">
                <a:latin typeface="Raleway"/>
                <a:ea typeface="Encode Sans"/>
                <a:cs typeface="Encode Sans"/>
              </a:endParaRPr>
            </a:p>
          </p:txBody>
        </p:sp>
      </p:grpSp>
      <p:grpSp>
        <p:nvGrpSpPr>
          <p:cNvPr id="1172" name="Google Shape;228;p28">
            <a:extLst>
              <a:ext uri="{FF2B5EF4-FFF2-40B4-BE49-F238E27FC236}">
                <a16:creationId xmlns:a16="http://schemas.microsoft.com/office/drawing/2014/main" id="{FE7C87F9-81F4-ED86-E964-CE35C3EA66DD}"/>
              </a:ext>
            </a:extLst>
          </p:cNvPr>
          <p:cNvGrpSpPr/>
          <p:nvPr/>
        </p:nvGrpSpPr>
        <p:grpSpPr>
          <a:xfrm>
            <a:off x="6938319" y="3615872"/>
            <a:ext cx="632972" cy="192825"/>
            <a:chOff x="3263990" y="6775784"/>
            <a:chExt cx="843962" cy="257100"/>
          </a:xfrm>
        </p:grpSpPr>
        <p:sp>
          <p:nvSpPr>
            <p:cNvPr id="1173" name="Google Shape;229;p28">
              <a:extLst>
                <a:ext uri="{FF2B5EF4-FFF2-40B4-BE49-F238E27FC236}">
                  <a16:creationId xmlns:a16="http://schemas.microsoft.com/office/drawing/2014/main" id="{4859F902-3D5D-5C16-DFBB-70E21112EB6F}"/>
                </a:ext>
              </a:extLst>
            </p:cNvPr>
            <p:cNvSpPr/>
            <p:nvPr/>
          </p:nvSpPr>
          <p:spPr>
            <a:xfrm>
              <a:off x="3263990" y="6848984"/>
              <a:ext cx="238200" cy="110700"/>
            </a:xfrm>
            <a:prstGeom prst="roundRect">
              <a:avLst>
                <a:gd name="adj" fmla="val 16667"/>
              </a:avLst>
            </a:prstGeom>
            <a:solidFill>
              <a:srgbClr val="E06666"/>
            </a:solidFill>
            <a:ln w="9525"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200" kern="1200">
                <a:latin typeface="Raleway"/>
              </a:endParaRPr>
            </a:p>
          </p:txBody>
        </p:sp>
        <p:sp>
          <p:nvSpPr>
            <p:cNvPr id="1174" name="Google Shape;230;p28">
              <a:extLst>
                <a:ext uri="{FF2B5EF4-FFF2-40B4-BE49-F238E27FC236}">
                  <a16:creationId xmlns:a16="http://schemas.microsoft.com/office/drawing/2014/main" id="{F4104971-0214-6738-0925-FE22E692B321}"/>
                </a:ext>
              </a:extLst>
            </p:cNvPr>
            <p:cNvSpPr txBox="1"/>
            <p:nvPr/>
          </p:nvSpPr>
          <p:spPr>
            <a:xfrm>
              <a:off x="3457852" y="6775784"/>
              <a:ext cx="650100" cy="257100"/>
            </a:xfrm>
            <a:prstGeom prst="rect">
              <a:avLst/>
            </a:prstGeom>
            <a:noFill/>
            <a:ln>
              <a:noFill/>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600"/>
              </a:pPr>
              <a:r>
                <a:rPr lang="en" sz="825" kern="1200">
                  <a:latin typeface="Raleway"/>
                  <a:ea typeface="Encode Sans"/>
                  <a:cs typeface="Encode Sans"/>
                  <a:sym typeface="Encode Sans"/>
                </a:rPr>
                <a:t>UAT</a:t>
              </a:r>
              <a:endParaRPr lang="en-US" sz="788" kern="1200">
                <a:latin typeface="Raleway"/>
                <a:ea typeface="Encode Sans"/>
                <a:cs typeface="Encode Sans"/>
              </a:endParaRPr>
            </a:p>
          </p:txBody>
        </p:sp>
      </p:grpSp>
      <p:grpSp>
        <p:nvGrpSpPr>
          <p:cNvPr id="1175" name="Google Shape;231;p28">
            <a:extLst>
              <a:ext uri="{FF2B5EF4-FFF2-40B4-BE49-F238E27FC236}">
                <a16:creationId xmlns:a16="http://schemas.microsoft.com/office/drawing/2014/main" id="{472D7D0C-7185-583D-3BCD-A42C2B8BB4D6}"/>
              </a:ext>
            </a:extLst>
          </p:cNvPr>
          <p:cNvGrpSpPr/>
          <p:nvPr/>
        </p:nvGrpSpPr>
        <p:grpSpPr>
          <a:xfrm>
            <a:off x="7490162" y="3615872"/>
            <a:ext cx="840330" cy="192825"/>
            <a:chOff x="3926103" y="6775784"/>
            <a:chExt cx="1120440" cy="257100"/>
          </a:xfrm>
        </p:grpSpPr>
        <p:sp>
          <p:nvSpPr>
            <p:cNvPr id="1176" name="Google Shape;232;p28">
              <a:extLst>
                <a:ext uri="{FF2B5EF4-FFF2-40B4-BE49-F238E27FC236}">
                  <a16:creationId xmlns:a16="http://schemas.microsoft.com/office/drawing/2014/main" id="{2B5E0E74-4637-533B-6E45-3EF8190AECED}"/>
                </a:ext>
              </a:extLst>
            </p:cNvPr>
            <p:cNvSpPr/>
            <p:nvPr/>
          </p:nvSpPr>
          <p:spPr>
            <a:xfrm>
              <a:off x="3926103" y="6848988"/>
              <a:ext cx="156900" cy="110700"/>
            </a:xfrm>
            <a:prstGeom prst="triangle">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200" kern="1200">
                <a:latin typeface="Raleway"/>
              </a:endParaRPr>
            </a:p>
          </p:txBody>
        </p:sp>
        <p:sp>
          <p:nvSpPr>
            <p:cNvPr id="1177" name="Google Shape;233;p28">
              <a:extLst>
                <a:ext uri="{FF2B5EF4-FFF2-40B4-BE49-F238E27FC236}">
                  <a16:creationId xmlns:a16="http://schemas.microsoft.com/office/drawing/2014/main" id="{488C89C8-4A10-39A8-8031-B7C4A062D7C3}"/>
                </a:ext>
              </a:extLst>
            </p:cNvPr>
            <p:cNvSpPr txBox="1"/>
            <p:nvPr/>
          </p:nvSpPr>
          <p:spPr>
            <a:xfrm>
              <a:off x="4034096" y="6775784"/>
              <a:ext cx="1012447" cy="257100"/>
            </a:xfrm>
            <a:prstGeom prst="rect">
              <a:avLst/>
            </a:prstGeom>
            <a:noFill/>
            <a:ln>
              <a:noFill/>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600"/>
              </a:pPr>
              <a:r>
                <a:rPr lang="en" sz="825" kern="1200">
                  <a:latin typeface="Raleway"/>
                  <a:ea typeface="Encode Sans"/>
                  <a:cs typeface="Encode Sans"/>
                  <a:sym typeface="Encode Sans"/>
                </a:rPr>
                <a:t>Deploy / Ms</a:t>
              </a:r>
              <a:endParaRPr lang="en-US" sz="825" kern="1200">
                <a:latin typeface="Raleway"/>
                <a:ea typeface="Encode Sans"/>
                <a:cs typeface="Encode Sans"/>
              </a:endParaRPr>
            </a:p>
          </p:txBody>
        </p:sp>
      </p:grpSp>
      <p:grpSp>
        <p:nvGrpSpPr>
          <p:cNvPr id="1178" name="Google Shape;234;p28">
            <a:extLst>
              <a:ext uri="{FF2B5EF4-FFF2-40B4-BE49-F238E27FC236}">
                <a16:creationId xmlns:a16="http://schemas.microsoft.com/office/drawing/2014/main" id="{84EA7F8B-AC1B-F8E0-A76F-9294338BE37B}"/>
              </a:ext>
            </a:extLst>
          </p:cNvPr>
          <p:cNvGrpSpPr/>
          <p:nvPr/>
        </p:nvGrpSpPr>
        <p:grpSpPr>
          <a:xfrm>
            <a:off x="8401483" y="3615872"/>
            <a:ext cx="883870" cy="192825"/>
            <a:chOff x="4689258" y="6775784"/>
            <a:chExt cx="1178493" cy="257100"/>
          </a:xfrm>
        </p:grpSpPr>
        <p:sp>
          <p:nvSpPr>
            <p:cNvPr id="1179" name="Google Shape;235;p28">
              <a:extLst>
                <a:ext uri="{FF2B5EF4-FFF2-40B4-BE49-F238E27FC236}">
                  <a16:creationId xmlns:a16="http://schemas.microsoft.com/office/drawing/2014/main" id="{43E10AB6-B12F-547C-795E-3E8EAE9C29DE}"/>
                </a:ext>
              </a:extLst>
            </p:cNvPr>
            <p:cNvSpPr/>
            <p:nvPr/>
          </p:nvSpPr>
          <p:spPr>
            <a:xfrm>
              <a:off x="4689258" y="6848984"/>
              <a:ext cx="235800" cy="110700"/>
            </a:xfrm>
            <a:prstGeom prst="roundRect">
              <a:avLst>
                <a:gd name="adj" fmla="val 16667"/>
              </a:avLst>
            </a:prstGeom>
            <a:solidFill>
              <a:schemeClr val="dk2"/>
            </a:solidFill>
            <a:ln w="9525"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200" kern="1200">
                <a:latin typeface="Raleway"/>
              </a:endParaRPr>
            </a:p>
          </p:txBody>
        </p:sp>
        <p:sp>
          <p:nvSpPr>
            <p:cNvPr id="1180" name="Google Shape;236;p28">
              <a:extLst>
                <a:ext uri="{FF2B5EF4-FFF2-40B4-BE49-F238E27FC236}">
                  <a16:creationId xmlns:a16="http://schemas.microsoft.com/office/drawing/2014/main" id="{53199FE3-038C-08D0-0228-DB2E4B15A048}"/>
                </a:ext>
              </a:extLst>
            </p:cNvPr>
            <p:cNvSpPr txBox="1"/>
            <p:nvPr/>
          </p:nvSpPr>
          <p:spPr>
            <a:xfrm>
              <a:off x="4860766" y="6775784"/>
              <a:ext cx="1006985" cy="257100"/>
            </a:xfrm>
            <a:prstGeom prst="rect">
              <a:avLst/>
            </a:prstGeom>
            <a:noFill/>
            <a:ln>
              <a:noFill/>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600"/>
              </a:pPr>
              <a:r>
                <a:rPr lang="en" sz="825" kern="1200">
                  <a:latin typeface="Raleway"/>
                  <a:ea typeface="Encode Sans"/>
                  <a:cs typeface="Encode Sans"/>
                  <a:sym typeface="Encode Sans"/>
                </a:rPr>
                <a:t>Go-Live</a:t>
              </a:r>
              <a:endParaRPr lang="en-US" sz="825" kern="1200">
                <a:latin typeface="Raleway"/>
                <a:ea typeface="Encode Sans"/>
                <a:cs typeface="Encode Sans"/>
              </a:endParaRPr>
            </a:p>
          </p:txBody>
        </p:sp>
      </p:grpSp>
      <p:sp>
        <p:nvSpPr>
          <p:cNvPr id="1181" name="Google Shape;239;p28">
            <a:extLst>
              <a:ext uri="{FF2B5EF4-FFF2-40B4-BE49-F238E27FC236}">
                <a16:creationId xmlns:a16="http://schemas.microsoft.com/office/drawing/2014/main" id="{F0264963-571A-98FB-2EB2-8CA1D1B779F4}"/>
              </a:ext>
            </a:extLst>
          </p:cNvPr>
          <p:cNvSpPr/>
          <p:nvPr/>
        </p:nvSpPr>
        <p:spPr>
          <a:xfrm>
            <a:off x="3745057" y="2797815"/>
            <a:ext cx="192044" cy="111016"/>
          </a:xfrm>
          <a:prstGeom prst="roundRect">
            <a:avLst>
              <a:gd name="adj" fmla="val 16667"/>
            </a:avLst>
          </a:prstGeom>
          <a:solidFill>
            <a:srgbClr val="E06666"/>
          </a:solidFill>
          <a:ln w="9525"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050" kern="1200">
              <a:latin typeface="Raleway"/>
            </a:endParaRPr>
          </a:p>
        </p:txBody>
      </p:sp>
      <p:sp>
        <p:nvSpPr>
          <p:cNvPr id="1182" name="Google Shape;240;p28">
            <a:extLst>
              <a:ext uri="{FF2B5EF4-FFF2-40B4-BE49-F238E27FC236}">
                <a16:creationId xmlns:a16="http://schemas.microsoft.com/office/drawing/2014/main" id="{6042CBB1-A11A-A220-369E-882AED04B0E4}"/>
              </a:ext>
            </a:extLst>
          </p:cNvPr>
          <p:cNvSpPr/>
          <p:nvPr/>
        </p:nvSpPr>
        <p:spPr>
          <a:xfrm>
            <a:off x="4058119" y="3042876"/>
            <a:ext cx="305477" cy="114424"/>
          </a:xfrm>
          <a:prstGeom prst="roundRect">
            <a:avLst>
              <a:gd name="adj" fmla="val 16667"/>
            </a:avLst>
          </a:prstGeom>
          <a:solidFill>
            <a:schemeClr val="dk2"/>
          </a:solidFill>
          <a:ln w="9525"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050" kern="1200">
              <a:latin typeface="Raleway"/>
            </a:endParaRPr>
          </a:p>
        </p:txBody>
      </p:sp>
      <p:sp>
        <p:nvSpPr>
          <p:cNvPr id="1183" name="Google Shape;241;p28">
            <a:extLst>
              <a:ext uri="{FF2B5EF4-FFF2-40B4-BE49-F238E27FC236}">
                <a16:creationId xmlns:a16="http://schemas.microsoft.com/office/drawing/2014/main" id="{C4178A9A-F8FF-4D2A-7D8B-9034770F44B1}"/>
              </a:ext>
            </a:extLst>
          </p:cNvPr>
          <p:cNvSpPr/>
          <p:nvPr/>
        </p:nvSpPr>
        <p:spPr>
          <a:xfrm>
            <a:off x="4304436" y="3059455"/>
            <a:ext cx="117675" cy="83025"/>
          </a:xfrm>
          <a:prstGeom prst="triangle">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050" kern="1200">
              <a:latin typeface="Raleway"/>
            </a:endParaRPr>
          </a:p>
        </p:txBody>
      </p:sp>
      <p:sp>
        <p:nvSpPr>
          <p:cNvPr id="1184" name="Google Shape;238;p28">
            <a:extLst>
              <a:ext uri="{FF2B5EF4-FFF2-40B4-BE49-F238E27FC236}">
                <a16:creationId xmlns:a16="http://schemas.microsoft.com/office/drawing/2014/main" id="{2E98C054-FC39-28C4-5EA0-21A5EC6077C3}"/>
              </a:ext>
            </a:extLst>
          </p:cNvPr>
          <p:cNvSpPr/>
          <p:nvPr/>
        </p:nvSpPr>
        <p:spPr>
          <a:xfrm>
            <a:off x="3207558" y="2554393"/>
            <a:ext cx="564095" cy="100187"/>
          </a:xfrm>
          <a:prstGeom prst="roundRect">
            <a:avLst>
              <a:gd name="adj" fmla="val 16667"/>
            </a:avLst>
          </a:prstGeom>
          <a:solidFill>
            <a:srgbClr val="CFE2F3"/>
          </a:solidFill>
          <a:ln w="9525"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lang="en-US" sz="1050" kern="1200">
              <a:latin typeface="Raleway"/>
            </a:endParaRPr>
          </a:p>
        </p:txBody>
      </p:sp>
      <p:sp>
        <p:nvSpPr>
          <p:cNvPr id="1185" name="Callout: Line with Border and Accent Bar 111">
            <a:extLst>
              <a:ext uri="{FF2B5EF4-FFF2-40B4-BE49-F238E27FC236}">
                <a16:creationId xmlns:a16="http://schemas.microsoft.com/office/drawing/2014/main" id="{29ED0DC2-B949-D907-882A-3D1DEDF22184}"/>
              </a:ext>
            </a:extLst>
          </p:cNvPr>
          <p:cNvSpPr/>
          <p:nvPr/>
        </p:nvSpPr>
        <p:spPr>
          <a:xfrm>
            <a:off x="3444785" y="1922497"/>
            <a:ext cx="1229808" cy="195323"/>
          </a:xfrm>
          <a:prstGeom prst="accentBorderCallout1">
            <a:avLst>
              <a:gd name="adj1" fmla="val 18750"/>
              <a:gd name="adj2" fmla="val -8333"/>
              <a:gd name="adj3" fmla="val 77067"/>
              <a:gd name="adj4" fmla="val -40891"/>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defTabSz="685800"/>
            <a:r>
              <a:rPr lang="en-US" sz="675" kern="1200">
                <a:solidFill>
                  <a:srgbClr val="272B35"/>
                </a:solidFill>
                <a:latin typeface="Encode Sans"/>
                <a:cs typeface="Arial"/>
              </a:rPr>
              <a:t>Activity approval</a:t>
            </a:r>
            <a:endParaRPr lang="en-US" sz="900" kern="1200">
              <a:solidFill>
                <a:srgbClr val="272B35"/>
              </a:solidFill>
              <a:latin typeface="Encode Sans"/>
            </a:endParaRPr>
          </a:p>
        </p:txBody>
      </p:sp>
      <p:pic>
        <p:nvPicPr>
          <p:cNvPr id="1186" name="Picture 94">
            <a:extLst>
              <a:ext uri="{FF2B5EF4-FFF2-40B4-BE49-F238E27FC236}">
                <a16:creationId xmlns:a16="http://schemas.microsoft.com/office/drawing/2014/main" id="{B842569C-751A-7E59-4A9D-2C9673E5BD49}"/>
              </a:ext>
            </a:extLst>
          </p:cNvPr>
          <p:cNvPicPr>
            <a:picLocks noChangeAspect="1"/>
          </p:cNvPicPr>
          <p:nvPr/>
        </p:nvPicPr>
        <p:blipFill>
          <a:blip r:embed="rId5"/>
          <a:stretch>
            <a:fillRect/>
          </a:stretch>
        </p:blipFill>
        <p:spPr>
          <a:xfrm>
            <a:off x="3691680" y="2554393"/>
            <a:ext cx="114300" cy="107156"/>
          </a:xfrm>
          <a:prstGeom prst="rect">
            <a:avLst/>
          </a:prstGeom>
        </p:spPr>
      </p:pic>
      <p:grpSp>
        <p:nvGrpSpPr>
          <p:cNvPr id="1187" name="Group 5">
            <a:extLst>
              <a:ext uri="{FF2B5EF4-FFF2-40B4-BE49-F238E27FC236}">
                <a16:creationId xmlns:a16="http://schemas.microsoft.com/office/drawing/2014/main" id="{BBEFB51F-683E-7689-E65A-1B67F4CA2985}"/>
              </a:ext>
            </a:extLst>
          </p:cNvPr>
          <p:cNvGrpSpPr/>
          <p:nvPr/>
        </p:nvGrpSpPr>
        <p:grpSpPr>
          <a:xfrm>
            <a:off x="4031113" y="3621667"/>
            <a:ext cx="830726" cy="200059"/>
            <a:chOff x="5900435" y="6450136"/>
            <a:chExt cx="1107634" cy="266745"/>
          </a:xfrm>
        </p:grpSpPr>
        <p:pic>
          <p:nvPicPr>
            <p:cNvPr id="1188" name="Picture 49">
              <a:extLst>
                <a:ext uri="{FF2B5EF4-FFF2-40B4-BE49-F238E27FC236}">
                  <a16:creationId xmlns:a16="http://schemas.microsoft.com/office/drawing/2014/main" id="{737B057D-8D28-5CF6-6C67-E30CE729AD3D}"/>
                </a:ext>
              </a:extLst>
            </p:cNvPr>
            <p:cNvPicPr>
              <a:picLocks noChangeAspect="1"/>
            </p:cNvPicPr>
            <p:nvPr/>
          </p:nvPicPr>
          <p:blipFill>
            <a:blip r:embed="rId5"/>
            <a:stretch>
              <a:fillRect/>
            </a:stretch>
          </p:blipFill>
          <p:spPr>
            <a:xfrm>
              <a:off x="5900435" y="6498399"/>
              <a:ext cx="152400" cy="142875"/>
            </a:xfrm>
            <a:prstGeom prst="rect">
              <a:avLst/>
            </a:prstGeom>
          </p:spPr>
        </p:pic>
        <p:sp>
          <p:nvSpPr>
            <p:cNvPr id="1189" name="Google Shape;221;p28">
              <a:extLst>
                <a:ext uri="{FF2B5EF4-FFF2-40B4-BE49-F238E27FC236}">
                  <a16:creationId xmlns:a16="http://schemas.microsoft.com/office/drawing/2014/main" id="{261BF6D6-610E-2E0A-436A-74D67A02D5B5}"/>
                </a:ext>
              </a:extLst>
            </p:cNvPr>
            <p:cNvSpPr txBox="1"/>
            <p:nvPr/>
          </p:nvSpPr>
          <p:spPr>
            <a:xfrm>
              <a:off x="6013248" y="6450136"/>
              <a:ext cx="994821" cy="266745"/>
            </a:xfrm>
            <a:prstGeom prst="rect">
              <a:avLst/>
            </a:prstGeom>
            <a:noFill/>
            <a:ln>
              <a:noFill/>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r>
                <a:rPr lang="en" sz="825" kern="1200">
                  <a:sym typeface="Encode Sans"/>
                </a:rPr>
                <a:t>Dependency</a:t>
              </a:r>
              <a:endParaRPr lang="en-US" sz="1050" kern="1200"/>
            </a:p>
          </p:txBody>
        </p:sp>
      </p:grpSp>
      <p:cxnSp>
        <p:nvCxnSpPr>
          <p:cNvPr id="1190" name="Connettore 4 9">
            <a:extLst>
              <a:ext uri="{FF2B5EF4-FFF2-40B4-BE49-F238E27FC236}">
                <a16:creationId xmlns:a16="http://schemas.microsoft.com/office/drawing/2014/main" id="{929A01BD-BB84-C509-3BEB-9F3583256AD4}"/>
              </a:ext>
            </a:extLst>
          </p:cNvPr>
          <p:cNvCxnSpPr>
            <a:cxnSpLocks/>
            <a:stCxn id="1186" idx="3"/>
            <a:endCxn id="1182" idx="1"/>
          </p:cNvCxnSpPr>
          <p:nvPr/>
        </p:nvCxnSpPr>
        <p:spPr>
          <a:xfrm>
            <a:off x="3805980" y="2607971"/>
            <a:ext cx="252140" cy="492117"/>
          </a:xfrm>
          <a:prstGeom prst="bentConnector3">
            <a:avLst>
              <a:gd name="adj1" fmla="val 66484"/>
            </a:avLst>
          </a:prstGeom>
          <a:ln>
            <a:tailEnd type="triangle"/>
          </a:ln>
        </p:spPr>
        <p:style>
          <a:lnRef idx="1">
            <a:schemeClr val="accent1"/>
          </a:lnRef>
          <a:fillRef idx="0">
            <a:schemeClr val="accent1"/>
          </a:fillRef>
          <a:effectRef idx="0">
            <a:schemeClr val="accent1"/>
          </a:effectRef>
          <a:fontRef idx="minor">
            <a:schemeClr val="tx1"/>
          </a:fontRef>
        </p:style>
      </p:cxnSp>
      <p:sp>
        <p:nvSpPr>
          <p:cNvPr id="1191" name="Google Shape;241;p28">
            <a:extLst>
              <a:ext uri="{FF2B5EF4-FFF2-40B4-BE49-F238E27FC236}">
                <a16:creationId xmlns:a16="http://schemas.microsoft.com/office/drawing/2014/main" id="{DAD2E285-99BF-4EF0-62D5-7B50288016C0}"/>
              </a:ext>
            </a:extLst>
          </p:cNvPr>
          <p:cNvSpPr/>
          <p:nvPr/>
        </p:nvSpPr>
        <p:spPr>
          <a:xfrm>
            <a:off x="3148721" y="2562974"/>
            <a:ext cx="117675" cy="83025"/>
          </a:xfrm>
          <a:prstGeom prst="triangle">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050" kern="1200">
              <a:latin typeface="Raleway"/>
            </a:endParaRPr>
          </a:p>
        </p:txBody>
      </p:sp>
      <p:sp>
        <p:nvSpPr>
          <p:cNvPr id="1192" name="Callout: Line with Border and Accent Bar 88">
            <a:extLst>
              <a:ext uri="{FF2B5EF4-FFF2-40B4-BE49-F238E27FC236}">
                <a16:creationId xmlns:a16="http://schemas.microsoft.com/office/drawing/2014/main" id="{638506FB-D0F9-A87B-CD0A-D26B2FCAAF34}"/>
              </a:ext>
            </a:extLst>
          </p:cNvPr>
          <p:cNvSpPr/>
          <p:nvPr/>
        </p:nvSpPr>
        <p:spPr>
          <a:xfrm>
            <a:off x="2735837" y="2843475"/>
            <a:ext cx="894920" cy="195323"/>
          </a:xfrm>
          <a:prstGeom prst="accentBorderCallout1">
            <a:avLst>
              <a:gd name="adj1" fmla="val 18750"/>
              <a:gd name="adj2" fmla="val -8333"/>
              <a:gd name="adj3" fmla="val -99586"/>
              <a:gd name="adj4" fmla="val 45565"/>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defTabSz="685800"/>
            <a:r>
              <a:rPr lang="en-US" sz="675" kern="1200">
                <a:solidFill>
                  <a:srgbClr val="272B35"/>
                </a:solidFill>
                <a:latin typeface="Encode Sans"/>
                <a:cs typeface="Arial"/>
              </a:rPr>
              <a:t>File structure defined</a:t>
            </a:r>
          </a:p>
        </p:txBody>
      </p:sp>
      <p:sp>
        <p:nvSpPr>
          <p:cNvPr id="1193" name="Google Shape;238;p28">
            <a:extLst>
              <a:ext uri="{FF2B5EF4-FFF2-40B4-BE49-F238E27FC236}">
                <a16:creationId xmlns:a16="http://schemas.microsoft.com/office/drawing/2014/main" id="{7AD9956F-7E38-50FB-8351-2FCCD1E523B9}"/>
              </a:ext>
            </a:extLst>
          </p:cNvPr>
          <p:cNvSpPr/>
          <p:nvPr/>
        </p:nvSpPr>
        <p:spPr>
          <a:xfrm>
            <a:off x="3207558" y="2282472"/>
            <a:ext cx="306552" cy="83025"/>
          </a:xfrm>
          <a:prstGeom prst="roundRect">
            <a:avLst>
              <a:gd name="adj" fmla="val 16667"/>
            </a:avLst>
          </a:prstGeom>
          <a:solidFill>
            <a:srgbClr val="CFE2F3"/>
          </a:solidFill>
          <a:ln w="9525" cap="flat" cmpd="sng">
            <a:solidFill>
              <a:srgbClr val="FFFFFF"/>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lang="en-US" sz="1050" kern="1200">
              <a:latin typeface="Raleway"/>
            </a:endParaRPr>
          </a:p>
        </p:txBody>
      </p:sp>
      <p:sp>
        <p:nvSpPr>
          <p:cNvPr id="1194" name="Google Shape;241;p28">
            <a:extLst>
              <a:ext uri="{FF2B5EF4-FFF2-40B4-BE49-F238E27FC236}">
                <a16:creationId xmlns:a16="http://schemas.microsoft.com/office/drawing/2014/main" id="{29710189-0A1E-6AD4-9E3D-98D046C66AD8}"/>
              </a:ext>
            </a:extLst>
          </p:cNvPr>
          <p:cNvSpPr/>
          <p:nvPr/>
        </p:nvSpPr>
        <p:spPr>
          <a:xfrm>
            <a:off x="3429075" y="2280497"/>
            <a:ext cx="117675" cy="83025"/>
          </a:xfrm>
          <a:prstGeom prst="triangle">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68569" tIns="68569" rIns="68569" bIns="6856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685800">
              <a:buSzPts val="1400"/>
            </a:pPr>
            <a:endParaRPr sz="1050" kern="1200">
              <a:latin typeface="Raleway"/>
            </a:endParaRPr>
          </a:p>
        </p:txBody>
      </p:sp>
      <p:sp>
        <p:nvSpPr>
          <p:cNvPr id="1195" name="Callout: Line with Border and Accent Bar 111">
            <a:extLst>
              <a:ext uri="{FF2B5EF4-FFF2-40B4-BE49-F238E27FC236}">
                <a16:creationId xmlns:a16="http://schemas.microsoft.com/office/drawing/2014/main" id="{876E77E8-E607-29A6-A2FC-887632240DDD}"/>
              </a:ext>
            </a:extLst>
          </p:cNvPr>
          <p:cNvSpPr/>
          <p:nvPr/>
        </p:nvSpPr>
        <p:spPr>
          <a:xfrm>
            <a:off x="4344211" y="2192992"/>
            <a:ext cx="1229808" cy="195323"/>
          </a:xfrm>
          <a:prstGeom prst="accentBorderCallout1">
            <a:avLst>
              <a:gd name="adj1" fmla="val 18750"/>
              <a:gd name="adj2" fmla="val -8333"/>
              <a:gd name="adj3" fmla="val 77067"/>
              <a:gd name="adj4" fmla="val -40891"/>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defTabSz="685800"/>
            <a:r>
              <a:rPr lang="en-US" sz="675" kern="1200">
                <a:solidFill>
                  <a:srgbClr val="272B35"/>
                </a:solidFill>
                <a:latin typeface="Encode Sans"/>
                <a:cs typeface="Arial"/>
              </a:rPr>
              <a:t>Sample files with defined </a:t>
            </a:r>
            <a:r>
              <a:rPr lang="en-US" sz="675" kern="1200" err="1">
                <a:solidFill>
                  <a:srgbClr val="272B35"/>
                </a:solidFill>
                <a:latin typeface="Encode Sans"/>
                <a:cs typeface="Arial"/>
              </a:rPr>
              <a:t>strucure</a:t>
            </a:r>
            <a:endParaRPr lang="en-US" sz="900" kern="1200">
              <a:solidFill>
                <a:srgbClr val="272B35"/>
              </a:solidFill>
              <a:latin typeface="Encode Sans"/>
            </a:endParaRPr>
          </a:p>
        </p:txBody>
      </p:sp>
    </p:spTree>
    <p:custDataLst>
      <p:tags r:id="rId1"/>
    </p:custDataLst>
    <p:extLst>
      <p:ext uri="{BB962C8B-B14F-4D97-AF65-F5344CB8AC3E}">
        <p14:creationId xmlns:p14="http://schemas.microsoft.com/office/powerpoint/2010/main" val="25812269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tellantis">
  <a:themeElements>
    <a:clrScheme name="Stellantis">
      <a:dk1>
        <a:srgbClr val="272B35"/>
      </a:dk1>
      <a:lt1>
        <a:srgbClr val="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tellantis - Chapter blue">
  <a:themeElements>
    <a:clrScheme name="Stellantis">
      <a:dk1>
        <a:srgbClr val="272B35"/>
      </a:dk1>
      <a:lt1>
        <a:srgbClr val="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fs">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PowerPoint">
      <a:majorFont>
        <a:latin typeface="Encode Sans ExpandedSemiBold"/>
        <a:ea typeface=""/>
        <a:cs typeface=""/>
      </a:majorFont>
      <a:minorFont>
        <a:latin typeface="Encode Sans Expanded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fs" id="{8A1A85B0-D4DD-429D-ABB3-C28DDE3FFB2E}" vid="{057558E4-F7EB-4A03-BB1F-90256A40305A}"/>
    </a:ext>
  </a:extLst>
</a:theme>
</file>

<file path=ppt/theme/theme4.xml><?xml version="1.0" encoding="utf-8"?>
<a:theme xmlns:a="http://schemas.openxmlformats.org/drawingml/2006/main" name="1_Stellantis - Chapter blue">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PowerPoint">
      <a:majorFont>
        <a:latin typeface="Encode Sans ExpandedSemiBold"/>
        <a:ea typeface=""/>
        <a:cs typeface=""/>
      </a:majorFont>
      <a:minorFont>
        <a:latin typeface="Encode Sans Expanded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MAJ Template PowerPoint 16-9 v4.potx" id="{A75B75E3-5B55-47F4-9599-680D1BC9C25B}" vid="{CD9DFF46-39B8-432F-9B02-5C7EBAA75BB4}"/>
    </a:ext>
  </a:extLst>
</a:theme>
</file>

<file path=ppt/theme/theme5.xml><?xml version="1.0" encoding="utf-8"?>
<a:theme xmlns:a="http://schemas.openxmlformats.org/drawingml/2006/main" name="Stellantis - Chapter tangerine">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PowerPoint">
      <a:majorFont>
        <a:latin typeface="Encode Sans ExpandedSemiBold"/>
        <a:ea typeface=""/>
        <a:cs typeface=""/>
      </a:majorFont>
      <a:minorFont>
        <a:latin typeface="Encode Sans Expanded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MAJ Template PowerPoint 16-9 v4.potx" id="{A75B75E3-5B55-47F4-9599-680D1BC9C25B}" vid="{A20E8C28-57A0-476E-BE0F-B1295D3F4ABE}"/>
    </a:ext>
  </a:ext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a16d9e6d-f2fd-4932-b693-62ee8781788b">
      <UserInfo>
        <DisplayName>SharingLinks.685265a6-1e94-4624-aed8-3b949854c890.Flexible.652b0577-edd8-4adf-86a1-f65d6ce77db1</DisplayName>
        <AccountId>49</AccountId>
        <AccountType/>
      </UserInfo>
      <UserInfo>
        <DisplayName>ELENA MARTINOTTI</DisplayName>
        <AccountId>634</AccountId>
        <AccountType/>
      </UserInfo>
      <UserInfo>
        <DisplayName>FABIENNE ANDRADE (EXTERNAL)</DisplayName>
        <AccountId>20</AccountId>
        <AccountType/>
      </UserInfo>
      <UserInfo>
        <DisplayName>Limited Access System Group For Web 76854dcb-94fb-42c9-b7ba-ae92573f6331</DisplayName>
        <AccountId>23</AccountId>
        <AccountType/>
      </UserInfo>
      <UserInfo>
        <DisplayName>ANDREAS HOFER</DisplayName>
        <AccountId>27</AccountId>
        <AccountType/>
      </UserInfo>
      <UserInfo>
        <DisplayName>GILLES FEUNTUN</DisplayName>
        <AccountId>10</AccountId>
        <AccountType/>
      </UserInfo>
      <UserInfo>
        <DisplayName>DIANA BARBERIS</DisplayName>
        <AccountId>32</AccountId>
        <AccountType/>
      </UserInfo>
      <UserInfo>
        <DisplayName>RICK THARRETT</DisplayName>
        <AccountId>408</AccountId>
        <AccountType/>
      </UserInfo>
      <UserInfo>
        <DisplayName>MATHILDE DRONNE</DisplayName>
        <AccountId>79</AccountId>
        <AccountType/>
      </UserInfo>
      <UserInfo>
        <DisplayName>ALEXANDRE BAC</DisplayName>
        <AccountId>136</AccountId>
        <AccountType/>
      </UserInfo>
      <UserInfo>
        <DisplayName>MERYEM BOUZIYANE</DisplayName>
        <AccountId>988</AccountId>
        <AccountType/>
      </UserInfo>
      <UserInfo>
        <DisplayName>OLIVIER DOIT</DisplayName>
        <AccountId>730</AccountId>
        <AccountType/>
      </UserInfo>
      <UserInfo>
        <DisplayName>GANESH S (EXTERNAL)</DisplayName>
        <AccountId>893</AccountId>
        <AccountType/>
      </UserInfo>
    </SharedWithUsers>
    <TaxCatchAll xmlns="a16d9e6d-f2fd-4932-b693-62ee8781788b" xsi:nil="true"/>
    <lcf76f155ced4ddcb4097134ff3c332f xmlns="021bc73c-54a2-4d00-8671-ebe51408d382">
      <Terms xmlns="http://schemas.microsoft.com/office/infopath/2007/PartnerControls"/>
    </lcf76f155ced4ddcb4097134ff3c332f>
    <_Flow_SignoffStatus xmlns="021bc73c-54a2-4d00-8671-ebe51408d38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94B990ED3EF84495E0627223175984" ma:contentTypeVersion="22" ma:contentTypeDescription="Create a new document." ma:contentTypeScope="" ma:versionID="7eb3a32f00bec3a6d534047bdc777db9">
  <xsd:schema xmlns:xsd="http://www.w3.org/2001/XMLSchema" xmlns:xs="http://www.w3.org/2001/XMLSchema" xmlns:p="http://schemas.microsoft.com/office/2006/metadata/properties" xmlns:ns2="021bc73c-54a2-4d00-8671-ebe51408d382" xmlns:ns3="a16d9e6d-f2fd-4932-b693-62ee8781788b" targetNamespace="http://schemas.microsoft.com/office/2006/metadata/properties" ma:root="true" ma:fieldsID="43738826f43bdb95234646f211c10707" ns2:_="" ns3:_="">
    <xsd:import namespace="021bc73c-54a2-4d00-8671-ebe51408d382"/>
    <xsd:import namespace="a16d9e6d-f2fd-4932-b693-62ee8781788b"/>
    <xsd:element name="properties">
      <xsd:complexType>
        <xsd:sequence>
          <xsd:element name="documentManagement">
            <xsd:complexType>
              <xsd:all>
                <xsd:element ref="ns2:SPFxDocInfoInfo"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Location" minOccurs="0"/>
                <xsd:element ref="ns2:MediaServiceGenerationTime" minOccurs="0"/>
                <xsd:element ref="ns2:MediaServiceEventHashCode" minOccurs="0"/>
                <xsd:element ref="ns2:MediaServiceAutoTags" minOccurs="0"/>
                <xsd:element ref="ns2:MediaServiceOCR"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1bc73c-54a2-4d00-8671-ebe51408d382" elementFormDefault="qualified">
    <xsd:import namespace="http://schemas.microsoft.com/office/2006/documentManagement/types"/>
    <xsd:import namespace="http://schemas.microsoft.com/office/infopath/2007/PartnerControls"/>
    <xsd:element name="SPFxDocInfoInfo" ma:index="2" nillable="true" ma:displayName="DocInfo" ma:internalName="SPFxDocInfoInfo" ma:readOnly="true">
      <xsd:simpleType>
        <xsd:restriction base="dms:Note">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9247bebf-ce0e-4fa1-bae7-748a1283d6f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_Flow_SignoffStatus" ma:index="27" nillable="true" ma:displayName="Sign-off status" ma:internalName="_x0024_Resources_x003a_core_x002c_Signoff_Status">
      <xsd:simpleType>
        <xsd:restriction base="dms:Text"/>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6d9e6d-f2fd-4932-b693-62ee878178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b2b6d79f-93de-4b6d-b007-048e7e54cd12}" ma:internalName="TaxCatchAll" ma:showField="CatchAllData" ma:web="a16d9e6d-f2fd-4932-b693-62ee878178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5"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5ED94D-9B38-49AD-886E-56A4EEABDBBE}">
  <ds:schemaRefs>
    <ds:schemaRef ds:uri="http://schemas.microsoft.com/sharepoint/v3/contenttype/forms"/>
  </ds:schemaRefs>
</ds:datastoreItem>
</file>

<file path=customXml/itemProps2.xml><?xml version="1.0" encoding="utf-8"?>
<ds:datastoreItem xmlns:ds="http://schemas.openxmlformats.org/officeDocument/2006/customXml" ds:itemID="{ACBA27CB-0A5C-4DF5-B852-11E05CA0B969}">
  <ds:schemaRefs>
    <ds:schemaRef ds:uri="021bc73c-54a2-4d00-8671-ebe51408d382"/>
    <ds:schemaRef ds:uri="http://purl.org/dc/elements/1.1/"/>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schemas.microsoft.com/office/2006/documentManagement/types"/>
    <ds:schemaRef ds:uri="a16d9e6d-f2fd-4932-b693-62ee8781788b"/>
    <ds:schemaRef ds:uri="http://www.w3.org/XML/1998/namespace"/>
    <ds:schemaRef ds:uri="http://purl.org/dc/dcmitype/"/>
  </ds:schemaRefs>
</ds:datastoreItem>
</file>

<file path=customXml/itemProps3.xml><?xml version="1.0" encoding="utf-8"?>
<ds:datastoreItem xmlns:ds="http://schemas.openxmlformats.org/officeDocument/2006/customXml" ds:itemID="{327FD13C-4E66-4BC1-B658-B0CCD6E287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21bc73c-54a2-4d00-8671-ebe51408d382"/>
    <ds:schemaRef ds:uri="a16d9e6d-f2fd-4932-b693-62ee878178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fd53d93-3f4c-4b90-b511-bd6bdbb4fba9}" enabled="1" method="Standard" siteId="{d852d5cd-724c-4128-8812-ffa5db3f8507}" removed="0"/>
</clbl:labelList>
</file>

<file path=docProps/app.xml><?xml version="1.0" encoding="utf-8"?>
<Properties xmlns="http://schemas.openxmlformats.org/officeDocument/2006/extended-properties" xmlns:vt="http://schemas.openxmlformats.org/officeDocument/2006/docPropsVTypes">
  <TotalTime>47</TotalTime>
  <Words>14760</Words>
  <Application>Microsoft Office PowerPoint</Application>
  <PresentationFormat>Affichage à l'écran (16:9)</PresentationFormat>
  <Paragraphs>2120</Paragraphs>
  <Slides>75</Slides>
  <Notes>74</Notes>
  <HiddenSlides>1</HiddenSlides>
  <MMClips>0</MMClips>
  <ScaleCrop>false</ScaleCrop>
  <HeadingPairs>
    <vt:vector size="8" baseType="variant">
      <vt:variant>
        <vt:lpstr>Polices utilisées</vt:lpstr>
      </vt:variant>
      <vt:variant>
        <vt:i4>16</vt:i4>
      </vt:variant>
      <vt:variant>
        <vt:lpstr>Thème</vt:lpstr>
      </vt:variant>
      <vt:variant>
        <vt:i4>5</vt:i4>
      </vt:variant>
      <vt:variant>
        <vt:lpstr>Serveurs OLE incorporés</vt:lpstr>
      </vt:variant>
      <vt:variant>
        <vt:i4>2</vt:i4>
      </vt:variant>
      <vt:variant>
        <vt:lpstr>Titres des diapositives</vt:lpstr>
      </vt:variant>
      <vt:variant>
        <vt:i4>75</vt:i4>
      </vt:variant>
    </vt:vector>
  </HeadingPairs>
  <TitlesOfParts>
    <vt:vector size="98" baseType="lpstr">
      <vt:lpstr>Encode Sans ExpandedLight</vt:lpstr>
      <vt:lpstr>Encode Sans Expanded</vt:lpstr>
      <vt:lpstr>Encode Sans ExpandedMedium</vt:lpstr>
      <vt:lpstr>Raleway</vt:lpstr>
      <vt:lpstr>Calibri</vt:lpstr>
      <vt:lpstr>Times New Roman</vt:lpstr>
      <vt:lpstr>Encode Sans ExpandedSemiBold</vt:lpstr>
      <vt:lpstr>Segoe UI Symbol</vt:lpstr>
      <vt:lpstr>Encode Sans Expanded Light</vt:lpstr>
      <vt:lpstr>Segoe UI</vt:lpstr>
      <vt:lpstr>Encode Sans</vt:lpstr>
      <vt:lpstr>Arial</vt:lpstr>
      <vt:lpstr>Wingdings</vt:lpstr>
      <vt:lpstr>Encode Sans Expanded Expanded</vt:lpstr>
      <vt:lpstr>Encode Sans Condensed</vt:lpstr>
      <vt:lpstr>Aptos</vt:lpstr>
      <vt:lpstr>Stellantis</vt:lpstr>
      <vt:lpstr>Stellantis - Chapter blue</vt:lpstr>
      <vt:lpstr>sfs</vt:lpstr>
      <vt:lpstr>1_Stellantis - Chapter blue</vt:lpstr>
      <vt:lpstr>Stellantis - Chapter tangerine</vt:lpstr>
      <vt:lpstr>Objet d’environnement du Gestionnaire de liaisons</vt:lpstr>
      <vt:lpstr>Feuille de calcul</vt:lpstr>
      <vt:lpstr> Architecture Gates Dossier Presentation &amp; Approval  &lt;&lt;Name of the project&gt;&gt;</vt:lpstr>
      <vt:lpstr>Revisions index of the template</vt:lpstr>
      <vt:lpstr>Introduction</vt:lpstr>
      <vt:lpstr>Présentation PowerPoint</vt:lpstr>
      <vt:lpstr>Présentation PowerPoint</vt:lpstr>
      <vt:lpstr>NOTES – User guide </vt:lpstr>
      <vt:lpstr>Présentation PowerPoint</vt:lpstr>
      <vt:lpstr>ObjectiveS</vt:lpstr>
      <vt:lpstr>Architecture One Pager (Demand/Project Overview) – Gate 1 review / Gate 1 PoC</vt:lpstr>
      <vt:lpstr>Architecture OVERVIEW DIAGRAM – Gate 1 review / Gate 1 PoC</vt:lpstr>
      <vt:lpstr>Applicability</vt:lpstr>
      <vt:lpstr>Project Synthesis</vt:lpstr>
      <vt:lpstr>Data Privacy</vt:lpstr>
      <vt:lpstr>Exit plan for SaaS Applications</vt:lpstr>
      <vt:lpstr>* To minimize risks of lock-in, the mentioned services should be avoided for critical workloads whenever possible. </vt:lpstr>
      <vt:lpstr>PROJECT  Summary</vt:lpstr>
      <vt:lpstr>Functional Architecture - DEPENDENCIES MACRO VIEW</vt:lpstr>
      <vt:lpstr>Solution 1 - Non-Functional Requirements (NFR)</vt:lpstr>
      <vt:lpstr>Enterprise Architecture - DEPENDENCIES MACRO VIEW</vt:lpstr>
      <vt:lpstr>FOR SOX / CAC APPLICATIONS</vt:lpstr>
      <vt:lpstr>SOLUTION TO BE VALIDATED</vt:lpstr>
      <vt:lpstr>Enterprise Architecture – Impacted Applications Service</vt:lpstr>
      <vt:lpstr>Solution 1 – RISKs  (For Gate 1 PoC and Gate 2/4)</vt:lpstr>
      <vt:lpstr>Costs (for Gate 1 Poc and Gate 2/4)</vt:lpstr>
      <vt:lpstr>(Solution X)  - Costs</vt:lpstr>
      <vt:lpstr>(Solution X) - Timeline</vt:lpstr>
      <vt:lpstr>Summary of the Solutions</vt:lpstr>
      <vt:lpstr>PRESENTATION OF THE CLOUD PROJECT</vt:lpstr>
      <vt:lpstr>Cloud (Gate 1 poc and Gate 2)</vt:lpstr>
      <vt:lpstr>Cloud : Build &amp; Run organization</vt:lpstr>
      <vt:lpstr>technical Architecture – global description of solutions</vt:lpstr>
      <vt:lpstr>(Solution X)  - TECHNICAL DESCRIPTION OF THE SOLUTIONS</vt:lpstr>
      <vt:lpstr>Applications Flows technical diagram for Gate 2 or Gate 1 PoC</vt:lpstr>
      <vt:lpstr>AVAILABILITY, SLA</vt:lpstr>
      <vt:lpstr>DATA summary</vt:lpstr>
      <vt:lpstr>Présentation PowerPoint</vt:lpstr>
      <vt:lpstr>Présentation PowerPoint</vt:lpstr>
      <vt:lpstr>DevSecOps</vt:lpstr>
      <vt:lpstr>DevSecOps (Gate 2 + Gate 3)</vt:lpstr>
      <vt:lpstr>Enterprise Architecture – interactions details </vt:lpstr>
      <vt:lpstr>Enterprise Architecture – Impacted Applications Service</vt:lpstr>
      <vt:lpstr>(Solution X) - Technical Architecture global view</vt:lpstr>
      <vt:lpstr>DATA MODEL</vt:lpstr>
      <vt:lpstr>API</vt:lpstr>
      <vt:lpstr>Gen AI</vt:lpstr>
      <vt:lpstr>TECHNICAL STACK (gate 3)</vt:lpstr>
      <vt:lpstr>(Solution X)  - TECHNICAL DESCRIPTION OF THE SOLUTIONS</vt:lpstr>
      <vt:lpstr>(Solution X) - Technical Architecture global view</vt:lpstr>
      <vt:lpstr>(Solution X)  - TECHNICAL DESCRIPTIONS OF THE SOLUTIONS</vt:lpstr>
      <vt:lpstr>(Solution X)  - TECHNICAL DESCRIPTION OF THE SOLUTIONS</vt:lpstr>
      <vt:lpstr>(Solution X)  - TECHNICAL DESCRIPTION OF THE SOLUTIONS</vt:lpstr>
      <vt:lpstr>(Solution X)  - TECHNICAL DESCRIPTION OF THE SOLUTIONS</vt:lpstr>
      <vt:lpstr>(Solution X)  - TECHNICAL DESCRIPTION OF THE SOLUTIONS</vt:lpstr>
      <vt:lpstr>(Solution X)  - TECHNICAL DESCRIPTION OF THE SOLUTIONS</vt:lpstr>
      <vt:lpstr>(Solution X)  - ACCESS RIGHTS</vt:lpstr>
      <vt:lpstr>(Solution X)  - ENVIRONMENT DEPLOYEMENT</vt:lpstr>
      <vt:lpstr>(Solution X)  - TAGGING AND FINOPS STRATEGY</vt:lpstr>
      <vt:lpstr>monitoring</vt:lpstr>
      <vt:lpstr>RPA (remote process automation)</vt:lpstr>
      <vt:lpstr>Low code &amp; Citizen development</vt:lpstr>
      <vt:lpstr>(Solution X)  - Costs</vt:lpstr>
      <vt:lpstr>Costs (for Gate 1 Poc and Gate 2/4)</vt:lpstr>
      <vt:lpstr>(Solution X)  - TECHNICAL DESCRIPTION OF THE SOLUTIONS</vt:lpstr>
      <vt:lpstr>(Solution X)  - TECHNICAL DESCRIPTION OF THE SOLUTIONS</vt:lpstr>
      <vt:lpstr>Solution – Residual RISKs  (For Gate 1 PoC and Gate 2/4)</vt:lpstr>
      <vt:lpstr>Technical Check Committee after Design - Approvers &amp; informed persons</vt:lpstr>
      <vt:lpstr>Summary of the Solutions</vt:lpstr>
      <vt:lpstr>Technical Check Committee initial - Approval</vt:lpstr>
      <vt:lpstr>Technical Check Committee initial - Actions requested by approvers</vt:lpstr>
      <vt:lpstr>Technical Check Committee initial - Approvers &amp; informed persons</vt:lpstr>
      <vt:lpstr>Reference &amp; examples (no to fill in your presentation)</vt:lpstr>
      <vt:lpstr>Subject Matter Experts</vt:lpstr>
      <vt:lpstr>Functional &amp; Technical flow mapping guidleine</vt:lpstr>
      <vt:lpstr>Architecture OVERVIEW DIAGRAM – Gate 1 review / Gate 1 PoC</vt:lpstr>
      <vt:lpstr>[PROJECT NAME]  - Timeline for Data project</vt:lpstr>
    </vt:vector>
  </TitlesOfParts>
  <LinksUpToDate>false</LinksUpToDate>
  <SharedDoc>false</SharedDoc>
  <HyperlinksChanged>false</HyperlinksChanged>
  <AppVersion>16.0000</AppVersion>
</Properties>
</file>

<file path=docProps/core.xml><?xml version="1.0" encoding="utf-8"?>
<coreProperties xmlns="http://schemas.openxmlformats.org/package/2006/metadata/core-properties" xmlns:cp="http://schemas.openxmlformats.org/package/2006/metadata/core-properties" xmlns:dc="http://purl.org/dc/elements/1.1/" xmlns:dcterms="http://purl.org/dc/terms/" xmlns:xsi="http://www.w3.org/2001/XMLSchema-instance">
  <dc:creator>Stefania Schiavino</dc:creator>
  <lastModifiedBy>VIVIANE CASSOTTI</lastModifiedBy>
  <dcterms:modified xsi:type="dcterms:W3CDTF">2026-09-21T14:42:50Z</dcterms:modified>
  <revision>3</revision>
  <dc:title>TITLE PRESENTATION [ENCODE SANS 35 PX LIGHT] ON SEVERAL LINES LOREM IPSUM DOLOR SIT AMET ET DOLOMAET CTEUER PISCINGO</dc:title>
</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0x010100F894B990ED3EF84495E0627223175984</vt:lpwstr>
  </property>
  <property fmtid="{D5CDD505-2E9C-101B-9397-08002B2CF9AE}" pid="3" name="MSIP_Label_2fd53d93-3f4c-4b90-b511-bd6bdbb4fba9_Enabled">
    <vt:lpwstr>true</vt:lpwstr>
  </property>
  <property fmtid="{D5CDD505-2E9C-101B-9397-08002B2CF9AE}" pid="4" name="MSIP_Label_2fd53d93-3f4c-4b90-b511-bd6bdbb4fba9_SetDate">
    <vt:lpwstr>2022-02-08T13:47:40Z</vt:lpwstr>
  </property>
  <property fmtid="{D5CDD505-2E9C-101B-9397-08002B2CF9AE}" pid="5" name="MSIP_Label_2fd53d93-3f4c-4b90-b511-bd6bdbb4fba9_Method">
    <vt:lpwstr>Standard</vt:lpwstr>
  </property>
  <property fmtid="{D5CDD505-2E9C-101B-9397-08002B2CF9AE}" pid="6" name="MSIP_Label_2fd53d93-3f4c-4b90-b511-bd6bdbb4fba9_Name">
    <vt:lpwstr>2fd53d93-3f4c-4b90-b511-bd6bdbb4fba9</vt:lpwstr>
  </property>
  <property fmtid="{D5CDD505-2E9C-101B-9397-08002B2CF9AE}" pid="7" name="MSIP_Label_2fd53d93-3f4c-4b90-b511-bd6bdbb4fba9_SiteId">
    <vt:lpwstr>d852d5cd-724c-4128-8812-ffa5db3f8507</vt:lpwstr>
  </property>
  <property fmtid="{D5CDD505-2E9C-101B-9397-08002B2CF9AE}" pid="8" name="MSIP_Label_2fd53d93-3f4c-4b90-b511-bd6bdbb4fba9_ActionId">
    <vt:lpwstr>b883360d-2fc8-4bff-8e0b-3c7ad135e07a</vt:lpwstr>
  </property>
  <property fmtid="{D5CDD505-2E9C-101B-9397-08002B2CF9AE}" pid="9" name="MSIP_Label_2fd53d93-3f4c-4b90-b511-bd6bdbb4fba9_ContentBits">
    <vt:lpwstr>0</vt:lpwstr>
  </property>
  <property fmtid="{D5CDD505-2E9C-101B-9397-08002B2CF9AE}" pid="10" name="xd_ProgID">
    <vt:lpwstr/>
  </property>
  <property fmtid="{D5CDD505-2E9C-101B-9397-08002B2CF9AE}" pid="11" name="MediaServiceImageTags">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psa_titre">
    <vt:lpwstr>Architecture Gates Dossier</vt:lpwstr>
  </property>
  <property fmtid="{D5CDD505-2E9C-101B-9397-08002B2CF9AE}" pid="18" name="psa_reference">
    <vt:lpwstr>20373_25_01058</vt:lpwstr>
  </property>
  <property fmtid="{D5CDD505-2E9C-101B-9397-08002B2CF9AE}" pid="19" name="psa_date_creation">
    <vt:lpwstr>24/02/2025 17:15</vt:lpwstr>
  </property>
  <property fmtid="{D5CDD505-2E9C-101B-9397-08002B2CF9AE}" pid="20" name="psa_date_modification">
    <vt:lpwstr>21/09/2026 16:43</vt:lpwstr>
  </property>
  <property fmtid="{D5CDD505-2E9C-101B-9397-08002B2CF9AE}" pid="21" name="psa_auteur">
    <vt:lpwstr>CASSOTTI VIVIANE - J383305  </vt:lpwstr>
  </property>
  <property fmtid="{D5CDD505-2E9C-101B-9397-08002B2CF9AE}" pid="22" name="psa_emetteur">
    <vt:lpwstr>CASSOTTI VIVIANE - J383305  </vt:lpwstr>
  </property>
  <property fmtid="{D5CDD505-2E9C-101B-9397-08002B2CF9AE}" pid="23" name="psa_version">
    <vt:lpwstr>5.0</vt:lpwstr>
  </property>
  <property fmtid="{D5CDD505-2E9C-101B-9397-08002B2CF9AE}" pid="24" name="psa_commentaire">
    <vt:lpwstr/>
  </property>
  <property fmtid="{D5CDD505-2E9C-101B-9397-08002B2CF9AE}" pid="25" name="psa_langue_principale">
    <vt:lpwstr>Français</vt:lpwstr>
  </property>
  <property fmtid="{D5CDD505-2E9C-101B-9397-08002B2CF9AE}" pid="26" name="psa_status">
    <vt:lpwstr>publie</vt:lpwstr>
  </property>
  <property fmtid="{D5CDD505-2E9C-101B-9397-08002B2CF9AE}" pid="27" name="psa_type_doc">
    <vt:lpwstr/>
  </property>
  <property fmtid="{D5CDD505-2E9C-101B-9397-08002B2CF9AE}" pid="28" name="psa_communaute">
    <vt:lpwstr>FSES Information Systems</vt:lpwstr>
  </property>
  <property fmtid="{D5CDD505-2E9C-101B-9397-08002B2CF9AE}" pid="29" name="psa_niveau_confidentialite">
    <vt:lpwstr>C1 - Public</vt:lpwstr>
  </property>
  <property fmtid="{D5CDD505-2E9C-101B-9397-08002B2CF9AE}" pid="30" name="psa_url_fiche">
    <vt:lpwstr>https://docinfogroupe.inetpsa.com/ead/doc/ref.20373_25_01058/v.5.0</vt:lpwstr>
  </property>
  <property fmtid="{D5CDD505-2E9C-101B-9397-08002B2CF9AE}" pid="31" name="psa_url_modification">
    <vt:lpwstr>https://docinfogroupe.inetpsa.com/ead/doc/modif/ref.20373_25_01058/fiche</vt:lpwstr>
  </property>
  <property fmtid="{D5CDD505-2E9C-101B-9397-08002B2CF9AE}" pid="32" name="psa_date_publication">
    <vt:lpwstr>21/09/2026 16:43</vt:lpwstr>
  </property>
</Properties>
</file>